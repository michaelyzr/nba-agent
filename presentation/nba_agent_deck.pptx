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Many people believe that if they follow NBA injury news closely, they can beat sports prediction markets. We took that belief seriously and built the best agent we could. What we found is that the game is structurally tilted against the consumer, so our product protects and educates rather than encourages betting.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users see an injury headline and think the price is wrong. So we gave an agent every advantage a careful consumer could have: public news, trained models, an LLM-capable agent loop, risk controls, and rules it learns from its own mistakes, and we replayed a full season of real Kalshi prices. We then tested the results with confidence intervals. The short answer: no edge, and not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the system. Public data on the left; models trained once; a replay that walks the season day by day and only shows the agent what was public at that moment; then the agent and its outputs. Because the replay uses recorded prices, every trade pays the real ask and the real Kalshi fee, which is what lets us measure what a consumer would actually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On average that is 1.92 cents per contract, 5.0% of the price, and 9–14% on cheap contracts. You must beat the price by that much just to break even. On the right, our best agent would have made +$36 at the mid but lost −$32 after costs. Even being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changed our win model by at least a point, the price had already moved 1.80 points in the news direction before the list was public, and only 0.18 after. About 91% of the move happened before a retail user reading the list could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we trained M6, a neural network whose only job is to predict how the price moves between our decision time and tip-off, using the market's own past reactions. It cannot beat the simplest guess, that the price will not move: 0.867 cents average error against 0.833, and R squared about zero on both test and holdout. After the inactive list the price moves only about 2.5% of what our win model implies. The M6 agent therefore makes no trades; forced to trade, it loses −$652. The price already contains the public information; what is left for the consumer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honest test. We re-ran the whole season walk-forward, retraining the win model every month, with day-clustered bootstrap confidence intervals. Mean closing-line value is below zero for every setup, and every interval lies entirely below zero. The full agent's −$25 is indistinguishable from never trading, p 0.53; the raw model loses −$2,475. The market anchor is a real improvement, +$2,450 with p 0.002, but learning only means trading less. On the play-off holdout the full agent made no trades at 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checked for long-shot bias. Honestly, our data does not clearly show it: prices are well calibrated, and only the cheapest bucket hints at it. What does show is that long shots lose more per dollar, −13.4% against −2.2% for heavy favourites, because costs are a bigger share of a cheap price.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and this is general industry knowledge, not our measurement. Professional traders and market makers usually have faster data, automated pricing and, on many venues, special fee or liquidity programmes. A retail user reads public news and pays the full taker price. We are not saying anyone breaks rules; it is consistent with the speed and cost results we measured.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is built around protection. The agent passes by default: it declined about 90% of decision points, and on the play-off holdout it did not trade at all. Retail briefs show the bid and ask next to our estimate, and when there is no order they say why. The Coach shows the full break-even after spread and fee. Risk limits and banned words are code the LLM cannot override; all 9 / 9 planted violations were blocked. Even the learned rules ended up protective.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Coach turns this evidence into lessons. At a chosen moment it explains the game using only what was public and shows the break-even after spread and fee. Lesson cards appear when relevant: price is a probability, costs move your break-even, news may be priced in, long shots look cheap. Users make a paper call and see the close and what the agent did. Paper money only.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precise: unfair here means structural disadvantages, namely costs, speed and expertise. It does not mean manipulation or fraud, and we make no accusation against Kalshi. One disclosure: we designed the market anchor and the reviewer after seeing the first February-to-April results, so that window is not a clean holdout. That is why the walk-forward season and the untouched play-off holdout are our headline tests. Other caveats: one season, game-winner markets only, and a proxy news timestamp.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not just the price. Warn by default when news is likely already priced in. Put education, like our Coach, in front of the first trade, with sensible default limits. For our own work: enforce a daily-loss stop, use timestamped injury reports, and extend to player-prop markets.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45775" cy="1828800"/>
          </a:xfrm>
          <a:prstGeom prst="rect">
            <a:avLst/>
          </a:prstGeom>
          <a:noFill/>
        </p:spPr>
        <p:txBody>
          <a:bodyPr wrap="square" anchor="t" lIns="73152" rIns="73152" tIns="36576" bIns="36576">
            <a:spAutoFit/>
          </a:bodyPr>
          <a:lstStyle/>
          <a:p>
            <a:pPr algn="l">
              <a:spcAft>
                <a:spcPts val="800"/>
              </a:spcAft>
            </a:pPr>
            <a:r>
              <a:rPr sz="4400" b="1" i="0">
                <a:solidFill>
                  <a:srgbClr val="FFFFFF"/>
                </a:solidFill>
                <a:latin typeface="Arial"/>
              </a:rPr>
              <a:t>Can a consumer beat a sports prediction market?</a:t>
            </a:r>
          </a:p>
        </p:txBody>
      </p:sp>
      <p:sp>
        <p:nvSpPr>
          <p:cNvPr id="5" name="TextBox 4"/>
          <p:cNvSpPr txBox="1"/>
          <p:nvPr/>
        </p:nvSpPr>
        <p:spPr>
          <a:xfrm>
            <a:off x="822960" y="2834640"/>
            <a:ext cx="10545775" cy="1188720"/>
          </a:xfrm>
          <a:prstGeom prst="rect">
            <a:avLst/>
          </a:prstGeom>
          <a:noFill/>
        </p:spPr>
        <p:txBody>
          <a:bodyPr wrap="square" anchor="t" lIns="73152" rIns="73152" tIns="36576" bIns="36576">
            <a:spAutoFit/>
          </a:bodyPr>
          <a:lstStyle/>
          <a:p>
            <a:pPr algn="l">
              <a:spcAft>
                <a:spcPts val="800"/>
              </a:spcAft>
            </a:pPr>
            <a:r>
              <a:rPr sz="2200" b="0" i="0">
                <a:solidFill>
                  <a:srgbClr val="CBD5E1"/>
                </a:solidFill>
                <a:latin typeface="Arial"/>
              </a:rPr>
              <a:t>What a serious NBA trading agent taught us about structural unfairness, and a product that protects and educates instead</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belief: “I follow the news, so I can beat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TextBox 6"/>
          <p:cNvSpPr txBox="1"/>
          <p:nvPr/>
        </p:nvSpPr>
        <p:spPr>
          <a:xfrm>
            <a:off x="457200" y="1234439"/>
            <a:ext cx="6126480" cy="5029200"/>
          </a:xfrm>
          <a:prstGeom prst="rect">
            <a:avLst/>
          </a:prstGeom>
          <a:noFill/>
        </p:spPr>
        <p:txBody>
          <a:bodyPr wrap="square" anchor="t" lIns="73152" rIns="73152" tIns="36576" bIns="36576">
            <a:spAutoFit/>
          </a:bodyPr>
          <a:lstStyle/>
          <a:p>
            <a:pPr algn="l">
              <a:spcAft>
                <a:spcPts val="1000"/>
              </a:spcAft>
            </a:pPr>
            <a:r>
              <a:rPr sz="2000" b="1" i="0">
                <a:solidFill>
                  <a:srgbClr val="1E293B"/>
                </a:solidFill>
                <a:latin typeface="Arial"/>
              </a:rPr>
              <a:t>We built a serious agent to try:</a:t>
            </a:r>
          </a:p>
          <a:p>
            <a:pPr algn="l" marL="292608" indent="-256032">
              <a:spcAft>
                <a:spcPts val="1000"/>
              </a:spcAft>
              <a:buChar char="•"/>
            </a:pPr>
            <a:r>
              <a:rPr sz="2000" b="0" i="0">
                <a:solidFill>
                  <a:srgbClr val="0F172A"/>
                </a:solidFill>
                <a:latin typeface="Arial"/>
              </a:rPr>
              <a:t>Public news: ESPN inactive lists and box scores, 3 seasons</a:t>
            </a:r>
          </a:p>
          <a:p>
            <a:pPr algn="l" marL="292608" indent="-256032">
              <a:spcAft>
                <a:spcPts val="1000"/>
              </a:spcAft>
              <a:buChar char="•"/>
            </a:pPr>
            <a:r>
              <a:rPr sz="2000" b="0" i="0">
                <a:solidFill>
                  <a:srgbClr val="0F172A"/>
                </a:solidFill>
                <a:latin typeface="Arial"/>
              </a:rPr>
              <a:t>Learned models, including a neural net trained on the market's own moves</a:t>
            </a:r>
          </a:p>
          <a:p>
            <a:pPr algn="l" marL="292608" indent="-256032">
              <a:spcAft>
                <a:spcPts val="1000"/>
              </a:spcAft>
              <a:buChar char="•"/>
            </a:pPr>
            <a:r>
              <a:rPr sz="2000" b="0" i="0">
                <a:solidFill>
                  <a:srgbClr val="0F172A"/>
                </a:solidFill>
                <a:latin typeface="Arial"/>
              </a:rPr>
              <a:t>LangGraph agent loop, LLM-capable (Gemini), deterministic by default</a:t>
            </a:r>
          </a:p>
          <a:p>
            <a:pPr algn="l" marL="292608" indent="-256032">
              <a:spcAft>
                <a:spcPts val="1000"/>
              </a:spcAft>
              <a:buChar char="•"/>
            </a:pPr>
            <a:r>
              <a:rPr sz="2000" b="0" i="0">
                <a:solidFill>
                  <a:srgbClr val="0F172A"/>
                </a:solidFill>
                <a:latin typeface="Arial"/>
              </a:rPr>
              <a:t>Code risk limits and rules learned only through a backtest gate</a:t>
            </a:r>
          </a:p>
          <a:p>
            <a:pPr algn="l" marL="292608" indent="-256032">
              <a:spcAft>
                <a:spcPts val="1000"/>
              </a:spcAft>
              <a:buChar char="•"/>
            </a:pPr>
            <a:r>
              <a:rPr sz="2000" b="0" i="0">
                <a:solidFill>
                  <a:srgbClr val="0F172A"/>
                </a:solidFill>
                <a:latin typeface="Arial"/>
              </a:rPr>
              <a:t>Graded against 1,316 Kalshi games (~3.9M price rows), 2025-26</a:t>
            </a:r>
          </a:p>
        </p:txBody>
      </p:sp>
      <p:sp>
        <p:nvSpPr>
          <p:cNvPr id="8" name="Rounded Rectangle 7"/>
          <p:cNvSpPr/>
          <p:nvPr/>
        </p:nvSpPr>
        <p:spPr>
          <a:xfrm>
            <a:off x="6949440" y="1325880"/>
            <a:ext cx="4785055" cy="4846320"/>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59" y="1508760"/>
            <a:ext cx="4236415" cy="4480560"/>
          </a:xfrm>
          <a:prstGeom prst="rect">
            <a:avLst/>
          </a:prstGeom>
          <a:noFill/>
        </p:spPr>
        <p:txBody>
          <a:bodyPr wrap="square" anchor="t" lIns="73152" rIns="73152" tIns="36576" bIns="36576">
            <a:spAutoFit/>
          </a:bodyPr>
          <a:lstStyle/>
          <a:p>
            <a:pPr algn="l">
              <a:spcAft>
                <a:spcPts val="1600"/>
              </a:spcAft>
            </a:pPr>
            <a:r>
              <a:rPr sz="2200" b="1" i="0">
                <a:solidFill>
                  <a:srgbClr val="FDBA74"/>
                </a:solidFill>
                <a:latin typeface="Arial"/>
              </a:rPr>
              <a:t>What we found</a:t>
            </a:r>
          </a:p>
          <a:p>
            <a:pPr algn="l">
              <a:spcAft>
                <a:spcPts val="1600"/>
              </a:spcAft>
            </a:pPr>
            <a:r>
              <a:rPr sz="2200" b="0" i="0">
                <a:solidFill>
                  <a:srgbClr val="FFFFFF"/>
                </a:solidFill>
                <a:latin typeface="Arial"/>
              </a:rPr>
              <a:t>Tested with confidence intervals: no edge. Never trading is the winner.</a:t>
            </a:r>
          </a:p>
          <a:p>
            <a:pPr algn="l">
              <a:spcAft>
                <a:spcPts val="1600"/>
              </a:spcAft>
            </a:pPr>
            <a:r>
              <a:rPr sz="2200" b="0" i="0">
                <a:solidFill>
                  <a:srgbClr val="FFFFFF"/>
                </a:solidFill>
                <a:latin typeface="Arial"/>
              </a:rPr>
              <a:t>The reasons are structural: costs, speed and expertise.</a:t>
            </a:r>
          </a:p>
          <a:p>
            <a:pPr algn="l">
              <a:spcAft>
                <a:spcPts val="1600"/>
              </a:spcAft>
            </a:pPr>
            <a:r>
              <a:rPr sz="2200" b="0" i="0">
                <a:solidFill>
                  <a:srgbClr val="FFFFFF"/>
                </a:solidFill>
                <a:latin typeface="Arial"/>
              </a:rPr>
              <a:t>So our product's job is to protect and educate consumers.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What we built: a market-graded agent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pic>
        <p:nvPicPr>
          <p:cNvPr id="7" name="Picture 6" descr="product_workflow.png"/>
          <p:cNvPicPr>
            <a:picLocks noChangeAspect="1"/>
          </p:cNvPicPr>
          <p:nvPr/>
        </p:nvPicPr>
        <p:blipFill>
          <a:blip r:embed="rId3"/>
          <a:stretch>
            <a:fillRect/>
          </a:stretch>
        </p:blipFill>
        <p:spPr>
          <a:xfrm>
            <a:off x="1513288" y="1097280"/>
            <a:ext cx="9165119" cy="4480560"/>
          </a:xfrm>
          <a:prstGeom prst="rect">
            <a:avLst/>
          </a:prstGeom>
        </p:spPr>
      </p:pic>
      <p:sp>
        <p:nvSpPr>
          <p:cNvPr id="8" name="TextBox 7"/>
          <p:cNvSpPr txBox="1"/>
          <p:nvPr/>
        </p:nvSpPr>
        <p:spPr>
          <a:xfrm>
            <a:off x="457200" y="5623560"/>
            <a:ext cx="11277295" cy="731520"/>
          </a:xfrm>
          <a:prstGeom prst="rect">
            <a:avLst/>
          </a:prstGeom>
          <a:noFill/>
        </p:spPr>
        <p:txBody>
          <a:bodyPr wrap="square" anchor="t" lIns="73152" rIns="73152" tIns="36576" bIns="36576">
            <a:spAutoFit/>
          </a:bodyPr>
          <a:lstStyle/>
          <a:p>
            <a:pPr algn="ctr">
              <a:spcAft>
                <a:spcPts val="800"/>
              </a:spcAft>
            </a:pPr>
            <a:r>
              <a:rPr sz="1800" b="0" i="0">
                <a:solidFill>
                  <a:srgbClr val="0F172A"/>
                </a:solidFill>
                <a:latin typeface="Arial"/>
              </a:rPr>
              <a:t>Every simulated order pays the recorded ask plus the Kalshi fee, so we measure what a consumer would 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pic>
        <p:nvPicPr>
          <p:cNvPr id="7" name="Picture 6" descr="price_discovery.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news-direction move was already in the price when the list was public (+1.80 vs +0.18 pts, 193 test games)</a:t>
            </a:r>
          </a:p>
          <a:p>
            <a:pPr algn="l" marL="292608" indent="-256032">
              <a:spcAft>
                <a:spcPts val="400"/>
              </a:spcAft>
              <a:buChar char="•"/>
            </a:pPr>
            <a:r>
              <a:rPr sz="1800" b="0" i="0">
                <a:solidFill>
                  <a:srgbClr val="0F172A"/>
                </a:solidFill>
                <a:latin typeface="Arial"/>
              </a:rPr>
              <a:t>List stamped tip − 30 min: our proxy for when a retail user sees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even a market-trained neural net finds nothing</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m6_vs_baselines.png"/>
          <p:cNvPicPr>
            <a:picLocks noChangeAspect="1"/>
          </p:cNvPicPr>
          <p:nvPr/>
        </p:nvPicPr>
        <p:blipFill>
          <a:blip r:embed="rId3"/>
          <a:stretch>
            <a:fillRect/>
          </a:stretch>
        </p:blipFill>
        <p:spPr>
          <a:xfrm>
            <a:off x="579630" y="1097280"/>
            <a:ext cx="11032434" cy="3383280"/>
          </a:xfrm>
          <a:prstGeom prst="rect">
            <a:avLst/>
          </a:prstGeom>
        </p:spPr>
      </p:pic>
      <p:sp>
        <p:nvSpPr>
          <p:cNvPr id="8" name="TextBox 7"/>
          <p:cNvSpPr txBox="1"/>
          <p:nvPr/>
        </p:nvSpPr>
        <p:spPr>
          <a:xfrm>
            <a:off x="457200" y="4526280"/>
            <a:ext cx="11277295" cy="1298448"/>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Average error on 771 test decision times: </a:t>
            </a:r>
            <a:r>
              <a:rPr sz="1800" b="1" i="0">
                <a:solidFill>
                  <a:srgbClr val="0F172A"/>
                </a:solidFill>
                <a:latin typeface="Arial"/>
              </a:rPr>
              <a:t>M6 0.867¢</a:t>
            </a:r>
            <a:r>
              <a:rPr sz="1800" b="0" i="0">
                <a:solidFill>
                  <a:srgbClr val="0F172A"/>
                </a:solidFill>
                <a:latin typeface="Arial"/>
              </a:rPr>
              <a:t> vs “price won't move” </a:t>
            </a:r>
            <a:r>
              <a:rPr sz="1800" b="1" i="0">
                <a:solidFill>
                  <a:srgbClr val="0F172A"/>
                </a:solidFill>
                <a:latin typeface="Arial"/>
              </a:rPr>
              <a:t>0.833¢</a:t>
            </a:r>
            <a:r>
              <a:rPr sz="1800" b="0" i="0">
                <a:solidFill>
                  <a:srgbClr val="0F172A"/>
                </a:solidFill>
                <a:latin typeface="Arial"/>
              </a:rPr>
              <a:t>; R² ≈ 0 on test and holdout</a:t>
            </a:r>
          </a:p>
          <a:p>
            <a:pPr algn="l" marL="292608" indent="-256032">
              <a:spcAft>
                <a:spcPts val="400"/>
              </a:spcAft>
              <a:buChar char="•"/>
            </a:pPr>
            <a:r>
              <a:rPr sz="1800" b="0" i="0">
                <a:solidFill>
                  <a:srgbClr val="0F172A"/>
                </a:solidFill>
                <a:latin typeface="Arial"/>
              </a:rPr>
              <a:t>After the list, the price moves ~2.5% of the model's implied shift (coefficient 0.025); M6 agent: 0 trades. Forced: 501 trades, −$652</a:t>
            </a:r>
          </a:p>
        </p:txBody>
      </p:sp>
      <p:sp>
        <p:nvSpPr>
          <p:cNvPr id="9" name="Rounded Rectangle 8"/>
          <p:cNvSpPr/>
          <p:nvPr/>
        </p:nvSpPr>
        <p:spPr>
          <a:xfrm>
            <a:off x="457200" y="5870448"/>
            <a:ext cx="11277295" cy="4572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870448"/>
            <a:ext cx="11094415" cy="45720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The price already contains the public information; the consumer is left paying costs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5: tested with CIs,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walkforward.png"/>
          <p:cNvPicPr>
            <a:picLocks noChangeAspect="1"/>
          </p:cNvPicPr>
          <p:nvPr/>
        </p:nvPicPr>
        <p:blipFill>
          <a:blip r:embed="rId3"/>
          <a:stretch>
            <a:fillRect/>
          </a:stretch>
        </p:blipFill>
        <p:spPr>
          <a:xfrm>
            <a:off x="457200" y="1188719"/>
            <a:ext cx="5943600" cy="3429000"/>
          </a:xfrm>
          <a:prstGeom prst="rect">
            <a:avLst/>
          </a:prstGeom>
        </p:spPr>
      </p:pic>
      <p:graphicFrame>
        <p:nvGraphicFramePr>
          <p:cNvPr id="8" name="Table 7"/>
          <p:cNvGraphicFramePr>
            <a:graphicFrameLocks noGrp="1"/>
          </p:cNvGraphicFramePr>
          <p:nvPr/>
        </p:nvGraphicFramePr>
        <p:xfrm>
          <a:off x="6537960" y="1188720"/>
          <a:ext cx="5193791" cy="2871216"/>
        </p:xfrm>
        <a:graphic>
          <a:graphicData uri="http://schemas.openxmlformats.org/drawingml/2006/table">
            <a:tbl>
              <a:tblPr firstRow="1" bandRow="1">
                <a:tableStyleId>{5C22544A-7EE6-4342-B048-85BDC9FD1C3A}</a:tableStyleId>
              </a:tblPr>
              <a:tblGrid>
                <a:gridCol w="1874519"/>
                <a:gridCol w="868680"/>
                <a:gridCol w="2450592"/>
              </a:tblGrid>
              <a:tr h="457200">
                <a:tc>
                  <a:txBody>
                    <a:bodyPr wrap="square"/>
                    <a:lstStyle/>
                    <a:p>
                      <a:pPr algn="l"/>
                      <a:r>
                        <a:rPr sz="1600" b="1" i="0">
                          <a:solidFill>
                            <a:srgbClr val="FFFFFF"/>
                          </a:solidFill>
                          <a:latin typeface="Arial"/>
                        </a:rPr>
                        <a:t>Nov – 12 Apr</a:t>
                      </a:r>
                    </a:p>
                  </a:txBody>
                  <a:tcPr marL="73152" marR="73152" marT="36576" marB="36576" anchor="ctr">
                    <a:solidFill>
                      <a:srgbClr val="1E293B"/>
                    </a:solidFill>
                  </a:tcPr>
                </a:tc>
                <a:tc>
                  <a:txBody>
                    <a:bodyPr wrap="square"/>
                    <a:lstStyle/>
                    <a:p>
                      <a:pPr algn="ctr"/>
                      <a:r>
                        <a:rPr sz="1600" b="1" i="0">
                          <a:solidFill>
                            <a:srgbClr val="FFFFFF"/>
                          </a:solidFill>
                          <a:latin typeface="Arial"/>
                        </a:rPr>
                        <a:t>Trades</a:t>
                      </a:r>
                    </a:p>
                  </a:txBody>
                  <a:tcPr marL="73152" marR="73152" marT="36576" marB="36576" anchor="ctr">
                    <a:solidFill>
                      <a:srgbClr val="1E293B"/>
                    </a:solidFill>
                  </a:tcPr>
                </a:tc>
                <a:tc>
                  <a:txBody>
                    <a:bodyPr wrap="square"/>
                    <a:lstStyle/>
                    <a:p>
                      <a:pPr algn="ctr"/>
                      <a:r>
                        <a:rPr sz="1600" b="1" i="0">
                          <a:solidFill>
                            <a:srgbClr val="FFFFFF"/>
                          </a:solidFill>
                          <a:latin typeface="Arial"/>
                        </a:rPr>
                        <a:t>P&amp;L [95% CI]</a:t>
                      </a:r>
                    </a:p>
                  </a:txBody>
                  <a:tcPr marL="73152" marR="73152" marT="36576" marB="36576" anchor="ctr">
                    <a:solidFill>
                      <a:srgbClr val="1E293B"/>
                    </a:solidFill>
                  </a:tcPr>
                </a:tc>
              </a:tr>
              <a:tr h="603504">
                <a:tc>
                  <a:txBody>
                    <a:bodyPr wrap="square"/>
                    <a:lstStyle/>
                    <a:p>
                      <a:pPr algn="l"/>
                      <a:r>
                        <a:rPr sz="16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600" b="0" i="0">
                          <a:solidFill>
                            <a:srgbClr val="0F172A"/>
                          </a:solidFill>
                          <a:latin typeface="Arial"/>
                        </a:rPr>
                        <a:t>0</a:t>
                      </a:r>
                    </a:p>
                  </a:txBody>
                  <a:tcPr marL="73152" marR="73152" marT="36576" marB="36576" anchor="ctr">
                    <a:solidFill>
                      <a:srgbClr val="DCFCE7"/>
                    </a:solidFill>
                  </a:tcPr>
                </a:tc>
                <a:tc>
                  <a:txBody>
                    <a:bodyPr wrap="square"/>
                    <a:lstStyle/>
                    <a:p>
                      <a:pPr algn="ctr"/>
                      <a:r>
                        <a:rPr sz="1600" b="1" i="0">
                          <a:solidFill>
                            <a:srgbClr val="0F172A"/>
                          </a:solidFill>
                          <a:latin typeface="Arial"/>
                        </a:rPr>
                        <a:t>$0</a:t>
                      </a:r>
                    </a:p>
                  </a:txBody>
                  <a:tcPr marL="73152" marR="73152" marT="36576" marB="36576" anchor="ctr">
                    <a:solidFill>
                      <a:srgbClr val="DCFCE7"/>
                    </a:solidFill>
                  </a:tcPr>
                </a:tc>
              </a:tr>
              <a:tr h="603504">
                <a:tc>
                  <a:txBody>
                    <a:bodyPr wrap="square"/>
                    <a:lstStyle/>
                    <a:p>
                      <a:pPr algn="l"/>
                      <a:r>
                        <a:rPr sz="1600" b="0" i="0">
                          <a:solidFill>
                            <a:srgbClr val="0F172A"/>
                          </a:solidFill>
                          <a:latin typeface="Arial"/>
                        </a:rPr>
                        <a:t>Full agent</a:t>
                      </a:r>
                    </a:p>
                  </a:txBody>
                  <a:tcPr marL="73152" marR="73152" marT="36576" marB="36576" anchor="ctr">
                    <a:solidFill>
                      <a:srgbClr val="FFFFFF"/>
                    </a:solidFill>
                  </a:tcPr>
                </a:tc>
                <a:tc>
                  <a:txBody>
                    <a:bodyPr wrap="square"/>
                    <a:lstStyle/>
                    <a:p>
                      <a:pPr algn="ctr"/>
                      <a:r>
                        <a:rPr sz="1600" b="0" i="0">
                          <a:solidFill>
                            <a:srgbClr val="0F172A"/>
                          </a:solidFill>
                          <a:latin typeface="Arial"/>
                        </a:rPr>
                        <a:t>157</a:t>
                      </a:r>
                    </a:p>
                  </a:txBody>
                  <a:tcPr marL="73152" marR="73152" marT="36576" marB="36576" anchor="ctr">
                    <a:solidFill>
                      <a:srgbClr val="FFFFFF"/>
                    </a:solidFill>
                  </a:tcPr>
                </a:tc>
                <a:tc>
                  <a:txBody>
                    <a:bodyPr wrap="square"/>
                    <a:lstStyle/>
                    <a:p>
                      <a:pPr algn="ctr"/>
                      <a:r>
                        <a:rPr sz="1600" b="0" i="0">
                          <a:solidFill>
                            <a:srgbClr val="0F172A"/>
                          </a:solidFill>
                          <a:latin typeface="Arial"/>
                        </a:rPr>
                        <a:t>−$25 [−$569 to +$564]</a:t>
                      </a:r>
                    </a:p>
                  </a:txBody>
                  <a:tcPr marL="73152" marR="73152" marT="36576" marB="36576" anchor="ctr">
                    <a:solidFill>
                      <a:srgbClr val="FFFFFF"/>
                    </a:solidFill>
                  </a:tcPr>
                </a:tc>
              </a:tr>
              <a:tr h="603504">
                <a:tc>
                  <a:txBody>
                    <a:bodyPr wrap="square"/>
                    <a:lstStyle/>
                    <a:p>
                      <a:pPr algn="l"/>
                      <a:r>
                        <a:rPr sz="1600" b="0" i="0">
                          <a:solidFill>
                            <a:srgbClr val="0F172A"/>
                          </a:solidFill>
                          <a:latin typeface="Arial"/>
                        </a:rPr>
                        <a:t>No learning</a:t>
                      </a:r>
                    </a:p>
                  </a:txBody>
                  <a:tcPr marL="73152" marR="73152" marT="36576" marB="36576" anchor="ctr">
                    <a:solidFill>
                      <a:srgbClr val="F1F5F9"/>
                    </a:solidFill>
                  </a:tcPr>
                </a:tc>
                <a:tc>
                  <a:txBody>
                    <a:bodyPr wrap="square"/>
                    <a:lstStyle/>
                    <a:p>
                      <a:pPr algn="ctr"/>
                      <a:r>
                        <a:rPr sz="1600" b="0" i="0">
                          <a:solidFill>
                            <a:srgbClr val="0F172A"/>
                          </a:solidFill>
                          <a:latin typeface="Arial"/>
                        </a:rPr>
                        <a:t>276</a:t>
                      </a:r>
                    </a:p>
                  </a:txBody>
                  <a:tcPr marL="73152" marR="73152" marT="36576" marB="36576" anchor="ctr">
                    <a:solidFill>
                      <a:srgbClr val="F1F5F9"/>
                    </a:solidFill>
                  </a:tcPr>
                </a:tc>
                <a:tc>
                  <a:txBody>
                    <a:bodyPr wrap="square"/>
                    <a:lstStyle/>
                    <a:p>
                      <a:pPr algn="ctr"/>
                      <a:r>
                        <a:rPr sz="1600" b="0" i="0">
                          <a:solidFill>
                            <a:srgbClr val="0F172A"/>
                          </a:solidFill>
                          <a:latin typeface="Arial"/>
                        </a:rPr>
                        <a:t>−$407 [−$1,324 to +$553]</a:t>
                      </a:r>
                    </a:p>
                  </a:txBody>
                  <a:tcPr marL="73152" marR="73152" marT="36576" marB="36576" anchor="ctr">
                    <a:solidFill>
                      <a:srgbClr val="F1F5F9"/>
                    </a:solidFill>
                  </a:tcPr>
                </a:tc>
              </a:tr>
              <a:tr h="603504">
                <a:tc>
                  <a:txBody>
                    <a:bodyPr wrap="square"/>
                    <a:lstStyle/>
                    <a:p>
                      <a:pPr algn="l"/>
                      <a:r>
                        <a:rPr sz="1600" b="0" i="0">
                          <a:solidFill>
                            <a:srgbClr val="0F172A"/>
                          </a:solidFill>
                          <a:latin typeface="Arial"/>
                        </a:rPr>
                        <a:t>Raw model</a:t>
                      </a:r>
                    </a:p>
                  </a:txBody>
                  <a:tcPr marL="73152" marR="73152" marT="36576" marB="36576" anchor="ctr">
                    <a:solidFill>
                      <a:srgbClr val="FFFFFF"/>
                    </a:solidFill>
                  </a:tcPr>
                </a:tc>
                <a:tc>
                  <a:txBody>
                    <a:bodyPr wrap="square"/>
                    <a:lstStyle/>
                    <a:p>
                      <a:pPr algn="ctr"/>
                      <a:r>
                        <a:rPr sz="1600" b="0" i="0">
                          <a:solidFill>
                            <a:srgbClr val="0F172A"/>
                          </a:solidFill>
                          <a:latin typeface="Arial"/>
                        </a:rPr>
                        <a:t>711</a:t>
                      </a:r>
                    </a:p>
                  </a:txBody>
                  <a:tcPr marL="73152" marR="73152" marT="36576" marB="36576" anchor="ctr">
                    <a:solidFill>
                      <a:srgbClr val="FFFFFF"/>
                    </a:solidFill>
                  </a:tcPr>
                </a:tc>
                <a:tc>
                  <a:txBody>
                    <a:bodyPr wrap="square"/>
                    <a:lstStyle/>
                    <a:p>
                      <a:pPr algn="ctr"/>
                      <a:r>
                        <a:rPr sz="16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6537960" y="4114800"/>
            <a:ext cx="5196535" cy="640080"/>
          </a:xfrm>
          <a:prstGeom prst="rect">
            <a:avLst/>
          </a:prstGeom>
          <a:noFill/>
        </p:spPr>
        <p:txBody>
          <a:bodyPr wrap="square" anchor="t" lIns="73152" rIns="73152" tIns="36576" bIns="36576">
            <a:spAutoFit/>
          </a:bodyPr>
          <a:lstStyle/>
          <a:p>
            <a:pPr algn="l">
              <a:spcAft>
                <a:spcPts val="800"/>
              </a:spcAft>
            </a:pPr>
            <a:r>
              <a:rPr sz="1400" b="0" i="0">
                <a:solidFill>
                  <a:srgbClr val="64748B"/>
                </a:solidFill>
                <a:latin typeface="Arial"/>
              </a:rPr>
              <a:t>Day-clustered bootstrap; M4 retrained monthly. Chart totals include play-offs, the table does not</a:t>
            </a:r>
          </a:p>
        </p:txBody>
      </p:sp>
      <p:sp>
        <p:nvSpPr>
          <p:cNvPr id="10" name="TextBox 9"/>
          <p:cNvSpPr txBox="1"/>
          <p:nvPr/>
        </p:nvSpPr>
        <p:spPr>
          <a:xfrm>
            <a:off x="457200" y="4663440"/>
            <a:ext cx="11277295" cy="169164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Mean CLV &lt; 0 for every setup; </a:t>
            </a:r>
            <a:r>
              <a:rPr sz="1800" b="1" i="0">
                <a:solidFill>
                  <a:srgbClr val="0F172A"/>
                </a:solidFill>
                <a:latin typeface="Arial"/>
              </a:rPr>
              <a:t>every 95% CI entirely below zero</a:t>
            </a:r>
          </a:p>
          <a:p>
            <a:pPr algn="l" marL="292608" indent="-256032">
              <a:spcAft>
                <a:spcPts val="400"/>
              </a:spcAft>
              <a:buChar char="•"/>
            </a:pPr>
            <a:r>
              <a:rPr sz="1800" b="0" i="0">
                <a:solidFill>
                  <a:srgbClr val="0F172A"/>
                </a:solidFill>
                <a:latin typeface="Arial"/>
              </a:rPr>
              <a:t>Market anchor is real: +$2,450 vs raw model (p = 0.002); learning = trading less (p = 0.13)</a:t>
            </a:r>
          </a:p>
          <a:p>
            <a:pPr algn="l" marL="292608" indent="-256032">
              <a:spcAft>
                <a:spcPts val="400"/>
              </a:spcAft>
              <a:buChar char="•"/>
            </a:pPr>
            <a:r>
              <a:rPr sz="1800" b="0" i="0">
                <a:solidFill>
                  <a:srgbClr val="0F172A"/>
                </a:solidFill>
                <a:latin typeface="Arial"/>
              </a:rPr>
              <a:t>Play-off holdout (87 games): full agent 0 trades; no learning 6 trades, −$74; raw model +$450 with negative CLV (luck)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Long shots: where the data is weaker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pic>
        <p:nvPicPr>
          <p:cNvPr id="7" name="Picture 6" descr="longshot_calibration.png"/>
          <p:cNvPicPr>
            <a:picLocks noChangeAspect="1"/>
          </p:cNvPicPr>
          <p:nvPr/>
        </p:nvPicPr>
        <p:blipFill>
          <a:blip r:embed="rId3"/>
          <a:stretch>
            <a:fillRect/>
          </a:stretch>
        </p:blipFill>
        <p:spPr>
          <a:xfrm>
            <a:off x="895197" y="1097280"/>
            <a:ext cx="10401299" cy="4160520"/>
          </a:xfrm>
          <a:prstGeom prst="rect">
            <a:avLst/>
          </a:prstGeom>
        </p:spPr>
      </p:pic>
      <p:sp>
        <p:nvSpPr>
          <p:cNvPr id="8" name="TextBox 7"/>
          <p:cNvSpPr txBox="1"/>
          <p:nvPr/>
        </p:nvSpPr>
        <p:spPr>
          <a:xfrm>
            <a:off x="457200" y="5349240"/>
            <a:ext cx="11277295" cy="100584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Not clearly supported:</a:t>
            </a:r>
            <a:r>
              <a:rPr sz="1800" b="0" i="0">
                <a:solidFill>
                  <a:srgbClr val="0F172A"/>
                </a:solidFill>
                <a:latin typeface="Arial"/>
              </a:rPr>
              <a:t> prices are calibrated; only 0–10¢ hints (1 win in 66 vs 7.4% implied, z = −1.8)</a:t>
            </a:r>
          </a:p>
          <a:p>
            <a:pPr algn="l" marL="292608" indent="-256032">
              <a:spcAft>
                <a:spcPts val="400"/>
              </a:spcAft>
              <a:buChar char="•"/>
            </a:pPr>
            <a:r>
              <a:rPr sz="1800" b="0" i="0">
                <a:solidFill>
                  <a:srgbClr val="0F172A"/>
                </a:solidFill>
                <a:latin typeface="Arial"/>
              </a:rPr>
              <a:t>Buying at ask + fee: long shots ≤ 25¢ </a:t>
            </a:r>
            <a:r>
              <a:rPr sz="1800" b="1" i="0">
                <a:solidFill>
                  <a:srgbClr val="0F172A"/>
                </a:solidFill>
                <a:latin typeface="Arial"/>
              </a:rPr>
              <a:t>−13.4%</a:t>
            </a:r>
            <a:r>
              <a:rPr sz="1800" b="0" i="0">
                <a:solidFill>
                  <a:srgbClr val="0F172A"/>
                </a:solidFill>
                <a:latin typeface="Arial"/>
              </a:rPr>
              <a:t>, heavy favourites ≥ 75¢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Context: who sits on the other side?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sp>
        <p:nvSpPr>
          <p:cNvPr id="7" name="Rounded Rectangle 6"/>
          <p:cNvSpPr/>
          <p:nvPr/>
        </p:nvSpPr>
        <p:spPr>
          <a:xfrm>
            <a:off x="457200" y="1234439"/>
            <a:ext cx="11277295" cy="548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34439"/>
            <a:ext cx="11094415" cy="548640"/>
          </a:xfrm>
          <a:prstGeom prst="rect">
            <a:avLst/>
          </a:prstGeom>
          <a:noFill/>
        </p:spPr>
        <p:txBody>
          <a:bodyPr wrap="square" anchor="ctr" lIns="73152" rIns="73152" tIns="36576" bIns="36576">
            <a:spAutoFit/>
          </a:bodyPr>
          <a:lstStyle/>
          <a:p>
            <a:pPr algn="l">
              <a:spcAft>
                <a:spcPts val="0"/>
              </a:spcAft>
            </a:pPr>
            <a:r>
              <a:rPr sz="2000" b="0" i="0">
                <a:solidFill>
                  <a:srgbClr val="DC2626"/>
                </a:solidFill>
                <a:latin typeface="Arial"/>
              </a:rPr>
              <a:t>General industry knowledge: NOT measured in this project</a:t>
            </a:r>
          </a:p>
        </p:txBody>
      </p:sp>
      <p:sp>
        <p:nvSpPr>
          <p:cNvPr id="9" name="Rounded Rectangle 8"/>
          <p:cNvSpPr/>
          <p:nvPr/>
        </p:nvSpPr>
        <p:spPr>
          <a:xfrm>
            <a:off x="457200" y="2011680"/>
            <a:ext cx="5440680"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11680"/>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84832"/>
            <a:ext cx="516636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Professionals / market makers</a:t>
            </a:r>
          </a:p>
        </p:txBody>
      </p:sp>
      <p:sp>
        <p:nvSpPr>
          <p:cNvPr id="12" name="TextBox 11"/>
          <p:cNvSpPr txBox="1"/>
          <p:nvPr/>
        </p:nvSpPr>
        <p:spPr>
          <a:xfrm>
            <a:off x="640080" y="2542032"/>
            <a:ext cx="5166360" cy="268833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Fast data feeds and automated pricing</a:t>
            </a:r>
          </a:p>
          <a:p>
            <a:pPr algn="l" marL="292608" indent="-256032">
              <a:spcAft>
                <a:spcPts val="600"/>
              </a:spcAft>
              <a:buChar char="•"/>
            </a:pPr>
            <a:r>
              <a:rPr sz="1800" b="0" i="0">
                <a:solidFill>
                  <a:srgbClr val="0F172A"/>
                </a:solidFill>
                <a:latin typeface="Arial"/>
              </a:rPr>
              <a:t>Specialist models, staff and capital</a:t>
            </a:r>
          </a:p>
          <a:p>
            <a:pPr algn="l" marL="292608" indent="-256032">
              <a:spcAft>
                <a:spcPts val="600"/>
              </a:spcAft>
              <a:buChar char="•"/>
            </a:pPr>
            <a:r>
              <a:rPr sz="1800" b="0" i="0">
                <a:solidFill>
                  <a:srgbClr val="0F172A"/>
                </a:solidFill>
                <a:latin typeface="Arial"/>
              </a:rPr>
              <a:t>On many venues, maker fee or liquidity programmes</a:t>
            </a:r>
          </a:p>
        </p:txBody>
      </p:sp>
      <p:sp>
        <p:nvSpPr>
          <p:cNvPr id="13" name="Rounded Rectangle 12"/>
          <p:cNvSpPr/>
          <p:nvPr/>
        </p:nvSpPr>
        <p:spPr>
          <a:xfrm>
            <a:off x="6291072" y="2011680"/>
            <a:ext cx="5443423"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91072" y="2011680"/>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84832"/>
            <a:ext cx="5169103"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Typical retail user</a:t>
            </a:r>
          </a:p>
        </p:txBody>
      </p:sp>
      <p:sp>
        <p:nvSpPr>
          <p:cNvPr id="16" name="TextBox 15"/>
          <p:cNvSpPr txBox="1"/>
          <p:nvPr/>
        </p:nvSpPr>
        <p:spPr>
          <a:xfrm>
            <a:off x="6473952" y="2542032"/>
            <a:ext cx="5169103" cy="268833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Public news, often after the price has moved</a:t>
            </a:r>
          </a:p>
          <a:p>
            <a:pPr algn="l" marL="292608" indent="-256032">
              <a:spcAft>
                <a:spcPts val="600"/>
              </a:spcAft>
              <a:buChar char="•"/>
            </a:pPr>
            <a:r>
              <a:rPr sz="1800" b="0" i="0">
                <a:solidFill>
                  <a:srgbClr val="0F172A"/>
                </a:solidFill>
                <a:latin typeface="Arial"/>
              </a:rPr>
              <a:t>Intuition and headlines, no model</a:t>
            </a:r>
          </a:p>
          <a:p>
            <a:pPr algn="l" marL="292608" indent="-256032">
              <a:spcAft>
                <a:spcPts val="600"/>
              </a:spcAft>
              <a:buChar char="•"/>
            </a:pPr>
            <a:r>
              <a:rPr sz="1800" b="0" i="0">
                <a:solidFill>
                  <a:srgbClr val="0F172A"/>
                </a:solidFill>
                <a:latin typeface="Arial"/>
              </a:rPr>
              <a:t>Pays the spread and the taker fee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reframed: protect the consumer first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pic>
        <p:nvPicPr>
          <p:cNvPr id="7" name="Picture 6" descr="agent_workflow.png"/>
          <p:cNvPicPr>
            <a:picLocks noChangeAspect="1"/>
          </p:cNvPicPr>
          <p:nvPr/>
        </p:nvPicPr>
        <p:blipFill>
          <a:blip r:embed="rId3"/>
          <a:stretch>
            <a:fillRect/>
          </a:stretch>
        </p:blipFill>
        <p:spPr>
          <a:xfrm>
            <a:off x="457200" y="1853719"/>
            <a:ext cx="6766560" cy="3744920"/>
          </a:xfrm>
          <a:prstGeom prst="rect">
            <a:avLst/>
          </a:prstGeom>
        </p:spPr>
      </p:pic>
      <p:sp>
        <p:nvSpPr>
          <p:cNvPr id="8" name="TextBox 7"/>
          <p:cNvSpPr txBox="1"/>
          <p:nvPr/>
        </p:nvSpPr>
        <p:spPr>
          <a:xfrm>
            <a:off x="7406640" y="1234439"/>
            <a:ext cx="4327855" cy="5120640"/>
          </a:xfrm>
          <a:prstGeom prst="rect">
            <a:avLst/>
          </a:prstGeom>
          <a:noFill/>
        </p:spPr>
        <p:txBody>
          <a:bodyPr wrap="square" anchor="t" lIns="73152" rIns="73152" tIns="36576" bIns="36576">
            <a:spAutoFit/>
          </a:bodyPr>
          <a:lstStyle/>
          <a:p>
            <a:pPr algn="l" marL="292608" indent="-256032">
              <a:spcAft>
                <a:spcPts val="800"/>
              </a:spcAft>
              <a:buChar char="•"/>
            </a:pPr>
            <a:r>
              <a:rPr sz="1800" b="1" i="0">
                <a:solidFill>
                  <a:srgbClr val="0F172A"/>
                </a:solidFill>
                <a:latin typeface="Arial"/>
              </a:rPr>
              <a:t>Pass by default:</a:t>
            </a:r>
            <a:r>
              <a:rPr sz="1800" b="0" i="0">
                <a:solidFill>
                  <a:srgbClr val="0F172A"/>
                </a:solidFill>
                <a:latin typeface="Arial"/>
              </a:rPr>
              <a:t> 90% of decision points → no trade</a:t>
            </a:r>
          </a:p>
          <a:p>
            <a:pPr algn="l" marL="292608" indent="-256032">
              <a:spcAft>
                <a:spcPts val="800"/>
              </a:spcAft>
              <a:buChar char="•"/>
            </a:pPr>
            <a:r>
              <a:rPr sz="1800" b="1" i="0">
                <a:solidFill>
                  <a:srgbClr val="0F172A"/>
                </a:solidFill>
                <a:latin typeface="Arial"/>
              </a:rPr>
              <a:t>No-order reason:</a:t>
            </a:r>
            <a:r>
              <a:rPr sz="1800" b="0" i="0">
                <a:solidFill>
                  <a:srgbClr val="0F172A"/>
                </a:solidFill>
                <a:latin typeface="Arial"/>
              </a:rPr>
              <a:t> “gap after fees too small or the price already moved”</a:t>
            </a:r>
          </a:p>
          <a:p>
            <a:pPr algn="l" marL="292608" indent="-256032">
              <a:spcAft>
                <a:spcPts val="800"/>
              </a:spcAft>
              <a:buChar char="•"/>
            </a:pPr>
            <a:r>
              <a:rPr sz="1800" b="1" i="0">
                <a:solidFill>
                  <a:srgbClr val="0F172A"/>
                </a:solidFill>
                <a:latin typeface="Arial"/>
              </a:rPr>
              <a:t>Costs shown:</a:t>
            </a:r>
            <a:r>
              <a:rPr sz="1800" b="0" i="0">
                <a:solidFill>
                  <a:srgbClr val="0F172A"/>
                </a:solidFill>
                <a:latin typeface="Arial"/>
              </a:rPr>
              <a:t> bid-ask in briefs; Coach shows break-even after spread + fee</a:t>
            </a:r>
          </a:p>
          <a:p>
            <a:pPr algn="l" marL="292608" indent="-256032">
              <a:spcAft>
                <a:spcPts val="800"/>
              </a:spcAft>
              <a:buChar char="•"/>
            </a:pPr>
            <a:r>
              <a:rPr sz="1800" b="1" i="0">
                <a:solidFill>
                  <a:srgbClr val="0F172A"/>
                </a:solidFill>
                <a:latin typeface="Arial"/>
              </a:rPr>
              <a:t>Code limits:</a:t>
            </a:r>
            <a:r>
              <a:rPr sz="1800" b="0" i="0">
                <a:solidFill>
                  <a:srgbClr val="0F172A"/>
                </a:solidFill>
                <a:latin typeface="Arial"/>
              </a:rPr>
              <a:t> $50 / order, $100 / game, $300 / day; bans “lock”, “guaranteed”, “risk-free”</a:t>
            </a:r>
          </a:p>
          <a:p>
            <a:pPr algn="l" marL="292608" indent="-256032">
              <a:spcAft>
                <a:spcPts val="800"/>
              </a:spcAft>
              <a:buChar char="•"/>
            </a:pPr>
            <a:r>
              <a:rPr sz="1800" b="1" i="0">
                <a:solidFill>
                  <a:srgbClr val="0F172A"/>
                </a:solidFill>
                <a:latin typeface="Arial"/>
              </a:rPr>
              <a:t>9 / 9</a:t>
            </a:r>
            <a:r>
              <a:rPr sz="1800" b="0" i="0">
                <a:solidFill>
                  <a:srgbClr val="0F172A"/>
                </a:solidFill>
                <a:latin typeface="Arial"/>
              </a:rPr>
              <a:t> planted violations blocked</a:t>
            </a:r>
          </a:p>
          <a:p>
            <a:pPr algn="l" marL="292608" indent="-256032">
              <a:spcAft>
                <a:spcPts val="800"/>
              </a:spcAft>
              <a:buChar char="•"/>
            </a:pPr>
            <a:r>
              <a:rPr sz="1800" b="1" i="0">
                <a:solidFill>
                  <a:srgbClr val="0F172A"/>
                </a:solidFill>
                <a:latin typeface="Arial"/>
              </a:rPr>
              <a:t>Learned rules:</a:t>
            </a:r>
            <a:r>
              <a:rPr sz="1800" b="0" i="0">
                <a:solidFill>
                  <a:srgbClr val="0F172A"/>
                </a:solidFill>
                <a:latin typeface="Arial"/>
              </a:rPr>
              <a:t> skip ≤ 35¢; skip after a 2¢ move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Coach: teach why most bets don't clear costs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5501487" cy="205740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2057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What's going on</a:t>
            </a:r>
          </a:p>
        </p:txBody>
      </p:sp>
      <p:sp>
        <p:nvSpPr>
          <p:cNvPr id="10" name="TextBox 9"/>
          <p:cNvSpPr txBox="1"/>
          <p:nvPr/>
        </p:nvSpPr>
        <p:spPr>
          <a:xfrm>
            <a:off x="640080"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News so far; model before / after the news</a:t>
            </a:r>
          </a:p>
          <a:p>
            <a:pPr algn="l" marL="292608" indent="-256032">
              <a:spcAft>
                <a:spcPts val="600"/>
              </a:spcAft>
              <a:buChar char="•"/>
            </a:pPr>
            <a:r>
              <a:rPr sz="1800" b="0" i="0">
                <a:solidFill>
                  <a:srgbClr val="0F172A"/>
                </a:solidFill>
                <a:latin typeface="Arial"/>
              </a:rPr>
              <a:t>Market now vs 24 h ago; break-even after spread + fee</a:t>
            </a:r>
          </a:p>
        </p:txBody>
      </p:sp>
      <p:sp>
        <p:nvSpPr>
          <p:cNvPr id="11" name="Rounded Rectangle 10"/>
          <p:cNvSpPr/>
          <p:nvPr/>
        </p:nvSpPr>
        <p:spPr>
          <a:xfrm>
            <a:off x="6233007" y="1234439"/>
            <a:ext cx="5501487" cy="20574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34439"/>
            <a:ext cx="109728" cy="20574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5887" y="1307592"/>
            <a:ext cx="522716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Lessons, when relevant</a:t>
            </a:r>
          </a:p>
        </p:txBody>
      </p:sp>
      <p:sp>
        <p:nvSpPr>
          <p:cNvPr id="14" name="TextBox 13"/>
          <p:cNvSpPr txBox="1"/>
          <p:nvPr/>
        </p:nvSpPr>
        <p:spPr>
          <a:xfrm>
            <a:off x="6415887" y="1764791"/>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Price = probability · costs move break-even</a:t>
            </a:r>
          </a:p>
          <a:p>
            <a:pPr algn="l" marL="292608" indent="-256032">
              <a:spcAft>
                <a:spcPts val="600"/>
              </a:spcAft>
              <a:buChar char="•"/>
            </a:pPr>
            <a:r>
              <a:rPr sz="1800" b="0" i="0">
                <a:solidFill>
                  <a:srgbClr val="0F172A"/>
                </a:solidFill>
                <a:latin typeface="Arial"/>
              </a:rPr>
              <a:t>Priced in / chasing · long shots · closing line · passing</a:t>
            </a:r>
          </a:p>
        </p:txBody>
      </p:sp>
      <p:sp>
        <p:nvSpPr>
          <p:cNvPr id="15" name="Rounded Rectangle 14"/>
          <p:cNvSpPr/>
          <p:nvPr/>
        </p:nvSpPr>
        <p:spPr>
          <a:xfrm>
            <a:off x="457200" y="3474720"/>
            <a:ext cx="550148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474720"/>
            <a:ext cx="109728" cy="205740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6A34A"/>
                </a:solidFill>
                <a:latin typeface="Arial"/>
              </a:rPr>
              <a:t>3  Your paper call</a:t>
            </a:r>
          </a:p>
        </p:txBody>
      </p:sp>
      <p:sp>
        <p:nvSpPr>
          <p:cNvPr id="18" name="TextBox 17"/>
          <p:cNvSpPr txBox="1"/>
          <p:nvPr/>
        </p:nvSpPr>
        <p:spPr>
          <a:xfrm>
            <a:off x="640080"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Back a team or pass</a:t>
            </a:r>
          </a:p>
          <a:p>
            <a:pPr algn="l" marL="292608" indent="-256032">
              <a:spcAft>
                <a:spcPts val="600"/>
              </a:spcAft>
              <a:buChar char="•"/>
            </a:pPr>
            <a:r>
              <a:rPr sz="1800" b="0" i="0">
                <a:solidFill>
                  <a:srgbClr val="0F172A"/>
                </a:solidFill>
                <a:latin typeface="Arial"/>
              </a:rPr>
              <a:t>Then: close, CLV, result, and what the agent did</a:t>
            </a:r>
          </a:p>
        </p:txBody>
      </p:sp>
      <p:sp>
        <p:nvSpPr>
          <p:cNvPr id="19" name="Rounded Rectangle 18"/>
          <p:cNvSpPr/>
          <p:nvPr/>
        </p:nvSpPr>
        <p:spPr>
          <a:xfrm>
            <a:off x="6233007" y="3474720"/>
            <a:ext cx="5501487" cy="20574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3474720"/>
            <a:ext cx="109728" cy="20574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3547872"/>
            <a:ext cx="5227167"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4  Habit feedback</a:t>
            </a:r>
          </a:p>
        </p:txBody>
      </p:sp>
      <p:sp>
        <p:nvSpPr>
          <p:cNvPr id="22" name="TextBox 21"/>
          <p:cNvSpPr txBox="1"/>
          <p:nvPr/>
        </p:nvSpPr>
        <p:spPr>
          <a:xfrm>
            <a:off x="6415887" y="4005072"/>
            <a:ext cx="5227167" cy="145389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Paying above the close, long shots, chasing</a:t>
            </a:r>
          </a:p>
          <a:p>
            <a:pPr algn="l" marL="292608" indent="-256032">
              <a:spcAft>
                <a:spcPts val="600"/>
              </a:spcAft>
              <a:buChar char="•"/>
            </a:pPr>
            <a:r>
              <a:rPr sz="1800" b="0" i="0">
                <a:solidFill>
                  <a:srgbClr val="0F172A"/>
                </a:solidFill>
                <a:latin typeface="Arial"/>
              </a:rPr>
              <a:t>Small samples are mostly luck</a:t>
            </a:r>
          </a:p>
        </p:txBody>
      </p:sp>
      <p:sp>
        <p:nvSpPr>
          <p:cNvPr id="23" name="Rounded Rectangle 22"/>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Honest scope: what “unfair” means here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Rounded Rectangle 6"/>
          <p:cNvSpPr/>
          <p:nvPr/>
        </p:nvSpPr>
        <p:spPr>
          <a:xfrm>
            <a:off x="457200" y="1234439"/>
            <a:ext cx="5120640" cy="507492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5074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484632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What we claim</a:t>
            </a:r>
          </a:p>
        </p:txBody>
      </p:sp>
      <p:sp>
        <p:nvSpPr>
          <p:cNvPr id="10" name="TextBox 9"/>
          <p:cNvSpPr txBox="1"/>
          <p:nvPr/>
        </p:nvSpPr>
        <p:spPr>
          <a:xfrm>
            <a:off x="640080" y="1764791"/>
            <a:ext cx="4846320" cy="447141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Structural disadvantages: costs, speed, expertise</a:t>
            </a:r>
          </a:p>
          <a:p>
            <a:pPr algn="l" marL="292608" indent="-256032">
              <a:spcAft>
                <a:spcPts val="600"/>
              </a:spcAft>
              <a:buChar char="•"/>
            </a:pPr>
            <a:r>
              <a:rPr sz="1800" b="1" i="0">
                <a:solidFill>
                  <a:srgbClr val="0F172A"/>
                </a:solidFill>
                <a:latin typeface="Arial"/>
              </a:rPr>
              <a:t>Not</a:t>
            </a:r>
            <a:r>
              <a:rPr sz="1800" b="0" i="0">
                <a:solidFill>
                  <a:srgbClr val="0F172A"/>
                </a:solidFill>
                <a:latin typeface="Arial"/>
              </a:rPr>
              <a:t> manipulation or fraud</a:t>
            </a:r>
          </a:p>
          <a:p>
            <a:pPr algn="l" marL="292608" indent="-256032">
              <a:spcAft>
                <a:spcPts val="600"/>
              </a:spcAft>
              <a:buChar char="•"/>
            </a:pPr>
            <a:r>
              <a:rPr sz="1800" b="1" i="0">
                <a:solidFill>
                  <a:srgbClr val="0F172A"/>
                </a:solidFill>
                <a:latin typeface="Arial"/>
              </a:rPr>
              <a:t>No</a:t>
            </a:r>
            <a:r>
              <a:rPr sz="1800" b="0" i="0">
                <a:solidFill>
                  <a:srgbClr val="0F172A"/>
                </a:solidFill>
                <a:latin typeface="Arial"/>
              </a:rPr>
              <a:t> accusation against Kalshi or any venue</a:t>
            </a:r>
          </a:p>
          <a:p>
            <a:pPr algn="l" marL="292608" indent="-256032">
              <a:spcAft>
                <a:spcPts val="600"/>
              </a:spcAft>
              <a:buChar char="•"/>
            </a:pPr>
            <a:r>
              <a:rPr sz="1800" b="0" i="0">
                <a:solidFill>
                  <a:srgbClr val="0F172A"/>
                </a:solidFill>
                <a:latin typeface="Arial"/>
              </a:rPr>
              <a:t>Paper money; public data only</a:t>
            </a:r>
          </a:p>
        </p:txBody>
      </p:sp>
      <p:sp>
        <p:nvSpPr>
          <p:cNvPr id="11" name="Rounded Rectangle 10"/>
          <p:cNvSpPr/>
          <p:nvPr/>
        </p:nvSpPr>
        <p:spPr>
          <a:xfrm>
            <a:off x="5852160" y="1234439"/>
            <a:ext cx="5882335" cy="50749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52160" y="1234439"/>
            <a:ext cx="109728" cy="50749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0" y="1307592"/>
            <a:ext cx="5608015"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Caveats and disclosure</a:t>
            </a:r>
          </a:p>
        </p:txBody>
      </p:sp>
      <p:sp>
        <p:nvSpPr>
          <p:cNvPr id="14" name="TextBox 13"/>
          <p:cNvSpPr txBox="1"/>
          <p:nvPr/>
        </p:nvSpPr>
        <p:spPr>
          <a:xfrm>
            <a:off x="6035040" y="1764791"/>
            <a:ext cx="5608015" cy="4471416"/>
          </a:xfrm>
          <a:prstGeom prst="rect">
            <a:avLst/>
          </a:prstGeom>
          <a:noFill/>
        </p:spPr>
        <p:txBody>
          <a:bodyPr wrap="square" anchor="t" lIns="73152" rIns="73152" tIns="36576" bIns="36576">
            <a:spAutoFit/>
          </a:bodyPr>
          <a:lstStyle/>
          <a:p>
            <a:pPr algn="l" marL="292608" indent="-256032">
              <a:spcAft>
                <a:spcPts val="600"/>
              </a:spcAft>
              <a:buChar char="•"/>
            </a:pPr>
            <a:r>
              <a:rPr sz="1800" b="1" i="0">
                <a:solidFill>
                  <a:srgbClr val="0F172A"/>
                </a:solidFill>
                <a:latin typeface="Arial"/>
              </a:rPr>
              <a:t>Disclosure:</a:t>
            </a:r>
            <a:r>
              <a:rPr sz="1800" b="0" i="0">
                <a:solidFill>
                  <a:srgbClr val="0F172A"/>
                </a:solidFill>
                <a:latin typeface="Arial"/>
              </a:rPr>
              <a:t> anchor and reviewer designed after seeing Feb–Apr results, so that window is not a clean holdout; walk-forward and play-off holdout are the honest checks</a:t>
            </a:r>
          </a:p>
          <a:p>
            <a:pPr algn="l" marL="292608" indent="-256032">
              <a:spcAft>
                <a:spcPts val="600"/>
              </a:spcAft>
              <a:buChar char="•"/>
            </a:pPr>
            <a:r>
              <a:rPr sz="1800" b="0" i="0">
                <a:solidFill>
                  <a:srgbClr val="0F172A"/>
                </a:solidFill>
                <a:latin typeface="Arial"/>
              </a:rPr>
              <a:t>One season (1,316 games), game-winner markets only</a:t>
            </a:r>
          </a:p>
          <a:p>
            <a:pPr algn="l" marL="292608" indent="-256032">
              <a:spcAft>
                <a:spcPts val="600"/>
              </a:spcAft>
              <a:buChar char="•"/>
            </a:pPr>
            <a:r>
              <a:rPr sz="1800" b="0" i="0">
                <a:solidFill>
                  <a:srgbClr val="0F172A"/>
                </a:solidFill>
                <a:latin typeface="Arial"/>
              </a:rPr>
              <a:t>News stamped tip − 30 min (proxy; real reports come earlier)</a:t>
            </a:r>
          </a:p>
          <a:p>
            <a:pPr algn="l" marL="292608" indent="-256032">
              <a:spcAft>
                <a:spcPts val="600"/>
              </a:spcAft>
              <a:buChar char="•"/>
            </a:pPr>
            <a:r>
              <a:rPr sz="1800" b="0" i="0">
                <a:solidFill>
                  <a:srgbClr val="0F172A"/>
                </a:solidFill>
                <a:latin typeface="Arial"/>
              </a:rPr>
              <a:t>Costs measured for a $20 order at tip − 60 min; long-shot test underpowered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4224528"/>
        </p:xfrm>
        <a:graphic>
          <a:graphicData uri="http://schemas.openxmlformats.org/drawingml/2006/table">
            <a:tbl>
              <a:tblPr firstRow="1" bandRow="1">
                <a:tableStyleId>{5C22544A-7EE6-4342-B048-85BDC9FD1C3A}</a:tableStyleId>
              </a:tblPr>
              <a:tblGrid>
                <a:gridCol w="2377440"/>
                <a:gridCol w="8899855"/>
              </a:tblGrid>
              <a:tr h="603504">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03504">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 (or a guarded paper order)</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Channel briefs</a:t>
                      </a:r>
                    </a:p>
                  </a:txBody>
                  <a:tcPr marL="73152" marR="73152" marT="36576" marB="36576" anchor="ctr">
                    <a:solidFill>
                      <a:srgbClr val="F1F5F9"/>
                    </a:solidFill>
                  </a:tcPr>
                </a:tc>
                <a:tc>
                  <a:txBody>
                    <a:bodyPr wrap="square"/>
                    <a:lstStyle/>
                    <a:p>
                      <a:pPr algn="l"/>
                      <a:r>
                        <a:rPr sz="1800" b="0" i="0">
                          <a:solidFill>
                            <a:srgbClr val="0F172A"/>
                          </a:solidFill>
                          <a:latin typeface="Arial"/>
                        </a:rPr>
                        <a:t>Retail: model vs market and no-order reason; no market language for media / team</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03504">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r h="603504">
                <a:tc>
                  <a:txBody>
                    <a:bodyPr wrap="square"/>
                    <a:lstStyle/>
                    <a:p>
                      <a:pPr algn="l"/>
                      <a:r>
                        <a:rPr sz="1800" b="0" i="0">
                          <a:solidFill>
                            <a:srgbClr val="0F172A"/>
                          </a:solidFill>
                          <a:latin typeface="Arial"/>
                        </a:rPr>
                        <a:t>Models</a:t>
                      </a:r>
                    </a:p>
                  </a:txBody>
                  <a:tcPr marL="73152" marR="73152" marT="36576" marB="36576" anchor="ctr">
                    <a:solidFill>
                      <a:srgbClr val="FFFFFF"/>
                    </a:solidFill>
                  </a:tcPr>
                </a:tc>
                <a:tc>
                  <a:txBody>
                    <a:bodyPr wrap="square"/>
                    <a:lstStyle/>
                    <a:p>
                      <a:pPr algn="l"/>
                      <a:r>
                        <a:rPr sz="1800" b="0" i="0">
                          <a:solidFill>
                            <a:srgbClr val="0F172A"/>
                          </a:solidFill>
                          <a:latin typeface="Arial"/>
                        </a:rPr>
                        <a:t>Held-out results and the market beating our model</a:t>
                      </a:r>
                    </a:p>
                  </a:txBody>
                  <a:tcPr marL="73152" marR="73152" marT="36576" marB="36576" anchor="ctr">
                    <a:solidFill>
                      <a:srgbClr val="FFFFFF"/>
                    </a:solidFill>
                  </a:tcPr>
                </a:tc>
              </a:tr>
            </a:tbl>
          </a:graphicData>
        </a:graphic>
      </p:graphicFrame>
      <p:sp>
        <p:nvSpPr>
          <p:cNvPr id="8" name="Rounded Rectangle 7"/>
          <p:cNvSpPr/>
          <p:nvPr/>
        </p:nvSpPr>
        <p:spPr>
          <a:xfrm>
            <a:off x="457200" y="5760720"/>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1094415" cy="50292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next steps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Can a consumer beat a sports prediction market?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65760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6576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2000" b="1" i="0">
                <a:solidFill>
                  <a:srgbClr val="1E293B"/>
                </a:solidFill>
                <a:latin typeface="Arial"/>
              </a:rPr>
              <a:t>For products and policy</a:t>
            </a:r>
          </a:p>
        </p:txBody>
      </p:sp>
      <p:sp>
        <p:nvSpPr>
          <p:cNvPr id="10" name="TextBox 9"/>
          <p:cNvSpPr txBox="1"/>
          <p:nvPr/>
        </p:nvSpPr>
        <p:spPr>
          <a:xfrm>
            <a:off x="640080" y="1764791"/>
            <a:ext cx="5577840"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all-in cost and break-even before every order</a:t>
            </a:r>
          </a:p>
          <a:p>
            <a:pPr algn="l" marL="292608" indent="-256032">
              <a:spcAft>
                <a:spcPts val="600"/>
              </a:spcAft>
              <a:buChar char="•"/>
            </a:pPr>
            <a:r>
              <a:rPr sz="1800" b="0" i="0">
                <a:solidFill>
                  <a:srgbClr val="0F172A"/>
                </a:solidFill>
                <a:latin typeface="Arial"/>
              </a:rPr>
              <a:t>Default warning: “this news is likely priced in”</a:t>
            </a:r>
          </a:p>
          <a:p>
            <a:pPr algn="l" marL="292608" indent="-256032">
              <a:spcAft>
                <a:spcPts val="600"/>
              </a:spcAft>
              <a:buChar char="•"/>
            </a:pPr>
            <a:r>
              <a:rPr sz="1800" b="0" i="0">
                <a:solidFill>
                  <a:srgbClr val="0F172A"/>
                </a:solidFill>
                <a:latin typeface="Arial"/>
              </a:rPr>
              <a:t>Education before the first trade; default stake limits</a:t>
            </a:r>
          </a:p>
        </p:txBody>
      </p:sp>
      <p:sp>
        <p:nvSpPr>
          <p:cNvPr id="11" name="Rounded Rectangle 10"/>
          <p:cNvSpPr/>
          <p:nvPr/>
        </p:nvSpPr>
        <p:spPr>
          <a:xfrm>
            <a:off x="6583680" y="1234439"/>
            <a:ext cx="5150815" cy="365760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6576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Our next steps</a:t>
            </a:r>
          </a:p>
        </p:txBody>
      </p:sp>
      <p:sp>
        <p:nvSpPr>
          <p:cNvPr id="14" name="TextBox 13"/>
          <p:cNvSpPr txBox="1"/>
          <p:nvPr/>
        </p:nvSpPr>
        <p:spPr>
          <a:xfrm>
            <a:off x="6766560" y="1764791"/>
            <a:ext cx="4876495" cy="3054096"/>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Show the full break-even in every retail brief</a:t>
            </a:r>
          </a:p>
          <a:p>
            <a:pPr algn="l" marL="292608" indent="-256032">
              <a:spcAft>
                <a:spcPts val="600"/>
              </a:spcAft>
              <a:buChar char="•"/>
            </a:pPr>
            <a:r>
              <a:rPr sz="1800" b="0" i="0">
                <a:solidFill>
                  <a:srgbClr val="0F172A"/>
                </a:solidFill>
                <a:latin typeface="Arial"/>
              </a:rPr>
              <a:t>Enforce a daily-loss stop</a:t>
            </a:r>
          </a:p>
          <a:p>
            <a:pPr algn="l" marL="292608" indent="-256032">
              <a:spcAft>
                <a:spcPts val="600"/>
              </a:spcAft>
              <a:buChar char="•"/>
            </a:pPr>
            <a:r>
              <a:rPr sz="1800" b="0" i="0">
                <a:solidFill>
                  <a:srgbClr val="0F172A"/>
                </a:solidFill>
                <a:latin typeface="Arial"/>
              </a:rPr>
              <a:t>Timestamped injury reports; player-prop markets</a:t>
            </a:r>
          </a:p>
        </p:txBody>
      </p:sp>
      <p:sp>
        <p:nvSpPr>
          <p:cNvPr id="15" name="TextBox 14"/>
          <p:cNvSpPr txBox="1"/>
          <p:nvPr/>
        </p:nvSpPr>
        <p:spPr>
          <a:xfrm>
            <a:off x="457200" y="5074920"/>
            <a:ext cx="11277295" cy="109728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
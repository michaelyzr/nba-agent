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Our project starts from a consumer problem: sports betting and prediction markets are now everywhere, people want to understand them, the markets are structurally tilted against them, and betting harms well-being. We built an AI agent to test how tilted the game is, and turned what we learned into a product that educates and protects.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First, consumers want to learn: since a 2018 US Supreme Court ruling, 38 US states have legalised sports betting, and the Lancet Public Health Commission estimates 46% of adults worldwide gambled in the past year, yet few users understand how prices, fees and spreads work. Second, the markets are structurally unfair, which is what we measured: about 5.0% cost per trade, 91% of the price move before the public news, the market beats our model, and never trading wins. Third, external research shows betting harms well-being: the Commission estimates 80M adults have gambling disorder or problem gambling; Hollenbeck, Larsen and Proserpio find legal online betting lowers credit scores by 2.75 points and raises bankruptcies by about 10%; Baker and co-authors find each dollar of online betting cuts investment by about $0.99. References: Wardle H. et al., The Lancet Public Health Commission on gambling, Lancet Public Health 2024; 9: e950–94. Hollenbeck B., Larsen P., Proserpio D., The Financial Consequences of Legalized Sports Gambling, SSRN 4903302, 2024, revised 2025. Baker S.R., Balthrop J., Johnson M.J., Kotter J.D., Pisciotta K., Gambling Away Stability: Sports Betting's Impact on Vulnerable Households, NBER Working Paper 33108, 2024.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our research question: can a consumer, even one armed with an AI agent and public news, beat the market? We built the strongest consumer we could: public news, trained models including a neural net trained on the market's own moves, an LLM-capable agent with code risk limits and gated rule learning. On the right, a replay walks the season day by day, shows the agent only what was public, and fills every order at the recorded ask plus the Kalshi fee, so we measure what a consumer would face. The answer, tested with confidence intervals, is no: never trading wins. So the product educates and protects.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evidence, the data. Everything is public. From Kalshi's public API we downloaded every NBA game-winner market, series KXNBAGAME, for 2025-26: 2,632 markets on 1,316 games, and 3,938,368 one-minute rows of bid, ask and volume from 20 Oct 2025 to 14 Jun 2026, plus each market's settlement. From ESPN's public site API we took three seasons, 2023-24 to 2025-26: 3,962 games with tip times and season type, 85,422 player box-score rows for 818 players, and 3,371 inactive-list entries, which are our news. Box scores and inactive lists train the player and win models M1 to M4; prices drive the replay, costs, closing-line value, the market anchor and M6. We froze everything once as Parquet files; the raw data is not redistributed in the repo, and two commands rebuild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data is split in time. The win and player models train on two earlier seasons plus 2025-26 up to 31 January. The agent develops its rules from November to January, and the test period is 1 February to 12 April, 501 games. The walk-forward run covers November to April and retrains the win model every month. M6 trains before 15 January and validates on 15 to 31 January. The play-in and play-off games after 12 April, 87 of them, are a holdout we scored once. The replay enforces no look-ahead: at each decision the agent sees only news, results and quotes published by then. Each inactive list counts as news 30 minutes before tip. Orders fill at the recorded ask plus the Kalshi fee, only with a quote at most 5 minutes old, and at most 10% of the last hour's volume. Limits: one season of prices, game-winner markets only, and the inactive list is our only news; it ends 7 May 2026, and we have no earlier injury reports, social media or other sportsbooks. Public information only.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One hour before tip a $20 order pays half the bid-ask spread plus the Kalshi fee. On average that is 1.92 cents per contract, 5.0% of the price, and 9–14% on cheap contracts. You must beat the price by that much just to break even. On the right, our best agent would have made +$36 at the mid but lost −$32 after costs. Even being very selective, 74 trades out of 771 decision points, only 27 (36%) beat or matched the closing price.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speed. On the 193 test games where the inactive list changed our win model by at least a point, the price had already moved 1.80 points in the news direction before the list was public, and only 0.18 after. About 91% of the move happened before a retail user reading the list could act.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On 501 test games our win model's Brier score one hour before tip is 0.186, against 0.164 for the market at the same moment; lower is better. When they disagree by more than five points, the market is right in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we trained M6, a neural network whose only job is to predict how the price moves between our decision time and tip-off, using the market's own past reactions. It cannot beat the simplest guess, that the price will not move: 0.867 cents average error against 0.833, and R squared about zero on both test and holdout. After the inactive list the price moves only about 2.5% of what our win model implies. The M6 agent therefore makes no trades; forced to trade, it loses −$652. The price already contains the public information; what is left for the consumer is the cost.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money over time, after fees, one line per strategy; the dashed black line at zero is never trading. Left is the February-to-April test period, right the walk-forward season. Read it like this. The red raw model, which trades whenever its estimate differs from the price, falls steadily: −$2,087 on 366 trades in the test period, −$2,475 over the season. That steady slope is costs: every trade pays the spread and the fee, and there is no edge to pay them back. Orange, the agent without learning, trades less and falls less, −$247. Blue, the full agent, learned rules that mostly say do not trade, so its line flattens near zero, −$32, after dipping to −$131. The M6 agent made no trades, so it sits on zero. Learning does not find profit; it flattens the line by trading less. The dotted lines are closing-line value: below zero for everyone, so the agent paid worse than the closing price. No strategy ends above never trading; the next slide tests whether the gaps are more than luck.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honest test. We re-ran the whole season walk-forward, retraining the win model every month, with day-clustered bootstrap confidence intervals. Mean closing-line value is below zero for every setup, and every interval lies entirely below zero. The full agent's −$25 is indistinguishable from never trading, p 0.53; the raw model loses −$2,475. The market anchor is a real improvement, +$2,450 with p 0.002, but learning only means trading less. On the play-off holdout the full agent made no trades at all.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back to the problem: the product educates and protects instead of encouraging bets. The agent passes by default: it declined about 90% of decision points, and on the play-off holdout it did not trade at all. Retail briefs show the bid and ask next to our estimate, and when there is no order they say why. The Coach shows the full break-even after spread and fee, and the League lets people practise with play money. Risk limits and banned words are code the LLM cannot override; all 9 / 9 planted violations were blocked. Even the learned rules ended up protective.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Coach turns this evidence into lessons. At a chosen moment it explains the game using only what was public and shows the break-even after spread and fee. Lesson cards appear when relevant: price is a probability, costs move your break-even, news may be priced in, long shots look cheap. Users make a paper call and see the close and what the agent did. Paper money only.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Coach teaches; the League lets people practise, with the fun but without the harm. Everyone gets the same 10 real past decisions and $1,000 of play money, sees only what was public, and backs a team or passes. Orders fill at the ask plus fee, then the close and result are revealed. We rank on closing-line value, not profit, with a skill-or-luck badge from our bootstrap; house bots play the same slate. Here a user beat the close and still lost, while the raw-model bot is up $15 with negative CLV: costs, not skill.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precise: unfair here means structural disadvantages, namely costs, speed and expertise. It does not mean manipulation or fraud, and we make no accusation against Kalshi. One disclosure: we designed the market anchor and the reviewer after seeing the first February-to-April results, so that window is not a clean holdout. That is why the walk-forward season and the untouched play-off holdout are our headline tests. The data limits are on slide 5; beyond those, long-shot bias was not clearly supported in our data. The well-being numbers on the problem slide are published research, not our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In the League tab I'll join a league, make one call on the shared slate, watch the closing line and result being revealed, and show the leaderboard ranked by closing-line value next to the house bots. Then a quick look at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not just the price. Warn by default when news is likely already priced in. Put education, like our Coach, and play-money practice, like our League, in front of the first trade, and, as the Lancet Commission argues, treat betting harm as a public-health issue. For our own work: enforce a daily-loss stop, use timestamped injury reports, and extend to player-prop markets.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05840"/>
            <a:ext cx="10545775" cy="1828800"/>
          </a:xfrm>
          <a:prstGeom prst="rect">
            <a:avLst/>
          </a:prstGeom>
          <a:noFill/>
        </p:spPr>
        <p:txBody>
          <a:bodyPr wrap="square" anchor="t" lIns="73152" rIns="73152" tIns="36576" bIns="36576">
            <a:spAutoFit/>
          </a:bodyPr>
          <a:lstStyle/>
          <a:p>
            <a:pPr algn="l">
              <a:spcAft>
                <a:spcPts val="800"/>
              </a:spcAft>
            </a:pPr>
            <a:r>
              <a:rPr sz="4400" b="1" i="0">
                <a:solidFill>
                  <a:srgbClr val="FFFFFF"/>
                </a:solidFill>
                <a:latin typeface="Arial"/>
              </a:rPr>
              <a:t>Betting markets are tilted against consumers</a:t>
            </a:r>
          </a:p>
        </p:txBody>
      </p:sp>
      <p:sp>
        <p:nvSpPr>
          <p:cNvPr id="5" name="TextBox 4"/>
          <p:cNvSpPr txBox="1"/>
          <p:nvPr/>
        </p:nvSpPr>
        <p:spPr>
          <a:xfrm>
            <a:off x="822960" y="2834640"/>
            <a:ext cx="10545775" cy="1188720"/>
          </a:xfrm>
          <a:prstGeom prst="rect">
            <a:avLst/>
          </a:prstGeom>
          <a:noFill/>
        </p:spPr>
        <p:txBody>
          <a:bodyPr wrap="square" anchor="t" lIns="73152" rIns="73152" tIns="36576" bIns="36576">
            <a:spAutoFit/>
          </a:bodyPr>
          <a:lstStyle/>
          <a:p>
            <a:pPr algn="l">
              <a:spcAft>
                <a:spcPts val="800"/>
              </a:spcAft>
            </a:pPr>
            <a:r>
              <a:rPr sz="2400" b="0" i="0">
                <a:solidFill>
                  <a:srgbClr val="CBD5E1"/>
                </a:solidFill>
                <a:latin typeface="Arial"/>
              </a:rPr>
              <a:t>An AI agent that tests it on a full NBA season, and a product that teaches it</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problem: three things consumers face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Rounded Rectangle 6"/>
          <p:cNvSpPr/>
          <p:nvPr/>
        </p:nvSpPr>
        <p:spPr>
          <a:xfrm>
            <a:off x="457200" y="1234439"/>
            <a:ext cx="3606698" cy="324612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46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People want to learn</a:t>
            </a:r>
          </a:p>
        </p:txBody>
      </p:sp>
      <p:sp>
        <p:nvSpPr>
          <p:cNvPr id="10" name="TextBox 9"/>
          <p:cNvSpPr txBox="1"/>
          <p:nvPr/>
        </p:nvSpPr>
        <p:spPr>
          <a:xfrm>
            <a:off x="640080"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Mainstream: legal in 38 US states since 2018 ¹</a:t>
            </a:r>
          </a:p>
          <a:p>
            <a:pPr algn="l" marL="292608" indent="-256032">
              <a:spcAft>
                <a:spcPts val="600"/>
              </a:spcAft>
              <a:buChar char="•"/>
            </a:pPr>
            <a:r>
              <a:rPr sz="1800" b="0" i="0">
                <a:solidFill>
                  <a:srgbClr val="0F172A"/>
                </a:solidFill>
                <a:latin typeface="Arial"/>
              </a:rPr>
              <a:t>46% of adults worldwide gambled last year ²</a:t>
            </a:r>
          </a:p>
          <a:p>
            <a:pPr algn="l" marL="292608" indent="-256032">
              <a:spcAft>
                <a:spcPts val="600"/>
              </a:spcAft>
              <a:buChar char="•"/>
            </a:pPr>
            <a:r>
              <a:rPr sz="1800" b="0" i="0">
                <a:solidFill>
                  <a:srgbClr val="0F172A"/>
                </a:solidFill>
                <a:latin typeface="Arial"/>
              </a:rPr>
              <a:t>Few understand prices, fees and spreads</a:t>
            </a:r>
          </a:p>
        </p:txBody>
      </p:sp>
      <p:sp>
        <p:nvSpPr>
          <p:cNvPr id="11" name="Rounded Rectangle 10"/>
          <p:cNvSpPr/>
          <p:nvPr/>
        </p:nvSpPr>
        <p:spPr>
          <a:xfrm>
            <a:off x="4292498" y="1234439"/>
            <a:ext cx="3606698" cy="324612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461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Markets are tilted</a:t>
            </a:r>
          </a:p>
        </p:txBody>
      </p:sp>
      <p:sp>
        <p:nvSpPr>
          <p:cNvPr id="14" name="TextBox 13"/>
          <p:cNvSpPr txBox="1"/>
          <p:nvPr/>
        </p:nvSpPr>
        <p:spPr>
          <a:xfrm>
            <a:off x="4475378"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~5.0% cost on every trade</a:t>
            </a:r>
          </a:p>
          <a:p>
            <a:pPr algn="l" marL="292608" indent="-256032">
              <a:spcAft>
                <a:spcPts val="600"/>
              </a:spcAft>
              <a:buChar char="•"/>
            </a:pPr>
            <a:r>
              <a:rPr sz="1800" b="0" i="0">
                <a:solidFill>
                  <a:srgbClr val="0F172A"/>
                </a:solidFill>
                <a:latin typeface="Arial"/>
              </a:rPr>
              <a:t>91% of the price move comes before the public news</a:t>
            </a:r>
          </a:p>
          <a:p>
            <a:pPr algn="l" marL="292608" indent="-256032">
              <a:spcAft>
                <a:spcPts val="600"/>
              </a:spcAft>
              <a:buChar char="•"/>
            </a:pPr>
            <a:r>
              <a:rPr sz="1800" b="0" i="0">
                <a:solidFill>
                  <a:srgbClr val="0F172A"/>
                </a:solidFill>
                <a:latin typeface="Arial"/>
              </a:rPr>
              <a:t>The market beats our model; never trading wins</a:t>
            </a:r>
          </a:p>
        </p:txBody>
      </p:sp>
      <p:sp>
        <p:nvSpPr>
          <p:cNvPr id="15" name="Rounded Rectangle 14"/>
          <p:cNvSpPr/>
          <p:nvPr/>
        </p:nvSpPr>
        <p:spPr>
          <a:xfrm>
            <a:off x="8127796" y="1234439"/>
            <a:ext cx="3606698" cy="32461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461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3  Betting causes harm</a:t>
            </a:r>
          </a:p>
        </p:txBody>
      </p:sp>
      <p:sp>
        <p:nvSpPr>
          <p:cNvPr id="18" name="TextBox 17"/>
          <p:cNvSpPr txBox="1"/>
          <p:nvPr/>
        </p:nvSpPr>
        <p:spPr>
          <a:xfrm>
            <a:off x="8310676"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~80M adults with gambling disorder or problem gambling ²</a:t>
            </a:r>
          </a:p>
          <a:p>
            <a:pPr algn="l" marL="292608" indent="-256032">
              <a:spcAft>
                <a:spcPts val="600"/>
              </a:spcAft>
              <a:buChar char="•"/>
            </a:pPr>
            <a:r>
              <a:rPr sz="1800" b="0" i="0">
                <a:solidFill>
                  <a:srgbClr val="0F172A"/>
                </a:solidFill>
                <a:latin typeface="Arial"/>
              </a:rPr>
              <a:t>Online betting: credit scores −2.75 pts, bankruptcies +~10% ¹</a:t>
            </a:r>
          </a:p>
          <a:p>
            <a:pPr algn="l" marL="292608" indent="-256032">
              <a:spcAft>
                <a:spcPts val="600"/>
              </a:spcAft>
              <a:buChar char="•"/>
            </a:pPr>
            <a:r>
              <a:rPr sz="1800" b="0" i="0">
                <a:solidFill>
                  <a:srgbClr val="0F172A"/>
                </a:solidFill>
                <a:latin typeface="Arial"/>
              </a:rPr>
              <a:t>$1 of online betting cuts investment ~$0.99 ³</a:t>
            </a:r>
          </a:p>
        </p:txBody>
      </p:sp>
      <p:sp>
        <p:nvSpPr>
          <p:cNvPr id="19" name="TextBox 18"/>
          <p:cNvSpPr txBox="1"/>
          <p:nvPr/>
        </p:nvSpPr>
        <p:spPr>
          <a:xfrm>
            <a:off x="4292498"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EA580C"/>
                </a:solidFill>
                <a:latin typeface="Arial"/>
              </a:rPr>
              <a:t>Our measurements</a:t>
            </a:r>
          </a:p>
        </p:txBody>
      </p:sp>
      <p:sp>
        <p:nvSpPr>
          <p:cNvPr id="20" name="TextBox 19"/>
          <p:cNvSpPr txBox="1"/>
          <p:nvPr/>
        </p:nvSpPr>
        <p:spPr>
          <a:xfrm>
            <a:off x="8127796"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DC2626"/>
                </a:solidFill>
                <a:latin typeface="Arial"/>
              </a:rPr>
              <a:t>External research</a:t>
            </a:r>
          </a:p>
        </p:txBody>
      </p:sp>
      <p:sp>
        <p:nvSpPr>
          <p:cNvPr id="21" name="Rounded Rectangle 20"/>
          <p:cNvSpPr/>
          <p:nvPr/>
        </p:nvSpPr>
        <p:spPr>
          <a:xfrm>
            <a:off x="457200" y="5074920"/>
            <a:ext cx="11277295" cy="64008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74920"/>
            <a:ext cx="11094415" cy="640080"/>
          </a:xfrm>
          <a:prstGeom prst="rect">
            <a:avLst/>
          </a:prstGeom>
          <a:noFill/>
        </p:spPr>
        <p:txBody>
          <a:bodyPr wrap="square" anchor="ctr" lIns="73152" rIns="73152" tIns="36576" bIns="36576">
            <a:spAutoFit/>
          </a:bodyPr>
          <a:lstStyle/>
          <a:p>
            <a:pPr algn="l">
              <a:spcAft>
                <a:spcPts val="0"/>
              </a:spcAft>
            </a:pPr>
            <a:r>
              <a:rPr sz="2200" b="0" i="0">
                <a:solidFill>
                  <a:srgbClr val="0F172A"/>
                </a:solidFill>
                <a:latin typeface="Arial"/>
              </a:rPr>
              <a:t>Consumers need education and protection, not betting tips</a:t>
            </a:r>
          </a:p>
        </p:txBody>
      </p:sp>
      <p:sp>
        <p:nvSpPr>
          <p:cNvPr id="23" name="TextBox 22"/>
          <p:cNvSpPr txBox="1"/>
          <p:nvPr/>
        </p:nvSpPr>
        <p:spPr>
          <a:xfrm>
            <a:off x="457200" y="5897880"/>
            <a:ext cx="11277295" cy="457200"/>
          </a:xfrm>
          <a:prstGeom prst="rect">
            <a:avLst/>
          </a:prstGeom>
          <a:noFill/>
        </p:spPr>
        <p:txBody>
          <a:bodyPr wrap="square" anchor="t" lIns="73152" rIns="73152" tIns="36576" bIns="36576">
            <a:spAutoFit/>
          </a:bodyPr>
          <a:lstStyle/>
          <a:p>
            <a:pPr algn="l">
              <a:spcAft>
                <a:spcPts val="800"/>
              </a:spcAft>
            </a:pPr>
            <a:r>
              <a:rPr sz="1300" b="0" i="0">
                <a:solidFill>
                  <a:srgbClr val="64748B"/>
                </a:solidFill>
                <a:latin typeface="Arial"/>
              </a:rPr>
              <a:t>¹ Hollenbeck, Larsen &amp; Proserpio 2024 (SSRN)   ² Lancet Public Health Commission on gambling 2024   ³ Baker et al. 2024 (NBER WP 33108)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Research question, and what we built to test it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sp>
        <p:nvSpPr>
          <p:cNvPr id="7" name="Rounded Rectangle 6"/>
          <p:cNvSpPr/>
          <p:nvPr/>
        </p:nvSpPr>
        <p:spPr>
          <a:xfrm>
            <a:off x="457200" y="1188720"/>
            <a:ext cx="11277295" cy="86868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11094415" cy="868680"/>
          </a:xfrm>
          <a:prstGeom prst="rect">
            <a:avLst/>
          </a:prstGeom>
          <a:noFill/>
        </p:spPr>
        <p:txBody>
          <a:bodyPr wrap="square" anchor="ctr" lIns="73152" rIns="73152" tIns="36576" bIns="36576">
            <a:spAutoFit/>
          </a:bodyPr>
          <a:lstStyle/>
          <a:p>
            <a:pPr algn="l">
              <a:spcAft>
                <a:spcPts val="0"/>
              </a:spcAft>
            </a:pPr>
            <a:r>
              <a:rPr sz="2600" b="0" i="0">
                <a:solidFill>
                  <a:srgbClr val="1E293B"/>
                </a:solidFill>
                <a:latin typeface="Arial"/>
              </a:rPr>
              <a:t>Can a consumer, even one armed with an AI agent and public news, beat the market?</a:t>
            </a:r>
          </a:p>
        </p:txBody>
      </p:sp>
      <p:sp>
        <p:nvSpPr>
          <p:cNvPr id="9" name="TextBox 8"/>
          <p:cNvSpPr txBox="1"/>
          <p:nvPr/>
        </p:nvSpPr>
        <p:spPr>
          <a:xfrm>
            <a:off x="457200" y="2194560"/>
            <a:ext cx="5212080" cy="3017520"/>
          </a:xfrm>
          <a:prstGeom prst="rect">
            <a:avLst/>
          </a:prstGeom>
          <a:noFill/>
        </p:spPr>
        <p:txBody>
          <a:bodyPr wrap="square" anchor="t" lIns="73152" rIns="73152" tIns="36576" bIns="36576">
            <a:spAutoFit/>
          </a:bodyPr>
          <a:lstStyle/>
          <a:p>
            <a:pPr algn="l">
              <a:spcAft>
                <a:spcPts val="600"/>
              </a:spcAft>
            </a:pPr>
            <a:r>
              <a:rPr sz="1700" b="1" i="0">
                <a:solidFill>
                  <a:srgbClr val="1E293B"/>
                </a:solidFill>
                <a:latin typeface="Arial"/>
              </a:rPr>
              <a:t>We built the strongest consumer we could:</a:t>
            </a:r>
          </a:p>
          <a:p>
            <a:pPr algn="l" marL="292608" indent="-256032">
              <a:spcAft>
                <a:spcPts val="600"/>
              </a:spcAft>
              <a:buChar char="•"/>
            </a:pPr>
            <a:r>
              <a:rPr sz="1700" b="0" i="0">
                <a:solidFill>
                  <a:srgbClr val="0F172A"/>
                </a:solidFill>
                <a:latin typeface="Arial"/>
              </a:rPr>
              <a:t>Public news: ESPN inactive lists and box scores, 3 seasons</a:t>
            </a:r>
          </a:p>
          <a:p>
            <a:pPr algn="l" marL="292608" indent="-256032">
              <a:spcAft>
                <a:spcPts val="600"/>
              </a:spcAft>
              <a:buChar char="•"/>
            </a:pPr>
            <a:r>
              <a:rPr sz="1700" b="0" i="0">
                <a:solidFill>
                  <a:srgbClr val="0F172A"/>
                </a:solidFill>
                <a:latin typeface="Arial"/>
              </a:rPr>
              <a:t>Trained models, incl. a neural net trained on the market's own moves</a:t>
            </a:r>
          </a:p>
          <a:p>
            <a:pPr algn="l" marL="292608" indent="-256032">
              <a:spcAft>
                <a:spcPts val="600"/>
              </a:spcAft>
              <a:buChar char="•"/>
            </a:pPr>
            <a:r>
              <a:rPr sz="1700" b="0" i="0">
                <a:solidFill>
                  <a:srgbClr val="0F172A"/>
                </a:solidFill>
                <a:latin typeface="Arial"/>
              </a:rPr>
              <a:t>LLM-capable LangGraph agent; code risk limits; gated rule learning</a:t>
            </a:r>
          </a:p>
          <a:p>
            <a:pPr algn="l" marL="292608" indent="-256032">
              <a:spcAft>
                <a:spcPts val="600"/>
              </a:spcAft>
              <a:buChar char="•"/>
            </a:pPr>
            <a:r>
              <a:rPr sz="1700" b="0" i="0">
                <a:solidFill>
                  <a:srgbClr val="0F172A"/>
                </a:solidFill>
                <a:latin typeface="Arial"/>
              </a:rPr>
              <a:t>Graded on 1,316 Kalshi games (~3.9M price rows); every order pays the recorded ask + fee</a:t>
            </a:r>
          </a:p>
        </p:txBody>
      </p:sp>
      <p:pic>
        <p:nvPicPr>
          <p:cNvPr id="10" name="Picture 9" descr="product_workflow.png"/>
          <p:cNvPicPr>
            <a:picLocks noChangeAspect="1"/>
          </p:cNvPicPr>
          <p:nvPr/>
        </p:nvPicPr>
        <p:blipFill>
          <a:blip r:embed="rId3"/>
          <a:stretch>
            <a:fillRect/>
          </a:stretch>
        </p:blipFill>
        <p:spPr>
          <a:xfrm>
            <a:off x="5806440" y="2254293"/>
            <a:ext cx="5928055" cy="2898053"/>
          </a:xfrm>
          <a:prstGeom prst="rect">
            <a:avLst/>
          </a:prstGeom>
        </p:spPr>
      </p:pic>
      <p:sp>
        <p:nvSpPr>
          <p:cNvPr id="11" name="Rounded Rectangle 10"/>
          <p:cNvSpPr/>
          <p:nvPr/>
        </p:nvSpPr>
        <p:spPr>
          <a:xfrm>
            <a:off x="457200" y="5349240"/>
            <a:ext cx="11277295" cy="868680"/>
          </a:xfrm>
          <a:prstGeom prst="roundRect">
            <a:avLst>
              <a:gd name="adj" fmla="val 12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349240"/>
            <a:ext cx="10728655" cy="868680"/>
          </a:xfrm>
          <a:prstGeom prst="rect">
            <a:avLst/>
          </a:prstGeom>
          <a:noFill/>
        </p:spPr>
        <p:txBody>
          <a:bodyPr wrap="square" anchor="ctr" lIns="73152" rIns="73152" tIns="36576" bIns="36576">
            <a:spAutoFit/>
          </a:bodyPr>
          <a:lstStyle/>
          <a:p>
            <a:pPr algn="l">
              <a:spcAft>
                <a:spcPts val="0"/>
              </a:spcAft>
            </a:pPr>
            <a:r>
              <a:rPr sz="2100" b="1" i="0">
                <a:solidFill>
                  <a:srgbClr val="FFFFFF"/>
                </a:solidFill>
                <a:latin typeface="Arial"/>
              </a:rPr>
              <a:t>Answer: no.</a:t>
            </a:r>
            <a:r>
              <a:rPr sz="2100" b="0" i="0">
                <a:solidFill>
                  <a:srgbClr val="FFFFFF"/>
                </a:solidFill>
                <a:latin typeface="Arial"/>
              </a:rPr>
              <a:t> Tested with confidence intervals, never trading wins, so the product educates and protects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Data: five public sources, frozen once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graphicFrame>
        <p:nvGraphicFramePr>
          <p:cNvPr id="7" name="Table 6"/>
          <p:cNvGraphicFramePr>
            <a:graphicFrameLocks noGrp="1"/>
          </p:cNvGraphicFramePr>
          <p:nvPr/>
        </p:nvGraphicFramePr>
        <p:xfrm>
          <a:off x="457200" y="1188720"/>
          <a:ext cx="11277295" cy="3749040"/>
        </p:xfrm>
        <a:graphic>
          <a:graphicData uri="http://schemas.openxmlformats.org/drawingml/2006/table">
            <a:tbl>
              <a:tblPr firstRow="1" bandRow="1">
                <a:tableStyleId>{5C22544A-7EE6-4342-B048-85BDC9FD1C3A}</a:tableStyleId>
              </a:tblPr>
              <a:tblGrid>
                <a:gridCol w="2514600"/>
                <a:gridCol w="2743200"/>
                <a:gridCol w="1417320"/>
                <a:gridCol w="2514600"/>
                <a:gridCol w="2087575"/>
              </a:tblGrid>
              <a:tr h="457200">
                <a:tc>
                  <a:txBody>
                    <a:bodyPr wrap="square"/>
                    <a:lstStyle/>
                    <a:p>
                      <a:pPr algn="l"/>
                      <a:r>
                        <a:rPr sz="1500" b="1" i="0">
                          <a:solidFill>
                            <a:srgbClr val="FFFFFF"/>
                          </a:solidFill>
                          <a:latin typeface="Arial"/>
                        </a:rPr>
                        <a:t>Source</a:t>
                      </a:r>
                    </a:p>
                  </a:txBody>
                  <a:tcPr marL="73152" marR="73152" marT="36576" marB="36576" anchor="ctr">
                    <a:solidFill>
                      <a:srgbClr val="1E293B"/>
                    </a:solidFill>
                  </a:tcPr>
                </a:tc>
                <a:tc>
                  <a:txBody>
                    <a:bodyPr wrap="square"/>
                    <a:lstStyle/>
                    <a:p>
                      <a:pPr algn="l"/>
                      <a:r>
                        <a:rPr sz="1500" b="1" i="0">
                          <a:solidFill>
                            <a:srgbClr val="FFFFFF"/>
                          </a:solidFill>
                          <a:latin typeface="Arial"/>
                        </a:rPr>
                        <a:t>What it contains</a:t>
                      </a:r>
                    </a:p>
                  </a:txBody>
                  <a:tcPr marL="73152" marR="73152" marT="36576" marB="36576" anchor="ctr">
                    <a:solidFill>
                      <a:srgbClr val="1E293B"/>
                    </a:solidFill>
                  </a:tcPr>
                </a:tc>
                <a:tc>
                  <a:txBody>
                    <a:bodyPr wrap="square"/>
                    <a:lstStyle/>
                    <a:p>
                      <a:pPr algn="ctr"/>
                      <a:r>
                        <a:rPr sz="1500" b="1" i="0">
                          <a:solidFill>
                            <a:srgbClr val="FFFFFF"/>
                          </a:solidFill>
                          <a:latin typeface="Arial"/>
                        </a:rPr>
                        <a:t>Rows</a:t>
                      </a:r>
                    </a:p>
                  </a:txBody>
                  <a:tcPr marL="73152" marR="73152" marT="36576" marB="36576" anchor="ctr">
                    <a:solidFill>
                      <a:srgbClr val="1E293B"/>
                    </a:solidFill>
                  </a:tcPr>
                </a:tc>
                <a:tc>
                  <a:txBody>
                    <a:bodyPr wrap="square"/>
                    <a:lstStyle/>
                    <a:p>
                      <a:pPr algn="l"/>
                      <a:r>
                        <a:rPr sz="1500" b="1" i="0">
                          <a:solidFill>
                            <a:srgbClr val="FFFFFF"/>
                          </a:solidFill>
                          <a:latin typeface="Arial"/>
                        </a:rPr>
                        <a:t>Coverage</a:t>
                      </a:r>
                    </a:p>
                  </a:txBody>
                  <a:tcPr marL="73152" marR="73152" marT="36576" marB="36576" anchor="ctr">
                    <a:solidFill>
                      <a:srgbClr val="1E293B"/>
                    </a:solidFill>
                  </a:tcPr>
                </a:tc>
                <a:tc>
                  <a:txBody>
                    <a:bodyPr wrap="square"/>
                    <a:lstStyle/>
                    <a:p>
                      <a:pPr algn="l"/>
                      <a:r>
                        <a:rPr sz="1500" b="1" i="0">
                          <a:solidFill>
                            <a:srgbClr val="FFFFFF"/>
                          </a:solidFill>
                          <a:latin typeface="Arial"/>
                        </a:rPr>
                        <a:t>Used for</a:t>
                      </a:r>
                    </a:p>
                  </a:txBody>
                  <a:tcPr marL="73152" marR="73152" marT="36576" marB="36576" anchor="ctr">
                    <a:solidFill>
                      <a:srgbClr val="1E293B"/>
                    </a:solidFill>
                  </a:tcPr>
                </a:tc>
              </a:tr>
              <a:tr h="658368">
                <a:tc>
                  <a:txBody>
                    <a:bodyPr wrap="square"/>
                    <a:lstStyle/>
                    <a:p>
                      <a:pPr algn="l"/>
                      <a:r>
                        <a:rPr sz="1500" b="0" i="0">
                          <a:solidFill>
                            <a:srgbClr val="0F172A"/>
                          </a:solidFill>
                          <a:latin typeface="Arial"/>
                        </a:rPr>
                        <a:t>Kalshi prices (KXNBAGAME)</a:t>
                      </a:r>
                    </a:p>
                  </a:txBody>
                  <a:tcPr marL="73152" marR="73152" marT="36576" marB="36576" anchor="ctr">
                    <a:solidFill>
                      <a:srgbClr val="F1F5F9"/>
                    </a:solidFill>
                  </a:tcPr>
                </a:tc>
                <a:tc>
                  <a:txBody>
                    <a:bodyPr wrap="square"/>
                    <a:lstStyle/>
                    <a:p>
                      <a:pPr algn="l"/>
                      <a:r>
                        <a:rPr sz="1500" b="0" i="0">
                          <a:solidFill>
                            <a:srgbClr val="0F172A"/>
                          </a:solidFill>
                          <a:latin typeface="Arial"/>
                        </a:rPr>
                        <a:t>1-minute bid, ask, volume</a:t>
                      </a:r>
                    </a:p>
                  </a:txBody>
                  <a:tcPr marL="73152" marR="73152" marT="36576" marB="36576" anchor="ctr">
                    <a:solidFill>
                      <a:srgbClr val="F1F5F9"/>
                    </a:solidFill>
                  </a:tcPr>
                </a:tc>
                <a:tc>
                  <a:txBody>
                    <a:bodyPr wrap="square"/>
                    <a:lstStyle/>
                    <a:p>
                      <a:pPr algn="ctr"/>
                      <a:r>
                        <a:rPr sz="1500" b="0" i="0">
                          <a:solidFill>
                            <a:srgbClr val="0F172A"/>
                          </a:solidFill>
                          <a:latin typeface="Arial"/>
                        </a:rPr>
                        <a:t>3,938,368</a:t>
                      </a:r>
                    </a:p>
                  </a:txBody>
                  <a:tcPr marL="73152" marR="73152" marT="36576" marB="36576" anchor="ctr">
                    <a:solidFill>
                      <a:srgbClr val="F1F5F9"/>
                    </a:solidFill>
                  </a:tcPr>
                </a:tc>
                <a:tc>
                  <a:txBody>
                    <a:bodyPr wrap="square"/>
                    <a:lstStyle/>
                    <a:p>
                      <a:pPr algn="l"/>
                      <a:r>
                        <a:rPr sz="1500" b="0" i="0">
                          <a:solidFill>
                            <a:srgbClr val="0F172A"/>
                          </a:solidFill>
                          <a:latin typeface="Arial"/>
                        </a:rPr>
                        <a:t>20 Oct 2025 – 14 Jun 2026</a:t>
                      </a:r>
                    </a:p>
                  </a:txBody>
                  <a:tcPr marL="73152" marR="73152" marT="36576" marB="36576" anchor="ctr">
                    <a:solidFill>
                      <a:srgbClr val="F1F5F9"/>
                    </a:solidFill>
                  </a:tcPr>
                </a:tc>
                <a:tc>
                  <a:txBody>
                    <a:bodyPr wrap="square"/>
                    <a:lstStyle/>
                    <a:p>
                      <a:pPr algn="l"/>
                      <a:r>
                        <a:rPr sz="1500" b="0" i="0">
                          <a:solidFill>
                            <a:srgbClr val="0F172A"/>
                          </a:solidFill>
                          <a:latin typeface="Arial"/>
                        </a:rPr>
                        <a:t>Fills, costs, CLV, anchor, M6</a:t>
                      </a:r>
                    </a:p>
                  </a:txBody>
                  <a:tcPr marL="73152" marR="73152" marT="36576" marB="36576" anchor="ctr">
                    <a:solidFill>
                      <a:srgbClr val="F1F5F9"/>
                    </a:solidFill>
                  </a:tcPr>
                </a:tc>
              </a:tr>
              <a:tr h="658368">
                <a:tc>
                  <a:txBody>
                    <a:bodyPr wrap="square"/>
                    <a:lstStyle/>
                    <a:p>
                      <a:pPr algn="l"/>
                      <a:r>
                        <a:rPr sz="1500" b="0" i="0">
                          <a:solidFill>
                            <a:srgbClr val="0F172A"/>
                          </a:solidFill>
                          <a:latin typeface="Arial"/>
                        </a:rPr>
                        <a:t>Kalshi markets, settlements</a:t>
                      </a:r>
                    </a:p>
                  </a:txBody>
                  <a:tcPr marL="73152" marR="73152" marT="36576" marB="36576" anchor="ctr">
                    <a:solidFill>
                      <a:srgbClr val="FFFFFF"/>
                    </a:solidFill>
                  </a:tcPr>
                </a:tc>
                <a:tc>
                  <a:txBody>
                    <a:bodyPr wrap="square"/>
                    <a:lstStyle/>
                    <a:p>
                      <a:pPr algn="l"/>
                      <a:r>
                        <a:rPr sz="1500" b="0" i="0">
                          <a:solidFill>
                            <a:srgbClr val="0F172A"/>
                          </a:solidFill>
                          <a:latin typeface="Arial"/>
                        </a:rPr>
                        <a:t>Market → game; yes / no result</a:t>
                      </a:r>
                    </a:p>
                  </a:txBody>
                  <a:tcPr marL="73152" marR="73152" marT="36576" marB="36576" anchor="ctr">
                    <a:solidFill>
                      <a:srgbClr val="FFFFFF"/>
                    </a:solidFill>
                  </a:tcPr>
                </a:tc>
                <a:tc>
                  <a:txBody>
                    <a:bodyPr wrap="square"/>
                    <a:lstStyle/>
                    <a:p>
                      <a:pPr algn="ctr"/>
                      <a:r>
                        <a:rPr sz="1500" b="0" i="0">
                          <a:solidFill>
                            <a:srgbClr val="0F172A"/>
                          </a:solidFill>
                          <a:latin typeface="Arial"/>
                        </a:rPr>
                        <a:t>2,632 / 2,634</a:t>
                      </a:r>
                    </a:p>
                  </a:txBody>
                  <a:tcPr marL="73152" marR="73152" marT="36576" marB="36576" anchor="ctr">
                    <a:solidFill>
                      <a:srgbClr val="FFFFFF"/>
                    </a:solidFill>
                  </a:tcPr>
                </a:tc>
                <a:tc>
                  <a:txBody>
                    <a:bodyPr wrap="square"/>
                    <a:lstStyle/>
                    <a:p>
                      <a:pPr algn="l"/>
                      <a:r>
                        <a:rPr sz="1500" b="0" i="0">
                          <a:solidFill>
                            <a:srgbClr val="0F172A"/>
                          </a:solidFill>
                          <a:latin typeface="Arial"/>
                        </a:rPr>
                        <a:t>1,316 games, 2025-26</a:t>
                      </a:r>
                    </a:p>
                  </a:txBody>
                  <a:tcPr marL="73152" marR="73152" marT="36576" marB="36576" anchor="ctr">
                    <a:solidFill>
                      <a:srgbClr val="FFFFFF"/>
                    </a:solidFill>
                  </a:tcPr>
                </a:tc>
                <a:tc>
                  <a:txBody>
                    <a:bodyPr wrap="square"/>
                    <a:lstStyle/>
                    <a:p>
                      <a:pPr algn="l"/>
                      <a:r>
                        <a:rPr sz="1500" b="0" i="0">
                          <a:solidFill>
                            <a:srgbClr val="0F172A"/>
                          </a:solidFill>
                          <a:latin typeface="Arial"/>
                        </a:rPr>
                        <a:t>Settling P&amp;L</a:t>
                      </a:r>
                    </a:p>
                  </a:txBody>
                  <a:tcPr marL="73152" marR="73152" marT="36576" marB="36576" anchor="ctr">
                    <a:solidFill>
                      <a:srgbClr val="FFFFFF"/>
                    </a:solidFill>
                  </a:tcPr>
                </a:tc>
              </a:tr>
              <a:tr h="658368">
                <a:tc>
                  <a:txBody>
                    <a:bodyPr wrap="square"/>
                    <a:lstStyle/>
                    <a:p>
                      <a:pPr algn="l"/>
                      <a:r>
                        <a:rPr sz="1500" b="0" i="0">
                          <a:solidFill>
                            <a:srgbClr val="0F172A"/>
                          </a:solidFill>
                          <a:latin typeface="Arial"/>
                        </a:rPr>
                        <a:t>ESPN games</a:t>
                      </a:r>
                    </a:p>
                  </a:txBody>
                  <a:tcPr marL="73152" marR="73152" marT="36576" marB="36576" anchor="ctr">
                    <a:solidFill>
                      <a:srgbClr val="F1F5F9"/>
                    </a:solidFill>
                  </a:tcPr>
                </a:tc>
                <a:tc>
                  <a:txBody>
                    <a:bodyPr wrap="square"/>
                    <a:lstStyle/>
                    <a:p>
                      <a:pPr algn="l"/>
                      <a:r>
                        <a:rPr sz="1500" b="0" i="0">
                          <a:solidFill>
                            <a:srgbClr val="0F172A"/>
                          </a:solidFill>
                          <a:latin typeface="Arial"/>
                        </a:rPr>
                        <a:t>Schedule, tip time, season type, score</a:t>
                      </a:r>
                    </a:p>
                  </a:txBody>
                  <a:tcPr marL="73152" marR="73152" marT="36576" marB="36576" anchor="ctr">
                    <a:solidFill>
                      <a:srgbClr val="F1F5F9"/>
                    </a:solidFill>
                  </a:tcPr>
                </a:tc>
                <a:tc>
                  <a:txBody>
                    <a:bodyPr wrap="square"/>
                    <a:lstStyle/>
                    <a:p>
                      <a:pPr algn="ctr"/>
                      <a:r>
                        <a:rPr sz="1500" b="0" i="0">
                          <a:solidFill>
                            <a:srgbClr val="0F172A"/>
                          </a:solidFill>
                          <a:latin typeface="Arial"/>
                        </a:rPr>
                        <a:t>3,962</a:t>
                      </a:r>
                    </a:p>
                  </a:txBody>
                  <a:tcPr marL="73152" marR="73152" marT="36576" marB="36576" anchor="ctr">
                    <a:solidFill>
                      <a:srgbClr val="F1F5F9"/>
                    </a:solidFill>
                  </a:tcPr>
                </a:tc>
                <a:tc>
                  <a:txBody>
                    <a:bodyPr wrap="square"/>
                    <a:lstStyle/>
                    <a:p>
                      <a:pPr algn="l"/>
                      <a:r>
                        <a:rPr sz="1500" b="0" i="0">
                          <a:solidFill>
                            <a:srgbClr val="0F172A"/>
                          </a:solidFill>
                          <a:latin typeface="Arial"/>
                        </a:rPr>
                        <a:t>3 seasons, 2023-24 to 2025-26</a:t>
                      </a:r>
                    </a:p>
                  </a:txBody>
                  <a:tcPr marL="73152" marR="73152" marT="36576" marB="36576" anchor="ctr">
                    <a:solidFill>
                      <a:srgbClr val="F1F5F9"/>
                    </a:solidFill>
                  </a:tcPr>
                </a:tc>
                <a:tc>
                  <a:txBody>
                    <a:bodyPr wrap="square"/>
                    <a:lstStyle/>
                    <a:p>
                      <a:pPr algn="l"/>
                      <a:r>
                        <a:rPr sz="1500" b="0" i="0">
                          <a:solidFill>
                            <a:srgbClr val="0F172A"/>
                          </a:solidFill>
                          <a:latin typeface="Arial"/>
                        </a:rPr>
                        <a:t>Splits, M4 labels</a:t>
                      </a:r>
                    </a:p>
                  </a:txBody>
                  <a:tcPr marL="73152" marR="73152" marT="36576" marB="36576" anchor="ctr">
                    <a:solidFill>
                      <a:srgbClr val="F1F5F9"/>
                    </a:solidFill>
                  </a:tcPr>
                </a:tc>
              </a:tr>
              <a:tr h="658368">
                <a:tc>
                  <a:txBody>
                    <a:bodyPr wrap="square"/>
                    <a:lstStyle/>
                    <a:p>
                      <a:pPr algn="l"/>
                      <a:r>
                        <a:rPr sz="1500" b="0" i="0">
                          <a:solidFill>
                            <a:srgbClr val="0F172A"/>
                          </a:solidFill>
                          <a:latin typeface="Arial"/>
                        </a:rPr>
                        <a:t>ESPN box scores</a:t>
                      </a:r>
                    </a:p>
                  </a:txBody>
                  <a:tcPr marL="73152" marR="73152" marT="36576" marB="36576" anchor="ctr">
                    <a:solidFill>
                      <a:srgbClr val="FFFFFF"/>
                    </a:solidFill>
                  </a:tcPr>
                </a:tc>
                <a:tc>
                  <a:txBody>
                    <a:bodyPr wrap="square"/>
                    <a:lstStyle/>
                    <a:p>
                      <a:pPr algn="l"/>
                      <a:r>
                        <a:rPr sz="1500" b="0" i="0">
                          <a:solidFill>
                            <a:srgbClr val="0F172A"/>
                          </a:solidFill>
                          <a:latin typeface="Arial"/>
                        </a:rPr>
                        <a:t>Minutes, points, shots per player</a:t>
                      </a:r>
                    </a:p>
                  </a:txBody>
                  <a:tcPr marL="73152" marR="73152" marT="36576" marB="36576" anchor="ctr">
                    <a:solidFill>
                      <a:srgbClr val="FFFFFF"/>
                    </a:solidFill>
                  </a:tcPr>
                </a:tc>
                <a:tc>
                  <a:txBody>
                    <a:bodyPr wrap="square"/>
                    <a:lstStyle/>
                    <a:p>
                      <a:pPr algn="ctr"/>
                      <a:r>
                        <a:rPr sz="1500" b="0" i="0">
                          <a:solidFill>
                            <a:srgbClr val="0F172A"/>
                          </a:solidFill>
                          <a:latin typeface="Arial"/>
                        </a:rPr>
                        <a:t>85,422</a:t>
                      </a:r>
                    </a:p>
                  </a:txBody>
                  <a:tcPr marL="73152" marR="73152" marT="36576" marB="36576" anchor="ctr">
                    <a:solidFill>
                      <a:srgbClr val="FFFFFF"/>
                    </a:solidFill>
                  </a:tcPr>
                </a:tc>
                <a:tc>
                  <a:txBody>
                    <a:bodyPr wrap="square"/>
                    <a:lstStyle/>
                    <a:p>
                      <a:pPr algn="l"/>
                      <a:r>
                        <a:rPr sz="1500" b="0" i="0">
                          <a:solidFill>
                            <a:srgbClr val="0F172A"/>
                          </a:solidFill>
                          <a:latin typeface="Arial"/>
                        </a:rPr>
                        <a:t>3 seasons, 818 players</a:t>
                      </a:r>
                    </a:p>
                  </a:txBody>
                  <a:tcPr marL="73152" marR="73152" marT="36576" marB="36576" anchor="ctr">
                    <a:solidFill>
                      <a:srgbClr val="FFFFFF"/>
                    </a:solidFill>
                  </a:tcPr>
                </a:tc>
                <a:tc>
                  <a:txBody>
                    <a:bodyPr wrap="square"/>
                    <a:lstStyle/>
                    <a:p>
                      <a:pPr algn="l"/>
                      <a:r>
                        <a:rPr sz="1500" b="0" i="0">
                          <a:solidFill>
                            <a:srgbClr val="0F172A"/>
                          </a:solidFill>
                          <a:latin typeface="Arial"/>
                        </a:rPr>
                        <a:t>M1–M4 features</a:t>
                      </a:r>
                    </a:p>
                  </a:txBody>
                  <a:tcPr marL="73152" marR="73152" marT="36576" marB="36576" anchor="ctr">
                    <a:solidFill>
                      <a:srgbClr val="FFFFFF"/>
                    </a:solidFill>
                  </a:tcPr>
                </a:tc>
              </a:tr>
              <a:tr h="658368">
                <a:tc>
                  <a:txBody>
                    <a:bodyPr wrap="square"/>
                    <a:lstStyle/>
                    <a:p>
                      <a:pPr algn="l"/>
                      <a:r>
                        <a:rPr sz="1500" b="0" i="0">
                          <a:solidFill>
                            <a:srgbClr val="0F172A"/>
                          </a:solidFill>
                          <a:latin typeface="Arial"/>
                        </a:rPr>
                        <a:t>ESPN inactive lists</a:t>
                      </a:r>
                    </a:p>
                  </a:txBody>
                  <a:tcPr marL="73152" marR="73152" marT="36576" marB="36576" anchor="ctr">
                    <a:solidFill>
                      <a:srgbClr val="F1F5F9"/>
                    </a:solidFill>
                  </a:tcPr>
                </a:tc>
                <a:tc>
                  <a:txBody>
                    <a:bodyPr wrap="square"/>
                    <a:lstStyle/>
                    <a:p>
                      <a:pPr algn="l"/>
                      <a:r>
                        <a:rPr sz="1500" b="0" i="0">
                          <a:solidFill>
                            <a:srgbClr val="0F172A"/>
                          </a:solidFill>
                          <a:latin typeface="Arial"/>
                        </a:rPr>
                        <a:t>Who is out and why (our news)</a:t>
                      </a:r>
                    </a:p>
                  </a:txBody>
                  <a:tcPr marL="73152" marR="73152" marT="36576" marB="36576" anchor="ctr">
                    <a:solidFill>
                      <a:srgbClr val="F1F5F9"/>
                    </a:solidFill>
                  </a:tcPr>
                </a:tc>
                <a:tc>
                  <a:txBody>
                    <a:bodyPr wrap="square"/>
                    <a:lstStyle/>
                    <a:p>
                      <a:pPr algn="ctr"/>
                      <a:r>
                        <a:rPr sz="1500" b="0" i="0">
                          <a:solidFill>
                            <a:srgbClr val="0F172A"/>
                          </a:solidFill>
                          <a:latin typeface="Arial"/>
                        </a:rPr>
                        <a:t>3,371</a:t>
                      </a:r>
                    </a:p>
                  </a:txBody>
                  <a:tcPr marL="73152" marR="73152" marT="36576" marB="36576" anchor="ctr">
                    <a:solidFill>
                      <a:srgbClr val="F1F5F9"/>
                    </a:solidFill>
                  </a:tcPr>
                </a:tc>
                <a:tc>
                  <a:txBody>
                    <a:bodyPr wrap="square"/>
                    <a:lstStyle/>
                    <a:p>
                      <a:pPr algn="l"/>
                      <a:r>
                        <a:rPr sz="1500" b="0" i="0">
                          <a:solidFill>
                            <a:srgbClr val="0F172A"/>
                          </a:solidFill>
                          <a:latin typeface="Arial"/>
                        </a:rPr>
                        <a:t>1,772 games, to 7 May 2026</a:t>
                      </a:r>
                    </a:p>
                  </a:txBody>
                  <a:tcPr marL="73152" marR="73152" marT="36576" marB="36576" anchor="ctr">
                    <a:solidFill>
                      <a:srgbClr val="F1F5F9"/>
                    </a:solidFill>
                  </a:tcPr>
                </a:tc>
                <a:tc>
                  <a:txBody>
                    <a:bodyPr wrap="square"/>
                    <a:lstStyle/>
                    <a:p>
                      <a:pPr algn="l"/>
                      <a:r>
                        <a:rPr sz="1500" b="0" i="0">
                          <a:solidFill>
                            <a:srgbClr val="0F172A"/>
                          </a:solidFill>
                          <a:latin typeface="Arial"/>
                        </a:rPr>
                        <a:t>News trigger; M3 / M4 after news</a:t>
                      </a:r>
                    </a:p>
                  </a:txBody>
                  <a:tcPr marL="73152" marR="73152" marT="36576" marB="36576" anchor="ctr">
                    <a:solidFill>
                      <a:srgbClr val="F1F5F9"/>
                    </a:solidFill>
                  </a:tcPr>
                </a:tc>
              </a:tr>
            </a:tbl>
          </a:graphicData>
        </a:graphic>
      </p:graphicFrame>
      <p:sp>
        <p:nvSpPr>
          <p:cNvPr id="8" name="TextBox 7"/>
          <p:cNvSpPr txBox="1"/>
          <p:nvPr/>
        </p:nvSpPr>
        <p:spPr>
          <a:xfrm>
            <a:off x="457200" y="5029200"/>
            <a:ext cx="11277295" cy="1280160"/>
          </a:xfrm>
          <a:prstGeom prst="rect">
            <a:avLst/>
          </a:prstGeom>
          <a:noFill/>
        </p:spPr>
        <p:txBody>
          <a:bodyPr wrap="square" anchor="t" lIns="73152" rIns="73152" tIns="36576" bIns="36576">
            <a:spAutoFit/>
          </a:bodyPr>
          <a:lstStyle/>
          <a:p>
            <a:pPr algn="l" marL="292608" indent="-256032">
              <a:spcAft>
                <a:spcPts val="600"/>
              </a:spcAft>
              <a:buChar char="•"/>
            </a:pPr>
            <a:r>
              <a:rPr sz="1800" b="1" i="0">
                <a:solidFill>
                  <a:srgbClr val="0F172A"/>
                </a:solidFill>
                <a:latin typeface="Arial"/>
              </a:rPr>
              <a:t>All public:</a:t>
            </a:r>
            <a:r>
              <a:rPr sz="1800" b="0" i="0">
                <a:solidFill>
                  <a:srgbClr val="0F172A"/>
                </a:solidFill>
                <a:latin typeface="Arial"/>
              </a:rPr>
              <a:t> Kalshi's public trade API (historical candlesticks) and ESPN's public site API</a:t>
            </a:r>
          </a:p>
          <a:p>
            <a:pPr algn="l" marL="292608" indent="-256032">
              <a:spcAft>
                <a:spcPts val="600"/>
              </a:spcAft>
              <a:buChar char="•"/>
            </a:pPr>
            <a:r>
              <a:rPr sz="1800" b="0" i="0">
                <a:solidFill>
                  <a:srgbClr val="0F172A"/>
                </a:solidFill>
                <a:latin typeface="Arial"/>
              </a:rPr>
              <a:t>Frozen once as Parquet; raw data not redistributed in the repo (two commands rebuild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Data: time splits and the no-look-ahead rule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pic>
        <p:nvPicPr>
          <p:cNvPr id="7" name="Picture 6" descr="data_timeline.png"/>
          <p:cNvPicPr>
            <a:picLocks noChangeAspect="1"/>
          </p:cNvPicPr>
          <p:nvPr/>
        </p:nvPicPr>
        <p:blipFill>
          <a:blip r:embed="rId3"/>
          <a:stretch>
            <a:fillRect/>
          </a:stretch>
        </p:blipFill>
        <p:spPr>
          <a:xfrm>
            <a:off x="1250521" y="1097280"/>
            <a:ext cx="9690652" cy="3429000"/>
          </a:xfrm>
          <a:prstGeom prst="rect">
            <a:avLst/>
          </a:prstGeom>
        </p:spPr>
      </p:pic>
      <p:sp>
        <p:nvSpPr>
          <p:cNvPr id="8" name="TextBox 7"/>
          <p:cNvSpPr txBox="1"/>
          <p:nvPr/>
        </p:nvSpPr>
        <p:spPr>
          <a:xfrm>
            <a:off x="457200" y="4617720"/>
            <a:ext cx="5501487" cy="1737360"/>
          </a:xfrm>
          <a:prstGeom prst="rect">
            <a:avLst/>
          </a:prstGeom>
          <a:noFill/>
        </p:spPr>
        <p:txBody>
          <a:bodyPr wrap="square" anchor="t" lIns="73152" rIns="73152" tIns="36576" bIns="36576">
            <a:spAutoFit/>
          </a:bodyPr>
          <a:lstStyle/>
          <a:p>
            <a:pPr algn="l">
              <a:spcAft>
                <a:spcPts val="300"/>
              </a:spcAft>
            </a:pPr>
            <a:r>
              <a:rPr sz="1600" b="1" i="0">
                <a:solidFill>
                  <a:srgbClr val="1E293B"/>
                </a:solidFill>
                <a:latin typeface="Arial"/>
              </a:rPr>
              <a:t>No look-ahead</a:t>
            </a:r>
          </a:p>
          <a:p>
            <a:pPr algn="l" marL="292608" indent="-256032">
              <a:spcAft>
                <a:spcPts val="300"/>
              </a:spcAft>
              <a:buChar char="•"/>
            </a:pPr>
            <a:r>
              <a:rPr sz="1600" b="0" i="0">
                <a:solidFill>
                  <a:srgbClr val="0F172A"/>
                </a:solidFill>
                <a:latin typeface="Arial"/>
              </a:rPr>
              <a:t>Agent sees only what was published by then</a:t>
            </a:r>
          </a:p>
          <a:p>
            <a:pPr algn="l" marL="292608" indent="-256032">
              <a:spcAft>
                <a:spcPts val="300"/>
              </a:spcAft>
              <a:buChar char="•"/>
            </a:pPr>
            <a:r>
              <a:rPr sz="1600" b="0" i="0">
                <a:solidFill>
                  <a:srgbClr val="0F172A"/>
                </a:solidFill>
                <a:latin typeface="Arial"/>
              </a:rPr>
              <a:t>Inactive list = news at tip − 30 min</a:t>
            </a:r>
          </a:p>
          <a:p>
            <a:pPr algn="l" marL="292608" indent="-256032">
              <a:spcAft>
                <a:spcPts val="300"/>
              </a:spcAft>
              <a:buChar char="•"/>
            </a:pPr>
            <a:r>
              <a:rPr sz="1600" b="0" i="0">
                <a:solidFill>
                  <a:srgbClr val="0F172A"/>
                </a:solidFill>
                <a:latin typeface="Arial"/>
              </a:rPr>
              <a:t>Fill at ask + fee; quote ≤ 5 min old; ≤ 10% of volume</a:t>
            </a:r>
          </a:p>
        </p:txBody>
      </p:sp>
      <p:sp>
        <p:nvSpPr>
          <p:cNvPr id="9" name="TextBox 8"/>
          <p:cNvSpPr txBox="1"/>
          <p:nvPr/>
        </p:nvSpPr>
        <p:spPr>
          <a:xfrm>
            <a:off x="6233007" y="4617720"/>
            <a:ext cx="5501487" cy="1737360"/>
          </a:xfrm>
          <a:prstGeom prst="rect">
            <a:avLst/>
          </a:prstGeom>
          <a:noFill/>
        </p:spPr>
        <p:txBody>
          <a:bodyPr wrap="square" anchor="t" lIns="73152" rIns="73152" tIns="36576" bIns="36576">
            <a:spAutoFit/>
          </a:bodyPr>
          <a:lstStyle/>
          <a:p>
            <a:pPr algn="l">
              <a:spcAft>
                <a:spcPts val="300"/>
              </a:spcAft>
            </a:pPr>
            <a:r>
              <a:rPr sz="1600" b="1" i="0">
                <a:solidFill>
                  <a:srgbClr val="DC2626"/>
                </a:solidFill>
                <a:latin typeface="Arial"/>
              </a:rPr>
              <a:t>Limits</a:t>
            </a:r>
          </a:p>
          <a:p>
            <a:pPr algn="l" marL="292608" indent="-256032">
              <a:spcAft>
                <a:spcPts val="300"/>
              </a:spcAft>
              <a:buChar char="•"/>
            </a:pPr>
            <a:r>
              <a:rPr sz="1600" b="0" i="0">
                <a:solidFill>
                  <a:srgbClr val="0F172A"/>
                </a:solidFill>
                <a:latin typeface="Arial"/>
              </a:rPr>
              <a:t>One season of prices; game-winner markets only</a:t>
            </a:r>
          </a:p>
          <a:p>
            <a:pPr algn="l" marL="292608" indent="-256032">
              <a:spcAft>
                <a:spcPts val="300"/>
              </a:spcAft>
              <a:buChar char="•"/>
            </a:pPr>
            <a:r>
              <a:rPr sz="1600" b="0" i="0">
                <a:solidFill>
                  <a:srgbClr val="0F172A"/>
                </a:solidFill>
                <a:latin typeface="Arial"/>
              </a:rPr>
              <a:t>News = inactive lists only, to 7 May</a:t>
            </a:r>
          </a:p>
          <a:p>
            <a:pPr algn="l" marL="292608" indent="-256032">
              <a:spcAft>
                <a:spcPts val="300"/>
              </a:spcAft>
              <a:buChar char="•"/>
            </a:pPr>
            <a:r>
              <a:rPr sz="1600" b="0" i="0">
                <a:solidFill>
                  <a:srgbClr val="0F172A"/>
                </a:solidFill>
                <a:latin typeface="Arial"/>
              </a:rPr>
              <a:t>No earlier injury reports, social media or other books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set a hurdle before you start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pic>
        <p:nvPicPr>
          <p:cNvPr id="7" name="Picture 6" descr="cost_burden.png"/>
          <p:cNvPicPr>
            <a:picLocks noChangeAspect="1"/>
          </p:cNvPicPr>
          <p:nvPr/>
        </p:nvPicPr>
        <p:blipFill>
          <a:blip r:embed="rId3"/>
          <a:stretch>
            <a:fillRect/>
          </a:stretch>
        </p:blipFill>
        <p:spPr>
          <a:xfrm>
            <a:off x="1352397" y="1097280"/>
            <a:ext cx="9486900" cy="3794760"/>
          </a:xfrm>
          <a:prstGeom prst="rect">
            <a:avLst/>
          </a:prstGeom>
        </p:spPr>
      </p:pic>
      <p:sp>
        <p:nvSpPr>
          <p:cNvPr id="8" name="TextBox 7"/>
          <p:cNvSpPr txBox="1"/>
          <p:nvPr/>
        </p:nvSpPr>
        <p:spPr>
          <a:xfrm>
            <a:off x="457200"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1.92¢ per contract</a:t>
            </a:r>
            <a:r>
              <a:rPr sz="1800" b="0" i="0">
                <a:solidFill>
                  <a:srgbClr val="0F172A"/>
                </a:solidFill>
                <a:latin typeface="Arial"/>
              </a:rPr>
              <a:t> = 5.0% of price; </a:t>
            </a:r>
            <a:r>
              <a:rPr sz="1800" b="1" i="0">
                <a:solidFill>
                  <a:srgbClr val="0F172A"/>
                </a:solidFill>
                <a:latin typeface="Arial"/>
              </a:rPr>
              <a:t>9–14%</a:t>
            </a:r>
            <a:r>
              <a:rPr sz="1800" b="0" i="0">
                <a:solidFill>
                  <a:srgbClr val="0F172A"/>
                </a:solidFill>
                <a:latin typeface="Arial"/>
              </a:rPr>
              <a:t> under 20¢</a:t>
            </a:r>
          </a:p>
          <a:p>
            <a:pPr algn="l" marL="292608" indent="-256032">
              <a:spcAft>
                <a:spcPts val="400"/>
              </a:spcAft>
              <a:buChar char="•"/>
            </a:pPr>
            <a:r>
              <a:rPr sz="1800" b="0" i="0">
                <a:solidFill>
                  <a:srgbClr val="0F172A"/>
                </a:solidFill>
                <a:latin typeface="Arial"/>
              </a:rPr>
              <a:t>Best agent, Feb–Apr: +$36 at mid → </a:t>
            </a:r>
            <a:r>
              <a:rPr sz="1800" b="1" i="0">
                <a:solidFill>
                  <a:srgbClr val="0F172A"/>
                </a:solidFill>
                <a:latin typeface="Arial"/>
              </a:rPr>
              <a:t>−$32</a:t>
            </a:r>
            <a:r>
              <a:rPr sz="1800" b="0" i="0">
                <a:solidFill>
                  <a:srgbClr val="0F172A"/>
                </a:solidFill>
                <a:latin typeface="Arial"/>
              </a:rPr>
              <a:t> after costs</a:t>
            </a:r>
          </a:p>
        </p:txBody>
      </p:sp>
      <p:sp>
        <p:nvSpPr>
          <p:cNvPr id="9" name="TextBox 8"/>
          <p:cNvSpPr txBox="1"/>
          <p:nvPr/>
        </p:nvSpPr>
        <p:spPr>
          <a:xfrm>
            <a:off x="6187287"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771 decision points → 153 with gap &gt; 4 pts → </a:t>
            </a:r>
            <a:r>
              <a:rPr sz="1800" b="1" i="0">
                <a:solidFill>
                  <a:srgbClr val="0F172A"/>
                </a:solidFill>
                <a:latin typeface="Arial"/>
              </a:rPr>
              <a:t>74 trades</a:t>
            </a:r>
          </a:p>
          <a:p>
            <a:pPr algn="l" marL="292608" indent="-256032">
              <a:spcAft>
                <a:spcPts val="400"/>
              </a:spcAft>
              <a:buChar char="•"/>
            </a:pPr>
            <a:r>
              <a:rPr sz="1800" b="0" i="0">
                <a:solidFill>
                  <a:srgbClr val="0F172A"/>
                </a:solidFill>
                <a:latin typeface="Arial"/>
              </a:rPr>
              <a:t>Only </a:t>
            </a:r>
            <a:r>
              <a:rPr sz="1800" b="1" i="0">
                <a:solidFill>
                  <a:srgbClr val="0F172A"/>
                </a:solidFill>
                <a:latin typeface="Arial"/>
              </a:rPr>
              <a:t>27 (36%)</a:t>
            </a:r>
            <a:r>
              <a:rPr sz="1800" b="0" i="0">
                <a:solidFill>
                  <a:srgbClr val="0F172A"/>
                </a:solidFill>
                <a:latin typeface="Arial"/>
              </a:rPr>
              <a:t> beat or matched the close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price moves before the news reaches you</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price_discovery.png"/>
          <p:cNvPicPr>
            <a:picLocks noChangeAspect="1"/>
          </p:cNvPicPr>
          <p:nvPr/>
        </p:nvPicPr>
        <p:blipFill>
          <a:blip r:embed="rId3"/>
          <a:stretch>
            <a:fillRect/>
          </a:stretch>
        </p:blipFill>
        <p:spPr>
          <a:xfrm>
            <a:off x="895197" y="1097280"/>
            <a:ext cx="10401299" cy="4160520"/>
          </a:xfrm>
          <a:prstGeom prst="rect">
            <a:avLst/>
          </a:prstGeom>
        </p:spPr>
      </p:pic>
      <p:sp>
        <p:nvSpPr>
          <p:cNvPr id="8" name="TextBox 7"/>
          <p:cNvSpPr txBox="1"/>
          <p:nvPr/>
        </p:nvSpPr>
        <p:spPr>
          <a:xfrm>
            <a:off x="457200" y="5349240"/>
            <a:ext cx="11277295" cy="100584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91%</a:t>
            </a:r>
            <a:r>
              <a:rPr sz="1800" b="0" i="0">
                <a:solidFill>
                  <a:srgbClr val="0F172A"/>
                </a:solidFill>
                <a:latin typeface="Arial"/>
              </a:rPr>
              <a:t> of the news-direction move was already in the price when the list was public (+1.80 vs +0.18 pts, 193 test games)</a:t>
            </a:r>
          </a:p>
          <a:p>
            <a:pPr algn="l" marL="292608" indent="-256032">
              <a:spcAft>
                <a:spcPts val="400"/>
              </a:spcAft>
              <a:buChar char="•"/>
            </a:pPr>
            <a:r>
              <a:rPr sz="1800" b="0" i="0">
                <a:solidFill>
                  <a:srgbClr val="0F172A"/>
                </a:solidFill>
                <a:latin typeface="Arial"/>
              </a:rPr>
              <a:t>List stamped tip − 30 min: our proxy for when a retail user sees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4: even a market-trained neural net finds nothing</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pic>
        <p:nvPicPr>
          <p:cNvPr id="7" name="Picture 6" descr="m6_vs_baselines.png"/>
          <p:cNvPicPr>
            <a:picLocks noChangeAspect="1"/>
          </p:cNvPicPr>
          <p:nvPr/>
        </p:nvPicPr>
        <p:blipFill>
          <a:blip r:embed="rId3"/>
          <a:stretch>
            <a:fillRect/>
          </a:stretch>
        </p:blipFill>
        <p:spPr>
          <a:xfrm>
            <a:off x="579630" y="1097280"/>
            <a:ext cx="11032434" cy="3383280"/>
          </a:xfrm>
          <a:prstGeom prst="rect">
            <a:avLst/>
          </a:prstGeom>
        </p:spPr>
      </p:pic>
      <p:sp>
        <p:nvSpPr>
          <p:cNvPr id="8" name="TextBox 7"/>
          <p:cNvSpPr txBox="1"/>
          <p:nvPr/>
        </p:nvSpPr>
        <p:spPr>
          <a:xfrm>
            <a:off x="457200" y="4526280"/>
            <a:ext cx="11277295" cy="1298448"/>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Average error on 771 test decision times: </a:t>
            </a:r>
            <a:r>
              <a:rPr sz="1800" b="1" i="0">
                <a:solidFill>
                  <a:srgbClr val="0F172A"/>
                </a:solidFill>
                <a:latin typeface="Arial"/>
              </a:rPr>
              <a:t>M6 0.867¢</a:t>
            </a:r>
            <a:r>
              <a:rPr sz="1800" b="0" i="0">
                <a:solidFill>
                  <a:srgbClr val="0F172A"/>
                </a:solidFill>
                <a:latin typeface="Arial"/>
              </a:rPr>
              <a:t> vs “price won't move” </a:t>
            </a:r>
            <a:r>
              <a:rPr sz="1800" b="1" i="0">
                <a:solidFill>
                  <a:srgbClr val="0F172A"/>
                </a:solidFill>
                <a:latin typeface="Arial"/>
              </a:rPr>
              <a:t>0.833¢</a:t>
            </a:r>
            <a:r>
              <a:rPr sz="1800" b="0" i="0">
                <a:solidFill>
                  <a:srgbClr val="0F172A"/>
                </a:solidFill>
                <a:latin typeface="Arial"/>
              </a:rPr>
              <a:t>; R² ≈ 0 on test and holdout</a:t>
            </a:r>
          </a:p>
          <a:p>
            <a:pPr algn="l" marL="292608" indent="-256032">
              <a:spcAft>
                <a:spcPts val="400"/>
              </a:spcAft>
              <a:buChar char="•"/>
            </a:pPr>
            <a:r>
              <a:rPr sz="1800" b="0" i="0">
                <a:solidFill>
                  <a:srgbClr val="0F172A"/>
                </a:solidFill>
                <a:latin typeface="Arial"/>
              </a:rPr>
              <a:t>After the list, the price moves ~2.5% of the model's implied shift (coefficient 0.025); M6 agent: 0 trades. Forced: 501 trades, −$652</a:t>
            </a:r>
          </a:p>
        </p:txBody>
      </p:sp>
      <p:sp>
        <p:nvSpPr>
          <p:cNvPr id="9" name="Rounded Rectangle 8"/>
          <p:cNvSpPr/>
          <p:nvPr/>
        </p:nvSpPr>
        <p:spPr>
          <a:xfrm>
            <a:off x="457200" y="5870448"/>
            <a:ext cx="11277295" cy="4572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5870448"/>
            <a:ext cx="11094415" cy="45720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The price already contains the public information; the consumer is left paying costs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5: money over time, every line drifts down</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pic>
        <p:nvPicPr>
          <p:cNvPr id="7" name="Picture 6" descr="cumulative_pnl.png"/>
          <p:cNvPicPr>
            <a:picLocks noChangeAspect="1"/>
          </p:cNvPicPr>
          <p:nvPr/>
        </p:nvPicPr>
        <p:blipFill>
          <a:blip r:embed="rId3"/>
          <a:stretch>
            <a:fillRect/>
          </a:stretch>
        </p:blipFill>
        <p:spPr>
          <a:xfrm>
            <a:off x="1213604" y="1097280"/>
            <a:ext cx="9764485" cy="4206240"/>
          </a:xfrm>
          <a:prstGeom prst="rect">
            <a:avLst/>
          </a:prstGeom>
        </p:spPr>
      </p:pic>
      <p:sp>
        <p:nvSpPr>
          <p:cNvPr id="8" name="TextBox 7"/>
          <p:cNvSpPr txBox="1"/>
          <p:nvPr/>
        </p:nvSpPr>
        <p:spPr>
          <a:xfrm>
            <a:off x="457200" y="5394960"/>
            <a:ext cx="11277295" cy="96012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Raw model falls steadily (−$2,087 test, −$2,475 season): the slope is costs</a:t>
            </a:r>
          </a:p>
          <a:p>
            <a:pPr algn="l" marL="292608" indent="-256032">
              <a:spcAft>
                <a:spcPts val="400"/>
              </a:spcAft>
              <a:buChar char="•"/>
            </a:pPr>
            <a:r>
              <a:rPr sz="1800" b="0" i="0">
                <a:solidFill>
                  <a:srgbClr val="0F172A"/>
                </a:solidFill>
                <a:latin typeface="Arial"/>
              </a:rPr>
              <a:t>Learning flattens the line by trading less: full agent −$32 test, −$25 season; M6: 0 trades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6: tested with CIs, never trading wins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pic>
        <p:nvPicPr>
          <p:cNvPr id="7" name="Picture 6" descr="walkforward.png"/>
          <p:cNvPicPr>
            <a:picLocks noChangeAspect="1"/>
          </p:cNvPicPr>
          <p:nvPr/>
        </p:nvPicPr>
        <p:blipFill>
          <a:blip r:embed="rId3"/>
          <a:stretch>
            <a:fillRect/>
          </a:stretch>
        </p:blipFill>
        <p:spPr>
          <a:xfrm>
            <a:off x="457200" y="1188719"/>
            <a:ext cx="5943600" cy="3429000"/>
          </a:xfrm>
          <a:prstGeom prst="rect">
            <a:avLst/>
          </a:prstGeom>
        </p:spPr>
      </p:pic>
      <p:graphicFrame>
        <p:nvGraphicFramePr>
          <p:cNvPr id="8" name="Table 7"/>
          <p:cNvGraphicFramePr>
            <a:graphicFrameLocks noGrp="1"/>
          </p:cNvGraphicFramePr>
          <p:nvPr/>
        </p:nvGraphicFramePr>
        <p:xfrm>
          <a:off x="6537960" y="1188720"/>
          <a:ext cx="5193791" cy="2871216"/>
        </p:xfrm>
        <a:graphic>
          <a:graphicData uri="http://schemas.openxmlformats.org/drawingml/2006/table">
            <a:tbl>
              <a:tblPr firstRow="1" bandRow="1">
                <a:tableStyleId>{5C22544A-7EE6-4342-B048-85BDC9FD1C3A}</a:tableStyleId>
              </a:tblPr>
              <a:tblGrid>
                <a:gridCol w="1874519"/>
                <a:gridCol w="868680"/>
                <a:gridCol w="2450592"/>
              </a:tblGrid>
              <a:tr h="457200">
                <a:tc>
                  <a:txBody>
                    <a:bodyPr wrap="square"/>
                    <a:lstStyle/>
                    <a:p>
                      <a:pPr algn="l"/>
                      <a:r>
                        <a:rPr sz="1600" b="1" i="0">
                          <a:solidFill>
                            <a:srgbClr val="FFFFFF"/>
                          </a:solidFill>
                          <a:latin typeface="Arial"/>
                        </a:rPr>
                        <a:t>Nov – 12 Apr</a:t>
                      </a:r>
                    </a:p>
                  </a:txBody>
                  <a:tcPr marL="73152" marR="73152" marT="36576" marB="36576" anchor="ctr">
                    <a:solidFill>
                      <a:srgbClr val="1E293B"/>
                    </a:solidFill>
                  </a:tcPr>
                </a:tc>
                <a:tc>
                  <a:txBody>
                    <a:bodyPr wrap="square"/>
                    <a:lstStyle/>
                    <a:p>
                      <a:pPr algn="ctr"/>
                      <a:r>
                        <a:rPr sz="1600" b="1" i="0">
                          <a:solidFill>
                            <a:srgbClr val="FFFFFF"/>
                          </a:solidFill>
                          <a:latin typeface="Arial"/>
                        </a:rPr>
                        <a:t>Trades</a:t>
                      </a:r>
                    </a:p>
                  </a:txBody>
                  <a:tcPr marL="73152" marR="73152" marT="36576" marB="36576" anchor="ctr">
                    <a:solidFill>
                      <a:srgbClr val="1E293B"/>
                    </a:solidFill>
                  </a:tcPr>
                </a:tc>
                <a:tc>
                  <a:txBody>
                    <a:bodyPr wrap="square"/>
                    <a:lstStyle/>
                    <a:p>
                      <a:pPr algn="ctr"/>
                      <a:r>
                        <a:rPr sz="1600" b="1" i="0">
                          <a:solidFill>
                            <a:srgbClr val="FFFFFF"/>
                          </a:solidFill>
                          <a:latin typeface="Arial"/>
                        </a:rPr>
                        <a:t>P&amp;L [95% CI]</a:t>
                      </a:r>
                    </a:p>
                  </a:txBody>
                  <a:tcPr marL="73152" marR="73152" marT="36576" marB="36576" anchor="ctr">
                    <a:solidFill>
                      <a:srgbClr val="1E293B"/>
                    </a:solidFill>
                  </a:tcPr>
                </a:tc>
              </a:tr>
              <a:tr h="603504">
                <a:tc>
                  <a:txBody>
                    <a:bodyPr wrap="square"/>
                    <a:lstStyle/>
                    <a:p>
                      <a:pPr algn="l"/>
                      <a:r>
                        <a:rPr sz="1600" b="1" i="0">
                          <a:solidFill>
                            <a:srgbClr val="0F172A"/>
                          </a:solidFill>
                          <a:latin typeface="Arial"/>
                        </a:rPr>
                        <a:t>Never trade</a:t>
                      </a:r>
                    </a:p>
                  </a:txBody>
                  <a:tcPr marL="73152" marR="73152" marT="36576" marB="36576" anchor="ctr">
                    <a:solidFill>
                      <a:srgbClr val="DCFCE7"/>
                    </a:solidFill>
                  </a:tcPr>
                </a:tc>
                <a:tc>
                  <a:txBody>
                    <a:bodyPr wrap="square"/>
                    <a:lstStyle/>
                    <a:p>
                      <a:pPr algn="ctr"/>
                      <a:r>
                        <a:rPr sz="1600" b="0" i="0">
                          <a:solidFill>
                            <a:srgbClr val="0F172A"/>
                          </a:solidFill>
                          <a:latin typeface="Arial"/>
                        </a:rPr>
                        <a:t>0</a:t>
                      </a:r>
                    </a:p>
                  </a:txBody>
                  <a:tcPr marL="73152" marR="73152" marT="36576" marB="36576" anchor="ctr">
                    <a:solidFill>
                      <a:srgbClr val="DCFCE7"/>
                    </a:solidFill>
                  </a:tcPr>
                </a:tc>
                <a:tc>
                  <a:txBody>
                    <a:bodyPr wrap="square"/>
                    <a:lstStyle/>
                    <a:p>
                      <a:pPr algn="ctr"/>
                      <a:r>
                        <a:rPr sz="1600" b="1" i="0">
                          <a:solidFill>
                            <a:srgbClr val="0F172A"/>
                          </a:solidFill>
                          <a:latin typeface="Arial"/>
                        </a:rPr>
                        <a:t>$0</a:t>
                      </a:r>
                    </a:p>
                  </a:txBody>
                  <a:tcPr marL="73152" marR="73152" marT="36576" marB="36576" anchor="ctr">
                    <a:solidFill>
                      <a:srgbClr val="DCFCE7"/>
                    </a:solidFill>
                  </a:tcPr>
                </a:tc>
              </a:tr>
              <a:tr h="603504">
                <a:tc>
                  <a:txBody>
                    <a:bodyPr wrap="square"/>
                    <a:lstStyle/>
                    <a:p>
                      <a:pPr algn="l"/>
                      <a:r>
                        <a:rPr sz="1600" b="0" i="0">
                          <a:solidFill>
                            <a:srgbClr val="0F172A"/>
                          </a:solidFill>
                          <a:latin typeface="Arial"/>
                        </a:rPr>
                        <a:t>Full agent</a:t>
                      </a:r>
                    </a:p>
                  </a:txBody>
                  <a:tcPr marL="73152" marR="73152" marT="36576" marB="36576" anchor="ctr">
                    <a:solidFill>
                      <a:srgbClr val="FFFFFF"/>
                    </a:solidFill>
                  </a:tcPr>
                </a:tc>
                <a:tc>
                  <a:txBody>
                    <a:bodyPr wrap="square"/>
                    <a:lstStyle/>
                    <a:p>
                      <a:pPr algn="ctr"/>
                      <a:r>
                        <a:rPr sz="1600" b="0" i="0">
                          <a:solidFill>
                            <a:srgbClr val="0F172A"/>
                          </a:solidFill>
                          <a:latin typeface="Arial"/>
                        </a:rPr>
                        <a:t>157</a:t>
                      </a:r>
                    </a:p>
                  </a:txBody>
                  <a:tcPr marL="73152" marR="73152" marT="36576" marB="36576" anchor="ctr">
                    <a:solidFill>
                      <a:srgbClr val="FFFFFF"/>
                    </a:solidFill>
                  </a:tcPr>
                </a:tc>
                <a:tc>
                  <a:txBody>
                    <a:bodyPr wrap="square"/>
                    <a:lstStyle/>
                    <a:p>
                      <a:pPr algn="ctr"/>
                      <a:r>
                        <a:rPr sz="1600" b="0" i="0">
                          <a:solidFill>
                            <a:srgbClr val="0F172A"/>
                          </a:solidFill>
                          <a:latin typeface="Arial"/>
                        </a:rPr>
                        <a:t>−$25 [−$569 to +$564]</a:t>
                      </a:r>
                    </a:p>
                  </a:txBody>
                  <a:tcPr marL="73152" marR="73152" marT="36576" marB="36576" anchor="ctr">
                    <a:solidFill>
                      <a:srgbClr val="FFFFFF"/>
                    </a:solidFill>
                  </a:tcPr>
                </a:tc>
              </a:tr>
              <a:tr h="603504">
                <a:tc>
                  <a:txBody>
                    <a:bodyPr wrap="square"/>
                    <a:lstStyle/>
                    <a:p>
                      <a:pPr algn="l"/>
                      <a:r>
                        <a:rPr sz="1600" b="0" i="0">
                          <a:solidFill>
                            <a:srgbClr val="0F172A"/>
                          </a:solidFill>
                          <a:latin typeface="Arial"/>
                        </a:rPr>
                        <a:t>No learning</a:t>
                      </a:r>
                    </a:p>
                  </a:txBody>
                  <a:tcPr marL="73152" marR="73152" marT="36576" marB="36576" anchor="ctr">
                    <a:solidFill>
                      <a:srgbClr val="F1F5F9"/>
                    </a:solidFill>
                  </a:tcPr>
                </a:tc>
                <a:tc>
                  <a:txBody>
                    <a:bodyPr wrap="square"/>
                    <a:lstStyle/>
                    <a:p>
                      <a:pPr algn="ctr"/>
                      <a:r>
                        <a:rPr sz="1600" b="0" i="0">
                          <a:solidFill>
                            <a:srgbClr val="0F172A"/>
                          </a:solidFill>
                          <a:latin typeface="Arial"/>
                        </a:rPr>
                        <a:t>276</a:t>
                      </a:r>
                    </a:p>
                  </a:txBody>
                  <a:tcPr marL="73152" marR="73152" marT="36576" marB="36576" anchor="ctr">
                    <a:solidFill>
                      <a:srgbClr val="F1F5F9"/>
                    </a:solidFill>
                  </a:tcPr>
                </a:tc>
                <a:tc>
                  <a:txBody>
                    <a:bodyPr wrap="square"/>
                    <a:lstStyle/>
                    <a:p>
                      <a:pPr algn="ctr"/>
                      <a:r>
                        <a:rPr sz="1600" b="0" i="0">
                          <a:solidFill>
                            <a:srgbClr val="0F172A"/>
                          </a:solidFill>
                          <a:latin typeface="Arial"/>
                        </a:rPr>
                        <a:t>−$407 [−$1,324 to +$553]</a:t>
                      </a:r>
                    </a:p>
                  </a:txBody>
                  <a:tcPr marL="73152" marR="73152" marT="36576" marB="36576" anchor="ctr">
                    <a:solidFill>
                      <a:srgbClr val="F1F5F9"/>
                    </a:solidFill>
                  </a:tcPr>
                </a:tc>
              </a:tr>
              <a:tr h="603504">
                <a:tc>
                  <a:txBody>
                    <a:bodyPr wrap="square"/>
                    <a:lstStyle/>
                    <a:p>
                      <a:pPr algn="l"/>
                      <a:r>
                        <a:rPr sz="1600" b="0" i="0">
                          <a:solidFill>
                            <a:srgbClr val="0F172A"/>
                          </a:solidFill>
                          <a:latin typeface="Arial"/>
                        </a:rPr>
                        <a:t>Raw model</a:t>
                      </a:r>
                    </a:p>
                  </a:txBody>
                  <a:tcPr marL="73152" marR="73152" marT="36576" marB="36576" anchor="ctr">
                    <a:solidFill>
                      <a:srgbClr val="FFFFFF"/>
                    </a:solidFill>
                  </a:tcPr>
                </a:tc>
                <a:tc>
                  <a:txBody>
                    <a:bodyPr wrap="square"/>
                    <a:lstStyle/>
                    <a:p>
                      <a:pPr algn="ctr"/>
                      <a:r>
                        <a:rPr sz="1600" b="0" i="0">
                          <a:solidFill>
                            <a:srgbClr val="0F172A"/>
                          </a:solidFill>
                          <a:latin typeface="Arial"/>
                        </a:rPr>
                        <a:t>711</a:t>
                      </a:r>
                    </a:p>
                  </a:txBody>
                  <a:tcPr marL="73152" marR="73152" marT="36576" marB="36576" anchor="ctr">
                    <a:solidFill>
                      <a:srgbClr val="FFFFFF"/>
                    </a:solidFill>
                  </a:tcPr>
                </a:tc>
                <a:tc>
                  <a:txBody>
                    <a:bodyPr wrap="square"/>
                    <a:lstStyle/>
                    <a:p>
                      <a:pPr algn="ctr"/>
                      <a:r>
                        <a:rPr sz="1600" b="0" i="0">
                          <a:solidFill>
                            <a:srgbClr val="0F172A"/>
                          </a:solidFill>
                          <a:latin typeface="Arial"/>
                        </a:rPr>
                        <a:t>−$2,475 [−$3,995 to −$845]</a:t>
                      </a:r>
                    </a:p>
                  </a:txBody>
                  <a:tcPr marL="73152" marR="73152" marT="36576" marB="36576" anchor="ctr">
                    <a:solidFill>
                      <a:srgbClr val="FFFFFF"/>
                    </a:solidFill>
                  </a:tcPr>
                </a:tc>
              </a:tr>
            </a:tbl>
          </a:graphicData>
        </a:graphic>
      </p:graphicFrame>
      <p:sp>
        <p:nvSpPr>
          <p:cNvPr id="9" name="TextBox 8"/>
          <p:cNvSpPr txBox="1"/>
          <p:nvPr/>
        </p:nvSpPr>
        <p:spPr>
          <a:xfrm>
            <a:off x="6537960" y="4114800"/>
            <a:ext cx="5196535" cy="640080"/>
          </a:xfrm>
          <a:prstGeom prst="rect">
            <a:avLst/>
          </a:prstGeom>
          <a:noFill/>
        </p:spPr>
        <p:txBody>
          <a:bodyPr wrap="square" anchor="t" lIns="73152" rIns="73152" tIns="36576" bIns="36576">
            <a:spAutoFit/>
          </a:bodyPr>
          <a:lstStyle/>
          <a:p>
            <a:pPr algn="l">
              <a:spcAft>
                <a:spcPts val="800"/>
              </a:spcAft>
            </a:pPr>
            <a:r>
              <a:rPr sz="1400" b="0" i="0">
                <a:solidFill>
                  <a:srgbClr val="64748B"/>
                </a:solidFill>
                <a:latin typeface="Arial"/>
              </a:rPr>
              <a:t>Day-clustered bootstrap; M4 retrained monthly. Chart totals include play-offs, the table does not</a:t>
            </a:r>
          </a:p>
        </p:txBody>
      </p:sp>
      <p:sp>
        <p:nvSpPr>
          <p:cNvPr id="10" name="TextBox 9"/>
          <p:cNvSpPr txBox="1"/>
          <p:nvPr/>
        </p:nvSpPr>
        <p:spPr>
          <a:xfrm>
            <a:off x="457200" y="4663440"/>
            <a:ext cx="11277295" cy="169164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Mean CLV &lt; 0 for every setup; </a:t>
            </a:r>
            <a:r>
              <a:rPr sz="1800" b="1" i="0">
                <a:solidFill>
                  <a:srgbClr val="0F172A"/>
                </a:solidFill>
                <a:latin typeface="Arial"/>
              </a:rPr>
              <a:t>every 95% CI entirely below zero</a:t>
            </a:r>
          </a:p>
          <a:p>
            <a:pPr algn="l" marL="292608" indent="-256032">
              <a:spcAft>
                <a:spcPts val="400"/>
              </a:spcAft>
              <a:buChar char="•"/>
            </a:pPr>
            <a:r>
              <a:rPr sz="1800" b="0" i="0">
                <a:solidFill>
                  <a:srgbClr val="0F172A"/>
                </a:solidFill>
                <a:latin typeface="Arial"/>
              </a:rPr>
              <a:t>Market anchor is real: +$2,450 vs raw model (p = 0.002); learning = trading less (p = 0.13)</a:t>
            </a:r>
          </a:p>
          <a:p>
            <a:pPr algn="l" marL="292608" indent="-256032">
              <a:spcAft>
                <a:spcPts val="400"/>
              </a:spcAft>
              <a:buChar char="•"/>
            </a:pPr>
            <a:r>
              <a:rPr sz="1800" b="0" i="0">
                <a:solidFill>
                  <a:srgbClr val="0F172A"/>
                </a:solidFill>
                <a:latin typeface="Arial"/>
              </a:rPr>
              <a:t>Play-off holdout (87 games): full agent 0 trades; no learning 6 trades, −$74; raw model +$450 with negative CLV (luck)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educate and protect the consumer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pic>
        <p:nvPicPr>
          <p:cNvPr id="7" name="Picture 6" descr="agent_workflow.png"/>
          <p:cNvPicPr>
            <a:picLocks noChangeAspect="1"/>
          </p:cNvPicPr>
          <p:nvPr/>
        </p:nvPicPr>
        <p:blipFill>
          <a:blip r:embed="rId3"/>
          <a:stretch>
            <a:fillRect/>
          </a:stretch>
        </p:blipFill>
        <p:spPr>
          <a:xfrm>
            <a:off x="457200" y="1853719"/>
            <a:ext cx="6766560" cy="3744920"/>
          </a:xfrm>
          <a:prstGeom prst="rect">
            <a:avLst/>
          </a:prstGeom>
        </p:spPr>
      </p:pic>
      <p:sp>
        <p:nvSpPr>
          <p:cNvPr id="8" name="TextBox 7"/>
          <p:cNvSpPr txBox="1"/>
          <p:nvPr/>
        </p:nvSpPr>
        <p:spPr>
          <a:xfrm>
            <a:off x="7406640" y="1234439"/>
            <a:ext cx="4327855" cy="5120640"/>
          </a:xfrm>
          <a:prstGeom prst="rect">
            <a:avLst/>
          </a:prstGeom>
          <a:noFill/>
        </p:spPr>
        <p:txBody>
          <a:bodyPr wrap="square" anchor="t" lIns="73152" rIns="73152" tIns="36576" bIns="36576">
            <a:spAutoFit/>
          </a:bodyPr>
          <a:lstStyle/>
          <a:p>
            <a:pPr algn="l" marL="292608" indent="-256032">
              <a:spcAft>
                <a:spcPts val="800"/>
              </a:spcAft>
              <a:buChar char="•"/>
            </a:pPr>
            <a:r>
              <a:rPr sz="1800" b="1" i="0">
                <a:solidFill>
                  <a:srgbClr val="0F172A"/>
                </a:solidFill>
                <a:latin typeface="Arial"/>
              </a:rPr>
              <a:t>Pass by default:</a:t>
            </a:r>
            <a:r>
              <a:rPr sz="1800" b="0" i="0">
                <a:solidFill>
                  <a:srgbClr val="0F172A"/>
                </a:solidFill>
                <a:latin typeface="Arial"/>
              </a:rPr>
              <a:t> 90% of decision points → no trade</a:t>
            </a:r>
          </a:p>
          <a:p>
            <a:pPr algn="l" marL="292608" indent="-256032">
              <a:spcAft>
                <a:spcPts val="800"/>
              </a:spcAft>
              <a:buChar char="•"/>
            </a:pPr>
            <a:r>
              <a:rPr sz="1800" b="1" i="0">
                <a:solidFill>
                  <a:srgbClr val="0F172A"/>
                </a:solidFill>
                <a:latin typeface="Arial"/>
              </a:rPr>
              <a:t>No-order reason:</a:t>
            </a:r>
            <a:r>
              <a:rPr sz="1800" b="0" i="0">
                <a:solidFill>
                  <a:srgbClr val="0F172A"/>
                </a:solidFill>
                <a:latin typeface="Arial"/>
              </a:rPr>
              <a:t> “gap after fees too small or the price already moved”</a:t>
            </a:r>
          </a:p>
          <a:p>
            <a:pPr algn="l" marL="292608" indent="-256032">
              <a:spcAft>
                <a:spcPts val="800"/>
              </a:spcAft>
              <a:buChar char="•"/>
            </a:pPr>
            <a:r>
              <a:rPr sz="1800" b="1" i="0">
                <a:solidFill>
                  <a:srgbClr val="0F172A"/>
                </a:solidFill>
                <a:latin typeface="Arial"/>
              </a:rPr>
              <a:t>Costs shown:</a:t>
            </a:r>
            <a:r>
              <a:rPr sz="1800" b="0" i="0">
                <a:solidFill>
                  <a:srgbClr val="0F172A"/>
                </a:solidFill>
                <a:latin typeface="Arial"/>
              </a:rPr>
              <a:t> bid-ask in briefs; Coach shows break-even after spread + fee</a:t>
            </a:r>
          </a:p>
          <a:p>
            <a:pPr algn="l" marL="292608" indent="-256032">
              <a:spcAft>
                <a:spcPts val="800"/>
              </a:spcAft>
              <a:buChar char="•"/>
            </a:pPr>
            <a:r>
              <a:rPr sz="1800" b="1" i="0">
                <a:solidFill>
                  <a:srgbClr val="0F172A"/>
                </a:solidFill>
                <a:latin typeface="Arial"/>
              </a:rPr>
              <a:t>Code limits:</a:t>
            </a:r>
            <a:r>
              <a:rPr sz="1800" b="0" i="0">
                <a:solidFill>
                  <a:srgbClr val="0F172A"/>
                </a:solidFill>
                <a:latin typeface="Arial"/>
              </a:rPr>
              <a:t> $50 / order, $100 / game, $300 / day; bans “lock”, “guaranteed”, “risk-free”</a:t>
            </a:r>
          </a:p>
          <a:p>
            <a:pPr algn="l" marL="292608" indent="-256032">
              <a:spcAft>
                <a:spcPts val="800"/>
              </a:spcAft>
              <a:buChar char="•"/>
            </a:pPr>
            <a:r>
              <a:rPr sz="1800" b="1" i="0">
                <a:solidFill>
                  <a:srgbClr val="0F172A"/>
                </a:solidFill>
                <a:latin typeface="Arial"/>
              </a:rPr>
              <a:t>9 / 9</a:t>
            </a:r>
            <a:r>
              <a:rPr sz="1800" b="0" i="0">
                <a:solidFill>
                  <a:srgbClr val="0F172A"/>
                </a:solidFill>
                <a:latin typeface="Arial"/>
              </a:rPr>
              <a:t> planted violations blocked</a:t>
            </a:r>
          </a:p>
          <a:p>
            <a:pPr algn="l" marL="292608" indent="-256032">
              <a:spcAft>
                <a:spcPts val="800"/>
              </a:spcAft>
              <a:buChar char="•"/>
            </a:pPr>
            <a:r>
              <a:rPr sz="1800" b="1" i="0">
                <a:solidFill>
                  <a:srgbClr val="0F172A"/>
                </a:solidFill>
                <a:latin typeface="Arial"/>
              </a:rPr>
              <a:t>Learned rules:</a:t>
            </a:r>
            <a:r>
              <a:rPr sz="1800" b="0" i="0">
                <a:solidFill>
                  <a:srgbClr val="0F172A"/>
                </a:solidFill>
                <a:latin typeface="Arial"/>
              </a:rPr>
              <a:t> skip ≤ 35¢; skip after a 2¢ move against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Coach: teach why most bets don't clear costs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sp>
        <p:nvSpPr>
          <p:cNvPr id="7" name="Rounded Rectangle 6"/>
          <p:cNvSpPr/>
          <p:nvPr/>
        </p:nvSpPr>
        <p:spPr>
          <a:xfrm>
            <a:off x="457200" y="1234439"/>
            <a:ext cx="5501487" cy="205740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2057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227167"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What's going on</a:t>
            </a:r>
          </a:p>
        </p:txBody>
      </p:sp>
      <p:sp>
        <p:nvSpPr>
          <p:cNvPr id="10" name="TextBox 9"/>
          <p:cNvSpPr txBox="1"/>
          <p:nvPr/>
        </p:nvSpPr>
        <p:spPr>
          <a:xfrm>
            <a:off x="640080" y="1764791"/>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News so far; model before / after the news</a:t>
            </a:r>
          </a:p>
          <a:p>
            <a:pPr algn="l" marL="292608" indent="-256032">
              <a:spcAft>
                <a:spcPts val="600"/>
              </a:spcAft>
              <a:buChar char="•"/>
            </a:pPr>
            <a:r>
              <a:rPr sz="1800" b="0" i="0">
                <a:solidFill>
                  <a:srgbClr val="0F172A"/>
                </a:solidFill>
                <a:latin typeface="Arial"/>
              </a:rPr>
              <a:t>Market now vs 24 h ago; break-even after spread + fee</a:t>
            </a:r>
          </a:p>
        </p:txBody>
      </p:sp>
      <p:sp>
        <p:nvSpPr>
          <p:cNvPr id="11" name="Rounded Rectangle 10"/>
          <p:cNvSpPr/>
          <p:nvPr/>
        </p:nvSpPr>
        <p:spPr>
          <a:xfrm>
            <a:off x="6233007" y="1234439"/>
            <a:ext cx="5501487" cy="205740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234439"/>
            <a:ext cx="109728" cy="20574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5887" y="1307592"/>
            <a:ext cx="5227167"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Lessons, when relevant</a:t>
            </a:r>
          </a:p>
        </p:txBody>
      </p:sp>
      <p:sp>
        <p:nvSpPr>
          <p:cNvPr id="14" name="TextBox 13"/>
          <p:cNvSpPr txBox="1"/>
          <p:nvPr/>
        </p:nvSpPr>
        <p:spPr>
          <a:xfrm>
            <a:off x="6415887" y="1764791"/>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Price = probability · costs move break-even</a:t>
            </a:r>
          </a:p>
          <a:p>
            <a:pPr algn="l" marL="292608" indent="-256032">
              <a:spcAft>
                <a:spcPts val="600"/>
              </a:spcAft>
              <a:buChar char="•"/>
            </a:pPr>
            <a:r>
              <a:rPr sz="1800" b="0" i="0">
                <a:solidFill>
                  <a:srgbClr val="0F172A"/>
                </a:solidFill>
                <a:latin typeface="Arial"/>
              </a:rPr>
              <a:t>Priced in / chasing · long shots · closing line · passing</a:t>
            </a:r>
          </a:p>
        </p:txBody>
      </p:sp>
      <p:sp>
        <p:nvSpPr>
          <p:cNvPr id="15" name="Rounded Rectangle 14"/>
          <p:cNvSpPr/>
          <p:nvPr/>
        </p:nvSpPr>
        <p:spPr>
          <a:xfrm>
            <a:off x="457200" y="3474720"/>
            <a:ext cx="5501487" cy="205740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474720"/>
            <a:ext cx="109728" cy="20574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547872"/>
            <a:ext cx="5227167" cy="457200"/>
          </a:xfrm>
          <a:prstGeom prst="rect">
            <a:avLst/>
          </a:prstGeom>
          <a:noFill/>
        </p:spPr>
        <p:txBody>
          <a:bodyPr wrap="square" anchor="t" lIns="73152" rIns="73152" tIns="36576" bIns="36576">
            <a:spAutoFit/>
          </a:bodyPr>
          <a:lstStyle/>
          <a:p>
            <a:pPr algn="l">
              <a:spcAft>
                <a:spcPts val="0"/>
              </a:spcAft>
            </a:pPr>
            <a:r>
              <a:rPr sz="2000" b="1" i="0">
                <a:solidFill>
                  <a:srgbClr val="16A34A"/>
                </a:solidFill>
                <a:latin typeface="Arial"/>
              </a:rPr>
              <a:t>3  Your paper call</a:t>
            </a:r>
          </a:p>
        </p:txBody>
      </p:sp>
      <p:sp>
        <p:nvSpPr>
          <p:cNvPr id="18" name="TextBox 17"/>
          <p:cNvSpPr txBox="1"/>
          <p:nvPr/>
        </p:nvSpPr>
        <p:spPr>
          <a:xfrm>
            <a:off x="640080" y="4005072"/>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Back a team or pass</a:t>
            </a:r>
          </a:p>
          <a:p>
            <a:pPr algn="l" marL="292608" indent="-256032">
              <a:spcAft>
                <a:spcPts val="600"/>
              </a:spcAft>
              <a:buChar char="•"/>
            </a:pPr>
            <a:r>
              <a:rPr sz="1800" b="0" i="0">
                <a:solidFill>
                  <a:srgbClr val="0F172A"/>
                </a:solidFill>
                <a:latin typeface="Arial"/>
              </a:rPr>
              <a:t>Then: close, CLV, result, and what the agent did</a:t>
            </a:r>
          </a:p>
        </p:txBody>
      </p:sp>
      <p:sp>
        <p:nvSpPr>
          <p:cNvPr id="19" name="Rounded Rectangle 18"/>
          <p:cNvSpPr/>
          <p:nvPr/>
        </p:nvSpPr>
        <p:spPr>
          <a:xfrm>
            <a:off x="6233007" y="3474720"/>
            <a:ext cx="5501487" cy="205740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3474720"/>
            <a:ext cx="109728" cy="20574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3547872"/>
            <a:ext cx="5227167"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4  Habit feedback</a:t>
            </a:r>
          </a:p>
        </p:txBody>
      </p:sp>
      <p:sp>
        <p:nvSpPr>
          <p:cNvPr id="22" name="TextBox 21"/>
          <p:cNvSpPr txBox="1"/>
          <p:nvPr/>
        </p:nvSpPr>
        <p:spPr>
          <a:xfrm>
            <a:off x="6415887" y="4005072"/>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Paying above the close, long shots, chasing</a:t>
            </a:r>
          </a:p>
          <a:p>
            <a:pPr algn="l" marL="292608" indent="-256032">
              <a:spcAft>
                <a:spcPts val="600"/>
              </a:spcAft>
              <a:buChar char="•"/>
            </a:pPr>
            <a:r>
              <a:rPr sz="1800" b="0" i="0">
                <a:solidFill>
                  <a:srgbClr val="0F172A"/>
                </a:solidFill>
                <a:latin typeface="Arial"/>
              </a:rPr>
              <a:t>Small samples are mostly luck</a:t>
            </a:r>
          </a:p>
        </p:txBody>
      </p:sp>
      <p:sp>
        <p:nvSpPr>
          <p:cNvPr id="23" name="Rounded Rectangle 22"/>
          <p:cNvSpPr/>
          <p:nvPr/>
        </p:nvSpPr>
        <p:spPr>
          <a:xfrm>
            <a:off x="457200" y="5760720"/>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760720"/>
            <a:ext cx="11094415" cy="5029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League: practise against the real market with play money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pic>
        <p:nvPicPr>
          <p:cNvPr id="7" name="Picture 6" descr="league_reveal.png"/>
          <p:cNvPicPr>
            <a:picLocks noChangeAspect="1"/>
          </p:cNvPicPr>
          <p:nvPr/>
        </p:nvPicPr>
        <p:blipFill>
          <a:blip r:embed="rId3"/>
          <a:stretch>
            <a:fillRect/>
          </a:stretch>
        </p:blipFill>
        <p:spPr>
          <a:xfrm>
            <a:off x="457200" y="1151188"/>
            <a:ext cx="11277295" cy="1720982"/>
          </a:xfrm>
          <a:prstGeom prst="rect">
            <a:avLst/>
          </a:prstGeom>
        </p:spPr>
      </p:pic>
      <p:graphicFrame>
        <p:nvGraphicFramePr>
          <p:cNvPr id="8" name="Table 7"/>
          <p:cNvGraphicFramePr>
            <a:graphicFrameLocks noGrp="1"/>
          </p:cNvGraphicFramePr>
          <p:nvPr/>
        </p:nvGraphicFramePr>
        <p:xfrm>
          <a:off x="457200" y="3063239"/>
          <a:ext cx="7955280" cy="2331720"/>
        </p:xfrm>
        <a:graphic>
          <a:graphicData uri="http://schemas.openxmlformats.org/drawingml/2006/table">
            <a:tbl>
              <a:tblPr firstRow="1" bandRow="1">
                <a:tableStyleId>{5C22544A-7EE6-4342-B048-85BDC9FD1C3A}</a:tableStyleId>
              </a:tblPr>
              <a:tblGrid>
                <a:gridCol w="1965960"/>
                <a:gridCol w="868680"/>
                <a:gridCol w="1234440"/>
                <a:gridCol w="1234440"/>
                <a:gridCol w="1051560"/>
                <a:gridCol w="1600200"/>
              </a:tblGrid>
              <a:tr h="411480">
                <a:tc>
                  <a:txBody>
                    <a:bodyPr wrap="square"/>
                    <a:lstStyle/>
                    <a:p>
                      <a:pPr algn="l"/>
                      <a:r>
                        <a:rPr sz="1500" b="1" i="0">
                          <a:solidFill>
                            <a:srgbClr val="FFFFFF"/>
                          </a:solidFill>
                          <a:latin typeface="Arial"/>
                        </a:rPr>
                        <a:t>Example league</a:t>
                      </a:r>
                    </a:p>
                  </a:txBody>
                  <a:tcPr marL="73152" marR="73152" marT="36576" marB="36576" anchor="ctr">
                    <a:solidFill>
                      <a:srgbClr val="1E293B"/>
                    </a:solidFill>
                  </a:tcPr>
                </a:tc>
                <a:tc>
                  <a:txBody>
                    <a:bodyPr wrap="square"/>
                    <a:lstStyle/>
                    <a:p>
                      <a:pPr algn="ctr"/>
                      <a:r>
                        <a:rPr sz="1500" b="1" i="0">
                          <a:solidFill>
                            <a:srgbClr val="FFFFFF"/>
                          </a:solidFill>
                          <a:latin typeface="Arial"/>
                        </a:rPr>
                        <a:t>Trades</a:t>
                      </a:r>
                    </a:p>
                  </a:txBody>
                  <a:tcPr marL="73152" marR="73152" marT="36576" marB="36576" anchor="ctr">
                    <a:solidFill>
                      <a:srgbClr val="1E293B"/>
                    </a:solidFill>
                  </a:tcPr>
                </a:tc>
                <a:tc>
                  <a:txBody>
                    <a:bodyPr wrap="square"/>
                    <a:lstStyle/>
                    <a:p>
                      <a:pPr algn="ctr"/>
                      <a:r>
                        <a:rPr sz="1500" b="1" i="0">
                          <a:solidFill>
                            <a:srgbClr val="FFFFFF"/>
                          </a:solidFill>
                          <a:latin typeface="Arial"/>
                        </a:rPr>
                        <a:t>Mean CLV</a:t>
                      </a:r>
                    </a:p>
                  </a:txBody>
                  <a:tcPr marL="73152" marR="73152" marT="36576" marB="36576" anchor="ctr">
                    <a:solidFill>
                      <a:srgbClr val="1E293B"/>
                    </a:solidFill>
                  </a:tcPr>
                </a:tc>
                <a:tc>
                  <a:txBody>
                    <a:bodyPr wrap="square"/>
                    <a:lstStyle/>
                    <a:p>
                      <a:pPr algn="ctr"/>
                      <a:r>
                        <a:rPr sz="1500" b="1" i="0">
                          <a:solidFill>
                            <a:srgbClr val="FFFFFF"/>
                          </a:solidFill>
                          <a:latin typeface="Arial"/>
                        </a:rPr>
                        <a:t>Beat close</a:t>
                      </a:r>
                    </a:p>
                  </a:txBody>
                  <a:tcPr marL="73152" marR="73152" marT="36576" marB="36576" anchor="ctr">
                    <a:solidFill>
                      <a:srgbClr val="1E293B"/>
                    </a:solidFill>
                  </a:tcPr>
                </a:tc>
                <a:tc>
                  <a:txBody>
                    <a:bodyPr wrap="square"/>
                    <a:lstStyle/>
                    <a:p>
                      <a:pPr algn="ctr"/>
                      <a:r>
                        <a:rPr sz="1500" b="1" i="0">
                          <a:solidFill>
                            <a:srgbClr val="FFFFFF"/>
                          </a:solidFill>
                          <a:latin typeface="Arial"/>
                        </a:rPr>
                        <a:t>P&amp;L</a:t>
                      </a:r>
                    </a:p>
                  </a:txBody>
                  <a:tcPr marL="73152" marR="73152" marT="36576" marB="36576" anchor="ctr">
                    <a:solidFill>
                      <a:srgbClr val="1E293B"/>
                    </a:solidFill>
                  </a:tcPr>
                </a:tc>
                <a:tc>
                  <a:txBody>
                    <a:bodyPr wrap="square"/>
                    <a:lstStyle/>
                    <a:p>
                      <a:pPr algn="l"/>
                      <a:r>
                        <a:rPr sz="1500" b="1" i="0">
                          <a:solidFill>
                            <a:srgbClr val="FFFFFF"/>
                          </a:solidFill>
                          <a:latin typeface="Arial"/>
                        </a:rPr>
                        <a:t>Skill or luck?</a:t>
                      </a:r>
                    </a:p>
                  </a:txBody>
                  <a:tcPr marL="73152" marR="73152" marT="36576" marB="36576" anchor="ctr">
                    <a:solidFill>
                      <a:srgbClr val="1E293B"/>
                    </a:solidFill>
                  </a:tcPr>
                </a:tc>
              </a:tr>
              <a:tr h="384048">
                <a:tc>
                  <a:txBody>
                    <a:bodyPr wrap="square"/>
                    <a:lstStyle/>
                    <a:p>
                      <a:pPr algn="l"/>
                      <a:r>
                        <a:rPr sz="1500" b="0" i="0">
                          <a:solidFill>
                            <a:srgbClr val="0F172A"/>
                          </a:solidFill>
                          <a:latin typeface="Arial"/>
                        </a:rPr>
                        <a:t>michael (player)</a:t>
                      </a:r>
                    </a:p>
                  </a:txBody>
                  <a:tcPr marL="73152" marR="73152" marT="36576" marB="36576" anchor="ctr">
                    <a:solidFill>
                      <a:srgbClr val="F1F5F9"/>
                    </a:solidFill>
                  </a:tcPr>
                </a:tc>
                <a:tc>
                  <a:txBody>
                    <a:bodyPr wrap="square"/>
                    <a:lstStyle/>
                    <a:p>
                      <a:pPr algn="ctr"/>
                      <a:r>
                        <a:rPr sz="1500" b="0" i="0">
                          <a:solidFill>
                            <a:srgbClr val="0F172A"/>
                          </a:solidFill>
                          <a:latin typeface="Arial"/>
                        </a:rPr>
                        <a:t>5</a:t>
                      </a:r>
                    </a:p>
                  </a:txBody>
                  <a:tcPr marL="73152" marR="73152" marT="36576" marB="36576" anchor="ctr">
                    <a:solidFill>
                      <a:srgbClr val="F1F5F9"/>
                    </a:solidFill>
                  </a:tcPr>
                </a:tc>
                <a:tc>
                  <a:txBody>
                    <a:bodyPr wrap="square"/>
                    <a:lstStyle/>
                    <a:p>
                      <a:pPr algn="ctr"/>
                      <a:r>
                        <a:rPr sz="1500" b="0" i="0">
                          <a:solidFill>
                            <a:srgbClr val="0F172A"/>
                          </a:solidFill>
                          <a:latin typeface="Arial"/>
                        </a:rPr>
                        <a:t>+0.30¢</a:t>
                      </a:r>
                    </a:p>
                  </a:txBody>
                  <a:tcPr marL="73152" marR="73152" marT="36576" marB="36576" anchor="ctr">
                    <a:solidFill>
                      <a:srgbClr val="F1F5F9"/>
                    </a:solidFill>
                  </a:tcPr>
                </a:tc>
                <a:tc>
                  <a:txBody>
                    <a:bodyPr wrap="square"/>
                    <a:lstStyle/>
                    <a:p>
                      <a:pPr algn="ctr"/>
                      <a:r>
                        <a:rPr sz="1500" b="0" i="0">
                          <a:solidFill>
                            <a:srgbClr val="0F172A"/>
                          </a:solidFill>
                          <a:latin typeface="Arial"/>
                        </a:rPr>
                        <a:t>60%</a:t>
                      </a:r>
                    </a:p>
                  </a:txBody>
                  <a:tcPr marL="73152" marR="73152" marT="36576" marB="36576" anchor="ctr">
                    <a:solidFill>
                      <a:srgbClr val="F1F5F9"/>
                    </a:solidFill>
                  </a:tcPr>
                </a:tc>
                <a:tc>
                  <a:txBody>
                    <a:bodyPr wrap="square"/>
                    <a:lstStyle/>
                    <a:p>
                      <a:pPr algn="ctr"/>
                      <a:r>
                        <a:rPr sz="1500" b="0" i="0">
                          <a:solidFill>
                            <a:srgbClr val="0F172A"/>
                          </a:solidFill>
                          <a:latin typeface="Arial"/>
                        </a:rPr>
                        <a:t>−$32.47</a:t>
                      </a:r>
                    </a:p>
                  </a:txBody>
                  <a:tcPr marL="73152" marR="73152" marT="36576" marB="36576" anchor="ctr">
                    <a:solidFill>
                      <a:srgbClr val="F1F5F9"/>
                    </a:solidFill>
                  </a:tcPr>
                </a:tc>
                <a:tc>
                  <a:txBody>
                    <a:bodyPr wrap="square"/>
                    <a:lstStyle/>
                    <a:p>
                      <a:pPr algn="l"/>
                      <a:r>
                        <a:rPr sz="1500" b="0" i="0">
                          <a:solidFill>
                            <a:srgbClr val="0F172A"/>
                          </a:solidFill>
                          <a:latin typeface="Arial"/>
                        </a:rPr>
                        <a:t>too early to tell</a:t>
                      </a:r>
                    </a:p>
                  </a:txBody>
                  <a:tcPr marL="73152" marR="73152" marT="36576" marB="36576" anchor="ctr">
                    <a:solidFill>
                      <a:srgbClr val="F1F5F9"/>
                    </a:solidFill>
                  </a:tcPr>
                </a:tc>
              </a:tr>
              <a:tr h="384048">
                <a:tc>
                  <a:txBody>
                    <a:bodyPr wrap="square"/>
                    <a:lstStyle/>
                    <a:p>
                      <a:pPr algn="l"/>
                      <a:r>
                        <a:rPr sz="1500" b="0" i="0">
                          <a:solidFill>
                            <a:srgbClr val="0F172A"/>
                          </a:solidFill>
                          <a:latin typeface="Arial"/>
                        </a:rPr>
                        <a:t>rival (player)</a:t>
                      </a:r>
                    </a:p>
                  </a:txBody>
                  <a:tcPr marL="73152" marR="73152" marT="36576" marB="36576" anchor="ctr">
                    <a:solidFill>
                      <a:srgbClr val="FFFFFF"/>
                    </a:solidFill>
                  </a:tcPr>
                </a:tc>
                <a:tc>
                  <a:txBody>
                    <a:bodyPr wrap="square"/>
                    <a:lstStyle/>
                    <a:p>
                      <a:pPr algn="ctr"/>
                      <a:r>
                        <a:rPr sz="1500" b="0" i="0">
                          <a:solidFill>
                            <a:srgbClr val="0F172A"/>
                          </a:solidFill>
                          <a:latin typeface="Arial"/>
                        </a:rPr>
                        <a:t>10</a:t>
                      </a:r>
                    </a:p>
                  </a:txBody>
                  <a:tcPr marL="73152" marR="73152" marT="36576" marB="36576" anchor="ctr">
                    <a:solidFill>
                      <a:srgbClr val="FFFFFF"/>
                    </a:solidFill>
                  </a:tcPr>
                </a:tc>
                <a:tc>
                  <a:txBody>
                    <a:bodyPr wrap="square"/>
                    <a:lstStyle/>
                    <a:p>
                      <a:pPr algn="ctr"/>
                      <a:r>
                        <a:rPr sz="1500" b="0" i="0">
                          <a:solidFill>
                            <a:srgbClr val="0F172A"/>
                          </a:solidFill>
                          <a:latin typeface="Arial"/>
                        </a:rPr>
                        <a:t>−0.20¢</a:t>
                      </a:r>
                    </a:p>
                  </a:txBody>
                  <a:tcPr marL="73152" marR="73152" marT="36576" marB="36576" anchor="ctr">
                    <a:solidFill>
                      <a:srgbClr val="FFFFFF"/>
                    </a:solidFill>
                  </a:tcPr>
                </a:tc>
                <a:tc>
                  <a:txBody>
                    <a:bodyPr wrap="square"/>
                    <a:lstStyle/>
                    <a:p>
                      <a:pPr algn="ctr"/>
                      <a:r>
                        <a:rPr sz="1500" b="0" i="0">
                          <a:solidFill>
                            <a:srgbClr val="0F172A"/>
                          </a:solidFill>
                          <a:latin typeface="Arial"/>
                        </a:rPr>
                        <a:t>30%</a:t>
                      </a:r>
                    </a:p>
                  </a:txBody>
                  <a:tcPr marL="73152" marR="73152" marT="36576" marB="36576" anchor="ctr">
                    <a:solidFill>
                      <a:srgbClr val="FFFFFF"/>
                    </a:solidFill>
                  </a:tcPr>
                </a:tc>
                <a:tc>
                  <a:txBody>
                    <a:bodyPr wrap="square"/>
                    <a:lstStyle/>
                    <a:p>
                      <a:pPr algn="ctr"/>
                      <a:r>
                        <a:rPr sz="1500" b="0" i="0">
                          <a:solidFill>
                            <a:srgbClr val="0F172A"/>
                          </a:solidFill>
                          <a:latin typeface="Arial"/>
                        </a:rPr>
                        <a:t>−$27.32</a:t>
                      </a:r>
                    </a:p>
                  </a:txBody>
                  <a:tcPr marL="73152" marR="73152" marT="36576" marB="36576" anchor="ctr">
                    <a:solidFill>
                      <a:srgbClr val="FFFFFF"/>
                    </a:solidFill>
                  </a:tcPr>
                </a:tc>
                <a:tc>
                  <a:txBody>
                    <a:bodyPr wrap="square"/>
                    <a:lstStyle/>
                    <a:p>
                      <a:pPr algn="l"/>
                      <a:r>
                        <a:rPr sz="1500" b="0" i="0">
                          <a:solidFill>
                            <a:srgbClr val="0F172A"/>
                          </a:solidFill>
                          <a:latin typeface="Arial"/>
                        </a:rPr>
                        <a:t>too early to tell</a:t>
                      </a:r>
                    </a:p>
                  </a:txBody>
                  <a:tcPr marL="73152" marR="73152" marT="36576" marB="36576" anchor="ctr">
                    <a:solidFill>
                      <a:srgbClr val="FFFFFF"/>
                    </a:solidFill>
                  </a:tcPr>
                </a:tc>
              </a:tr>
              <a:tr h="384048">
                <a:tc>
                  <a:txBody>
                    <a:bodyPr wrap="square"/>
                    <a:lstStyle/>
                    <a:p>
                      <a:pPr algn="l"/>
                      <a:r>
                        <a:rPr sz="1500" b="0" i="0">
                          <a:solidFill>
                            <a:srgbClr val="0F172A"/>
                          </a:solidFill>
                          <a:latin typeface="Arial"/>
                        </a:rPr>
                        <a:t>Raw model (bot)</a:t>
                      </a:r>
                    </a:p>
                  </a:txBody>
                  <a:tcPr marL="73152" marR="73152" marT="36576" marB="36576" anchor="ctr">
                    <a:solidFill>
                      <a:srgbClr val="F1F5F9"/>
                    </a:solidFill>
                  </a:tcPr>
                </a:tc>
                <a:tc>
                  <a:txBody>
                    <a:bodyPr wrap="square"/>
                    <a:lstStyle/>
                    <a:p>
                      <a:pPr algn="ctr"/>
                      <a:r>
                        <a:rPr sz="1500" b="0" i="0">
                          <a:solidFill>
                            <a:srgbClr val="0F172A"/>
                          </a:solidFill>
                          <a:latin typeface="Arial"/>
                        </a:rPr>
                        <a:t>8</a:t>
                      </a:r>
                    </a:p>
                  </a:txBody>
                  <a:tcPr marL="73152" marR="73152" marT="36576" marB="36576" anchor="ctr">
                    <a:solidFill>
                      <a:srgbClr val="F1F5F9"/>
                    </a:solidFill>
                  </a:tcPr>
                </a:tc>
                <a:tc>
                  <a:txBody>
                    <a:bodyPr wrap="square"/>
                    <a:lstStyle/>
                    <a:p>
                      <a:pPr algn="ctr"/>
                      <a:r>
                        <a:rPr sz="1500" b="0" i="0">
                          <a:solidFill>
                            <a:srgbClr val="0F172A"/>
                          </a:solidFill>
                          <a:latin typeface="Arial"/>
                        </a:rPr>
                        <a:t>−0.63¢</a:t>
                      </a:r>
                    </a:p>
                  </a:txBody>
                  <a:tcPr marL="73152" marR="73152" marT="36576" marB="36576" anchor="ctr">
                    <a:solidFill>
                      <a:srgbClr val="F1F5F9"/>
                    </a:solidFill>
                  </a:tcPr>
                </a:tc>
                <a:tc>
                  <a:txBody>
                    <a:bodyPr wrap="square"/>
                    <a:lstStyle/>
                    <a:p>
                      <a:pPr algn="ctr"/>
                      <a:r>
                        <a:rPr sz="1500" b="0" i="0">
                          <a:solidFill>
                            <a:srgbClr val="0F172A"/>
                          </a:solidFill>
                          <a:latin typeface="Arial"/>
                        </a:rPr>
                        <a:t>12%</a:t>
                      </a:r>
                    </a:p>
                  </a:txBody>
                  <a:tcPr marL="73152" marR="73152" marT="36576" marB="36576" anchor="ctr">
                    <a:solidFill>
                      <a:srgbClr val="F1F5F9"/>
                    </a:solidFill>
                  </a:tcPr>
                </a:tc>
                <a:tc>
                  <a:txBody>
                    <a:bodyPr wrap="square"/>
                    <a:lstStyle/>
                    <a:p>
                      <a:pPr algn="ctr"/>
                      <a:r>
                        <a:rPr sz="1500" b="0" i="0">
                          <a:solidFill>
                            <a:srgbClr val="0F172A"/>
                          </a:solidFill>
                          <a:latin typeface="Arial"/>
                        </a:rPr>
                        <a:t>+$15.27</a:t>
                      </a:r>
                    </a:p>
                  </a:txBody>
                  <a:tcPr marL="73152" marR="73152" marT="36576" marB="36576" anchor="ctr">
                    <a:solidFill>
                      <a:srgbClr val="F1F5F9"/>
                    </a:solidFill>
                  </a:tcPr>
                </a:tc>
                <a:tc>
                  <a:txBody>
                    <a:bodyPr wrap="square"/>
                    <a:lstStyle/>
                    <a:p>
                      <a:pPr algn="l"/>
                      <a:r>
                        <a:rPr sz="1500" b="0" i="0">
                          <a:solidFill>
                            <a:srgbClr val="0F172A"/>
                          </a:solidFill>
                          <a:latin typeface="Arial"/>
                        </a:rPr>
                        <a:t>costs</a:t>
                      </a:r>
                    </a:p>
                  </a:txBody>
                  <a:tcPr marL="73152" marR="73152" marT="36576" marB="36576" anchor="ctr">
                    <a:solidFill>
                      <a:srgbClr val="F1F5F9"/>
                    </a:solidFill>
                  </a:tcPr>
                </a:tc>
              </a:tr>
              <a:tr h="384048">
                <a:tc>
                  <a:txBody>
                    <a:bodyPr wrap="square"/>
                    <a:lstStyle/>
                    <a:p>
                      <a:pPr algn="l"/>
                      <a:r>
                        <a:rPr sz="1500" b="0" i="0">
                          <a:solidFill>
                            <a:srgbClr val="0F172A"/>
                          </a:solidFill>
                          <a:latin typeface="Arial"/>
                        </a:rPr>
                        <a:t>Agent (bot)</a:t>
                      </a:r>
                    </a:p>
                  </a:txBody>
                  <a:tcPr marL="73152" marR="73152" marT="36576" marB="36576" anchor="ctr">
                    <a:solidFill>
                      <a:srgbClr val="FFFFFF"/>
                    </a:solidFill>
                  </a:tcPr>
                </a:tc>
                <a:tc>
                  <a:txBody>
                    <a:bodyPr wrap="square"/>
                    <a:lstStyle/>
                    <a:p>
                      <a:pPr algn="ctr"/>
                      <a:r>
                        <a:rPr sz="1500" b="0" i="0">
                          <a:solidFill>
                            <a:srgbClr val="0F172A"/>
                          </a:solidFill>
                          <a:latin typeface="Arial"/>
                        </a:rPr>
                        <a:t>0</a:t>
                      </a:r>
                    </a:p>
                  </a:txBody>
                  <a:tcPr marL="73152" marR="73152" marT="36576" marB="36576" anchor="ctr">
                    <a:solidFill>
                      <a:srgbClr val="FFFFFF"/>
                    </a:solidFill>
                  </a:tcPr>
                </a:tc>
                <a:tc>
                  <a:txBody>
                    <a:bodyPr wrap="square"/>
                    <a:lstStyle/>
                    <a:p>
                      <a:pPr algn="ctr"/>
                      <a:r>
                        <a:rPr sz="1500" b="0" i="0">
                          <a:solidFill>
                            <a:srgbClr val="0F172A"/>
                          </a:solidFill>
                          <a:latin typeface="Arial"/>
                        </a:rPr>
                        <a:t>–</a:t>
                      </a:r>
                    </a:p>
                  </a:txBody>
                  <a:tcPr marL="73152" marR="73152" marT="36576" marB="36576" anchor="ctr">
                    <a:solidFill>
                      <a:srgbClr val="FFFFFF"/>
                    </a:solidFill>
                  </a:tcPr>
                </a:tc>
                <a:tc>
                  <a:txBody>
                    <a:bodyPr wrap="square"/>
                    <a:lstStyle/>
                    <a:p>
                      <a:pPr algn="ctr"/>
                      <a:r>
                        <a:rPr sz="1500" b="0" i="0">
                          <a:solidFill>
                            <a:srgbClr val="0F172A"/>
                          </a:solidFill>
                          <a:latin typeface="Arial"/>
                        </a:rPr>
                        <a:t>–</a:t>
                      </a:r>
                    </a:p>
                  </a:txBody>
                  <a:tcPr marL="73152" marR="73152" marT="36576" marB="36576" anchor="ctr">
                    <a:solidFill>
                      <a:srgbClr val="FFFFFF"/>
                    </a:solidFill>
                  </a:tcPr>
                </a:tc>
                <a:tc>
                  <a:txBody>
                    <a:bodyPr wrap="square"/>
                    <a:lstStyle/>
                    <a:p>
                      <a:pPr algn="ctr"/>
                      <a:r>
                        <a:rPr sz="1500" b="0" i="0">
                          <a:solidFill>
                            <a:srgbClr val="0F172A"/>
                          </a:solidFill>
                          <a:latin typeface="Arial"/>
                        </a:rPr>
                        <a:t>$0</a:t>
                      </a:r>
                    </a:p>
                  </a:txBody>
                  <a:tcPr marL="73152" marR="73152" marT="36576" marB="36576" anchor="ctr">
                    <a:solidFill>
                      <a:srgbClr val="FFFFFF"/>
                    </a:solidFill>
                  </a:tcPr>
                </a:tc>
                <a:tc>
                  <a:txBody>
                    <a:bodyPr wrap="square"/>
                    <a:lstStyle/>
                    <a:p>
                      <a:pPr algn="l"/>
                      <a:r>
                        <a:rPr sz="1500" b="0" i="0">
                          <a:solidFill>
                            <a:srgbClr val="0F172A"/>
                          </a:solidFill>
                          <a:latin typeface="Arial"/>
                        </a:rPr>
                        <a:t>no trades</a:t>
                      </a:r>
                    </a:p>
                  </a:txBody>
                  <a:tcPr marL="73152" marR="73152" marT="36576" marB="36576" anchor="ctr">
                    <a:solidFill>
                      <a:srgbClr val="FFFFFF"/>
                    </a:solidFill>
                  </a:tcPr>
                </a:tc>
              </a:tr>
              <a:tr h="384048">
                <a:tc>
                  <a:txBody>
                    <a:bodyPr wrap="square"/>
                    <a:lstStyle/>
                    <a:p>
                      <a:pPr algn="l"/>
                      <a:r>
                        <a:rPr sz="1500" b="0" i="0">
                          <a:solidFill>
                            <a:srgbClr val="0F172A"/>
                          </a:solidFill>
                          <a:latin typeface="Arial"/>
                        </a:rPr>
                        <a:t>Never trade (bot)</a:t>
                      </a:r>
                    </a:p>
                  </a:txBody>
                  <a:tcPr marL="73152" marR="73152" marT="36576" marB="36576" anchor="ctr">
                    <a:solidFill>
                      <a:srgbClr val="F1F5F9"/>
                    </a:solidFill>
                  </a:tcPr>
                </a:tc>
                <a:tc>
                  <a:txBody>
                    <a:bodyPr wrap="square"/>
                    <a:lstStyle/>
                    <a:p>
                      <a:pPr algn="ctr"/>
                      <a:r>
                        <a:rPr sz="1500" b="0" i="0">
                          <a:solidFill>
                            <a:srgbClr val="0F172A"/>
                          </a:solidFill>
                          <a:latin typeface="Arial"/>
                        </a:rPr>
                        <a:t>0</a:t>
                      </a:r>
                    </a:p>
                  </a:txBody>
                  <a:tcPr marL="73152" marR="73152" marT="36576" marB="36576" anchor="ctr">
                    <a:solidFill>
                      <a:srgbClr val="F1F5F9"/>
                    </a:solidFill>
                  </a:tcPr>
                </a:tc>
                <a:tc>
                  <a:txBody>
                    <a:bodyPr wrap="square"/>
                    <a:lstStyle/>
                    <a:p>
                      <a:pPr algn="ctr"/>
                      <a:r>
                        <a:rPr sz="1500" b="0" i="0">
                          <a:solidFill>
                            <a:srgbClr val="0F172A"/>
                          </a:solidFill>
                          <a:latin typeface="Arial"/>
                        </a:rPr>
                        <a:t>–</a:t>
                      </a:r>
                    </a:p>
                  </a:txBody>
                  <a:tcPr marL="73152" marR="73152" marT="36576" marB="36576" anchor="ctr">
                    <a:solidFill>
                      <a:srgbClr val="F1F5F9"/>
                    </a:solidFill>
                  </a:tcPr>
                </a:tc>
                <a:tc>
                  <a:txBody>
                    <a:bodyPr wrap="square"/>
                    <a:lstStyle/>
                    <a:p>
                      <a:pPr algn="ctr"/>
                      <a:r>
                        <a:rPr sz="1500" b="0" i="0">
                          <a:solidFill>
                            <a:srgbClr val="0F172A"/>
                          </a:solidFill>
                          <a:latin typeface="Arial"/>
                        </a:rPr>
                        <a:t>–</a:t>
                      </a:r>
                    </a:p>
                  </a:txBody>
                  <a:tcPr marL="73152" marR="73152" marT="36576" marB="36576" anchor="ctr">
                    <a:solidFill>
                      <a:srgbClr val="F1F5F9"/>
                    </a:solidFill>
                  </a:tcPr>
                </a:tc>
                <a:tc>
                  <a:txBody>
                    <a:bodyPr wrap="square"/>
                    <a:lstStyle/>
                    <a:p>
                      <a:pPr algn="ctr"/>
                      <a:r>
                        <a:rPr sz="1500" b="0" i="0">
                          <a:solidFill>
                            <a:srgbClr val="0F172A"/>
                          </a:solidFill>
                          <a:latin typeface="Arial"/>
                        </a:rPr>
                        <a:t>$0</a:t>
                      </a:r>
                    </a:p>
                  </a:txBody>
                  <a:tcPr marL="73152" marR="73152" marT="36576" marB="36576" anchor="ctr">
                    <a:solidFill>
                      <a:srgbClr val="F1F5F9"/>
                    </a:solidFill>
                  </a:tcPr>
                </a:tc>
                <a:tc>
                  <a:txBody>
                    <a:bodyPr wrap="square"/>
                    <a:lstStyle/>
                    <a:p>
                      <a:pPr algn="l"/>
                      <a:r>
                        <a:rPr sz="1500" b="0" i="0">
                          <a:solidFill>
                            <a:srgbClr val="0F172A"/>
                          </a:solidFill>
                          <a:latin typeface="Arial"/>
                        </a:rPr>
                        <a:t>no trades</a:t>
                      </a:r>
                    </a:p>
                  </a:txBody>
                  <a:tcPr marL="73152" marR="73152" marT="36576" marB="36576" anchor="ctr">
                    <a:solidFill>
                      <a:srgbClr val="F1F5F9"/>
                    </a:solidFill>
                  </a:tcPr>
                </a:tc>
              </a:tr>
            </a:tbl>
          </a:graphicData>
        </a:graphic>
      </p:graphicFrame>
      <p:sp>
        <p:nvSpPr>
          <p:cNvPr id="9" name="TextBox 8"/>
          <p:cNvSpPr txBox="1"/>
          <p:nvPr/>
        </p:nvSpPr>
        <p:spPr>
          <a:xfrm>
            <a:off x="8641080" y="3017520"/>
            <a:ext cx="3093415" cy="2423160"/>
          </a:xfrm>
          <a:prstGeom prst="rect">
            <a:avLst/>
          </a:prstGeom>
          <a:noFill/>
        </p:spPr>
        <p:txBody>
          <a:bodyPr wrap="square" anchor="t" lIns="73152" rIns="73152" tIns="36576" bIns="36576">
            <a:spAutoFit/>
          </a:bodyPr>
          <a:lstStyle/>
          <a:p>
            <a:pPr algn="l" marL="292608" indent="-256032">
              <a:spcAft>
                <a:spcPts val="400"/>
              </a:spcAft>
              <a:buChar char="•"/>
            </a:pPr>
            <a:r>
              <a:rPr sz="1500" b="0" i="0">
                <a:solidFill>
                  <a:srgbClr val="0F172A"/>
                </a:solidFill>
                <a:latin typeface="Arial"/>
              </a:rPr>
              <a:t>Same seeded slate for everyone</a:t>
            </a:r>
          </a:p>
          <a:p>
            <a:pPr algn="l" marL="292608" indent="-256032">
              <a:spcAft>
                <a:spcPts val="400"/>
              </a:spcAft>
              <a:buChar char="•"/>
            </a:pPr>
            <a:r>
              <a:rPr sz="1500" b="0" i="0">
                <a:solidFill>
                  <a:srgbClr val="0F172A"/>
                </a:solidFill>
                <a:latin typeface="Arial"/>
              </a:rPr>
              <a:t>Only as-of prices, news, Coach brief</a:t>
            </a:r>
          </a:p>
          <a:p>
            <a:pPr algn="l" marL="292608" indent="-256032">
              <a:spcAft>
                <a:spcPts val="400"/>
              </a:spcAft>
              <a:buChar char="•"/>
            </a:pPr>
            <a:r>
              <a:rPr sz="1500" b="0" i="0">
                <a:solidFill>
                  <a:srgbClr val="0F172A"/>
                </a:solidFill>
                <a:latin typeface="Arial"/>
              </a:rPr>
              <a:t>Fills at ask + fee, like the agent</a:t>
            </a:r>
          </a:p>
          <a:p>
            <a:pPr algn="l" marL="292608" indent="-256032">
              <a:spcAft>
                <a:spcPts val="400"/>
              </a:spcAft>
              <a:buChar char="•"/>
            </a:pPr>
            <a:r>
              <a:rPr sz="1500" b="1" i="0">
                <a:solidFill>
                  <a:srgbClr val="0F172A"/>
                </a:solidFill>
                <a:latin typeface="Arial"/>
              </a:rPr>
              <a:t>Ranked by mean CLV</a:t>
            </a:r>
            <a:r>
              <a:rPr sz="1500" b="0" i="0">
                <a:solidFill>
                  <a:srgbClr val="0F172A"/>
                </a:solidFill>
                <a:latin typeface="Arial"/>
              </a:rPr>
              <a:t> (≥ 5 trades), not P&amp;L</a:t>
            </a:r>
          </a:p>
          <a:p>
            <a:pPr algn="l" marL="292608" indent="-256032">
              <a:spcAft>
                <a:spcPts val="400"/>
              </a:spcAft>
              <a:buChar char="•"/>
            </a:pPr>
            <a:r>
              <a:rPr sz="1500" b="0" i="0">
                <a:solidFill>
                  <a:srgbClr val="0F172A"/>
                </a:solidFill>
                <a:latin typeface="Arial"/>
              </a:rPr>
              <a:t>Badge: bootstrap CI of CLV</a:t>
            </a:r>
          </a:p>
        </p:txBody>
      </p:sp>
      <p:sp>
        <p:nvSpPr>
          <p:cNvPr id="10" name="Rounded Rectangle 9"/>
          <p:cNvSpPr/>
          <p:nvPr/>
        </p:nvSpPr>
        <p:spPr>
          <a:xfrm>
            <a:off x="457200" y="5532120"/>
            <a:ext cx="11277295" cy="7315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5532120"/>
            <a:ext cx="11094415" cy="7315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Raw-model bot: +$15 but negative CLV → “costs”. Winning money is not skill · play money only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Honest scope: what “unfair” means here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120640" cy="507492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5074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484632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What we claim</a:t>
            </a:r>
          </a:p>
        </p:txBody>
      </p:sp>
      <p:sp>
        <p:nvSpPr>
          <p:cNvPr id="10" name="TextBox 9"/>
          <p:cNvSpPr txBox="1"/>
          <p:nvPr/>
        </p:nvSpPr>
        <p:spPr>
          <a:xfrm>
            <a:off x="640080" y="1764791"/>
            <a:ext cx="4846320" cy="447141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Structural disadvantages: costs, speed, expertise</a:t>
            </a:r>
          </a:p>
          <a:p>
            <a:pPr algn="l" marL="292608" indent="-256032">
              <a:spcAft>
                <a:spcPts val="600"/>
              </a:spcAft>
              <a:buChar char="•"/>
            </a:pPr>
            <a:r>
              <a:rPr sz="1800" b="1" i="0">
                <a:solidFill>
                  <a:srgbClr val="0F172A"/>
                </a:solidFill>
                <a:latin typeface="Arial"/>
              </a:rPr>
              <a:t>Not</a:t>
            </a:r>
            <a:r>
              <a:rPr sz="1800" b="0" i="0">
                <a:solidFill>
                  <a:srgbClr val="0F172A"/>
                </a:solidFill>
                <a:latin typeface="Arial"/>
              </a:rPr>
              <a:t> manipulation or fraud</a:t>
            </a:r>
          </a:p>
          <a:p>
            <a:pPr algn="l" marL="292608" indent="-256032">
              <a:spcAft>
                <a:spcPts val="600"/>
              </a:spcAft>
              <a:buChar char="•"/>
            </a:pPr>
            <a:r>
              <a:rPr sz="1800" b="1" i="0">
                <a:solidFill>
                  <a:srgbClr val="0F172A"/>
                </a:solidFill>
                <a:latin typeface="Arial"/>
              </a:rPr>
              <a:t>No</a:t>
            </a:r>
            <a:r>
              <a:rPr sz="1800" b="0" i="0">
                <a:solidFill>
                  <a:srgbClr val="0F172A"/>
                </a:solidFill>
                <a:latin typeface="Arial"/>
              </a:rPr>
              <a:t> accusation against Kalshi or any venue</a:t>
            </a:r>
          </a:p>
          <a:p>
            <a:pPr algn="l" marL="292608" indent="-256032">
              <a:spcAft>
                <a:spcPts val="600"/>
              </a:spcAft>
              <a:buChar char="•"/>
            </a:pPr>
            <a:r>
              <a:rPr sz="1800" b="0" i="0">
                <a:solidFill>
                  <a:srgbClr val="0F172A"/>
                </a:solidFill>
                <a:latin typeface="Arial"/>
              </a:rPr>
              <a:t>Paper money; public data only</a:t>
            </a:r>
          </a:p>
        </p:txBody>
      </p:sp>
      <p:sp>
        <p:nvSpPr>
          <p:cNvPr id="11" name="Rounded Rectangle 10"/>
          <p:cNvSpPr/>
          <p:nvPr/>
        </p:nvSpPr>
        <p:spPr>
          <a:xfrm>
            <a:off x="5852160" y="1234439"/>
            <a:ext cx="5882335" cy="50749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52160" y="1234439"/>
            <a:ext cx="109728" cy="50749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35040" y="1307592"/>
            <a:ext cx="5608015"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Caveats and disclosure</a:t>
            </a:r>
          </a:p>
        </p:txBody>
      </p:sp>
      <p:sp>
        <p:nvSpPr>
          <p:cNvPr id="14" name="TextBox 13"/>
          <p:cNvSpPr txBox="1"/>
          <p:nvPr/>
        </p:nvSpPr>
        <p:spPr>
          <a:xfrm>
            <a:off x="6035040" y="1764791"/>
            <a:ext cx="5608015" cy="4471416"/>
          </a:xfrm>
          <a:prstGeom prst="rect">
            <a:avLst/>
          </a:prstGeom>
          <a:noFill/>
        </p:spPr>
        <p:txBody>
          <a:bodyPr wrap="square" anchor="t" lIns="73152" rIns="73152" tIns="36576" bIns="36576">
            <a:spAutoFit/>
          </a:bodyPr>
          <a:lstStyle/>
          <a:p>
            <a:pPr algn="l" marL="292608" indent="-256032">
              <a:spcAft>
                <a:spcPts val="600"/>
              </a:spcAft>
              <a:buChar char="•"/>
            </a:pPr>
            <a:r>
              <a:rPr sz="1800" b="1" i="0">
                <a:solidFill>
                  <a:srgbClr val="0F172A"/>
                </a:solidFill>
                <a:latin typeface="Arial"/>
              </a:rPr>
              <a:t>Disclosure:</a:t>
            </a:r>
            <a:r>
              <a:rPr sz="1800" b="0" i="0">
                <a:solidFill>
                  <a:srgbClr val="0F172A"/>
                </a:solidFill>
                <a:latin typeface="Arial"/>
              </a:rPr>
              <a:t> anchor and reviewer designed after seeing Feb–Apr results, so that window is not a clean holdout; walk-forward and play-off holdout are the honest checks</a:t>
            </a:r>
          </a:p>
          <a:p>
            <a:pPr algn="l" marL="292608" indent="-256032">
              <a:spcAft>
                <a:spcPts val="600"/>
              </a:spcAft>
              <a:buChar char="•"/>
            </a:pPr>
            <a:r>
              <a:rPr sz="1800" b="0" i="0">
                <a:solidFill>
                  <a:srgbClr val="0F172A"/>
                </a:solidFill>
                <a:latin typeface="Arial"/>
              </a:rPr>
              <a:t>Data limits on slide 5: one season, inactive lists as the only news</a:t>
            </a:r>
          </a:p>
          <a:p>
            <a:pPr algn="l" marL="292608" indent="-256032">
              <a:spcAft>
                <a:spcPts val="600"/>
              </a:spcAft>
              <a:buChar char="•"/>
            </a:pPr>
            <a:r>
              <a:rPr sz="1800" b="0" i="0">
                <a:solidFill>
                  <a:srgbClr val="0F172A"/>
                </a:solidFill>
                <a:latin typeface="Arial"/>
              </a:rPr>
              <a:t>Costs for a $20 order at tip − 60 min; long-shot bias not clearly supported</a:t>
            </a:r>
          </a:p>
          <a:p>
            <a:pPr algn="l" marL="292608" indent="-256032">
              <a:spcAft>
                <a:spcPts val="600"/>
              </a:spcAft>
              <a:buChar char="•"/>
            </a:pPr>
            <a:r>
              <a:rPr sz="1800" b="0" i="0">
                <a:solidFill>
                  <a:srgbClr val="0F172A"/>
                </a:solidFill>
                <a:latin typeface="Arial"/>
              </a:rPr>
              <a:t>Well-being figures are published research, not ours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16</a:t>
            </a:r>
          </a:p>
        </p:txBody>
      </p:sp>
      <p:graphicFrame>
        <p:nvGraphicFramePr>
          <p:cNvPr id="7" name="Table 6"/>
          <p:cNvGraphicFramePr>
            <a:graphicFrameLocks noGrp="1"/>
          </p:cNvGraphicFramePr>
          <p:nvPr/>
        </p:nvGraphicFramePr>
        <p:xfrm>
          <a:off x="457200" y="1234439"/>
          <a:ext cx="11277295" cy="4389120"/>
        </p:xfrm>
        <a:graphic>
          <a:graphicData uri="http://schemas.openxmlformats.org/drawingml/2006/table">
            <a:tbl>
              <a:tblPr firstRow="1" bandRow="1">
                <a:tableStyleId>{5C22544A-7EE6-4342-B048-85BDC9FD1C3A}</a:tableStyleId>
              </a:tblPr>
              <a:tblGrid>
                <a:gridCol w="2377440"/>
                <a:gridCol w="8899855"/>
              </a:tblGrid>
              <a:tr h="548640">
                <a:tc>
                  <a:txBody>
                    <a:bodyPr wrap="square"/>
                    <a:lstStyle/>
                    <a:p>
                      <a:pPr algn="l"/>
                      <a:r>
                        <a:rPr sz="1700" b="1" i="0">
                          <a:solidFill>
                            <a:srgbClr val="FFFFFF"/>
                          </a:solidFill>
                          <a:latin typeface="Arial"/>
                        </a:rPr>
                        <a:t>Tab</a:t>
                      </a:r>
                    </a:p>
                  </a:txBody>
                  <a:tcPr marL="73152" marR="73152" marT="36576" marB="36576" anchor="ctr">
                    <a:solidFill>
                      <a:srgbClr val="1E293B"/>
                    </a:solidFill>
                  </a:tcPr>
                </a:tc>
                <a:tc>
                  <a:txBody>
                    <a:bodyPr wrap="square"/>
                    <a:lstStyle/>
                    <a:p>
                      <a:pPr algn="l"/>
                      <a:r>
                        <a:rPr sz="1700" b="1" i="0">
                          <a:solidFill>
                            <a:srgbClr val="FFFFFF"/>
                          </a:solidFill>
                          <a:latin typeface="Arial"/>
                        </a:rPr>
                        <a:t>What to watch</a:t>
                      </a:r>
                    </a:p>
                  </a:txBody>
                  <a:tcPr marL="73152" marR="73152" marT="36576" marB="36576" anchor="ctr">
                    <a:solidFill>
                      <a:srgbClr val="1E293B"/>
                    </a:solidFill>
                  </a:tcPr>
                </a:tc>
              </a:tr>
              <a:tr h="548640">
                <a:tc>
                  <a:txBody>
                    <a:bodyPr wrap="square"/>
                    <a:lstStyle/>
                    <a:p>
                      <a:pPr algn="l"/>
                      <a:r>
                        <a:rPr sz="17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700" b="0" i="0">
                          <a:solidFill>
                            <a:srgbClr val="0F172A"/>
                          </a:solidFill>
                          <a:latin typeface="Arial"/>
                        </a:rPr>
                        <a:t>News → estimate vs bid-ask → usually no order, with the reason</a:t>
                      </a:r>
                    </a:p>
                  </a:txBody>
                  <a:tcPr marL="73152" marR="73152" marT="36576" marB="36576" anchor="ctr">
                    <a:solidFill>
                      <a:srgbClr val="F1F5F9"/>
                    </a:solidFill>
                  </a:tcPr>
                </a:tc>
              </a:tr>
              <a:tr h="548640">
                <a:tc>
                  <a:txBody>
                    <a:bodyPr wrap="square"/>
                    <a:lstStyle/>
                    <a:p>
                      <a:pPr algn="l"/>
                      <a:r>
                        <a:rPr sz="1700" b="0" i="0">
                          <a:solidFill>
                            <a:srgbClr val="0F172A"/>
                          </a:solidFill>
                          <a:latin typeface="Arial"/>
                        </a:rPr>
                        <a:t>Coach</a:t>
                      </a:r>
                    </a:p>
                  </a:txBody>
                  <a:tcPr marL="73152" marR="73152" marT="36576" marB="36576" anchor="ctr">
                    <a:solidFill>
                      <a:srgbClr val="FFFFFF"/>
                    </a:solidFill>
                  </a:tcPr>
                </a:tc>
                <a:tc>
                  <a:txBody>
                    <a:bodyPr wrap="square"/>
                    <a:lstStyle/>
                    <a:p>
                      <a:pPr algn="l"/>
                      <a:r>
                        <a:rPr sz="1700" b="0" i="0">
                          <a:solidFill>
                            <a:srgbClr val="0F172A"/>
                          </a:solidFill>
                          <a:latin typeface="Arial"/>
                        </a:rPr>
                        <a:t>Break-even after spread + fee; paper call vs the close and the agent</a:t>
                      </a:r>
                    </a:p>
                  </a:txBody>
                  <a:tcPr marL="73152" marR="73152" marT="36576" marB="36576" anchor="ctr">
                    <a:solidFill>
                      <a:srgbClr val="FFFFFF"/>
                    </a:solidFill>
                  </a:tcPr>
                </a:tc>
              </a:tr>
              <a:tr h="548640">
                <a:tc>
                  <a:txBody>
                    <a:bodyPr wrap="square"/>
                    <a:lstStyle/>
                    <a:p>
                      <a:pPr algn="l"/>
                      <a:r>
                        <a:rPr sz="1700" b="0" i="0">
                          <a:solidFill>
                            <a:srgbClr val="0F172A"/>
                          </a:solidFill>
                          <a:latin typeface="Arial"/>
                        </a:rPr>
                        <a:t>League</a:t>
                      </a:r>
                    </a:p>
                  </a:txBody>
                  <a:tcPr marL="73152" marR="73152" marT="36576" marB="36576" anchor="ctr">
                    <a:solidFill>
                      <a:srgbClr val="F1F5F9"/>
                    </a:solidFill>
                  </a:tcPr>
                </a:tc>
                <a:tc>
                  <a:txBody>
                    <a:bodyPr wrap="square"/>
                    <a:lstStyle/>
                    <a:p>
                      <a:pPr algn="l"/>
                      <a:r>
                        <a:rPr sz="1700" b="0" i="0">
                          <a:solidFill>
                            <a:srgbClr val="0F172A"/>
                          </a:solidFill>
                          <a:latin typeface="Arial"/>
                        </a:rPr>
                        <a:t>One call on the shared slate → close revealed → ranked by CLV next to the house bots</a:t>
                      </a:r>
                    </a:p>
                  </a:txBody>
                  <a:tcPr marL="73152" marR="73152" marT="36576" marB="36576" anchor="ctr">
                    <a:solidFill>
                      <a:srgbClr val="F1F5F9"/>
                    </a:solidFill>
                  </a:tcPr>
                </a:tc>
              </a:tr>
              <a:tr h="548640">
                <a:tc>
                  <a:txBody>
                    <a:bodyPr wrap="square"/>
                    <a:lstStyle/>
                    <a:p>
                      <a:pPr algn="l"/>
                      <a:r>
                        <a:rPr sz="1700" b="0" i="0">
                          <a:solidFill>
                            <a:srgbClr val="0F172A"/>
                          </a:solidFill>
                          <a:latin typeface="Arial"/>
                        </a:rPr>
                        <a:t>Channel briefs</a:t>
                      </a:r>
                    </a:p>
                  </a:txBody>
                  <a:tcPr marL="73152" marR="73152" marT="36576" marB="36576" anchor="ctr">
                    <a:solidFill>
                      <a:srgbClr val="FFFFFF"/>
                    </a:solidFill>
                  </a:tcPr>
                </a:tc>
                <a:tc>
                  <a:txBody>
                    <a:bodyPr wrap="square"/>
                    <a:lstStyle/>
                    <a:p>
                      <a:pPr algn="l"/>
                      <a:r>
                        <a:rPr sz="1700" b="0" i="0">
                          <a:solidFill>
                            <a:srgbClr val="0F172A"/>
                          </a:solidFill>
                          <a:latin typeface="Arial"/>
                        </a:rPr>
                        <a:t>Retail: model vs market and no-order reason; no market language for media / team</a:t>
                      </a:r>
                    </a:p>
                  </a:txBody>
                  <a:tcPr marL="73152" marR="73152" marT="36576" marB="36576" anchor="ctr">
                    <a:solidFill>
                      <a:srgbClr val="FFFFFF"/>
                    </a:solidFill>
                  </a:tcPr>
                </a:tc>
              </a:tr>
              <a:tr h="548640">
                <a:tc>
                  <a:txBody>
                    <a:bodyPr wrap="square"/>
                    <a:lstStyle/>
                    <a:p>
                      <a:pPr algn="l"/>
                      <a:r>
                        <a:rPr sz="1700" b="0" i="0">
                          <a:solidFill>
                            <a:srgbClr val="0F172A"/>
                          </a:solidFill>
                          <a:latin typeface="Arial"/>
                        </a:rPr>
                        <a:t>Learning</a:t>
                      </a:r>
                    </a:p>
                  </a:txBody>
                  <a:tcPr marL="73152" marR="73152" marT="36576" marB="36576" anchor="ctr">
                    <a:solidFill>
                      <a:srgbClr val="F1F5F9"/>
                    </a:solidFill>
                  </a:tcPr>
                </a:tc>
                <a:tc>
                  <a:txBody>
                    <a:bodyPr wrap="square"/>
                    <a:lstStyle/>
                    <a:p>
                      <a:pPr algn="l"/>
                      <a:r>
                        <a:rPr sz="1700" b="0" i="0">
                          <a:solidFill>
                            <a:srgbClr val="0F172A"/>
                          </a:solidFill>
                          <a:latin typeface="Arial"/>
                        </a:rPr>
                        <a:t>Gate keeps protective rules (skip long shots, skip chasing)</a:t>
                      </a:r>
                    </a:p>
                  </a:txBody>
                  <a:tcPr marL="73152" marR="73152" marT="36576" marB="36576" anchor="ctr">
                    <a:solidFill>
                      <a:srgbClr val="F1F5F9"/>
                    </a:solidFill>
                  </a:tcPr>
                </a:tc>
              </a:tr>
              <a:tr h="548640">
                <a:tc>
                  <a:txBody>
                    <a:bodyPr wrap="square"/>
                    <a:lstStyle/>
                    <a:p>
                      <a:pPr algn="l"/>
                      <a:r>
                        <a:rPr sz="1700" b="0" i="0">
                          <a:solidFill>
                            <a:srgbClr val="0F172A"/>
                          </a:solidFill>
                          <a:latin typeface="Arial"/>
                        </a:rPr>
                        <a:t>Safety</a:t>
                      </a:r>
                    </a:p>
                  </a:txBody>
                  <a:tcPr marL="73152" marR="73152" marT="36576" marB="36576" anchor="ctr">
                    <a:solidFill>
                      <a:srgbClr val="FFFFFF"/>
                    </a:solidFill>
                  </a:tcPr>
                </a:tc>
                <a:tc>
                  <a:txBody>
                    <a:bodyPr wrap="square"/>
                    <a:lstStyle/>
                    <a:p>
                      <a:pPr algn="l"/>
                      <a:r>
                        <a:rPr sz="1700" b="0" i="0">
                          <a:solidFill>
                            <a:srgbClr val="0F172A"/>
                          </a:solidFill>
                          <a:latin typeface="Arial"/>
                        </a:rPr>
                        <a:t>Planted violations blocked (9 / 9)</a:t>
                      </a:r>
                    </a:p>
                  </a:txBody>
                  <a:tcPr marL="73152" marR="73152" marT="36576" marB="36576" anchor="ctr">
                    <a:solidFill>
                      <a:srgbClr val="FFFFFF"/>
                    </a:solidFill>
                  </a:tcPr>
                </a:tc>
              </a:tr>
              <a:tr h="548640">
                <a:tc>
                  <a:txBody>
                    <a:bodyPr wrap="square"/>
                    <a:lstStyle/>
                    <a:p>
                      <a:pPr algn="l"/>
                      <a:r>
                        <a:rPr sz="1700" b="0" i="0">
                          <a:solidFill>
                            <a:srgbClr val="0F172A"/>
                          </a:solidFill>
                          <a:latin typeface="Arial"/>
                        </a:rPr>
                        <a:t>Models</a:t>
                      </a:r>
                    </a:p>
                  </a:txBody>
                  <a:tcPr marL="73152" marR="73152" marT="36576" marB="36576" anchor="ctr">
                    <a:solidFill>
                      <a:srgbClr val="F1F5F9"/>
                    </a:solidFill>
                  </a:tcPr>
                </a:tc>
                <a:tc>
                  <a:txBody>
                    <a:bodyPr wrap="square"/>
                    <a:lstStyle/>
                    <a:p>
                      <a:pPr algn="l"/>
                      <a:r>
                        <a:rPr sz="1700" b="0" i="0">
                          <a:solidFill>
                            <a:srgbClr val="0F172A"/>
                          </a:solidFill>
                          <a:latin typeface="Arial"/>
                        </a:rPr>
                        <a:t>Held-out results and the market beating our model</a:t>
                      </a:r>
                    </a:p>
                  </a:txBody>
                  <a:tcPr marL="73152" marR="73152" marT="36576" marB="36576" anchor="ctr">
                    <a:solidFill>
                      <a:srgbClr val="F1F5F9"/>
                    </a:solidFill>
                  </a:tcPr>
                </a:tc>
              </a:tr>
            </a:tbl>
          </a:graphicData>
        </a:graphic>
      </p:graphicFrame>
      <p:sp>
        <p:nvSpPr>
          <p:cNvPr id="8" name="Rounded Rectangle 7"/>
          <p:cNvSpPr/>
          <p:nvPr/>
        </p:nvSpPr>
        <p:spPr>
          <a:xfrm>
            <a:off x="457200" y="5760720"/>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760720"/>
            <a:ext cx="11094415" cy="5029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next steps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17</a:t>
            </a:r>
          </a:p>
        </p:txBody>
      </p:sp>
      <p:sp>
        <p:nvSpPr>
          <p:cNvPr id="7" name="Rounded Rectangle 6"/>
          <p:cNvSpPr/>
          <p:nvPr/>
        </p:nvSpPr>
        <p:spPr>
          <a:xfrm>
            <a:off x="457200" y="1234439"/>
            <a:ext cx="5852160" cy="365760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657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For products and policy</a:t>
            </a:r>
          </a:p>
        </p:txBody>
      </p:sp>
      <p:sp>
        <p:nvSpPr>
          <p:cNvPr id="10" name="TextBox 9"/>
          <p:cNvSpPr txBox="1"/>
          <p:nvPr/>
        </p:nvSpPr>
        <p:spPr>
          <a:xfrm>
            <a:off x="640080" y="1764791"/>
            <a:ext cx="5577840" cy="305409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Show the all-in cost and break-even before every order</a:t>
            </a:r>
          </a:p>
          <a:p>
            <a:pPr algn="l" marL="292608" indent="-256032">
              <a:spcAft>
                <a:spcPts val="600"/>
              </a:spcAft>
              <a:buChar char="•"/>
            </a:pPr>
            <a:r>
              <a:rPr sz="1800" b="0" i="0">
                <a:solidFill>
                  <a:srgbClr val="0F172A"/>
                </a:solidFill>
                <a:latin typeface="Arial"/>
              </a:rPr>
              <a:t>Default warning: “this news is likely priced in”</a:t>
            </a:r>
          </a:p>
          <a:p>
            <a:pPr algn="l" marL="292608" indent="-256032">
              <a:spcAft>
                <a:spcPts val="600"/>
              </a:spcAft>
              <a:buChar char="•"/>
            </a:pPr>
            <a:r>
              <a:rPr sz="1800" b="0" i="0">
                <a:solidFill>
                  <a:srgbClr val="0F172A"/>
                </a:solidFill>
                <a:latin typeface="Arial"/>
              </a:rPr>
              <a:t>Education and play-money practice before the first trade</a:t>
            </a:r>
          </a:p>
          <a:p>
            <a:pPr algn="l" marL="292608" indent="-256032">
              <a:spcAft>
                <a:spcPts val="600"/>
              </a:spcAft>
              <a:buChar char="•"/>
            </a:pPr>
            <a:r>
              <a:rPr sz="1800" b="0" i="0">
                <a:solidFill>
                  <a:srgbClr val="0F172A"/>
                </a:solidFill>
                <a:latin typeface="Arial"/>
              </a:rPr>
              <a:t>Treat betting harm as a public-health issue (Lancet)</a:t>
            </a:r>
          </a:p>
        </p:txBody>
      </p:sp>
      <p:sp>
        <p:nvSpPr>
          <p:cNvPr id="11" name="Rounded Rectangle 10"/>
          <p:cNvSpPr/>
          <p:nvPr/>
        </p:nvSpPr>
        <p:spPr>
          <a:xfrm>
            <a:off x="6583680" y="1234439"/>
            <a:ext cx="5150815" cy="365760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6576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Our next steps</a:t>
            </a:r>
          </a:p>
        </p:txBody>
      </p:sp>
      <p:sp>
        <p:nvSpPr>
          <p:cNvPr id="14" name="TextBox 13"/>
          <p:cNvSpPr txBox="1"/>
          <p:nvPr/>
        </p:nvSpPr>
        <p:spPr>
          <a:xfrm>
            <a:off x="6766560" y="1764791"/>
            <a:ext cx="4876495" cy="305409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Show the full break-even in every retail brief</a:t>
            </a:r>
          </a:p>
          <a:p>
            <a:pPr algn="l" marL="292608" indent="-256032">
              <a:spcAft>
                <a:spcPts val="600"/>
              </a:spcAft>
              <a:buChar char="•"/>
            </a:pPr>
            <a:r>
              <a:rPr sz="1800" b="0" i="0">
                <a:solidFill>
                  <a:srgbClr val="0F172A"/>
                </a:solidFill>
                <a:latin typeface="Arial"/>
              </a:rPr>
              <a:t>Enforce a daily-loss stop</a:t>
            </a:r>
          </a:p>
          <a:p>
            <a:pPr algn="l" marL="292608" indent="-256032">
              <a:spcAft>
                <a:spcPts val="600"/>
              </a:spcAft>
              <a:buChar char="•"/>
            </a:pPr>
            <a:r>
              <a:rPr sz="1800" b="0" i="0">
                <a:solidFill>
                  <a:srgbClr val="0F172A"/>
                </a:solidFill>
                <a:latin typeface="Arial"/>
              </a:rPr>
              <a:t>Timestamped injury reports; player-prop markets</a:t>
            </a:r>
          </a:p>
        </p:txBody>
      </p:sp>
      <p:sp>
        <p:nvSpPr>
          <p:cNvPr id="15" name="TextBox 14"/>
          <p:cNvSpPr txBox="1"/>
          <p:nvPr/>
        </p:nvSpPr>
        <p:spPr>
          <a:xfrm>
            <a:off x="457200" y="5074920"/>
            <a:ext cx="11277295" cy="109728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
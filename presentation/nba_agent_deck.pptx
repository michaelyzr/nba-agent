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Good morning, we are Group 12. Many people believe that if they follow NBA injury news closely, they can beat sports prediction markets. We took that belief seriously and built the best agent we could to try. What we found is that the game is structurally tilted against the consumer, and that shaped what our product does: it protects and educates rather than encourages betting.</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Retail users see an injury headline and think the price is wrong. So we gave an agent every advantage a careful consumer could have: public news, trained models, an agent loop that can use an LLM, risk controls, and rules it learns from its own mistakes. We replayed a full season of real Kalshi prices. If this agent cannot beat the market after costs, a typical consumer is unlikely to.</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Briefly, the system. Public data on the left; models trained once; a replay that walks the season day by day and only shows the agent what was public at that moment; the agent that decides and reviews nightly; and outputs to channel briefs, paper orders, the Coach and evaluation. Because the replay uses recorded prices, every trade pays the real ask and the real Kalshi fee. That is what lets us measure what a consumer would actually face.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First, costs. At one hour before tip a $20 order pays half the bid-ask spread plus the Kalshi fee, seven percent times p times one minus p. On average that is 1.92 cents per contract, or 5.0% of the price, so you must be right that many points more often than the price says just to break even. On cheap contracts it is 9–14% of the price. On the right: our best agent would have made +$36 at the mid, but fees and spread turned that into −$32.</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clear that hurdle the agent has to be very selective. Of 771 decision points in the test period, only 153 showed a gap above 4 points after fees, and 74 became trades. Even then only 27 (36%) of those trades beat or matched the closing price. The close is the market's final answer, so beating it is the real test of an edge, and most trades did not.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Second, speed. We took the 193 test games where the inactive list changed our win model by at least a point, and measured the price move in the direction of that news. From 24 hours before tip to the moment the list was public, the price had already moved 1.80 points; after it, only 0.18. So about 91% of the move happened before a retail user reading the list could act. Others had the information earlier.</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Third, expertise. Our win model is a reasonable model, but on 501 test games its Brier score one hour before tip is 0.186, against 0.164 for the market at the same moment. Lower is better. When they disagree by more than five points, the market is right, in both directions. A consumer's gut feeling is usually a weaker model than ours.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Fourth, we checked for the classic long-shot bias, where cheap contracts win less often than their price implies. Honestly, our data does not clearly show it: prices are well calibrated, and only the cheapest bucket hints at it, with one win in 66 contracts priced around 7.4%. What does show is that long shots lose more per dollar, because costs are a bigger share of a cheap price: −13.4% for contracts at 25 cents or less, against −2.2% for heavy favourites.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Finally, outcomes on the test period, same prices for every setup. Trading the raw model loses −$2,087. Anchoring to the market cuts that to −$247, and our best agent with learning loses −$32 on 74 trades. Mean closing-line value is negative in every setup. Not trading at all scores zero and beats them all. Our interpretation, not a measurement: a consumer who trades whenever they disagree with the price looks like the raw-model row.</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context, not our measurement. In most electronic markets, professional traders and market makers have faster data feeds, automated pricing, larger models and, on many venues, special fee or liquidity programmes. A retail user typically reads public news on a phone and pays the full taker price. We are not saying anyone breaks rules; this is how market structure usually works, and it is consistent with the speed and cost results we measured.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we reframed the product around protection. The agent passes by default: it declined about 90% of decision points. Retail briefs show the bid and ask next to our estimate, and when there is no order they say why: the gap after fees is too small or the price already moved. The Coach shows the full break-even after spread and fee. Risk limits and banned words are code the LLM cannot override, and all 9 / 9 planted violations were blocked. Even the learned rules ended up protective: skip long shots, and skip chasing a price that already moved.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Coach tab turns the same evidence into lessons. At a chosen moment it explains the game using only what was public, and shows the break-even after spread and fee. Lesson cards appear when the situation calls for them: a price is a probability, costs move your break-even, news may be priced in, long shots look cheap. Users make a paper call, see the closing price and what the agent did, and get feedback on habits. Paper money only.</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want to be precise. Unfair here means structural disadvantages, namely costs, speed and expertise. It does not mean manipulation or fraud, and we make no accusation against Kalshi. Our sample is one season of public data and game-winner markets only, and the news timestamp is a proxy. The long-shot test is underpowered. Our statistical rigour work and the M6 market-impact model are in progress, so these numbers will be updated.</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the demo, focused on protection. On the replayed night, watch the agent see the news, compare its estimate with the bid and ask, and usually decline with a reason. In the Coach, I'll make a paper call and compare it with the close. Then a quick look at the briefs, the learned rules, and planted violations being blocked. If anything fails, we have a backup recording.</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recommendations follow from the evidence. Before any order, show the all-in cost and the break-even probability, not just the price. Warn by default when news is likely already priced in. Put education, like our Coach, in front of the first trade, with sensible default limits. For our own work, next we finish the statistical tests and M6, enforce a daily-loss stop, and use timestamped injury reports. Thank you, we are happy to take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5.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6.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8.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60520"/>
            <a:ext cx="12191695" cy="73152"/>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1005840"/>
            <a:ext cx="10545775" cy="1828800"/>
          </a:xfrm>
          <a:prstGeom prst="rect">
            <a:avLst/>
          </a:prstGeom>
          <a:noFill/>
        </p:spPr>
        <p:txBody>
          <a:bodyPr wrap="square" anchor="t" lIns="73152" rIns="73152" tIns="36576" bIns="36576">
            <a:spAutoFit/>
          </a:bodyPr>
          <a:lstStyle/>
          <a:p>
            <a:pPr algn="l">
              <a:spcAft>
                <a:spcPts val="800"/>
              </a:spcAft>
            </a:pPr>
            <a:r>
              <a:rPr sz="4400" b="1" i="0">
                <a:solidFill>
                  <a:srgbClr val="FFFFFF"/>
                </a:solidFill>
                <a:latin typeface="Arial"/>
              </a:rPr>
              <a:t>Can a consumer beat a sports prediction market?</a:t>
            </a:r>
          </a:p>
        </p:txBody>
      </p:sp>
      <p:sp>
        <p:nvSpPr>
          <p:cNvPr id="5" name="TextBox 4"/>
          <p:cNvSpPr txBox="1"/>
          <p:nvPr/>
        </p:nvSpPr>
        <p:spPr>
          <a:xfrm>
            <a:off x="822960" y="2834640"/>
            <a:ext cx="10545775" cy="1188720"/>
          </a:xfrm>
          <a:prstGeom prst="rect">
            <a:avLst/>
          </a:prstGeom>
          <a:noFill/>
        </p:spPr>
        <p:txBody>
          <a:bodyPr wrap="square" anchor="t" lIns="73152" rIns="73152" tIns="36576" bIns="36576">
            <a:spAutoFit/>
          </a:bodyPr>
          <a:lstStyle/>
          <a:p>
            <a:pPr algn="l">
              <a:spcAft>
                <a:spcPts val="800"/>
              </a:spcAft>
            </a:pPr>
            <a:r>
              <a:rPr sz="2200" b="0" i="0">
                <a:solidFill>
                  <a:srgbClr val="CBD5E1"/>
                </a:solidFill>
                <a:latin typeface="Arial"/>
              </a:rPr>
              <a:t>What a serious NBA trading agent taught us about structural unfairness, and a product that protects and educates instead</a:t>
            </a:r>
          </a:p>
        </p:txBody>
      </p:sp>
      <p:sp>
        <p:nvSpPr>
          <p:cNvPr id="6" name="TextBox 5"/>
          <p:cNvSpPr txBox="1"/>
          <p:nvPr/>
        </p:nvSpPr>
        <p:spPr>
          <a:xfrm>
            <a:off x="822960" y="4434840"/>
            <a:ext cx="10545775" cy="1737360"/>
          </a:xfrm>
          <a:prstGeom prst="rect">
            <a:avLst/>
          </a:prstGeom>
          <a:noFill/>
        </p:spPr>
        <p:txBody>
          <a:bodyPr wrap="square" anchor="t" lIns="73152" rIns="73152" tIns="36576" bIns="36576">
            <a:spAutoFit/>
          </a:bodyPr>
          <a:lstStyle/>
          <a:p>
            <a:pPr algn="l">
              <a:spcAft>
                <a:spcPts val="800"/>
              </a:spcAft>
            </a:pPr>
            <a:r>
              <a:rPr sz="2000" b="0" i="0">
                <a:solidFill>
                  <a:srgbClr val="FFFFFF"/>
                </a:solidFill>
                <a:latin typeface="Arial"/>
              </a:rPr>
              <a:t>Market-Graded Learning for NBA Game-Impact Intelligence</a:t>
            </a:r>
          </a:p>
          <a:p>
            <a:pPr algn="l">
              <a:spcAft>
                <a:spcPts val="800"/>
              </a:spcAft>
            </a:pPr>
            <a:r>
              <a:rPr sz="2000" b="0" i="0">
                <a:solidFill>
                  <a:srgbClr val="FFFFFF"/>
                </a:solidFill>
                <a:latin typeface="Arial"/>
              </a:rPr>
              <a:t>DASC7606C (COMP7606) · Group 12 · Track 2: Agentic Framework Design</a:t>
            </a:r>
          </a:p>
          <a:p>
            <a:pPr algn="l">
              <a:spcAft>
                <a:spcPts val="800"/>
              </a:spcAft>
            </a:pPr>
            <a:r>
              <a:rPr sz="2000" b="0" i="0">
                <a:solidFill>
                  <a:srgbClr val="FFFFFF"/>
                </a:solidFill>
                <a:latin typeface="Arial"/>
              </a:rPr>
              <a:t>Presenter: Ngan Tsz Sui · Friday 9 October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54864"/>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09728"/>
            <a:ext cx="11277295" cy="685800"/>
          </a:xfrm>
          <a:prstGeom prst="rect">
            <a:avLst/>
          </a:prstGeom>
          <a:noFill/>
        </p:spPr>
        <p:txBody>
          <a:bodyPr wrap="square" anchor="ctr" lIns="73152" rIns="73152" tIns="36576" bIns="36576">
            <a:spAutoFit/>
          </a:bodyPr>
          <a:lstStyle/>
          <a:p>
            <a:pPr algn="l">
              <a:spcAft>
                <a:spcPts val="0"/>
              </a:spcAft>
            </a:pPr>
            <a:r>
              <a:rPr sz="3000" b="1" i="0">
                <a:solidFill>
                  <a:srgbClr val="FFFFFF"/>
                </a:solidFill>
                <a:latin typeface="Arial"/>
              </a:rPr>
              <a:t>The belief: “I follow the news, so I can beat the market”</a:t>
            </a:r>
          </a:p>
        </p:txBody>
      </p:sp>
      <p:sp>
        <p:nvSpPr>
          <p:cNvPr id="5" name="TextBox 4"/>
          <p:cNvSpPr txBox="1"/>
          <p:nvPr/>
        </p:nvSpPr>
        <p:spPr>
          <a:xfrm>
            <a:off x="457200" y="6446520"/>
            <a:ext cx="9144000" cy="320040"/>
          </a:xfrm>
          <a:prstGeom prst="rect">
            <a:avLst/>
          </a:prstGeom>
          <a:noFill/>
        </p:spPr>
        <p:txBody>
          <a:bodyPr wrap="square" anchor="t" lIns="73152" rIns="73152" tIns="36576" bIns="36576">
            <a:spAutoFit/>
          </a:bodyPr>
          <a:lstStyle/>
          <a:p>
            <a:pPr algn="l">
              <a:spcAft>
                <a:spcPts val="0"/>
              </a:spcAft>
            </a:pPr>
            <a:r>
              <a:rPr sz="1100" b="0" i="0">
                <a:solidFill>
                  <a:srgbClr val="64748B"/>
                </a:solidFill>
                <a:latin typeface="Arial"/>
              </a:rPr>
              <a:t>DASC7606C Group 12 · Can a consumer beat a sports prediction market?</a:t>
            </a:r>
          </a:p>
        </p:txBody>
      </p:sp>
      <p:sp>
        <p:nvSpPr>
          <p:cNvPr id="6" name="TextBox 5"/>
          <p:cNvSpPr txBox="1"/>
          <p:nvPr/>
        </p:nvSpPr>
        <p:spPr>
          <a:xfrm>
            <a:off x="10820095" y="6446520"/>
            <a:ext cx="914400" cy="320040"/>
          </a:xfrm>
          <a:prstGeom prst="rect">
            <a:avLst/>
          </a:prstGeom>
          <a:noFill/>
        </p:spPr>
        <p:txBody>
          <a:bodyPr wrap="square" anchor="t" lIns="73152" rIns="73152" tIns="36576" bIns="36576">
            <a:spAutoFit/>
          </a:bodyPr>
          <a:lstStyle/>
          <a:p>
            <a:pPr algn="r">
              <a:spcAft>
                <a:spcPts val="0"/>
              </a:spcAft>
            </a:pPr>
            <a:r>
              <a:rPr sz="1100" b="0" i="0">
                <a:solidFill>
                  <a:srgbClr val="64748B"/>
                </a:solidFill>
                <a:latin typeface="Arial"/>
              </a:rPr>
              <a:t>2</a:t>
            </a:r>
          </a:p>
        </p:txBody>
      </p:sp>
      <p:sp>
        <p:nvSpPr>
          <p:cNvPr id="7" name="TextBox 6"/>
          <p:cNvSpPr txBox="1"/>
          <p:nvPr/>
        </p:nvSpPr>
        <p:spPr>
          <a:xfrm>
            <a:off x="457200" y="1234439"/>
            <a:ext cx="6126480" cy="5029200"/>
          </a:xfrm>
          <a:prstGeom prst="rect">
            <a:avLst/>
          </a:prstGeom>
          <a:noFill/>
        </p:spPr>
        <p:txBody>
          <a:bodyPr wrap="square" anchor="t" lIns="73152" rIns="73152" tIns="36576" bIns="36576">
            <a:spAutoFit/>
          </a:bodyPr>
          <a:lstStyle/>
          <a:p>
            <a:pPr algn="l">
              <a:spcAft>
                <a:spcPts val="1000"/>
              </a:spcAft>
            </a:pPr>
            <a:r>
              <a:rPr sz="2000" b="1" i="0">
                <a:solidFill>
                  <a:srgbClr val="1E293B"/>
                </a:solidFill>
                <a:latin typeface="Arial"/>
              </a:rPr>
              <a:t>We built a serious agent to try:</a:t>
            </a:r>
          </a:p>
          <a:p>
            <a:pPr algn="l" marL="292608" indent="-256032">
              <a:spcAft>
                <a:spcPts val="1000"/>
              </a:spcAft>
              <a:buChar char="•"/>
            </a:pPr>
            <a:r>
              <a:rPr sz="2000" b="0" i="0">
                <a:solidFill>
                  <a:srgbClr val="0F172A"/>
                </a:solidFill>
                <a:latin typeface="Arial"/>
              </a:rPr>
              <a:t>Public news: ESPN inactive lists and box scores, 3 seasons</a:t>
            </a:r>
          </a:p>
          <a:p>
            <a:pPr algn="l" marL="292608" indent="-256032">
              <a:spcAft>
                <a:spcPts val="1000"/>
              </a:spcAft>
              <a:buChar char="•"/>
            </a:pPr>
            <a:r>
              <a:rPr sz="2000" b="0" i="0">
                <a:solidFill>
                  <a:srgbClr val="0F172A"/>
                </a:solidFill>
                <a:latin typeface="Arial"/>
              </a:rPr>
              <a:t>Learned models: GRU player model, play classifier, win model</a:t>
            </a:r>
          </a:p>
          <a:p>
            <a:pPr algn="l" marL="292608" indent="-256032">
              <a:spcAft>
                <a:spcPts val="1000"/>
              </a:spcAft>
              <a:buChar char="•"/>
            </a:pPr>
            <a:r>
              <a:rPr sz="2000" b="0" i="0">
                <a:solidFill>
                  <a:srgbClr val="0F172A"/>
                </a:solidFill>
                <a:latin typeface="Arial"/>
              </a:rPr>
              <a:t>LangGraph agent loop, LLM-capable (Gemini), deterministic by default</a:t>
            </a:r>
          </a:p>
          <a:p>
            <a:pPr algn="l" marL="292608" indent="-256032">
              <a:spcAft>
                <a:spcPts val="1000"/>
              </a:spcAft>
              <a:buChar char="•"/>
            </a:pPr>
            <a:r>
              <a:rPr sz="2000" b="0" i="0">
                <a:solidFill>
                  <a:srgbClr val="0F172A"/>
                </a:solidFill>
                <a:latin typeface="Arial"/>
              </a:rPr>
              <a:t>Code risk limits and rules learned only through a backtest gate</a:t>
            </a:r>
          </a:p>
          <a:p>
            <a:pPr algn="l" marL="292608" indent="-256032">
              <a:spcAft>
                <a:spcPts val="1000"/>
              </a:spcAft>
              <a:buChar char="•"/>
            </a:pPr>
            <a:r>
              <a:rPr sz="2000" b="0" i="0">
                <a:solidFill>
                  <a:srgbClr val="0F172A"/>
                </a:solidFill>
                <a:latin typeface="Arial"/>
              </a:rPr>
              <a:t>Graded against 1,316 Kalshi games (~3.9M price rows), 2025-26</a:t>
            </a:r>
          </a:p>
        </p:txBody>
      </p:sp>
      <p:sp>
        <p:nvSpPr>
          <p:cNvPr id="8" name="Rounded Rectangle 7"/>
          <p:cNvSpPr/>
          <p:nvPr/>
        </p:nvSpPr>
        <p:spPr>
          <a:xfrm>
            <a:off x="6949440" y="1325880"/>
            <a:ext cx="4785055" cy="4846320"/>
          </a:xfrm>
          <a:prstGeom prst="roundRect">
            <a:avLst>
              <a:gd name="adj" fmla="val 5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223759" y="1508760"/>
            <a:ext cx="4236415" cy="4480560"/>
          </a:xfrm>
          <a:prstGeom prst="rect">
            <a:avLst/>
          </a:prstGeom>
          <a:noFill/>
        </p:spPr>
        <p:txBody>
          <a:bodyPr wrap="square" anchor="t" lIns="73152" rIns="73152" tIns="36576" bIns="36576">
            <a:spAutoFit/>
          </a:bodyPr>
          <a:lstStyle/>
          <a:p>
            <a:pPr algn="l">
              <a:spcAft>
                <a:spcPts val="1600"/>
              </a:spcAft>
            </a:pPr>
            <a:r>
              <a:rPr sz="2200" b="1" i="0">
                <a:solidFill>
                  <a:srgbClr val="FDBA74"/>
                </a:solidFill>
                <a:latin typeface="Arial"/>
              </a:rPr>
              <a:t>What we found</a:t>
            </a:r>
          </a:p>
          <a:p>
            <a:pPr algn="l">
              <a:spcAft>
                <a:spcPts val="1600"/>
              </a:spcAft>
            </a:pPr>
            <a:r>
              <a:rPr sz="2200" b="0" i="0">
                <a:solidFill>
                  <a:srgbClr val="FFFFFF"/>
                </a:solidFill>
                <a:latin typeface="Arial"/>
              </a:rPr>
              <a:t>Even this agent does not beat the market after costs.</a:t>
            </a:r>
          </a:p>
          <a:p>
            <a:pPr algn="l">
              <a:spcAft>
                <a:spcPts val="1600"/>
              </a:spcAft>
            </a:pPr>
            <a:r>
              <a:rPr sz="2200" b="0" i="0">
                <a:solidFill>
                  <a:srgbClr val="FFFFFF"/>
                </a:solidFill>
                <a:latin typeface="Arial"/>
              </a:rPr>
              <a:t>The reasons are structural: costs, speed and expertise.</a:t>
            </a:r>
          </a:p>
          <a:p>
            <a:pPr algn="l">
              <a:spcAft>
                <a:spcPts val="1600"/>
              </a:spcAft>
            </a:pPr>
            <a:r>
              <a:rPr sz="2200" b="0" i="0">
                <a:solidFill>
                  <a:srgbClr val="FFFFFF"/>
                </a:solidFill>
                <a:latin typeface="Arial"/>
              </a:rPr>
              <a:t>So our product's job is to protect and educate consumers.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54864"/>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09728"/>
            <a:ext cx="11277295" cy="685800"/>
          </a:xfrm>
          <a:prstGeom prst="rect">
            <a:avLst/>
          </a:prstGeom>
          <a:noFill/>
        </p:spPr>
        <p:txBody>
          <a:bodyPr wrap="square" anchor="ctr" lIns="73152" rIns="73152" tIns="36576" bIns="36576">
            <a:spAutoFit/>
          </a:bodyPr>
          <a:lstStyle/>
          <a:p>
            <a:pPr algn="l">
              <a:spcAft>
                <a:spcPts val="0"/>
              </a:spcAft>
            </a:pPr>
            <a:r>
              <a:rPr sz="3000" b="1" i="0">
                <a:solidFill>
                  <a:srgbClr val="FFFFFF"/>
                </a:solidFill>
                <a:latin typeface="Arial"/>
              </a:rPr>
              <a:t>What we built: a market-graded agent</a:t>
            </a:r>
          </a:p>
        </p:txBody>
      </p:sp>
      <p:sp>
        <p:nvSpPr>
          <p:cNvPr id="5" name="TextBox 4"/>
          <p:cNvSpPr txBox="1"/>
          <p:nvPr/>
        </p:nvSpPr>
        <p:spPr>
          <a:xfrm>
            <a:off x="457200" y="6446520"/>
            <a:ext cx="9144000" cy="320040"/>
          </a:xfrm>
          <a:prstGeom prst="rect">
            <a:avLst/>
          </a:prstGeom>
          <a:noFill/>
        </p:spPr>
        <p:txBody>
          <a:bodyPr wrap="square" anchor="t" lIns="73152" rIns="73152" tIns="36576" bIns="36576">
            <a:spAutoFit/>
          </a:bodyPr>
          <a:lstStyle/>
          <a:p>
            <a:pPr algn="l">
              <a:spcAft>
                <a:spcPts val="0"/>
              </a:spcAft>
            </a:pPr>
            <a:r>
              <a:rPr sz="1100" b="0" i="0">
                <a:solidFill>
                  <a:srgbClr val="64748B"/>
                </a:solidFill>
                <a:latin typeface="Arial"/>
              </a:rPr>
              <a:t>DASC7606C Group 12 · Can a consumer beat a sports prediction market?</a:t>
            </a:r>
          </a:p>
        </p:txBody>
      </p:sp>
      <p:sp>
        <p:nvSpPr>
          <p:cNvPr id="6" name="TextBox 5"/>
          <p:cNvSpPr txBox="1"/>
          <p:nvPr/>
        </p:nvSpPr>
        <p:spPr>
          <a:xfrm>
            <a:off x="10820095" y="6446520"/>
            <a:ext cx="914400" cy="320040"/>
          </a:xfrm>
          <a:prstGeom prst="rect">
            <a:avLst/>
          </a:prstGeom>
          <a:noFill/>
        </p:spPr>
        <p:txBody>
          <a:bodyPr wrap="square" anchor="t" lIns="73152" rIns="73152" tIns="36576" bIns="36576">
            <a:spAutoFit/>
          </a:bodyPr>
          <a:lstStyle/>
          <a:p>
            <a:pPr algn="r">
              <a:spcAft>
                <a:spcPts val="0"/>
              </a:spcAft>
            </a:pPr>
            <a:r>
              <a:rPr sz="1100" b="0" i="0">
                <a:solidFill>
                  <a:srgbClr val="64748B"/>
                </a:solidFill>
                <a:latin typeface="Arial"/>
              </a:rPr>
              <a:t>3</a:t>
            </a:r>
          </a:p>
        </p:txBody>
      </p:sp>
      <p:pic>
        <p:nvPicPr>
          <p:cNvPr id="7" name="Picture 6" descr="product_workflow.png"/>
          <p:cNvPicPr>
            <a:picLocks noChangeAspect="1"/>
          </p:cNvPicPr>
          <p:nvPr/>
        </p:nvPicPr>
        <p:blipFill>
          <a:blip r:embed="rId3"/>
          <a:stretch>
            <a:fillRect/>
          </a:stretch>
        </p:blipFill>
        <p:spPr>
          <a:xfrm>
            <a:off x="1513288" y="1097280"/>
            <a:ext cx="9165119" cy="4480560"/>
          </a:xfrm>
          <a:prstGeom prst="rect">
            <a:avLst/>
          </a:prstGeom>
        </p:spPr>
      </p:pic>
      <p:sp>
        <p:nvSpPr>
          <p:cNvPr id="8" name="TextBox 7"/>
          <p:cNvSpPr txBox="1"/>
          <p:nvPr/>
        </p:nvSpPr>
        <p:spPr>
          <a:xfrm>
            <a:off x="457200" y="5623560"/>
            <a:ext cx="11277295" cy="731520"/>
          </a:xfrm>
          <a:prstGeom prst="rect">
            <a:avLst/>
          </a:prstGeom>
          <a:noFill/>
        </p:spPr>
        <p:txBody>
          <a:bodyPr wrap="square" anchor="t" lIns="73152" rIns="73152" tIns="36576" bIns="36576">
            <a:spAutoFit/>
          </a:bodyPr>
          <a:lstStyle/>
          <a:p>
            <a:pPr algn="ctr">
              <a:spcAft>
                <a:spcPts val="800"/>
              </a:spcAft>
            </a:pPr>
            <a:r>
              <a:rPr sz="1800" b="0" i="0">
                <a:solidFill>
                  <a:srgbClr val="0F172A"/>
                </a:solidFill>
                <a:latin typeface="Arial"/>
              </a:rPr>
              <a:t>Every simulated order pays the recorded ask plus the Kalshi fee, so we measure what a consumer would face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54864"/>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09728"/>
            <a:ext cx="11277295" cy="685800"/>
          </a:xfrm>
          <a:prstGeom prst="rect">
            <a:avLst/>
          </a:prstGeom>
          <a:noFill/>
        </p:spPr>
        <p:txBody>
          <a:bodyPr wrap="square" anchor="ctr" lIns="73152" rIns="73152" tIns="36576" bIns="36576">
            <a:spAutoFit/>
          </a:bodyPr>
          <a:lstStyle/>
          <a:p>
            <a:pPr algn="l">
              <a:spcAft>
                <a:spcPts val="0"/>
              </a:spcAft>
            </a:pPr>
            <a:r>
              <a:rPr sz="3000" b="1" i="0">
                <a:solidFill>
                  <a:srgbClr val="FFFFFF"/>
                </a:solidFill>
                <a:latin typeface="Arial"/>
              </a:rPr>
              <a:t>Evidence 1: costs set a hurdle before you start</a:t>
            </a:r>
          </a:p>
        </p:txBody>
      </p:sp>
      <p:sp>
        <p:nvSpPr>
          <p:cNvPr id="5" name="TextBox 4"/>
          <p:cNvSpPr txBox="1"/>
          <p:nvPr/>
        </p:nvSpPr>
        <p:spPr>
          <a:xfrm>
            <a:off x="457200" y="6446520"/>
            <a:ext cx="9144000" cy="320040"/>
          </a:xfrm>
          <a:prstGeom prst="rect">
            <a:avLst/>
          </a:prstGeom>
          <a:noFill/>
        </p:spPr>
        <p:txBody>
          <a:bodyPr wrap="square" anchor="t" lIns="73152" rIns="73152" tIns="36576" bIns="36576">
            <a:spAutoFit/>
          </a:bodyPr>
          <a:lstStyle/>
          <a:p>
            <a:pPr algn="l">
              <a:spcAft>
                <a:spcPts val="0"/>
              </a:spcAft>
            </a:pPr>
            <a:r>
              <a:rPr sz="1100" b="0" i="0">
                <a:solidFill>
                  <a:srgbClr val="64748B"/>
                </a:solidFill>
                <a:latin typeface="Arial"/>
              </a:rPr>
              <a:t>DASC7606C Group 12 · Can a consumer beat a sports prediction market?</a:t>
            </a:r>
          </a:p>
        </p:txBody>
      </p:sp>
      <p:sp>
        <p:nvSpPr>
          <p:cNvPr id="6" name="TextBox 5"/>
          <p:cNvSpPr txBox="1"/>
          <p:nvPr/>
        </p:nvSpPr>
        <p:spPr>
          <a:xfrm>
            <a:off x="10820095" y="6446520"/>
            <a:ext cx="914400" cy="320040"/>
          </a:xfrm>
          <a:prstGeom prst="rect">
            <a:avLst/>
          </a:prstGeom>
          <a:noFill/>
        </p:spPr>
        <p:txBody>
          <a:bodyPr wrap="square" anchor="t" lIns="73152" rIns="73152" tIns="36576" bIns="36576">
            <a:spAutoFit/>
          </a:bodyPr>
          <a:lstStyle/>
          <a:p>
            <a:pPr algn="r">
              <a:spcAft>
                <a:spcPts val="0"/>
              </a:spcAft>
            </a:pPr>
            <a:r>
              <a:rPr sz="1100" b="0" i="0">
                <a:solidFill>
                  <a:srgbClr val="64748B"/>
                </a:solidFill>
                <a:latin typeface="Arial"/>
              </a:rPr>
              <a:t>4</a:t>
            </a:r>
          </a:p>
        </p:txBody>
      </p:sp>
      <p:pic>
        <p:nvPicPr>
          <p:cNvPr id="7" name="Picture 6" descr="cost_burden.png"/>
          <p:cNvPicPr>
            <a:picLocks noChangeAspect="1"/>
          </p:cNvPicPr>
          <p:nvPr/>
        </p:nvPicPr>
        <p:blipFill>
          <a:blip r:embed="rId3"/>
          <a:stretch>
            <a:fillRect/>
          </a:stretch>
        </p:blipFill>
        <p:spPr>
          <a:xfrm>
            <a:off x="1180947" y="1097280"/>
            <a:ext cx="9829799" cy="3931920"/>
          </a:xfrm>
          <a:prstGeom prst="rect">
            <a:avLst/>
          </a:prstGeom>
        </p:spPr>
      </p:pic>
      <p:sp>
        <p:nvSpPr>
          <p:cNvPr id="8" name="TextBox 7"/>
          <p:cNvSpPr txBox="1"/>
          <p:nvPr/>
        </p:nvSpPr>
        <p:spPr>
          <a:xfrm>
            <a:off x="457200" y="5120640"/>
            <a:ext cx="5547207" cy="1234440"/>
          </a:xfrm>
          <a:prstGeom prst="rect">
            <a:avLst/>
          </a:prstGeom>
          <a:noFill/>
        </p:spPr>
        <p:txBody>
          <a:bodyPr wrap="square" anchor="t" lIns="73152" rIns="73152" tIns="36576" bIns="36576">
            <a:spAutoFit/>
          </a:bodyPr>
          <a:lstStyle/>
          <a:p>
            <a:pPr algn="l" marL="292608" indent="-256032">
              <a:spcAft>
                <a:spcPts val="400"/>
              </a:spcAft>
              <a:buChar char="•"/>
            </a:pPr>
            <a:r>
              <a:rPr sz="1800" b="1" i="0">
                <a:solidFill>
                  <a:srgbClr val="0F172A"/>
                </a:solidFill>
                <a:latin typeface="Arial"/>
              </a:rPr>
              <a:t>1.92¢ per contract</a:t>
            </a:r>
            <a:r>
              <a:rPr sz="1800" b="0" i="0">
                <a:solidFill>
                  <a:srgbClr val="0F172A"/>
                </a:solidFill>
                <a:latin typeface="Arial"/>
              </a:rPr>
              <a:t> = 5.0% of price (spread 0.53¢ + fee 1.39¢)</a:t>
            </a:r>
          </a:p>
          <a:p>
            <a:pPr algn="l" marL="292608" indent="-256032">
              <a:spcAft>
                <a:spcPts val="400"/>
              </a:spcAft>
              <a:buChar char="•"/>
            </a:pPr>
            <a:r>
              <a:rPr sz="1800" b="0" i="0">
                <a:solidFill>
                  <a:srgbClr val="0F172A"/>
                </a:solidFill>
                <a:latin typeface="Arial"/>
              </a:rPr>
              <a:t>Under 20¢: </a:t>
            </a:r>
            <a:r>
              <a:rPr sz="1800" b="1" i="0">
                <a:solidFill>
                  <a:srgbClr val="0F172A"/>
                </a:solidFill>
                <a:latin typeface="Arial"/>
              </a:rPr>
              <a:t>9–14%</a:t>
            </a:r>
            <a:r>
              <a:rPr sz="1800" b="0" i="0">
                <a:solidFill>
                  <a:srgbClr val="0F172A"/>
                </a:solidFill>
                <a:latin typeface="Arial"/>
              </a:rPr>
              <a:t> of the price</a:t>
            </a:r>
          </a:p>
        </p:txBody>
      </p:sp>
      <p:sp>
        <p:nvSpPr>
          <p:cNvPr id="9" name="TextBox 8"/>
          <p:cNvSpPr txBox="1"/>
          <p:nvPr/>
        </p:nvSpPr>
        <p:spPr>
          <a:xfrm>
            <a:off x="6187287" y="5120640"/>
            <a:ext cx="5547207" cy="1234440"/>
          </a:xfrm>
          <a:prstGeom prst="rect">
            <a:avLst/>
          </a:prstGeom>
          <a:noFill/>
        </p:spPr>
        <p:txBody>
          <a:bodyPr wrap="square" anchor="t" lIns="73152" rIns="73152" tIns="36576" bIns="36576">
            <a:spAutoFit/>
          </a:bodyPr>
          <a:lstStyle/>
          <a:p>
            <a:pPr algn="l" marL="292608" indent="-256032">
              <a:spcAft>
                <a:spcPts val="400"/>
              </a:spcAft>
              <a:buChar char="•"/>
            </a:pPr>
            <a:r>
              <a:rPr sz="1800" b="0" i="0">
                <a:solidFill>
                  <a:srgbClr val="0F172A"/>
                </a:solidFill>
                <a:latin typeface="Arial"/>
              </a:rPr>
              <a:t>Best agent: </a:t>
            </a:r>
            <a:r>
              <a:rPr sz="1800" b="1" i="0">
                <a:solidFill>
                  <a:srgbClr val="0F172A"/>
                </a:solidFill>
                <a:latin typeface="Arial"/>
              </a:rPr>
              <a:t>+$36</a:t>
            </a:r>
            <a:r>
              <a:rPr sz="1800" b="0" i="0">
                <a:solidFill>
                  <a:srgbClr val="0F172A"/>
                </a:solidFill>
                <a:latin typeface="Arial"/>
              </a:rPr>
              <a:t> at the mid → </a:t>
            </a:r>
            <a:r>
              <a:rPr sz="1800" b="1" i="0">
                <a:solidFill>
                  <a:srgbClr val="0F172A"/>
                </a:solidFill>
                <a:latin typeface="Arial"/>
              </a:rPr>
              <a:t>−$32</a:t>
            </a:r>
            <a:r>
              <a:rPr sz="1800" b="0" i="0">
                <a:solidFill>
                  <a:srgbClr val="0F172A"/>
                </a:solidFill>
                <a:latin typeface="Arial"/>
              </a:rPr>
              <a:t> after costs</a:t>
            </a:r>
          </a:p>
          <a:p>
            <a:pPr algn="l" marL="292608" indent="-256032">
              <a:spcAft>
                <a:spcPts val="400"/>
              </a:spcAft>
              <a:buChar char="•"/>
            </a:pPr>
            <a:r>
              <a:rPr sz="1800" b="0" i="0">
                <a:solidFill>
                  <a:srgbClr val="0F172A"/>
                </a:solidFill>
                <a:latin typeface="Arial"/>
              </a:rPr>
              <a:t>Raw model: −$1,540 → −$2,087</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54864"/>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09728"/>
            <a:ext cx="11277295" cy="685800"/>
          </a:xfrm>
          <a:prstGeom prst="rect">
            <a:avLst/>
          </a:prstGeom>
          <a:noFill/>
        </p:spPr>
        <p:txBody>
          <a:bodyPr wrap="square" anchor="ctr" lIns="73152" rIns="73152" tIns="36576" bIns="36576">
            <a:spAutoFit/>
          </a:bodyPr>
          <a:lstStyle/>
          <a:p>
            <a:pPr algn="l">
              <a:spcAft>
                <a:spcPts val="0"/>
              </a:spcAft>
            </a:pPr>
            <a:r>
              <a:rPr sz="3000" b="1" i="0">
                <a:solidFill>
                  <a:srgbClr val="FFFFFF"/>
                </a:solidFill>
                <a:latin typeface="Arial"/>
              </a:rPr>
              <a:t>Even a selective agent rarely beats the closing price</a:t>
            </a:r>
          </a:p>
        </p:txBody>
      </p:sp>
      <p:sp>
        <p:nvSpPr>
          <p:cNvPr id="5" name="TextBox 4"/>
          <p:cNvSpPr txBox="1"/>
          <p:nvPr/>
        </p:nvSpPr>
        <p:spPr>
          <a:xfrm>
            <a:off x="457200" y="6446520"/>
            <a:ext cx="9144000" cy="320040"/>
          </a:xfrm>
          <a:prstGeom prst="rect">
            <a:avLst/>
          </a:prstGeom>
          <a:noFill/>
        </p:spPr>
        <p:txBody>
          <a:bodyPr wrap="square" anchor="t" lIns="73152" rIns="73152" tIns="36576" bIns="36576">
            <a:spAutoFit/>
          </a:bodyPr>
          <a:lstStyle/>
          <a:p>
            <a:pPr algn="l">
              <a:spcAft>
                <a:spcPts val="0"/>
              </a:spcAft>
            </a:pPr>
            <a:r>
              <a:rPr sz="1100" b="0" i="0">
                <a:solidFill>
                  <a:srgbClr val="64748B"/>
                </a:solidFill>
                <a:latin typeface="Arial"/>
              </a:rPr>
              <a:t>DASC7606C Group 12 · Can a consumer beat a sports prediction market?</a:t>
            </a:r>
          </a:p>
        </p:txBody>
      </p:sp>
      <p:sp>
        <p:nvSpPr>
          <p:cNvPr id="6" name="TextBox 5"/>
          <p:cNvSpPr txBox="1"/>
          <p:nvPr/>
        </p:nvSpPr>
        <p:spPr>
          <a:xfrm>
            <a:off x="10820095" y="6446520"/>
            <a:ext cx="914400" cy="320040"/>
          </a:xfrm>
          <a:prstGeom prst="rect">
            <a:avLst/>
          </a:prstGeom>
          <a:noFill/>
        </p:spPr>
        <p:txBody>
          <a:bodyPr wrap="square" anchor="t" lIns="73152" rIns="73152" tIns="36576" bIns="36576">
            <a:spAutoFit/>
          </a:bodyPr>
          <a:lstStyle/>
          <a:p>
            <a:pPr algn="r">
              <a:spcAft>
                <a:spcPts val="0"/>
              </a:spcAft>
            </a:pPr>
            <a:r>
              <a:rPr sz="1100" b="0" i="0">
                <a:solidFill>
                  <a:srgbClr val="64748B"/>
                </a:solidFill>
                <a:latin typeface="Arial"/>
              </a:rPr>
              <a:t>5</a:t>
            </a:r>
          </a:p>
        </p:txBody>
      </p:sp>
      <p:pic>
        <p:nvPicPr>
          <p:cNvPr id="7" name="Picture 6" descr="trade_funnel.png"/>
          <p:cNvPicPr>
            <a:picLocks noChangeAspect="1"/>
          </p:cNvPicPr>
          <p:nvPr/>
        </p:nvPicPr>
        <p:blipFill>
          <a:blip r:embed="rId3"/>
          <a:stretch>
            <a:fillRect/>
          </a:stretch>
        </p:blipFill>
        <p:spPr>
          <a:xfrm>
            <a:off x="457200" y="1533698"/>
            <a:ext cx="7955279" cy="4339243"/>
          </a:xfrm>
          <a:prstGeom prst="rect">
            <a:avLst/>
          </a:prstGeom>
        </p:spPr>
      </p:pic>
      <p:sp>
        <p:nvSpPr>
          <p:cNvPr id="8" name="TextBox 7"/>
          <p:cNvSpPr txBox="1"/>
          <p:nvPr/>
        </p:nvSpPr>
        <p:spPr>
          <a:xfrm>
            <a:off x="8549640" y="1463040"/>
            <a:ext cx="3184855" cy="4846320"/>
          </a:xfrm>
          <a:prstGeom prst="rect">
            <a:avLst/>
          </a:prstGeom>
          <a:noFill/>
        </p:spPr>
        <p:txBody>
          <a:bodyPr wrap="square" anchor="t" lIns="73152" rIns="73152" tIns="36576" bIns="36576">
            <a:spAutoFit/>
          </a:bodyPr>
          <a:lstStyle/>
          <a:p>
            <a:pPr algn="l" marL="292608" indent="-256032">
              <a:spcAft>
                <a:spcPts val="1200"/>
              </a:spcAft>
              <a:buChar char="•"/>
            </a:pPr>
            <a:r>
              <a:rPr sz="2000" b="1" i="0">
                <a:solidFill>
                  <a:srgbClr val="0F172A"/>
                </a:solidFill>
                <a:latin typeface="Arial"/>
              </a:rPr>
              <a:t>771</a:t>
            </a:r>
            <a:r>
              <a:rPr sz="2000" b="0" i="0">
                <a:solidFill>
                  <a:srgbClr val="0F172A"/>
                </a:solidFill>
                <a:latin typeface="Arial"/>
              </a:rPr>
              <a:t> decision points</a:t>
            </a:r>
          </a:p>
          <a:p>
            <a:pPr algn="l" marL="292608" indent="-256032">
              <a:spcAft>
                <a:spcPts val="1200"/>
              </a:spcAft>
              <a:buChar char="•"/>
            </a:pPr>
            <a:r>
              <a:rPr sz="2000" b="1" i="0">
                <a:solidFill>
                  <a:srgbClr val="0F172A"/>
                </a:solidFill>
                <a:latin typeface="Arial"/>
              </a:rPr>
              <a:t>153</a:t>
            </a:r>
            <a:r>
              <a:rPr sz="2000" b="0" i="0">
                <a:solidFill>
                  <a:srgbClr val="0F172A"/>
                </a:solidFill>
                <a:latin typeface="Arial"/>
              </a:rPr>
              <a:t> with a gap &gt; 4 pts after fees</a:t>
            </a:r>
          </a:p>
          <a:p>
            <a:pPr algn="l" marL="292608" indent="-256032">
              <a:spcAft>
                <a:spcPts val="1200"/>
              </a:spcAft>
              <a:buChar char="•"/>
            </a:pPr>
            <a:r>
              <a:rPr sz="2000" b="1" i="0">
                <a:solidFill>
                  <a:srgbClr val="0F172A"/>
                </a:solidFill>
                <a:latin typeface="Arial"/>
              </a:rPr>
              <a:t>74</a:t>
            </a:r>
            <a:r>
              <a:rPr sz="2000" b="0" i="0">
                <a:solidFill>
                  <a:srgbClr val="0F172A"/>
                </a:solidFill>
                <a:latin typeface="Arial"/>
              </a:rPr>
              <a:t> trades</a:t>
            </a:r>
          </a:p>
          <a:p>
            <a:pPr algn="l" marL="292608" indent="-256032">
              <a:spcAft>
                <a:spcPts val="1200"/>
              </a:spcAft>
              <a:buChar char="•"/>
            </a:pPr>
            <a:r>
              <a:rPr sz="2000" b="0" i="0">
                <a:solidFill>
                  <a:srgbClr val="0F172A"/>
                </a:solidFill>
                <a:latin typeface="Arial"/>
              </a:rPr>
              <a:t>Only </a:t>
            </a:r>
            <a:r>
              <a:rPr sz="2000" b="1" i="0">
                <a:solidFill>
                  <a:srgbClr val="0F172A"/>
                </a:solidFill>
                <a:latin typeface="Arial"/>
              </a:rPr>
              <a:t>27 (36%)</a:t>
            </a:r>
            <a:r>
              <a:rPr sz="2000" b="0" i="0">
                <a:solidFill>
                  <a:srgbClr val="0F172A"/>
                </a:solidFill>
                <a:latin typeface="Arial"/>
              </a:rPr>
              <a:t> beat or matched the close</a:t>
            </a:r>
          </a:p>
          <a:p>
            <a:pPr algn="l" marL="292608" indent="-256032">
              <a:spcAft>
                <a:spcPts val="1200"/>
              </a:spcAft>
              <a:buChar char="•"/>
            </a:pPr>
            <a:r>
              <a:rPr sz="2000" b="1" i="0">
                <a:solidFill>
                  <a:srgbClr val="0F172A"/>
                </a:solidFill>
                <a:latin typeface="Arial"/>
              </a:rPr>
              <a:t>41 (55%)</a:t>
            </a:r>
            <a:r>
              <a:rPr sz="2000" b="0" i="0">
                <a:solidFill>
                  <a:srgbClr val="0F172A"/>
                </a:solidFill>
                <a:latin typeface="Arial"/>
              </a:rPr>
              <a:t> won, but winning ≠ an edge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54864"/>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09728"/>
            <a:ext cx="11277295" cy="685800"/>
          </a:xfrm>
          <a:prstGeom prst="rect">
            <a:avLst/>
          </a:prstGeom>
          <a:noFill/>
        </p:spPr>
        <p:txBody>
          <a:bodyPr wrap="square" anchor="ctr" lIns="73152" rIns="73152" tIns="36576" bIns="36576">
            <a:spAutoFit/>
          </a:bodyPr>
          <a:lstStyle/>
          <a:p>
            <a:pPr algn="l">
              <a:spcAft>
                <a:spcPts val="0"/>
              </a:spcAft>
            </a:pPr>
            <a:r>
              <a:rPr sz="3000" b="1" i="0">
                <a:solidFill>
                  <a:srgbClr val="FFFFFF"/>
                </a:solidFill>
                <a:latin typeface="Arial"/>
              </a:rPr>
              <a:t>Evidence 2: the price moves before the news reaches you</a:t>
            </a:r>
          </a:p>
        </p:txBody>
      </p:sp>
      <p:sp>
        <p:nvSpPr>
          <p:cNvPr id="5" name="TextBox 4"/>
          <p:cNvSpPr txBox="1"/>
          <p:nvPr/>
        </p:nvSpPr>
        <p:spPr>
          <a:xfrm>
            <a:off x="457200" y="6446520"/>
            <a:ext cx="9144000" cy="320040"/>
          </a:xfrm>
          <a:prstGeom prst="rect">
            <a:avLst/>
          </a:prstGeom>
          <a:noFill/>
        </p:spPr>
        <p:txBody>
          <a:bodyPr wrap="square" anchor="t" lIns="73152" rIns="73152" tIns="36576" bIns="36576">
            <a:spAutoFit/>
          </a:bodyPr>
          <a:lstStyle/>
          <a:p>
            <a:pPr algn="l">
              <a:spcAft>
                <a:spcPts val="0"/>
              </a:spcAft>
            </a:pPr>
            <a:r>
              <a:rPr sz="1100" b="0" i="0">
                <a:solidFill>
                  <a:srgbClr val="64748B"/>
                </a:solidFill>
                <a:latin typeface="Arial"/>
              </a:rPr>
              <a:t>DASC7606C Group 12 · Can a consumer beat a sports prediction market?</a:t>
            </a:r>
          </a:p>
        </p:txBody>
      </p:sp>
      <p:sp>
        <p:nvSpPr>
          <p:cNvPr id="6" name="TextBox 5"/>
          <p:cNvSpPr txBox="1"/>
          <p:nvPr/>
        </p:nvSpPr>
        <p:spPr>
          <a:xfrm>
            <a:off x="10820095" y="6446520"/>
            <a:ext cx="914400" cy="320040"/>
          </a:xfrm>
          <a:prstGeom prst="rect">
            <a:avLst/>
          </a:prstGeom>
          <a:noFill/>
        </p:spPr>
        <p:txBody>
          <a:bodyPr wrap="square" anchor="t" lIns="73152" rIns="73152" tIns="36576" bIns="36576">
            <a:spAutoFit/>
          </a:bodyPr>
          <a:lstStyle/>
          <a:p>
            <a:pPr algn="r">
              <a:spcAft>
                <a:spcPts val="0"/>
              </a:spcAft>
            </a:pPr>
            <a:r>
              <a:rPr sz="1100" b="0" i="0">
                <a:solidFill>
                  <a:srgbClr val="64748B"/>
                </a:solidFill>
                <a:latin typeface="Arial"/>
              </a:rPr>
              <a:t>6</a:t>
            </a:r>
          </a:p>
        </p:txBody>
      </p:sp>
      <p:pic>
        <p:nvPicPr>
          <p:cNvPr id="7" name="Picture 6" descr="price_discovery.png"/>
          <p:cNvPicPr>
            <a:picLocks noChangeAspect="1"/>
          </p:cNvPicPr>
          <p:nvPr/>
        </p:nvPicPr>
        <p:blipFill>
          <a:blip r:embed="rId3"/>
          <a:stretch>
            <a:fillRect/>
          </a:stretch>
        </p:blipFill>
        <p:spPr>
          <a:xfrm>
            <a:off x="895197" y="1097280"/>
            <a:ext cx="10401299" cy="4160520"/>
          </a:xfrm>
          <a:prstGeom prst="rect">
            <a:avLst/>
          </a:prstGeom>
        </p:spPr>
      </p:pic>
      <p:sp>
        <p:nvSpPr>
          <p:cNvPr id="8" name="TextBox 7"/>
          <p:cNvSpPr txBox="1"/>
          <p:nvPr/>
        </p:nvSpPr>
        <p:spPr>
          <a:xfrm>
            <a:off x="457200" y="5349240"/>
            <a:ext cx="11277295" cy="1005840"/>
          </a:xfrm>
          <a:prstGeom prst="rect">
            <a:avLst/>
          </a:prstGeom>
          <a:noFill/>
        </p:spPr>
        <p:txBody>
          <a:bodyPr wrap="square" anchor="t" lIns="73152" rIns="73152" tIns="36576" bIns="36576">
            <a:spAutoFit/>
          </a:bodyPr>
          <a:lstStyle/>
          <a:p>
            <a:pPr algn="l" marL="292608" indent="-256032">
              <a:spcAft>
                <a:spcPts val="400"/>
              </a:spcAft>
              <a:buChar char="•"/>
            </a:pPr>
            <a:r>
              <a:rPr sz="1800" b="1" i="0">
                <a:solidFill>
                  <a:srgbClr val="0F172A"/>
                </a:solidFill>
                <a:latin typeface="Arial"/>
              </a:rPr>
              <a:t>91%</a:t>
            </a:r>
            <a:r>
              <a:rPr sz="1800" b="0" i="0">
                <a:solidFill>
                  <a:srgbClr val="0F172A"/>
                </a:solidFill>
                <a:latin typeface="Arial"/>
              </a:rPr>
              <a:t> of the news-direction move was already in the price when the list was public (+1.80 vs +0.18 pts, 193 test games)</a:t>
            </a:r>
          </a:p>
          <a:p>
            <a:pPr algn="l" marL="292608" indent="-256032">
              <a:spcAft>
                <a:spcPts val="400"/>
              </a:spcAft>
              <a:buChar char="•"/>
            </a:pPr>
            <a:r>
              <a:rPr sz="1800" b="0" i="0">
                <a:solidFill>
                  <a:srgbClr val="0F172A"/>
                </a:solidFill>
                <a:latin typeface="Arial"/>
              </a:rPr>
              <a:t>List stamped tip − 30 min: our proxy for when a retail user sees it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54864"/>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09728"/>
            <a:ext cx="11277295" cy="685800"/>
          </a:xfrm>
          <a:prstGeom prst="rect">
            <a:avLst/>
          </a:prstGeom>
          <a:noFill/>
        </p:spPr>
        <p:txBody>
          <a:bodyPr wrap="square" anchor="ctr" lIns="73152" rIns="73152" tIns="36576" bIns="36576">
            <a:spAutoFit/>
          </a:bodyPr>
          <a:lstStyle/>
          <a:p>
            <a:pPr algn="l">
              <a:spcAft>
                <a:spcPts val="0"/>
              </a:spcAft>
            </a:pPr>
            <a:r>
              <a:rPr sz="3000" b="1" i="0">
                <a:solidFill>
                  <a:srgbClr val="FFFFFF"/>
                </a:solidFill>
                <a:latin typeface="Arial"/>
              </a:rPr>
              <a:t>Evidence 3: the market beats our model</a:t>
            </a:r>
          </a:p>
        </p:txBody>
      </p:sp>
      <p:sp>
        <p:nvSpPr>
          <p:cNvPr id="5" name="TextBox 4"/>
          <p:cNvSpPr txBox="1"/>
          <p:nvPr/>
        </p:nvSpPr>
        <p:spPr>
          <a:xfrm>
            <a:off x="457200" y="6446520"/>
            <a:ext cx="9144000" cy="320040"/>
          </a:xfrm>
          <a:prstGeom prst="rect">
            <a:avLst/>
          </a:prstGeom>
          <a:noFill/>
        </p:spPr>
        <p:txBody>
          <a:bodyPr wrap="square" anchor="t" lIns="73152" rIns="73152" tIns="36576" bIns="36576">
            <a:spAutoFit/>
          </a:bodyPr>
          <a:lstStyle/>
          <a:p>
            <a:pPr algn="l">
              <a:spcAft>
                <a:spcPts val="0"/>
              </a:spcAft>
            </a:pPr>
            <a:r>
              <a:rPr sz="1100" b="0" i="0">
                <a:solidFill>
                  <a:srgbClr val="64748B"/>
                </a:solidFill>
                <a:latin typeface="Arial"/>
              </a:rPr>
              <a:t>DASC7606C Group 12 · Can a consumer beat a sports prediction market?</a:t>
            </a:r>
          </a:p>
        </p:txBody>
      </p:sp>
      <p:sp>
        <p:nvSpPr>
          <p:cNvPr id="6" name="TextBox 5"/>
          <p:cNvSpPr txBox="1"/>
          <p:nvPr/>
        </p:nvSpPr>
        <p:spPr>
          <a:xfrm>
            <a:off x="10820095" y="6446520"/>
            <a:ext cx="914400" cy="320040"/>
          </a:xfrm>
          <a:prstGeom prst="rect">
            <a:avLst/>
          </a:prstGeom>
          <a:noFill/>
        </p:spPr>
        <p:txBody>
          <a:bodyPr wrap="square" anchor="t" lIns="73152" rIns="73152" tIns="36576" bIns="36576">
            <a:spAutoFit/>
          </a:bodyPr>
          <a:lstStyle/>
          <a:p>
            <a:pPr algn="r">
              <a:spcAft>
                <a:spcPts val="0"/>
              </a:spcAft>
            </a:pPr>
            <a:r>
              <a:rPr sz="1100" b="0" i="0">
                <a:solidFill>
                  <a:srgbClr val="64748B"/>
                </a:solidFill>
                <a:latin typeface="Arial"/>
              </a:rPr>
              <a:t>7</a:t>
            </a:r>
          </a:p>
        </p:txBody>
      </p:sp>
      <p:pic>
        <p:nvPicPr>
          <p:cNvPr id="7" name="Picture 6" descr="m4_vs_market.png"/>
          <p:cNvPicPr>
            <a:picLocks noChangeAspect="1"/>
          </p:cNvPicPr>
          <p:nvPr/>
        </p:nvPicPr>
        <p:blipFill>
          <a:blip r:embed="rId3"/>
          <a:stretch>
            <a:fillRect/>
          </a:stretch>
        </p:blipFill>
        <p:spPr>
          <a:xfrm>
            <a:off x="457200" y="1209821"/>
            <a:ext cx="6949440" cy="5078436"/>
          </a:xfrm>
          <a:prstGeom prst="rect">
            <a:avLst/>
          </a:prstGeom>
        </p:spPr>
      </p:pic>
      <p:sp>
        <p:nvSpPr>
          <p:cNvPr id="8" name="TextBox 7"/>
          <p:cNvSpPr txBox="1"/>
          <p:nvPr/>
        </p:nvSpPr>
        <p:spPr>
          <a:xfrm>
            <a:off x="7589520" y="1280160"/>
            <a:ext cx="4144975" cy="5120640"/>
          </a:xfrm>
          <a:prstGeom prst="rect">
            <a:avLst/>
          </a:prstGeom>
          <a:noFill/>
        </p:spPr>
        <p:txBody>
          <a:bodyPr wrap="square" anchor="t" lIns="73152" rIns="73152" tIns="36576" bIns="36576">
            <a:spAutoFit/>
          </a:bodyPr>
          <a:lstStyle/>
          <a:p>
            <a:pPr algn="l" marL="292608" indent="-256032">
              <a:spcAft>
                <a:spcPts val="1000"/>
              </a:spcAft>
              <a:buChar char="•"/>
            </a:pPr>
            <a:r>
              <a:rPr sz="1900" b="0" i="0">
                <a:solidFill>
                  <a:srgbClr val="0F172A"/>
                </a:solidFill>
                <a:latin typeface="Arial"/>
              </a:rPr>
              <a:t>Brier, 501 test games, 1 h before tip: </a:t>
            </a:r>
            <a:r>
              <a:rPr sz="1900" b="1" i="0">
                <a:solidFill>
                  <a:srgbClr val="0F172A"/>
                </a:solidFill>
                <a:latin typeface="Arial"/>
              </a:rPr>
              <a:t>market 0.164</a:t>
            </a:r>
            <a:r>
              <a:rPr sz="1900" b="0" i="0">
                <a:solidFill>
                  <a:srgbClr val="0F172A"/>
                </a:solidFill>
                <a:latin typeface="Arial"/>
              </a:rPr>
              <a:t>, our model 0.186</a:t>
            </a:r>
          </a:p>
          <a:p>
            <a:pPr algn="l" marL="292608" indent="-256032">
              <a:spcAft>
                <a:spcPts val="1000"/>
              </a:spcAft>
              <a:buChar char="•"/>
            </a:pPr>
            <a:r>
              <a:rPr sz="1900" b="0" i="0">
                <a:solidFill>
                  <a:srgbClr val="0F172A"/>
                </a:solidFill>
                <a:latin typeface="Arial"/>
              </a:rPr>
              <a:t>Disagree by more than 5 pts, and the market is right:</a:t>
            </a:r>
          </a:p>
          <a:p>
            <a:pPr algn="l" marL="612647" indent="-256032">
              <a:spcAft>
                <a:spcPts val="1000"/>
              </a:spcAft>
              <a:buChar char="–"/>
            </a:pPr>
            <a:r>
              <a:rPr sz="1700" b="0" i="0">
                <a:solidFill>
                  <a:srgbClr val="0F172A"/>
                </a:solidFill>
                <a:latin typeface="Arial"/>
              </a:rPr>
              <a:t>model higher on home: model 48%, market 35%, actual 34%</a:t>
            </a:r>
          </a:p>
          <a:p>
            <a:pPr algn="l" marL="612647" indent="-256032">
              <a:spcAft>
                <a:spcPts val="1000"/>
              </a:spcAft>
              <a:buChar char="–"/>
            </a:pPr>
            <a:r>
              <a:rPr sz="1700" b="0" i="0">
                <a:solidFill>
                  <a:srgbClr val="0F172A"/>
                </a:solidFill>
                <a:latin typeface="Arial"/>
              </a:rPr>
              <a:t>model lower on home: model 61%, market 73%, actual 77%</a:t>
            </a:r>
          </a:p>
          <a:p>
            <a:pPr algn="l" marL="292608" indent="-256032">
              <a:spcAft>
                <a:spcPts val="1000"/>
              </a:spcAft>
              <a:buChar char="•"/>
            </a:pPr>
            <a:r>
              <a:rPr sz="1600" b="0" i="0">
                <a:solidFill>
                  <a:srgbClr val="64748B"/>
                </a:solidFill>
                <a:latin typeface="Arial"/>
              </a:rPr>
              <a:t>With the inactive list: model 0.183 vs market at tip 0.163</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54864"/>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09728"/>
            <a:ext cx="11277295" cy="685800"/>
          </a:xfrm>
          <a:prstGeom prst="rect">
            <a:avLst/>
          </a:prstGeom>
          <a:noFill/>
        </p:spPr>
        <p:txBody>
          <a:bodyPr wrap="square" anchor="ctr" lIns="73152" rIns="73152" tIns="36576" bIns="36576">
            <a:spAutoFit/>
          </a:bodyPr>
          <a:lstStyle/>
          <a:p>
            <a:pPr algn="l">
              <a:spcAft>
                <a:spcPts val="0"/>
              </a:spcAft>
            </a:pPr>
            <a:r>
              <a:rPr sz="3000" b="1" i="0">
                <a:solidFill>
                  <a:srgbClr val="FFFFFF"/>
                </a:solidFill>
                <a:latin typeface="Arial"/>
              </a:rPr>
              <a:t>Evidence 4: long shots, where the data is weaker</a:t>
            </a:r>
          </a:p>
        </p:txBody>
      </p:sp>
      <p:sp>
        <p:nvSpPr>
          <p:cNvPr id="5" name="TextBox 4"/>
          <p:cNvSpPr txBox="1"/>
          <p:nvPr/>
        </p:nvSpPr>
        <p:spPr>
          <a:xfrm>
            <a:off x="457200" y="6446520"/>
            <a:ext cx="9144000" cy="320040"/>
          </a:xfrm>
          <a:prstGeom prst="rect">
            <a:avLst/>
          </a:prstGeom>
          <a:noFill/>
        </p:spPr>
        <p:txBody>
          <a:bodyPr wrap="square" anchor="t" lIns="73152" rIns="73152" tIns="36576" bIns="36576">
            <a:spAutoFit/>
          </a:bodyPr>
          <a:lstStyle/>
          <a:p>
            <a:pPr algn="l">
              <a:spcAft>
                <a:spcPts val="0"/>
              </a:spcAft>
            </a:pPr>
            <a:r>
              <a:rPr sz="1100" b="0" i="0">
                <a:solidFill>
                  <a:srgbClr val="64748B"/>
                </a:solidFill>
                <a:latin typeface="Arial"/>
              </a:rPr>
              <a:t>DASC7606C Group 12 · Can a consumer beat a sports prediction market?</a:t>
            </a:r>
          </a:p>
        </p:txBody>
      </p:sp>
      <p:sp>
        <p:nvSpPr>
          <p:cNvPr id="6" name="TextBox 5"/>
          <p:cNvSpPr txBox="1"/>
          <p:nvPr/>
        </p:nvSpPr>
        <p:spPr>
          <a:xfrm>
            <a:off x="10820095" y="6446520"/>
            <a:ext cx="914400" cy="320040"/>
          </a:xfrm>
          <a:prstGeom prst="rect">
            <a:avLst/>
          </a:prstGeom>
          <a:noFill/>
        </p:spPr>
        <p:txBody>
          <a:bodyPr wrap="square" anchor="t" lIns="73152" rIns="73152" tIns="36576" bIns="36576">
            <a:spAutoFit/>
          </a:bodyPr>
          <a:lstStyle/>
          <a:p>
            <a:pPr algn="r">
              <a:spcAft>
                <a:spcPts val="0"/>
              </a:spcAft>
            </a:pPr>
            <a:r>
              <a:rPr sz="1100" b="0" i="0">
                <a:solidFill>
                  <a:srgbClr val="64748B"/>
                </a:solidFill>
                <a:latin typeface="Arial"/>
              </a:rPr>
              <a:t>8</a:t>
            </a:r>
          </a:p>
        </p:txBody>
      </p:sp>
      <p:pic>
        <p:nvPicPr>
          <p:cNvPr id="7" name="Picture 6" descr="longshot_calibration.png"/>
          <p:cNvPicPr>
            <a:picLocks noChangeAspect="1"/>
          </p:cNvPicPr>
          <p:nvPr/>
        </p:nvPicPr>
        <p:blipFill>
          <a:blip r:embed="rId3"/>
          <a:stretch>
            <a:fillRect/>
          </a:stretch>
        </p:blipFill>
        <p:spPr>
          <a:xfrm>
            <a:off x="895197" y="1097280"/>
            <a:ext cx="10401299" cy="4160520"/>
          </a:xfrm>
          <a:prstGeom prst="rect">
            <a:avLst/>
          </a:prstGeom>
        </p:spPr>
      </p:pic>
      <p:sp>
        <p:nvSpPr>
          <p:cNvPr id="8" name="TextBox 7"/>
          <p:cNvSpPr txBox="1"/>
          <p:nvPr/>
        </p:nvSpPr>
        <p:spPr>
          <a:xfrm>
            <a:off x="457200" y="5349240"/>
            <a:ext cx="11277295" cy="1005840"/>
          </a:xfrm>
          <a:prstGeom prst="rect">
            <a:avLst/>
          </a:prstGeom>
          <a:noFill/>
        </p:spPr>
        <p:txBody>
          <a:bodyPr wrap="square" anchor="t" lIns="73152" rIns="73152" tIns="36576" bIns="36576">
            <a:spAutoFit/>
          </a:bodyPr>
          <a:lstStyle/>
          <a:p>
            <a:pPr algn="l" marL="292608" indent="-256032">
              <a:spcAft>
                <a:spcPts val="400"/>
              </a:spcAft>
              <a:buChar char="•"/>
            </a:pPr>
            <a:r>
              <a:rPr sz="1800" b="1" i="0">
                <a:solidFill>
                  <a:srgbClr val="0F172A"/>
                </a:solidFill>
                <a:latin typeface="Arial"/>
              </a:rPr>
              <a:t>Not clearly supported:</a:t>
            </a:r>
            <a:r>
              <a:rPr sz="1800" b="0" i="0">
                <a:solidFill>
                  <a:srgbClr val="0F172A"/>
                </a:solidFill>
                <a:latin typeface="Arial"/>
              </a:rPr>
              <a:t> prices are calibrated; only 0–10¢ hints (1 win in 66 vs 7.4% implied, z = −1.8)</a:t>
            </a:r>
          </a:p>
          <a:p>
            <a:pPr algn="l" marL="292608" indent="-256032">
              <a:spcAft>
                <a:spcPts val="400"/>
              </a:spcAft>
              <a:buChar char="•"/>
            </a:pPr>
            <a:r>
              <a:rPr sz="1800" b="0" i="0">
                <a:solidFill>
                  <a:srgbClr val="0F172A"/>
                </a:solidFill>
                <a:latin typeface="Arial"/>
              </a:rPr>
              <a:t>Buying at ask + fee: long shots ≤ 25¢ </a:t>
            </a:r>
            <a:r>
              <a:rPr sz="1800" b="1" i="0">
                <a:solidFill>
                  <a:srgbClr val="0F172A"/>
                </a:solidFill>
                <a:latin typeface="Arial"/>
              </a:rPr>
              <a:t>−13.4%</a:t>
            </a:r>
            <a:r>
              <a:rPr sz="1800" b="0" i="0">
                <a:solidFill>
                  <a:srgbClr val="0F172A"/>
                </a:solidFill>
                <a:latin typeface="Arial"/>
              </a:rPr>
              <a:t>, heavy favourites ≥ 75¢ −2.2%</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54864"/>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09728"/>
            <a:ext cx="11277295" cy="685800"/>
          </a:xfrm>
          <a:prstGeom prst="rect">
            <a:avLst/>
          </a:prstGeom>
          <a:noFill/>
        </p:spPr>
        <p:txBody>
          <a:bodyPr wrap="square" anchor="ctr" lIns="73152" rIns="73152" tIns="36576" bIns="36576">
            <a:spAutoFit/>
          </a:bodyPr>
          <a:lstStyle/>
          <a:p>
            <a:pPr algn="l">
              <a:spcAft>
                <a:spcPts val="0"/>
              </a:spcAft>
            </a:pPr>
            <a:r>
              <a:rPr sz="3000" b="1" i="0">
                <a:solidFill>
                  <a:srgbClr val="FFFFFF"/>
                </a:solidFill>
                <a:latin typeface="Arial"/>
              </a:rPr>
              <a:t>Evidence 5: not trading beat every strategy</a:t>
            </a:r>
          </a:p>
        </p:txBody>
      </p:sp>
      <p:sp>
        <p:nvSpPr>
          <p:cNvPr id="5" name="TextBox 4"/>
          <p:cNvSpPr txBox="1"/>
          <p:nvPr/>
        </p:nvSpPr>
        <p:spPr>
          <a:xfrm>
            <a:off x="457200" y="6446520"/>
            <a:ext cx="9144000" cy="320040"/>
          </a:xfrm>
          <a:prstGeom prst="rect">
            <a:avLst/>
          </a:prstGeom>
          <a:noFill/>
        </p:spPr>
        <p:txBody>
          <a:bodyPr wrap="square" anchor="t" lIns="73152" rIns="73152" tIns="36576" bIns="36576">
            <a:spAutoFit/>
          </a:bodyPr>
          <a:lstStyle/>
          <a:p>
            <a:pPr algn="l">
              <a:spcAft>
                <a:spcPts val="0"/>
              </a:spcAft>
            </a:pPr>
            <a:r>
              <a:rPr sz="1100" b="0" i="0">
                <a:solidFill>
                  <a:srgbClr val="64748B"/>
                </a:solidFill>
                <a:latin typeface="Arial"/>
              </a:rPr>
              <a:t>DASC7606C Group 12 · Can a consumer beat a sports prediction market?</a:t>
            </a:r>
          </a:p>
        </p:txBody>
      </p:sp>
      <p:sp>
        <p:nvSpPr>
          <p:cNvPr id="6" name="TextBox 5"/>
          <p:cNvSpPr txBox="1"/>
          <p:nvPr/>
        </p:nvSpPr>
        <p:spPr>
          <a:xfrm>
            <a:off x="10820095" y="6446520"/>
            <a:ext cx="914400" cy="320040"/>
          </a:xfrm>
          <a:prstGeom prst="rect">
            <a:avLst/>
          </a:prstGeom>
          <a:noFill/>
        </p:spPr>
        <p:txBody>
          <a:bodyPr wrap="square" anchor="t" lIns="73152" rIns="73152" tIns="36576" bIns="36576">
            <a:spAutoFit/>
          </a:bodyPr>
          <a:lstStyle/>
          <a:p>
            <a:pPr algn="r">
              <a:spcAft>
                <a:spcPts val="0"/>
              </a:spcAft>
            </a:pPr>
            <a:r>
              <a:rPr sz="1100" b="0" i="0">
                <a:solidFill>
                  <a:srgbClr val="64748B"/>
                </a:solidFill>
                <a:latin typeface="Arial"/>
              </a:rPr>
              <a:t>9</a:t>
            </a:r>
          </a:p>
        </p:txBody>
      </p:sp>
      <p:pic>
        <p:nvPicPr>
          <p:cNvPr id="7" name="Picture 6" descr="headline_clv.png"/>
          <p:cNvPicPr>
            <a:picLocks noChangeAspect="1"/>
          </p:cNvPicPr>
          <p:nvPr/>
        </p:nvPicPr>
        <p:blipFill>
          <a:blip r:embed="rId3"/>
          <a:stretch>
            <a:fillRect/>
          </a:stretch>
        </p:blipFill>
        <p:spPr>
          <a:xfrm>
            <a:off x="457200" y="1171575"/>
            <a:ext cx="5669280" cy="3188970"/>
          </a:xfrm>
          <a:prstGeom prst="rect">
            <a:avLst/>
          </a:prstGeom>
        </p:spPr>
      </p:pic>
      <p:graphicFrame>
        <p:nvGraphicFramePr>
          <p:cNvPr id="8" name="Table 7"/>
          <p:cNvGraphicFramePr>
            <a:graphicFrameLocks noGrp="1"/>
          </p:cNvGraphicFramePr>
          <p:nvPr/>
        </p:nvGraphicFramePr>
        <p:xfrm>
          <a:off x="6355080" y="1188720"/>
          <a:ext cx="5376672" cy="3108960"/>
        </p:xfrm>
        <a:graphic>
          <a:graphicData uri="http://schemas.openxmlformats.org/drawingml/2006/table">
            <a:tbl>
              <a:tblPr firstRow="1" bandRow="1">
                <a:tableStyleId>{5C22544A-7EE6-4342-B048-85BDC9FD1C3A}</a:tableStyleId>
              </a:tblPr>
              <a:tblGrid>
                <a:gridCol w="2926080"/>
                <a:gridCol w="914400"/>
                <a:gridCol w="1536192"/>
              </a:tblGrid>
              <a:tr h="457200">
                <a:tc>
                  <a:txBody>
                    <a:bodyPr wrap="square"/>
                    <a:lstStyle/>
                    <a:p>
                      <a:pPr algn="l"/>
                      <a:r>
                        <a:rPr sz="1600" b="1" i="0">
                          <a:solidFill>
                            <a:srgbClr val="FFFFFF"/>
                          </a:solidFill>
                          <a:latin typeface="Arial"/>
                        </a:rPr>
                        <a:t>Strategy</a:t>
                      </a:r>
                    </a:p>
                  </a:txBody>
                  <a:tcPr marL="73152" marR="73152" marT="36576" marB="36576" anchor="ctr">
                    <a:solidFill>
                      <a:srgbClr val="1E293B"/>
                    </a:solidFill>
                  </a:tcPr>
                </a:tc>
                <a:tc>
                  <a:txBody>
                    <a:bodyPr wrap="square"/>
                    <a:lstStyle/>
                    <a:p>
                      <a:pPr algn="ctr"/>
                      <a:r>
                        <a:rPr sz="1600" b="1" i="0">
                          <a:solidFill>
                            <a:srgbClr val="FFFFFF"/>
                          </a:solidFill>
                          <a:latin typeface="Arial"/>
                        </a:rPr>
                        <a:t>Trades</a:t>
                      </a:r>
                    </a:p>
                  </a:txBody>
                  <a:tcPr marL="73152" marR="73152" marT="36576" marB="36576" anchor="ctr">
                    <a:solidFill>
                      <a:srgbClr val="1E293B"/>
                    </a:solidFill>
                  </a:tcPr>
                </a:tc>
                <a:tc>
                  <a:txBody>
                    <a:bodyPr wrap="square"/>
                    <a:lstStyle/>
                    <a:p>
                      <a:pPr algn="ctr"/>
                      <a:r>
                        <a:rPr sz="1600" b="1" i="0">
                          <a:solidFill>
                            <a:srgbClr val="FFFFFF"/>
                          </a:solidFill>
                          <a:latin typeface="Arial"/>
                        </a:rPr>
                        <a:t>P&amp;L</a:t>
                      </a:r>
                    </a:p>
                  </a:txBody>
                  <a:tcPr marL="73152" marR="73152" marT="36576" marB="36576" anchor="ctr">
                    <a:solidFill>
                      <a:srgbClr val="1E293B"/>
                    </a:solidFill>
                  </a:tcPr>
                </a:tc>
              </a:tr>
              <a:tr h="530352">
                <a:tc>
                  <a:txBody>
                    <a:bodyPr wrap="square"/>
                    <a:lstStyle/>
                    <a:p>
                      <a:pPr algn="l"/>
                      <a:r>
                        <a:rPr sz="1600" b="0" i="0">
                          <a:solidFill>
                            <a:srgbClr val="0F172A"/>
                          </a:solidFill>
                          <a:latin typeface="Arial"/>
                        </a:rPr>
                        <a:t>Never trade</a:t>
                      </a:r>
                    </a:p>
                  </a:txBody>
                  <a:tcPr marL="73152" marR="73152" marT="36576" marB="36576" anchor="ctr">
                    <a:solidFill>
                      <a:srgbClr val="DCFCE7"/>
                    </a:solidFill>
                  </a:tcPr>
                </a:tc>
                <a:tc>
                  <a:txBody>
                    <a:bodyPr wrap="square"/>
                    <a:lstStyle/>
                    <a:p>
                      <a:pPr algn="ctr"/>
                      <a:r>
                        <a:rPr sz="1600" b="0" i="0">
                          <a:solidFill>
                            <a:srgbClr val="0F172A"/>
                          </a:solidFill>
                          <a:latin typeface="Arial"/>
                        </a:rPr>
                        <a:t>0</a:t>
                      </a:r>
                    </a:p>
                  </a:txBody>
                  <a:tcPr marL="73152" marR="73152" marT="36576" marB="36576" anchor="ctr">
                    <a:solidFill>
                      <a:srgbClr val="DCFCE7"/>
                    </a:solidFill>
                  </a:tcPr>
                </a:tc>
                <a:tc>
                  <a:txBody>
                    <a:bodyPr wrap="square"/>
                    <a:lstStyle/>
                    <a:p>
                      <a:pPr algn="ctr"/>
                      <a:r>
                        <a:rPr sz="1600" b="1" i="0">
                          <a:solidFill>
                            <a:srgbClr val="0F172A"/>
                          </a:solidFill>
                          <a:latin typeface="Arial"/>
                        </a:rPr>
                        <a:t>$0</a:t>
                      </a:r>
                    </a:p>
                  </a:txBody>
                  <a:tcPr marL="73152" marR="73152" marT="36576" marB="36576" anchor="ctr">
                    <a:solidFill>
                      <a:srgbClr val="DCFCE7"/>
                    </a:solidFill>
                  </a:tcPr>
                </a:tc>
              </a:tr>
              <a:tr h="530352">
                <a:tc>
                  <a:txBody>
                    <a:bodyPr wrap="square"/>
                    <a:lstStyle/>
                    <a:p>
                      <a:pPr algn="l"/>
                      <a:r>
                        <a:rPr sz="1600" b="0" i="0">
                          <a:solidFill>
                            <a:srgbClr val="0F172A"/>
                          </a:solidFill>
                          <a:latin typeface="Arial"/>
                        </a:rPr>
                        <a:t>Full agent (anchor + learning)</a:t>
                      </a:r>
                    </a:p>
                  </a:txBody>
                  <a:tcPr marL="73152" marR="73152" marT="36576" marB="36576" anchor="ctr">
                    <a:solidFill>
                      <a:srgbClr val="FFFFFF"/>
                    </a:solidFill>
                  </a:tcPr>
                </a:tc>
                <a:tc>
                  <a:txBody>
                    <a:bodyPr wrap="square"/>
                    <a:lstStyle/>
                    <a:p>
                      <a:pPr algn="ctr"/>
                      <a:r>
                        <a:rPr sz="1600" b="0" i="0">
                          <a:solidFill>
                            <a:srgbClr val="0F172A"/>
                          </a:solidFill>
                          <a:latin typeface="Arial"/>
                        </a:rPr>
                        <a:t>74</a:t>
                      </a:r>
                    </a:p>
                  </a:txBody>
                  <a:tcPr marL="73152" marR="73152" marT="36576" marB="36576" anchor="ctr">
                    <a:solidFill>
                      <a:srgbClr val="FFFFFF"/>
                    </a:solidFill>
                  </a:tcPr>
                </a:tc>
                <a:tc>
                  <a:txBody>
                    <a:bodyPr wrap="square"/>
                    <a:lstStyle/>
                    <a:p>
                      <a:pPr algn="ctr"/>
                      <a:r>
                        <a:rPr sz="1600" b="0" i="0">
                          <a:solidFill>
                            <a:srgbClr val="0F172A"/>
                          </a:solidFill>
                          <a:latin typeface="Arial"/>
                        </a:rPr>
                        <a:t>−$32</a:t>
                      </a:r>
                    </a:p>
                  </a:txBody>
                  <a:tcPr marL="73152" marR="73152" marT="36576" marB="36576" anchor="ctr">
                    <a:solidFill>
                      <a:srgbClr val="FFFFFF"/>
                    </a:solidFill>
                  </a:tcPr>
                </a:tc>
              </a:tr>
              <a:tr h="530352">
                <a:tc>
                  <a:txBody>
                    <a:bodyPr wrap="square"/>
                    <a:lstStyle/>
                    <a:p>
                      <a:pPr algn="l"/>
                      <a:r>
                        <a:rPr sz="1600" b="0" i="0">
                          <a:solidFill>
                            <a:srgbClr val="0F172A"/>
                          </a:solidFill>
                          <a:latin typeface="Arial"/>
                        </a:rPr>
                        <a:t>Anchor, no learning</a:t>
                      </a:r>
                    </a:p>
                  </a:txBody>
                  <a:tcPr marL="73152" marR="73152" marT="36576" marB="36576" anchor="ctr">
                    <a:solidFill>
                      <a:srgbClr val="F1F5F9"/>
                    </a:solidFill>
                  </a:tcPr>
                </a:tc>
                <a:tc>
                  <a:txBody>
                    <a:bodyPr wrap="square"/>
                    <a:lstStyle/>
                    <a:p>
                      <a:pPr algn="ctr"/>
                      <a:r>
                        <a:rPr sz="1600" b="0" i="0">
                          <a:solidFill>
                            <a:srgbClr val="0F172A"/>
                          </a:solidFill>
                          <a:latin typeface="Arial"/>
                        </a:rPr>
                        <a:t>129</a:t>
                      </a:r>
                    </a:p>
                  </a:txBody>
                  <a:tcPr marL="73152" marR="73152" marT="36576" marB="36576" anchor="ctr">
                    <a:solidFill>
                      <a:srgbClr val="F1F5F9"/>
                    </a:solidFill>
                  </a:tcPr>
                </a:tc>
                <a:tc>
                  <a:txBody>
                    <a:bodyPr wrap="square"/>
                    <a:lstStyle/>
                    <a:p>
                      <a:pPr algn="ctr"/>
                      <a:r>
                        <a:rPr sz="1600" b="0" i="0">
                          <a:solidFill>
                            <a:srgbClr val="0F172A"/>
                          </a:solidFill>
                          <a:latin typeface="Arial"/>
                        </a:rPr>
                        <a:t>−$247</a:t>
                      </a:r>
                    </a:p>
                  </a:txBody>
                  <a:tcPr marL="73152" marR="73152" marT="36576" marB="36576" anchor="ctr">
                    <a:solidFill>
                      <a:srgbClr val="F1F5F9"/>
                    </a:solidFill>
                  </a:tcPr>
                </a:tc>
              </a:tr>
              <a:tr h="530352">
                <a:tc>
                  <a:txBody>
                    <a:bodyPr wrap="square"/>
                    <a:lstStyle/>
                    <a:p>
                      <a:pPr algn="l"/>
                      <a:r>
                        <a:rPr sz="1600" b="0" i="0">
                          <a:solidFill>
                            <a:srgbClr val="0F172A"/>
                          </a:solidFill>
                          <a:latin typeface="Arial"/>
                        </a:rPr>
                        <a:t>Raw model / no agent</a:t>
                      </a:r>
                    </a:p>
                  </a:txBody>
                  <a:tcPr marL="73152" marR="73152" marT="36576" marB="36576" anchor="ctr">
                    <a:solidFill>
                      <a:srgbClr val="FFFFFF"/>
                    </a:solidFill>
                  </a:tcPr>
                </a:tc>
                <a:tc>
                  <a:txBody>
                    <a:bodyPr wrap="square"/>
                    <a:lstStyle/>
                    <a:p>
                      <a:pPr algn="ctr"/>
                      <a:r>
                        <a:rPr sz="1600" b="0" i="0">
                          <a:solidFill>
                            <a:srgbClr val="0F172A"/>
                          </a:solidFill>
                          <a:latin typeface="Arial"/>
                        </a:rPr>
                        <a:t>366</a:t>
                      </a:r>
                    </a:p>
                  </a:txBody>
                  <a:tcPr marL="73152" marR="73152" marT="36576" marB="36576" anchor="ctr">
                    <a:solidFill>
                      <a:srgbClr val="FFFFFF"/>
                    </a:solidFill>
                  </a:tcPr>
                </a:tc>
                <a:tc>
                  <a:txBody>
                    <a:bodyPr wrap="square"/>
                    <a:lstStyle/>
                    <a:p>
                      <a:pPr algn="ctr"/>
                      <a:r>
                        <a:rPr sz="1600" b="0" i="0">
                          <a:solidFill>
                            <a:srgbClr val="0F172A"/>
                          </a:solidFill>
                          <a:latin typeface="Arial"/>
                        </a:rPr>
                        <a:t>−$2,087</a:t>
                      </a:r>
                    </a:p>
                  </a:txBody>
                  <a:tcPr marL="73152" marR="73152" marT="36576" marB="36576" anchor="ctr">
                    <a:solidFill>
                      <a:srgbClr val="FFFFFF"/>
                    </a:solidFill>
                  </a:tcPr>
                </a:tc>
              </a:tr>
              <a:tr h="530352">
                <a:tc>
                  <a:txBody>
                    <a:bodyPr wrap="square"/>
                    <a:lstStyle/>
                    <a:p>
                      <a:pPr algn="l"/>
                      <a:r>
                        <a:rPr sz="1600" b="0" i="0">
                          <a:solidFill>
                            <a:srgbClr val="0F172A"/>
                          </a:solidFill>
                          <a:latin typeface="Arial"/>
                        </a:rPr>
                        <a:t>Buy every contract (all 2025-26)</a:t>
                      </a:r>
                    </a:p>
                  </a:txBody>
                  <a:tcPr marL="73152" marR="73152" marT="36576" marB="36576" anchor="ctr">
                    <a:solidFill>
                      <a:srgbClr val="F1F5F9"/>
                    </a:solidFill>
                  </a:tcPr>
                </a:tc>
                <a:tc>
                  <a:txBody>
                    <a:bodyPr wrap="square"/>
                    <a:lstStyle/>
                    <a:p>
                      <a:pPr algn="ctr"/>
                      <a:r>
                        <a:rPr sz="1600" b="0" i="0">
                          <a:solidFill>
                            <a:srgbClr val="0F172A"/>
                          </a:solidFill>
                          <a:latin typeface="Arial"/>
                        </a:rPr>
                        <a:t>2,632</a:t>
                      </a:r>
                    </a:p>
                  </a:txBody>
                  <a:tcPr marL="73152" marR="73152" marT="36576" marB="36576" anchor="ctr">
                    <a:solidFill>
                      <a:srgbClr val="F1F5F9"/>
                    </a:solidFill>
                  </a:tcPr>
                </a:tc>
                <a:tc>
                  <a:txBody>
                    <a:bodyPr wrap="square"/>
                    <a:lstStyle/>
                    <a:p>
                      <a:pPr algn="ctr"/>
                      <a:r>
                        <a:rPr sz="1600" b="0" i="0">
                          <a:solidFill>
                            <a:srgbClr val="0F172A"/>
                          </a:solidFill>
                          <a:latin typeface="Arial"/>
                        </a:rPr>
                        <a:t>−6.0% ROI</a:t>
                      </a:r>
                    </a:p>
                  </a:txBody>
                  <a:tcPr marL="73152" marR="73152" marT="36576" marB="36576" anchor="ctr">
                    <a:solidFill>
                      <a:srgbClr val="F1F5F9"/>
                    </a:solidFill>
                  </a:tcPr>
                </a:tc>
              </a:tr>
            </a:tbl>
          </a:graphicData>
        </a:graphic>
      </p:graphicFrame>
      <p:sp>
        <p:nvSpPr>
          <p:cNvPr id="9" name="TextBox 8"/>
          <p:cNvSpPr txBox="1"/>
          <p:nvPr/>
        </p:nvSpPr>
        <p:spPr>
          <a:xfrm>
            <a:off x="457200" y="4572000"/>
            <a:ext cx="11277295" cy="1737360"/>
          </a:xfrm>
          <a:prstGeom prst="rect">
            <a:avLst/>
          </a:prstGeom>
          <a:noFill/>
        </p:spPr>
        <p:txBody>
          <a:bodyPr wrap="square" anchor="t" lIns="73152" rIns="73152" tIns="36576" bIns="36576">
            <a:spAutoFit/>
          </a:bodyPr>
          <a:lstStyle/>
          <a:p>
            <a:pPr algn="l" marL="292608" indent="-256032">
              <a:spcAft>
                <a:spcPts val="600"/>
              </a:spcAft>
              <a:buChar char="•"/>
            </a:pPr>
            <a:r>
              <a:rPr sz="1800" b="0" i="0">
                <a:solidFill>
                  <a:srgbClr val="0F172A"/>
                </a:solidFill>
                <a:latin typeface="Arial"/>
              </a:rPr>
              <a:t>Agent rows: test period, 1 Feb – 12 Apr 2026; mean closing-line value </a:t>
            </a:r>
            <a:r>
              <a:rPr sz="1800" b="1" i="0">
                <a:solidFill>
                  <a:srgbClr val="0F172A"/>
                </a:solidFill>
                <a:latin typeface="Arial"/>
              </a:rPr>
              <a:t>negative in every setup</a:t>
            </a:r>
          </a:p>
          <a:p>
            <a:pPr algn="l" marL="292608" indent="-256032">
              <a:spcAft>
                <a:spcPts val="600"/>
              </a:spcAft>
              <a:buChar char="•"/>
            </a:pPr>
            <a:r>
              <a:rPr sz="1800" b="0" i="0">
                <a:solidFill>
                  <a:srgbClr val="0F172A"/>
                </a:solidFill>
                <a:latin typeface="Arial"/>
              </a:rPr>
              <a:t>Interpretation: trading on a disagreement with the price looks like the raw-model row</a:t>
            </a:r>
          </a:p>
          <a:p>
            <a:pPr algn="l" marL="292608" indent="-256032">
              <a:spcAft>
                <a:spcPts val="600"/>
              </a:spcAft>
              <a:buChar char="•"/>
            </a:pPr>
            <a:r>
              <a:rPr sz="1800" b="0" i="0">
                <a:solidFill>
                  <a:srgbClr val="0F172A"/>
                </a:solidFill>
                <a:latin typeface="Arial"/>
              </a:rPr>
              <a:t>“Buy every contract” covers all 1,316 games of 2025-26 (it includes luck)</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54864"/>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09728"/>
            <a:ext cx="11277295" cy="685800"/>
          </a:xfrm>
          <a:prstGeom prst="rect">
            <a:avLst/>
          </a:prstGeom>
          <a:noFill/>
        </p:spPr>
        <p:txBody>
          <a:bodyPr wrap="square" anchor="ctr" lIns="73152" rIns="73152" tIns="36576" bIns="36576">
            <a:spAutoFit/>
          </a:bodyPr>
          <a:lstStyle/>
          <a:p>
            <a:pPr algn="l">
              <a:spcAft>
                <a:spcPts val="0"/>
              </a:spcAft>
            </a:pPr>
            <a:r>
              <a:rPr sz="3000" b="1" i="0">
                <a:solidFill>
                  <a:srgbClr val="FFFFFF"/>
                </a:solidFill>
                <a:latin typeface="Arial"/>
              </a:rPr>
              <a:t>Context: who sits on the other side?</a:t>
            </a:r>
          </a:p>
        </p:txBody>
      </p:sp>
      <p:sp>
        <p:nvSpPr>
          <p:cNvPr id="5" name="TextBox 4"/>
          <p:cNvSpPr txBox="1"/>
          <p:nvPr/>
        </p:nvSpPr>
        <p:spPr>
          <a:xfrm>
            <a:off x="457200" y="6446520"/>
            <a:ext cx="9144000" cy="320040"/>
          </a:xfrm>
          <a:prstGeom prst="rect">
            <a:avLst/>
          </a:prstGeom>
          <a:noFill/>
        </p:spPr>
        <p:txBody>
          <a:bodyPr wrap="square" anchor="t" lIns="73152" rIns="73152" tIns="36576" bIns="36576">
            <a:spAutoFit/>
          </a:bodyPr>
          <a:lstStyle/>
          <a:p>
            <a:pPr algn="l">
              <a:spcAft>
                <a:spcPts val="0"/>
              </a:spcAft>
            </a:pPr>
            <a:r>
              <a:rPr sz="1100" b="0" i="0">
                <a:solidFill>
                  <a:srgbClr val="64748B"/>
                </a:solidFill>
                <a:latin typeface="Arial"/>
              </a:rPr>
              <a:t>DASC7606C Group 12 · Can a consumer beat a sports prediction market?</a:t>
            </a:r>
          </a:p>
        </p:txBody>
      </p:sp>
      <p:sp>
        <p:nvSpPr>
          <p:cNvPr id="6" name="TextBox 5"/>
          <p:cNvSpPr txBox="1"/>
          <p:nvPr/>
        </p:nvSpPr>
        <p:spPr>
          <a:xfrm>
            <a:off x="10820095" y="6446520"/>
            <a:ext cx="914400" cy="320040"/>
          </a:xfrm>
          <a:prstGeom prst="rect">
            <a:avLst/>
          </a:prstGeom>
          <a:noFill/>
        </p:spPr>
        <p:txBody>
          <a:bodyPr wrap="square" anchor="t" lIns="73152" rIns="73152" tIns="36576" bIns="36576">
            <a:spAutoFit/>
          </a:bodyPr>
          <a:lstStyle/>
          <a:p>
            <a:pPr algn="r">
              <a:spcAft>
                <a:spcPts val="0"/>
              </a:spcAft>
            </a:pPr>
            <a:r>
              <a:rPr sz="1100" b="0" i="0">
                <a:solidFill>
                  <a:srgbClr val="64748B"/>
                </a:solidFill>
                <a:latin typeface="Arial"/>
              </a:rPr>
              <a:t>10</a:t>
            </a:r>
          </a:p>
        </p:txBody>
      </p:sp>
      <p:sp>
        <p:nvSpPr>
          <p:cNvPr id="7" name="Rounded Rectangle 6"/>
          <p:cNvSpPr/>
          <p:nvPr/>
        </p:nvSpPr>
        <p:spPr>
          <a:xfrm>
            <a:off x="457200" y="1234439"/>
            <a:ext cx="11277295" cy="548640"/>
          </a:xfrm>
          <a:prstGeom prst="roundRect">
            <a:avLst>
              <a:gd name="adj" fmla="val 12000"/>
            </a:avLst>
          </a:prstGeom>
          <a:solidFill>
            <a:srgbClr val="FEE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234439"/>
            <a:ext cx="11094415" cy="548640"/>
          </a:xfrm>
          <a:prstGeom prst="rect">
            <a:avLst/>
          </a:prstGeom>
          <a:noFill/>
        </p:spPr>
        <p:txBody>
          <a:bodyPr wrap="square" anchor="ctr" lIns="73152" rIns="73152" tIns="36576" bIns="36576">
            <a:spAutoFit/>
          </a:bodyPr>
          <a:lstStyle/>
          <a:p>
            <a:pPr algn="l">
              <a:spcAft>
                <a:spcPts val="0"/>
              </a:spcAft>
            </a:pPr>
            <a:r>
              <a:rPr sz="2000" b="0" i="0">
                <a:solidFill>
                  <a:srgbClr val="DC2626"/>
                </a:solidFill>
                <a:latin typeface="Arial"/>
              </a:rPr>
              <a:t>General industry knowledge: NOT measured in this project</a:t>
            </a:r>
          </a:p>
        </p:txBody>
      </p:sp>
      <p:sp>
        <p:nvSpPr>
          <p:cNvPr id="9" name="Rounded Rectangle 8"/>
          <p:cNvSpPr/>
          <p:nvPr/>
        </p:nvSpPr>
        <p:spPr>
          <a:xfrm>
            <a:off x="457200" y="2011680"/>
            <a:ext cx="5440680" cy="4206240"/>
          </a:xfrm>
          <a:prstGeom prst="roundRect">
            <a:avLst>
              <a:gd name="adj" fmla="val 6000"/>
            </a:avLst>
          </a:prstGeom>
          <a:solidFill>
            <a:srgbClr val="FFFFFF"/>
          </a:solidFill>
          <a:ln w="15875">
            <a:solidFill>
              <a:srgbClr val="1E293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57200" y="2011680"/>
            <a:ext cx="109728" cy="420624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2084832"/>
            <a:ext cx="5166360" cy="457200"/>
          </a:xfrm>
          <a:prstGeom prst="rect">
            <a:avLst/>
          </a:prstGeom>
          <a:noFill/>
        </p:spPr>
        <p:txBody>
          <a:bodyPr wrap="square" anchor="t" lIns="73152" rIns="73152" tIns="36576" bIns="36576">
            <a:spAutoFit/>
          </a:bodyPr>
          <a:lstStyle/>
          <a:p>
            <a:pPr algn="l">
              <a:spcAft>
                <a:spcPts val="0"/>
              </a:spcAft>
            </a:pPr>
            <a:r>
              <a:rPr sz="2000" b="1" i="0">
                <a:solidFill>
                  <a:srgbClr val="1E293B"/>
                </a:solidFill>
                <a:latin typeface="Arial"/>
              </a:rPr>
              <a:t>Professionals / market makers</a:t>
            </a:r>
          </a:p>
        </p:txBody>
      </p:sp>
      <p:sp>
        <p:nvSpPr>
          <p:cNvPr id="12" name="TextBox 11"/>
          <p:cNvSpPr txBox="1"/>
          <p:nvPr/>
        </p:nvSpPr>
        <p:spPr>
          <a:xfrm>
            <a:off x="640080" y="2542032"/>
            <a:ext cx="5166360" cy="3602735"/>
          </a:xfrm>
          <a:prstGeom prst="rect">
            <a:avLst/>
          </a:prstGeom>
          <a:noFill/>
        </p:spPr>
        <p:txBody>
          <a:bodyPr wrap="square" anchor="t" lIns="73152" rIns="73152" tIns="36576" bIns="36576">
            <a:spAutoFit/>
          </a:bodyPr>
          <a:lstStyle/>
          <a:p>
            <a:pPr algn="l" marL="292608" indent="-256032">
              <a:spcAft>
                <a:spcPts val="600"/>
              </a:spcAft>
              <a:buChar char="•"/>
            </a:pPr>
            <a:r>
              <a:rPr sz="1800" b="0" i="0">
                <a:solidFill>
                  <a:srgbClr val="0F172A"/>
                </a:solidFill>
                <a:latin typeface="Arial"/>
              </a:rPr>
              <a:t>Low-latency data feeds and automated pricing</a:t>
            </a:r>
          </a:p>
          <a:p>
            <a:pPr algn="l" marL="292608" indent="-256032">
              <a:spcAft>
                <a:spcPts val="600"/>
              </a:spcAft>
              <a:buChar char="•"/>
            </a:pPr>
            <a:r>
              <a:rPr sz="1800" b="0" i="0">
                <a:solidFill>
                  <a:srgbClr val="0F172A"/>
                </a:solidFill>
                <a:latin typeface="Arial"/>
              </a:rPr>
              <a:t>Specialist models, staff and capital</a:t>
            </a:r>
          </a:p>
          <a:p>
            <a:pPr algn="l" marL="292608" indent="-256032">
              <a:spcAft>
                <a:spcPts val="600"/>
              </a:spcAft>
              <a:buChar char="•"/>
            </a:pPr>
            <a:r>
              <a:rPr sz="1800" b="0" i="0">
                <a:solidFill>
                  <a:srgbClr val="0F172A"/>
                </a:solidFill>
                <a:latin typeface="Arial"/>
              </a:rPr>
              <a:t>On many venues, maker fee or liquidity programmes</a:t>
            </a:r>
          </a:p>
          <a:p>
            <a:pPr algn="l" marL="292608" indent="-256032">
              <a:spcAft>
                <a:spcPts val="600"/>
              </a:spcAft>
              <a:buChar char="•"/>
            </a:pPr>
            <a:r>
              <a:rPr sz="1800" b="0" i="0">
                <a:solidFill>
                  <a:srgbClr val="0F172A"/>
                </a:solidFill>
                <a:latin typeface="Arial"/>
              </a:rPr>
              <a:t>Post prices, so they earn the spread</a:t>
            </a:r>
          </a:p>
        </p:txBody>
      </p:sp>
      <p:sp>
        <p:nvSpPr>
          <p:cNvPr id="13" name="Rounded Rectangle 12"/>
          <p:cNvSpPr/>
          <p:nvPr/>
        </p:nvSpPr>
        <p:spPr>
          <a:xfrm>
            <a:off x="6291072" y="2011680"/>
            <a:ext cx="5443423" cy="4206240"/>
          </a:xfrm>
          <a:prstGeom prst="roundRect">
            <a:avLst>
              <a:gd name="adj" fmla="val 6000"/>
            </a:avLst>
          </a:prstGeom>
          <a:solidFill>
            <a:srgbClr val="FFFFFF"/>
          </a:solidFill>
          <a:ln w="15875">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91072" y="2011680"/>
            <a:ext cx="109728" cy="4206240"/>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73952" y="2084832"/>
            <a:ext cx="5169103" cy="457200"/>
          </a:xfrm>
          <a:prstGeom prst="rect">
            <a:avLst/>
          </a:prstGeom>
          <a:noFill/>
        </p:spPr>
        <p:txBody>
          <a:bodyPr wrap="square" anchor="t" lIns="73152" rIns="73152" tIns="36576" bIns="36576">
            <a:spAutoFit/>
          </a:bodyPr>
          <a:lstStyle/>
          <a:p>
            <a:pPr algn="l">
              <a:spcAft>
                <a:spcPts val="0"/>
              </a:spcAft>
            </a:pPr>
            <a:r>
              <a:rPr sz="2000" b="1" i="0">
                <a:solidFill>
                  <a:srgbClr val="EA580C"/>
                </a:solidFill>
                <a:latin typeface="Arial"/>
              </a:rPr>
              <a:t>Typical retail user</a:t>
            </a:r>
          </a:p>
        </p:txBody>
      </p:sp>
      <p:sp>
        <p:nvSpPr>
          <p:cNvPr id="16" name="TextBox 15"/>
          <p:cNvSpPr txBox="1"/>
          <p:nvPr/>
        </p:nvSpPr>
        <p:spPr>
          <a:xfrm>
            <a:off x="6473952" y="2542032"/>
            <a:ext cx="5169103" cy="3602735"/>
          </a:xfrm>
          <a:prstGeom prst="rect">
            <a:avLst/>
          </a:prstGeom>
          <a:noFill/>
        </p:spPr>
        <p:txBody>
          <a:bodyPr wrap="square" anchor="t" lIns="73152" rIns="73152" tIns="36576" bIns="36576">
            <a:spAutoFit/>
          </a:bodyPr>
          <a:lstStyle/>
          <a:p>
            <a:pPr algn="l" marL="292608" indent="-256032">
              <a:spcAft>
                <a:spcPts val="600"/>
              </a:spcAft>
              <a:buChar char="•"/>
            </a:pPr>
            <a:r>
              <a:rPr sz="1800" b="0" i="0">
                <a:solidFill>
                  <a:srgbClr val="0F172A"/>
                </a:solidFill>
                <a:latin typeface="Arial"/>
              </a:rPr>
              <a:t>Public news, often after the price has moved</a:t>
            </a:r>
          </a:p>
          <a:p>
            <a:pPr algn="l" marL="292608" indent="-256032">
              <a:spcAft>
                <a:spcPts val="600"/>
              </a:spcAft>
              <a:buChar char="•"/>
            </a:pPr>
            <a:r>
              <a:rPr sz="1800" b="0" i="0">
                <a:solidFill>
                  <a:srgbClr val="0F172A"/>
                </a:solidFill>
                <a:latin typeface="Arial"/>
              </a:rPr>
              <a:t>No model; intuition and headlines</a:t>
            </a:r>
          </a:p>
          <a:p>
            <a:pPr algn="l" marL="292608" indent="-256032">
              <a:spcAft>
                <a:spcPts val="600"/>
              </a:spcAft>
              <a:buChar char="•"/>
            </a:pPr>
            <a:r>
              <a:rPr sz="1800" b="0" i="0">
                <a:solidFill>
                  <a:srgbClr val="0F172A"/>
                </a:solidFill>
                <a:latin typeface="Arial"/>
              </a:rPr>
              <a:t>Pays the spread and the taker fee</a:t>
            </a:r>
          </a:p>
          <a:p>
            <a:pPr algn="l" marL="292608" indent="-256032">
              <a:spcAft>
                <a:spcPts val="600"/>
              </a:spcAft>
              <a:buChar char="•"/>
            </a:pPr>
            <a:r>
              <a:rPr sz="1800" b="0" i="0">
                <a:solidFill>
                  <a:srgbClr val="0F172A"/>
                </a:solidFill>
                <a:latin typeface="Arial"/>
              </a:rPr>
              <a:t>Small, emotional, repeated bets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54864"/>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09728"/>
            <a:ext cx="11277295" cy="685800"/>
          </a:xfrm>
          <a:prstGeom prst="rect">
            <a:avLst/>
          </a:prstGeom>
          <a:noFill/>
        </p:spPr>
        <p:txBody>
          <a:bodyPr wrap="square" anchor="ctr" lIns="73152" rIns="73152" tIns="36576" bIns="36576">
            <a:spAutoFit/>
          </a:bodyPr>
          <a:lstStyle/>
          <a:p>
            <a:pPr algn="l">
              <a:spcAft>
                <a:spcPts val="0"/>
              </a:spcAft>
            </a:pPr>
            <a:r>
              <a:rPr sz="3000" b="1" i="0">
                <a:solidFill>
                  <a:srgbClr val="FFFFFF"/>
                </a:solidFill>
                <a:latin typeface="Arial"/>
              </a:rPr>
              <a:t>Our product, reframed: protect the consumer first</a:t>
            </a:r>
          </a:p>
        </p:txBody>
      </p:sp>
      <p:sp>
        <p:nvSpPr>
          <p:cNvPr id="5" name="TextBox 4"/>
          <p:cNvSpPr txBox="1"/>
          <p:nvPr/>
        </p:nvSpPr>
        <p:spPr>
          <a:xfrm>
            <a:off x="457200" y="6446520"/>
            <a:ext cx="9144000" cy="320040"/>
          </a:xfrm>
          <a:prstGeom prst="rect">
            <a:avLst/>
          </a:prstGeom>
          <a:noFill/>
        </p:spPr>
        <p:txBody>
          <a:bodyPr wrap="square" anchor="t" lIns="73152" rIns="73152" tIns="36576" bIns="36576">
            <a:spAutoFit/>
          </a:bodyPr>
          <a:lstStyle/>
          <a:p>
            <a:pPr algn="l">
              <a:spcAft>
                <a:spcPts val="0"/>
              </a:spcAft>
            </a:pPr>
            <a:r>
              <a:rPr sz="1100" b="0" i="0">
                <a:solidFill>
                  <a:srgbClr val="64748B"/>
                </a:solidFill>
                <a:latin typeface="Arial"/>
              </a:rPr>
              <a:t>DASC7606C Group 12 · Can a consumer beat a sports prediction market?</a:t>
            </a:r>
          </a:p>
        </p:txBody>
      </p:sp>
      <p:sp>
        <p:nvSpPr>
          <p:cNvPr id="6" name="TextBox 5"/>
          <p:cNvSpPr txBox="1"/>
          <p:nvPr/>
        </p:nvSpPr>
        <p:spPr>
          <a:xfrm>
            <a:off x="10820095" y="6446520"/>
            <a:ext cx="914400" cy="320040"/>
          </a:xfrm>
          <a:prstGeom prst="rect">
            <a:avLst/>
          </a:prstGeom>
          <a:noFill/>
        </p:spPr>
        <p:txBody>
          <a:bodyPr wrap="square" anchor="t" lIns="73152" rIns="73152" tIns="36576" bIns="36576">
            <a:spAutoFit/>
          </a:bodyPr>
          <a:lstStyle/>
          <a:p>
            <a:pPr algn="r">
              <a:spcAft>
                <a:spcPts val="0"/>
              </a:spcAft>
            </a:pPr>
            <a:r>
              <a:rPr sz="1100" b="0" i="0">
                <a:solidFill>
                  <a:srgbClr val="64748B"/>
                </a:solidFill>
                <a:latin typeface="Arial"/>
              </a:rPr>
              <a:t>11</a:t>
            </a:r>
          </a:p>
        </p:txBody>
      </p:sp>
      <p:pic>
        <p:nvPicPr>
          <p:cNvPr id="7" name="Picture 6" descr="agent_workflow.png"/>
          <p:cNvPicPr>
            <a:picLocks noChangeAspect="1"/>
          </p:cNvPicPr>
          <p:nvPr/>
        </p:nvPicPr>
        <p:blipFill>
          <a:blip r:embed="rId3"/>
          <a:stretch>
            <a:fillRect/>
          </a:stretch>
        </p:blipFill>
        <p:spPr>
          <a:xfrm>
            <a:off x="457200" y="1853719"/>
            <a:ext cx="6766560" cy="3744920"/>
          </a:xfrm>
          <a:prstGeom prst="rect">
            <a:avLst/>
          </a:prstGeom>
        </p:spPr>
      </p:pic>
      <p:sp>
        <p:nvSpPr>
          <p:cNvPr id="8" name="TextBox 7"/>
          <p:cNvSpPr txBox="1"/>
          <p:nvPr/>
        </p:nvSpPr>
        <p:spPr>
          <a:xfrm>
            <a:off x="7406640" y="1234439"/>
            <a:ext cx="4327855" cy="5120640"/>
          </a:xfrm>
          <a:prstGeom prst="rect">
            <a:avLst/>
          </a:prstGeom>
          <a:noFill/>
        </p:spPr>
        <p:txBody>
          <a:bodyPr wrap="square" anchor="t" lIns="73152" rIns="73152" tIns="36576" bIns="36576">
            <a:spAutoFit/>
          </a:bodyPr>
          <a:lstStyle/>
          <a:p>
            <a:pPr algn="l" marL="292608" indent="-256032">
              <a:spcAft>
                <a:spcPts val="800"/>
              </a:spcAft>
              <a:buChar char="•"/>
            </a:pPr>
            <a:r>
              <a:rPr sz="1800" b="1" i="0">
                <a:solidFill>
                  <a:srgbClr val="0F172A"/>
                </a:solidFill>
                <a:latin typeface="Arial"/>
              </a:rPr>
              <a:t>Pass by default:</a:t>
            </a:r>
            <a:r>
              <a:rPr sz="1800" b="0" i="0">
                <a:solidFill>
                  <a:srgbClr val="0F172A"/>
                </a:solidFill>
                <a:latin typeface="Arial"/>
              </a:rPr>
              <a:t> 90% of decision points → no trade</a:t>
            </a:r>
          </a:p>
          <a:p>
            <a:pPr algn="l" marL="292608" indent="-256032">
              <a:spcAft>
                <a:spcPts val="800"/>
              </a:spcAft>
              <a:buChar char="•"/>
            </a:pPr>
            <a:r>
              <a:rPr sz="1800" b="1" i="0">
                <a:solidFill>
                  <a:srgbClr val="0F172A"/>
                </a:solidFill>
                <a:latin typeface="Arial"/>
              </a:rPr>
              <a:t>No-order reason:</a:t>
            </a:r>
            <a:r>
              <a:rPr sz="1800" b="0" i="0">
                <a:solidFill>
                  <a:srgbClr val="0F172A"/>
                </a:solidFill>
                <a:latin typeface="Arial"/>
              </a:rPr>
              <a:t> “gap after fees too small or the price already moved”</a:t>
            </a:r>
          </a:p>
          <a:p>
            <a:pPr algn="l" marL="292608" indent="-256032">
              <a:spcAft>
                <a:spcPts val="800"/>
              </a:spcAft>
              <a:buChar char="•"/>
            </a:pPr>
            <a:r>
              <a:rPr sz="1800" b="1" i="0">
                <a:solidFill>
                  <a:srgbClr val="0F172A"/>
                </a:solidFill>
                <a:latin typeface="Arial"/>
              </a:rPr>
              <a:t>Costs shown:</a:t>
            </a:r>
            <a:r>
              <a:rPr sz="1800" b="0" i="0">
                <a:solidFill>
                  <a:srgbClr val="0F172A"/>
                </a:solidFill>
                <a:latin typeface="Arial"/>
              </a:rPr>
              <a:t> bid-ask in briefs; Coach shows break-even after spread + fee</a:t>
            </a:r>
          </a:p>
          <a:p>
            <a:pPr algn="l" marL="292608" indent="-256032">
              <a:spcAft>
                <a:spcPts val="800"/>
              </a:spcAft>
              <a:buChar char="•"/>
            </a:pPr>
            <a:r>
              <a:rPr sz="1800" b="1" i="0">
                <a:solidFill>
                  <a:srgbClr val="0F172A"/>
                </a:solidFill>
                <a:latin typeface="Arial"/>
              </a:rPr>
              <a:t>Code limits:</a:t>
            </a:r>
            <a:r>
              <a:rPr sz="1800" b="0" i="0">
                <a:solidFill>
                  <a:srgbClr val="0F172A"/>
                </a:solidFill>
                <a:latin typeface="Arial"/>
              </a:rPr>
              <a:t> $50 / order, $100 / game, $300 / day; bans “lock”, “guaranteed”, “risk-free”</a:t>
            </a:r>
          </a:p>
          <a:p>
            <a:pPr algn="l" marL="292608" indent="-256032">
              <a:spcAft>
                <a:spcPts val="800"/>
              </a:spcAft>
              <a:buChar char="•"/>
            </a:pPr>
            <a:r>
              <a:rPr sz="1800" b="1" i="0">
                <a:solidFill>
                  <a:srgbClr val="0F172A"/>
                </a:solidFill>
                <a:latin typeface="Arial"/>
              </a:rPr>
              <a:t>9 / 9</a:t>
            </a:r>
            <a:r>
              <a:rPr sz="1800" b="0" i="0">
                <a:solidFill>
                  <a:srgbClr val="0F172A"/>
                </a:solidFill>
                <a:latin typeface="Arial"/>
              </a:rPr>
              <a:t> planted violations blocked</a:t>
            </a:r>
          </a:p>
          <a:p>
            <a:pPr algn="l" marL="292608" indent="-256032">
              <a:spcAft>
                <a:spcPts val="800"/>
              </a:spcAft>
              <a:buChar char="•"/>
            </a:pPr>
            <a:r>
              <a:rPr sz="1800" b="1" i="0">
                <a:solidFill>
                  <a:srgbClr val="0F172A"/>
                </a:solidFill>
                <a:latin typeface="Arial"/>
              </a:rPr>
              <a:t>Learned rules:</a:t>
            </a:r>
            <a:r>
              <a:rPr sz="1800" b="0" i="0">
                <a:solidFill>
                  <a:srgbClr val="0F172A"/>
                </a:solidFill>
                <a:latin typeface="Arial"/>
              </a:rPr>
              <a:t> skip ≤ 35¢; skip after a 2¢ move against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54864"/>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09728"/>
            <a:ext cx="11277295" cy="685800"/>
          </a:xfrm>
          <a:prstGeom prst="rect">
            <a:avLst/>
          </a:prstGeom>
          <a:noFill/>
        </p:spPr>
        <p:txBody>
          <a:bodyPr wrap="square" anchor="ctr" lIns="73152" rIns="73152" tIns="36576" bIns="36576">
            <a:spAutoFit/>
          </a:bodyPr>
          <a:lstStyle/>
          <a:p>
            <a:pPr algn="l">
              <a:spcAft>
                <a:spcPts val="0"/>
              </a:spcAft>
            </a:pPr>
            <a:r>
              <a:rPr sz="3000" b="1" i="0">
                <a:solidFill>
                  <a:srgbClr val="FFFFFF"/>
                </a:solidFill>
                <a:latin typeface="Arial"/>
              </a:rPr>
              <a:t>Coach: teach why most bets don't clear costs</a:t>
            </a:r>
          </a:p>
        </p:txBody>
      </p:sp>
      <p:sp>
        <p:nvSpPr>
          <p:cNvPr id="5" name="TextBox 4"/>
          <p:cNvSpPr txBox="1"/>
          <p:nvPr/>
        </p:nvSpPr>
        <p:spPr>
          <a:xfrm>
            <a:off x="457200" y="6446520"/>
            <a:ext cx="9144000" cy="320040"/>
          </a:xfrm>
          <a:prstGeom prst="rect">
            <a:avLst/>
          </a:prstGeom>
          <a:noFill/>
        </p:spPr>
        <p:txBody>
          <a:bodyPr wrap="square" anchor="t" lIns="73152" rIns="73152" tIns="36576" bIns="36576">
            <a:spAutoFit/>
          </a:bodyPr>
          <a:lstStyle/>
          <a:p>
            <a:pPr algn="l">
              <a:spcAft>
                <a:spcPts val="0"/>
              </a:spcAft>
            </a:pPr>
            <a:r>
              <a:rPr sz="1100" b="0" i="0">
                <a:solidFill>
                  <a:srgbClr val="64748B"/>
                </a:solidFill>
                <a:latin typeface="Arial"/>
              </a:rPr>
              <a:t>DASC7606C Group 12 · Can a consumer beat a sports prediction market?</a:t>
            </a:r>
          </a:p>
        </p:txBody>
      </p:sp>
      <p:sp>
        <p:nvSpPr>
          <p:cNvPr id="6" name="TextBox 5"/>
          <p:cNvSpPr txBox="1"/>
          <p:nvPr/>
        </p:nvSpPr>
        <p:spPr>
          <a:xfrm>
            <a:off x="10820095" y="6446520"/>
            <a:ext cx="914400" cy="320040"/>
          </a:xfrm>
          <a:prstGeom prst="rect">
            <a:avLst/>
          </a:prstGeom>
          <a:noFill/>
        </p:spPr>
        <p:txBody>
          <a:bodyPr wrap="square" anchor="t" lIns="73152" rIns="73152" tIns="36576" bIns="36576">
            <a:spAutoFit/>
          </a:bodyPr>
          <a:lstStyle/>
          <a:p>
            <a:pPr algn="r">
              <a:spcAft>
                <a:spcPts val="0"/>
              </a:spcAft>
            </a:pPr>
            <a:r>
              <a:rPr sz="1100" b="0" i="0">
                <a:solidFill>
                  <a:srgbClr val="64748B"/>
                </a:solidFill>
                <a:latin typeface="Arial"/>
              </a:rPr>
              <a:t>12</a:t>
            </a:r>
          </a:p>
        </p:txBody>
      </p:sp>
      <p:sp>
        <p:nvSpPr>
          <p:cNvPr id="7" name="Rounded Rectangle 6"/>
          <p:cNvSpPr/>
          <p:nvPr/>
        </p:nvSpPr>
        <p:spPr>
          <a:xfrm>
            <a:off x="457200" y="1234439"/>
            <a:ext cx="5501487" cy="2057400"/>
          </a:xfrm>
          <a:prstGeom prst="roundRect">
            <a:avLst>
              <a:gd name="adj" fmla="val 6000"/>
            </a:avLst>
          </a:prstGeom>
          <a:solidFill>
            <a:srgbClr val="FFFFFF"/>
          </a:solidFill>
          <a:ln w="15875">
            <a:solidFill>
              <a:srgbClr val="2563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1234439"/>
            <a:ext cx="109728" cy="205740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1307592"/>
            <a:ext cx="5227167" cy="457200"/>
          </a:xfrm>
          <a:prstGeom prst="rect">
            <a:avLst/>
          </a:prstGeom>
          <a:noFill/>
        </p:spPr>
        <p:txBody>
          <a:bodyPr wrap="square" anchor="t" lIns="73152" rIns="73152" tIns="36576" bIns="36576">
            <a:spAutoFit/>
          </a:bodyPr>
          <a:lstStyle/>
          <a:p>
            <a:pPr algn="l">
              <a:spcAft>
                <a:spcPts val="0"/>
              </a:spcAft>
            </a:pPr>
            <a:r>
              <a:rPr sz="2000" b="1" i="0">
                <a:solidFill>
                  <a:srgbClr val="2563EB"/>
                </a:solidFill>
                <a:latin typeface="Arial"/>
              </a:rPr>
              <a:t>1  What's going on</a:t>
            </a:r>
          </a:p>
        </p:txBody>
      </p:sp>
      <p:sp>
        <p:nvSpPr>
          <p:cNvPr id="10" name="TextBox 9"/>
          <p:cNvSpPr txBox="1"/>
          <p:nvPr/>
        </p:nvSpPr>
        <p:spPr>
          <a:xfrm>
            <a:off x="640080" y="1764791"/>
            <a:ext cx="5227167" cy="1453895"/>
          </a:xfrm>
          <a:prstGeom prst="rect">
            <a:avLst/>
          </a:prstGeom>
          <a:noFill/>
        </p:spPr>
        <p:txBody>
          <a:bodyPr wrap="square" anchor="t" lIns="73152" rIns="73152" tIns="36576" bIns="36576">
            <a:spAutoFit/>
          </a:bodyPr>
          <a:lstStyle/>
          <a:p>
            <a:pPr algn="l" marL="292608" indent="-256032">
              <a:spcAft>
                <a:spcPts val="600"/>
              </a:spcAft>
              <a:buChar char="•"/>
            </a:pPr>
            <a:r>
              <a:rPr sz="1800" b="0" i="0">
                <a:solidFill>
                  <a:srgbClr val="0F172A"/>
                </a:solidFill>
                <a:latin typeface="Arial"/>
              </a:rPr>
              <a:t>News so far; model before / after the news</a:t>
            </a:r>
          </a:p>
          <a:p>
            <a:pPr algn="l" marL="292608" indent="-256032">
              <a:spcAft>
                <a:spcPts val="600"/>
              </a:spcAft>
              <a:buChar char="•"/>
            </a:pPr>
            <a:r>
              <a:rPr sz="1800" b="0" i="0">
                <a:solidFill>
                  <a:srgbClr val="0F172A"/>
                </a:solidFill>
                <a:latin typeface="Arial"/>
              </a:rPr>
              <a:t>Market now vs 24 h ago; break-even after spread + fee</a:t>
            </a:r>
          </a:p>
        </p:txBody>
      </p:sp>
      <p:sp>
        <p:nvSpPr>
          <p:cNvPr id="11" name="Rounded Rectangle 10"/>
          <p:cNvSpPr/>
          <p:nvPr/>
        </p:nvSpPr>
        <p:spPr>
          <a:xfrm>
            <a:off x="6233007" y="1234439"/>
            <a:ext cx="5501487" cy="2057400"/>
          </a:xfrm>
          <a:prstGeom prst="roundRect">
            <a:avLst>
              <a:gd name="adj" fmla="val 6000"/>
            </a:avLst>
          </a:prstGeom>
          <a:solidFill>
            <a:srgbClr val="FFFFFF"/>
          </a:solidFill>
          <a:ln w="15875">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33007" y="1234439"/>
            <a:ext cx="109728" cy="2057400"/>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15887" y="1307592"/>
            <a:ext cx="5227167" cy="457200"/>
          </a:xfrm>
          <a:prstGeom prst="rect">
            <a:avLst/>
          </a:prstGeom>
          <a:noFill/>
        </p:spPr>
        <p:txBody>
          <a:bodyPr wrap="square" anchor="t" lIns="73152" rIns="73152" tIns="36576" bIns="36576">
            <a:spAutoFit/>
          </a:bodyPr>
          <a:lstStyle/>
          <a:p>
            <a:pPr algn="l">
              <a:spcAft>
                <a:spcPts val="0"/>
              </a:spcAft>
            </a:pPr>
            <a:r>
              <a:rPr sz="2000" b="1" i="0">
                <a:solidFill>
                  <a:srgbClr val="EA580C"/>
                </a:solidFill>
                <a:latin typeface="Arial"/>
              </a:rPr>
              <a:t>2  Lessons, when relevant</a:t>
            </a:r>
          </a:p>
        </p:txBody>
      </p:sp>
      <p:sp>
        <p:nvSpPr>
          <p:cNvPr id="14" name="TextBox 13"/>
          <p:cNvSpPr txBox="1"/>
          <p:nvPr/>
        </p:nvSpPr>
        <p:spPr>
          <a:xfrm>
            <a:off x="6415887" y="1764791"/>
            <a:ext cx="5227167" cy="1453895"/>
          </a:xfrm>
          <a:prstGeom prst="rect">
            <a:avLst/>
          </a:prstGeom>
          <a:noFill/>
        </p:spPr>
        <p:txBody>
          <a:bodyPr wrap="square" anchor="t" lIns="73152" rIns="73152" tIns="36576" bIns="36576">
            <a:spAutoFit/>
          </a:bodyPr>
          <a:lstStyle/>
          <a:p>
            <a:pPr algn="l" marL="292608" indent="-256032">
              <a:spcAft>
                <a:spcPts val="600"/>
              </a:spcAft>
              <a:buChar char="•"/>
            </a:pPr>
            <a:r>
              <a:rPr sz="1800" b="0" i="0">
                <a:solidFill>
                  <a:srgbClr val="0F172A"/>
                </a:solidFill>
                <a:latin typeface="Arial"/>
              </a:rPr>
              <a:t>Price = probability · costs move break-even</a:t>
            </a:r>
          </a:p>
          <a:p>
            <a:pPr algn="l" marL="292608" indent="-256032">
              <a:spcAft>
                <a:spcPts val="600"/>
              </a:spcAft>
              <a:buChar char="•"/>
            </a:pPr>
            <a:r>
              <a:rPr sz="1800" b="0" i="0">
                <a:solidFill>
                  <a:srgbClr val="0F172A"/>
                </a:solidFill>
                <a:latin typeface="Arial"/>
              </a:rPr>
              <a:t>Priced in / chasing · long shots · closing line · passing</a:t>
            </a:r>
          </a:p>
        </p:txBody>
      </p:sp>
      <p:sp>
        <p:nvSpPr>
          <p:cNvPr id="15" name="Rounded Rectangle 14"/>
          <p:cNvSpPr/>
          <p:nvPr/>
        </p:nvSpPr>
        <p:spPr>
          <a:xfrm>
            <a:off x="457200" y="3474720"/>
            <a:ext cx="5501487" cy="2057400"/>
          </a:xfrm>
          <a:prstGeom prst="roundRect">
            <a:avLst>
              <a:gd name="adj" fmla="val 6000"/>
            </a:avLst>
          </a:prstGeom>
          <a:solidFill>
            <a:srgbClr val="FFFFFF"/>
          </a:solidFill>
          <a:ln w="15875">
            <a:solidFill>
              <a:srgbClr val="16A3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57200" y="3474720"/>
            <a:ext cx="109728" cy="2057400"/>
          </a:xfrm>
          <a:prstGeom prst="rect">
            <a:avLst/>
          </a:prstGeom>
          <a:solidFill>
            <a:srgbClr val="16A3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0080" y="3547872"/>
            <a:ext cx="5227167" cy="457200"/>
          </a:xfrm>
          <a:prstGeom prst="rect">
            <a:avLst/>
          </a:prstGeom>
          <a:noFill/>
        </p:spPr>
        <p:txBody>
          <a:bodyPr wrap="square" anchor="t" lIns="73152" rIns="73152" tIns="36576" bIns="36576">
            <a:spAutoFit/>
          </a:bodyPr>
          <a:lstStyle/>
          <a:p>
            <a:pPr algn="l">
              <a:spcAft>
                <a:spcPts val="0"/>
              </a:spcAft>
            </a:pPr>
            <a:r>
              <a:rPr sz="2000" b="1" i="0">
                <a:solidFill>
                  <a:srgbClr val="16A34A"/>
                </a:solidFill>
                <a:latin typeface="Arial"/>
              </a:rPr>
              <a:t>3  Your paper call</a:t>
            </a:r>
          </a:p>
        </p:txBody>
      </p:sp>
      <p:sp>
        <p:nvSpPr>
          <p:cNvPr id="18" name="TextBox 17"/>
          <p:cNvSpPr txBox="1"/>
          <p:nvPr/>
        </p:nvSpPr>
        <p:spPr>
          <a:xfrm>
            <a:off x="640080" y="4005072"/>
            <a:ext cx="5227167" cy="1453895"/>
          </a:xfrm>
          <a:prstGeom prst="rect">
            <a:avLst/>
          </a:prstGeom>
          <a:noFill/>
        </p:spPr>
        <p:txBody>
          <a:bodyPr wrap="square" anchor="t" lIns="73152" rIns="73152" tIns="36576" bIns="36576">
            <a:spAutoFit/>
          </a:bodyPr>
          <a:lstStyle/>
          <a:p>
            <a:pPr algn="l" marL="292608" indent="-256032">
              <a:spcAft>
                <a:spcPts val="600"/>
              </a:spcAft>
              <a:buChar char="•"/>
            </a:pPr>
            <a:r>
              <a:rPr sz="1800" b="0" i="0">
                <a:solidFill>
                  <a:srgbClr val="0F172A"/>
                </a:solidFill>
                <a:latin typeface="Arial"/>
              </a:rPr>
              <a:t>Back a team or pass</a:t>
            </a:r>
          </a:p>
          <a:p>
            <a:pPr algn="l" marL="292608" indent="-256032">
              <a:spcAft>
                <a:spcPts val="600"/>
              </a:spcAft>
              <a:buChar char="•"/>
            </a:pPr>
            <a:r>
              <a:rPr sz="1800" b="0" i="0">
                <a:solidFill>
                  <a:srgbClr val="0F172A"/>
                </a:solidFill>
                <a:latin typeface="Arial"/>
              </a:rPr>
              <a:t>Then: close, CLV, result, and what the agent did</a:t>
            </a:r>
          </a:p>
        </p:txBody>
      </p:sp>
      <p:sp>
        <p:nvSpPr>
          <p:cNvPr id="19" name="Rounded Rectangle 18"/>
          <p:cNvSpPr/>
          <p:nvPr/>
        </p:nvSpPr>
        <p:spPr>
          <a:xfrm>
            <a:off x="6233007" y="3474720"/>
            <a:ext cx="5501487" cy="2057400"/>
          </a:xfrm>
          <a:prstGeom prst="roundRect">
            <a:avLst>
              <a:gd name="adj" fmla="val 6000"/>
            </a:avLst>
          </a:prstGeom>
          <a:solidFill>
            <a:srgbClr val="FFFFFF"/>
          </a:solidFill>
          <a:ln w="15875">
            <a:solidFill>
              <a:srgbClr val="1E293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233007" y="3474720"/>
            <a:ext cx="109728" cy="205740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15887" y="3547872"/>
            <a:ext cx="5227167" cy="457200"/>
          </a:xfrm>
          <a:prstGeom prst="rect">
            <a:avLst/>
          </a:prstGeom>
          <a:noFill/>
        </p:spPr>
        <p:txBody>
          <a:bodyPr wrap="square" anchor="t" lIns="73152" rIns="73152" tIns="36576" bIns="36576">
            <a:spAutoFit/>
          </a:bodyPr>
          <a:lstStyle/>
          <a:p>
            <a:pPr algn="l">
              <a:spcAft>
                <a:spcPts val="0"/>
              </a:spcAft>
            </a:pPr>
            <a:r>
              <a:rPr sz="2000" b="1" i="0">
                <a:solidFill>
                  <a:srgbClr val="1E293B"/>
                </a:solidFill>
                <a:latin typeface="Arial"/>
              </a:rPr>
              <a:t>4  Habit feedback</a:t>
            </a:r>
          </a:p>
        </p:txBody>
      </p:sp>
      <p:sp>
        <p:nvSpPr>
          <p:cNvPr id="22" name="TextBox 21"/>
          <p:cNvSpPr txBox="1"/>
          <p:nvPr/>
        </p:nvSpPr>
        <p:spPr>
          <a:xfrm>
            <a:off x="6415887" y="4005072"/>
            <a:ext cx="5227167" cy="1453895"/>
          </a:xfrm>
          <a:prstGeom prst="rect">
            <a:avLst/>
          </a:prstGeom>
          <a:noFill/>
        </p:spPr>
        <p:txBody>
          <a:bodyPr wrap="square" anchor="t" lIns="73152" rIns="73152" tIns="36576" bIns="36576">
            <a:spAutoFit/>
          </a:bodyPr>
          <a:lstStyle/>
          <a:p>
            <a:pPr algn="l" marL="292608" indent="-256032">
              <a:spcAft>
                <a:spcPts val="600"/>
              </a:spcAft>
              <a:buChar char="•"/>
            </a:pPr>
            <a:r>
              <a:rPr sz="1800" b="0" i="0">
                <a:solidFill>
                  <a:srgbClr val="0F172A"/>
                </a:solidFill>
                <a:latin typeface="Arial"/>
              </a:rPr>
              <a:t>Paying above the close, long shots, chasing</a:t>
            </a:r>
          </a:p>
          <a:p>
            <a:pPr algn="l" marL="292608" indent="-256032">
              <a:spcAft>
                <a:spcPts val="600"/>
              </a:spcAft>
              <a:buChar char="•"/>
            </a:pPr>
            <a:r>
              <a:rPr sz="1800" b="0" i="0">
                <a:solidFill>
                  <a:srgbClr val="0F172A"/>
                </a:solidFill>
                <a:latin typeface="Arial"/>
              </a:rPr>
              <a:t>Small samples are mostly luck</a:t>
            </a:r>
          </a:p>
        </p:txBody>
      </p:sp>
      <p:sp>
        <p:nvSpPr>
          <p:cNvPr id="23" name="Rounded Rectangle 22"/>
          <p:cNvSpPr/>
          <p:nvPr/>
        </p:nvSpPr>
        <p:spPr>
          <a:xfrm>
            <a:off x="457200" y="5760720"/>
            <a:ext cx="11277295" cy="502920"/>
          </a:xfrm>
          <a:prstGeom prst="roundRect">
            <a:avLst>
              <a:gd name="adj" fmla="val 12000"/>
            </a:avLst>
          </a:prstGeom>
          <a:solidFill>
            <a:srgbClr val="FEF3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48640" y="5760720"/>
            <a:ext cx="11094415" cy="502920"/>
          </a:xfrm>
          <a:prstGeom prst="rect">
            <a:avLst/>
          </a:prstGeom>
          <a:noFill/>
        </p:spPr>
        <p:txBody>
          <a:bodyPr wrap="square" anchor="ctr" lIns="73152" rIns="73152" tIns="36576" bIns="36576">
            <a:spAutoFit/>
          </a:bodyPr>
          <a:lstStyle/>
          <a:p>
            <a:pPr algn="l">
              <a:spcAft>
                <a:spcPts val="0"/>
              </a:spcAft>
            </a:pPr>
            <a:r>
              <a:rPr sz="1800" b="0" i="0">
                <a:solidFill>
                  <a:srgbClr val="0F172A"/>
                </a:solidFill>
                <a:latin typeface="Arial"/>
              </a:rPr>
              <a:t>Educational, paper money only · only information public at that moment · no promise words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54864"/>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09728"/>
            <a:ext cx="11277295" cy="685800"/>
          </a:xfrm>
          <a:prstGeom prst="rect">
            <a:avLst/>
          </a:prstGeom>
          <a:noFill/>
        </p:spPr>
        <p:txBody>
          <a:bodyPr wrap="square" anchor="ctr" lIns="73152" rIns="73152" tIns="36576" bIns="36576">
            <a:spAutoFit/>
          </a:bodyPr>
          <a:lstStyle/>
          <a:p>
            <a:pPr algn="l">
              <a:spcAft>
                <a:spcPts val="0"/>
              </a:spcAft>
            </a:pPr>
            <a:r>
              <a:rPr sz="3000" b="1" i="0">
                <a:solidFill>
                  <a:srgbClr val="FFFFFF"/>
                </a:solidFill>
                <a:latin typeface="Arial"/>
              </a:rPr>
              <a:t>Honest scope: what “unfair” means here</a:t>
            </a:r>
          </a:p>
        </p:txBody>
      </p:sp>
      <p:sp>
        <p:nvSpPr>
          <p:cNvPr id="5" name="TextBox 4"/>
          <p:cNvSpPr txBox="1"/>
          <p:nvPr/>
        </p:nvSpPr>
        <p:spPr>
          <a:xfrm>
            <a:off x="457200" y="6446520"/>
            <a:ext cx="9144000" cy="320040"/>
          </a:xfrm>
          <a:prstGeom prst="rect">
            <a:avLst/>
          </a:prstGeom>
          <a:noFill/>
        </p:spPr>
        <p:txBody>
          <a:bodyPr wrap="square" anchor="t" lIns="73152" rIns="73152" tIns="36576" bIns="36576">
            <a:spAutoFit/>
          </a:bodyPr>
          <a:lstStyle/>
          <a:p>
            <a:pPr algn="l">
              <a:spcAft>
                <a:spcPts val="0"/>
              </a:spcAft>
            </a:pPr>
            <a:r>
              <a:rPr sz="1100" b="0" i="0">
                <a:solidFill>
                  <a:srgbClr val="64748B"/>
                </a:solidFill>
                <a:latin typeface="Arial"/>
              </a:rPr>
              <a:t>DASC7606C Group 12 · Can a consumer beat a sports prediction market?</a:t>
            </a:r>
          </a:p>
        </p:txBody>
      </p:sp>
      <p:sp>
        <p:nvSpPr>
          <p:cNvPr id="6" name="TextBox 5"/>
          <p:cNvSpPr txBox="1"/>
          <p:nvPr/>
        </p:nvSpPr>
        <p:spPr>
          <a:xfrm>
            <a:off x="10820095" y="6446520"/>
            <a:ext cx="914400" cy="320040"/>
          </a:xfrm>
          <a:prstGeom prst="rect">
            <a:avLst/>
          </a:prstGeom>
          <a:noFill/>
        </p:spPr>
        <p:txBody>
          <a:bodyPr wrap="square" anchor="t" lIns="73152" rIns="73152" tIns="36576" bIns="36576">
            <a:spAutoFit/>
          </a:bodyPr>
          <a:lstStyle/>
          <a:p>
            <a:pPr algn="r">
              <a:spcAft>
                <a:spcPts val="0"/>
              </a:spcAft>
            </a:pPr>
            <a:r>
              <a:rPr sz="1100" b="0" i="0">
                <a:solidFill>
                  <a:srgbClr val="64748B"/>
                </a:solidFill>
                <a:latin typeface="Arial"/>
              </a:rPr>
              <a:t>13</a:t>
            </a:r>
          </a:p>
        </p:txBody>
      </p:sp>
      <p:sp>
        <p:nvSpPr>
          <p:cNvPr id="7" name="Rounded Rectangle 6"/>
          <p:cNvSpPr/>
          <p:nvPr/>
        </p:nvSpPr>
        <p:spPr>
          <a:xfrm>
            <a:off x="457200" y="1234439"/>
            <a:ext cx="5120640" cy="5074920"/>
          </a:xfrm>
          <a:prstGeom prst="roundRect">
            <a:avLst>
              <a:gd name="adj" fmla="val 6000"/>
            </a:avLst>
          </a:prstGeom>
          <a:solidFill>
            <a:srgbClr val="FFFFFF"/>
          </a:solidFill>
          <a:ln w="15875">
            <a:solidFill>
              <a:srgbClr val="1E293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1234439"/>
            <a:ext cx="109728" cy="507492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1307592"/>
            <a:ext cx="4846320" cy="457200"/>
          </a:xfrm>
          <a:prstGeom prst="rect">
            <a:avLst/>
          </a:prstGeom>
          <a:noFill/>
        </p:spPr>
        <p:txBody>
          <a:bodyPr wrap="square" anchor="t" lIns="73152" rIns="73152" tIns="36576" bIns="36576">
            <a:spAutoFit/>
          </a:bodyPr>
          <a:lstStyle/>
          <a:p>
            <a:pPr algn="l">
              <a:spcAft>
                <a:spcPts val="0"/>
              </a:spcAft>
            </a:pPr>
            <a:r>
              <a:rPr sz="2000" b="1" i="0">
                <a:solidFill>
                  <a:srgbClr val="1E293B"/>
                </a:solidFill>
                <a:latin typeface="Arial"/>
              </a:rPr>
              <a:t>What we claim</a:t>
            </a:r>
          </a:p>
        </p:txBody>
      </p:sp>
      <p:sp>
        <p:nvSpPr>
          <p:cNvPr id="10" name="TextBox 9"/>
          <p:cNvSpPr txBox="1"/>
          <p:nvPr/>
        </p:nvSpPr>
        <p:spPr>
          <a:xfrm>
            <a:off x="640080" y="1764791"/>
            <a:ext cx="4846320" cy="4471416"/>
          </a:xfrm>
          <a:prstGeom prst="rect">
            <a:avLst/>
          </a:prstGeom>
          <a:noFill/>
        </p:spPr>
        <p:txBody>
          <a:bodyPr wrap="square" anchor="t" lIns="73152" rIns="73152" tIns="36576" bIns="36576">
            <a:spAutoFit/>
          </a:bodyPr>
          <a:lstStyle/>
          <a:p>
            <a:pPr algn="l" marL="292608" indent="-256032">
              <a:spcAft>
                <a:spcPts val="600"/>
              </a:spcAft>
              <a:buChar char="•"/>
            </a:pPr>
            <a:r>
              <a:rPr sz="1800" b="0" i="0">
                <a:solidFill>
                  <a:srgbClr val="0F172A"/>
                </a:solidFill>
                <a:latin typeface="Arial"/>
              </a:rPr>
              <a:t>Structural disadvantages: costs, speed, expertise</a:t>
            </a:r>
          </a:p>
          <a:p>
            <a:pPr algn="l" marL="292608" indent="-256032">
              <a:spcAft>
                <a:spcPts val="600"/>
              </a:spcAft>
              <a:buChar char="•"/>
            </a:pPr>
            <a:r>
              <a:rPr sz="1800" b="1" i="0">
                <a:solidFill>
                  <a:srgbClr val="0F172A"/>
                </a:solidFill>
                <a:latin typeface="Arial"/>
              </a:rPr>
              <a:t>Not</a:t>
            </a:r>
            <a:r>
              <a:rPr sz="1800" b="0" i="0">
                <a:solidFill>
                  <a:srgbClr val="0F172A"/>
                </a:solidFill>
                <a:latin typeface="Arial"/>
              </a:rPr>
              <a:t> manipulation or fraud</a:t>
            </a:r>
          </a:p>
          <a:p>
            <a:pPr algn="l" marL="292608" indent="-256032">
              <a:spcAft>
                <a:spcPts val="600"/>
              </a:spcAft>
              <a:buChar char="•"/>
            </a:pPr>
            <a:r>
              <a:rPr sz="1800" b="1" i="0">
                <a:solidFill>
                  <a:srgbClr val="0F172A"/>
                </a:solidFill>
                <a:latin typeface="Arial"/>
              </a:rPr>
              <a:t>No</a:t>
            </a:r>
            <a:r>
              <a:rPr sz="1800" b="0" i="0">
                <a:solidFill>
                  <a:srgbClr val="0F172A"/>
                </a:solidFill>
                <a:latin typeface="Arial"/>
              </a:rPr>
              <a:t> accusation against Kalshi or any venue</a:t>
            </a:r>
          </a:p>
          <a:p>
            <a:pPr algn="l" marL="292608" indent="-256032">
              <a:spcAft>
                <a:spcPts val="600"/>
              </a:spcAft>
              <a:buChar char="•"/>
            </a:pPr>
            <a:r>
              <a:rPr sz="1800" b="0" i="0">
                <a:solidFill>
                  <a:srgbClr val="0F172A"/>
                </a:solidFill>
                <a:latin typeface="Arial"/>
              </a:rPr>
              <a:t>Paper money; public data only</a:t>
            </a:r>
          </a:p>
        </p:txBody>
      </p:sp>
      <p:sp>
        <p:nvSpPr>
          <p:cNvPr id="11" name="Rounded Rectangle 10"/>
          <p:cNvSpPr/>
          <p:nvPr/>
        </p:nvSpPr>
        <p:spPr>
          <a:xfrm>
            <a:off x="5852160" y="1234439"/>
            <a:ext cx="5882335" cy="5074920"/>
          </a:xfrm>
          <a:prstGeom prst="roundRect">
            <a:avLst>
              <a:gd name="adj" fmla="val 6000"/>
            </a:avLst>
          </a:prstGeom>
          <a:solidFill>
            <a:srgbClr val="FFFFFF"/>
          </a:solidFill>
          <a:ln w="15875">
            <a:solidFill>
              <a:srgbClr val="DC262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852160" y="1234439"/>
            <a:ext cx="109728" cy="5074920"/>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035040" y="1307592"/>
            <a:ext cx="5608015" cy="457200"/>
          </a:xfrm>
          <a:prstGeom prst="rect">
            <a:avLst/>
          </a:prstGeom>
          <a:noFill/>
        </p:spPr>
        <p:txBody>
          <a:bodyPr wrap="square" anchor="t" lIns="73152" rIns="73152" tIns="36576" bIns="36576">
            <a:spAutoFit/>
          </a:bodyPr>
          <a:lstStyle/>
          <a:p>
            <a:pPr algn="l">
              <a:spcAft>
                <a:spcPts val="0"/>
              </a:spcAft>
            </a:pPr>
            <a:r>
              <a:rPr sz="2000" b="1" i="0">
                <a:solidFill>
                  <a:srgbClr val="DC2626"/>
                </a:solidFill>
                <a:latin typeface="Arial"/>
              </a:rPr>
              <a:t>Caveats</a:t>
            </a:r>
          </a:p>
        </p:txBody>
      </p:sp>
      <p:sp>
        <p:nvSpPr>
          <p:cNvPr id="14" name="TextBox 13"/>
          <p:cNvSpPr txBox="1"/>
          <p:nvPr/>
        </p:nvSpPr>
        <p:spPr>
          <a:xfrm>
            <a:off x="6035040" y="1764791"/>
            <a:ext cx="5608015" cy="4471416"/>
          </a:xfrm>
          <a:prstGeom prst="rect">
            <a:avLst/>
          </a:prstGeom>
          <a:noFill/>
        </p:spPr>
        <p:txBody>
          <a:bodyPr wrap="square" anchor="t" lIns="73152" rIns="73152" tIns="36576" bIns="36576">
            <a:spAutoFit/>
          </a:bodyPr>
          <a:lstStyle/>
          <a:p>
            <a:pPr algn="l" marL="292608" indent="-256032">
              <a:spcAft>
                <a:spcPts val="600"/>
              </a:spcAft>
              <a:buChar char="•"/>
            </a:pPr>
            <a:r>
              <a:rPr sz="1800" b="0" i="0">
                <a:solidFill>
                  <a:srgbClr val="0F172A"/>
                </a:solidFill>
                <a:latin typeface="Arial"/>
              </a:rPr>
              <a:t>One season (1,316 games), game-winner markets only</a:t>
            </a:r>
          </a:p>
          <a:p>
            <a:pPr algn="l" marL="292608" indent="-256032">
              <a:spcAft>
                <a:spcPts val="600"/>
              </a:spcAft>
              <a:buChar char="•"/>
            </a:pPr>
            <a:r>
              <a:rPr sz="1800" b="0" i="0">
                <a:solidFill>
                  <a:srgbClr val="0F172A"/>
                </a:solidFill>
                <a:latin typeface="Arial"/>
              </a:rPr>
              <a:t>News stamped tip − 30 min (proxy; real reports come earlier)</a:t>
            </a:r>
          </a:p>
          <a:p>
            <a:pPr algn="l" marL="292608" indent="-256032">
              <a:spcAft>
                <a:spcPts val="600"/>
              </a:spcAft>
              <a:buChar char="•"/>
            </a:pPr>
            <a:r>
              <a:rPr sz="1800" b="0" i="0">
                <a:solidFill>
                  <a:srgbClr val="0F172A"/>
                </a:solidFill>
                <a:latin typeface="Arial"/>
              </a:rPr>
              <a:t>Costs measured for a $20 order at tip − 60 min</a:t>
            </a:r>
          </a:p>
          <a:p>
            <a:pPr algn="l" marL="292608" indent="-256032">
              <a:spcAft>
                <a:spcPts val="600"/>
              </a:spcAft>
              <a:buChar char="•"/>
            </a:pPr>
            <a:r>
              <a:rPr sz="1800" b="0" i="0">
                <a:solidFill>
                  <a:srgbClr val="0F172A"/>
                </a:solidFill>
                <a:latin typeface="Arial"/>
              </a:rPr>
              <a:t>Long-shot test underpowered; agent CLV within ~1 s.e. of zero</a:t>
            </a:r>
          </a:p>
          <a:p>
            <a:pPr algn="l" marL="292608" indent="-256032">
              <a:spcAft>
                <a:spcPts val="600"/>
              </a:spcAft>
              <a:buChar char="•"/>
            </a:pPr>
            <a:r>
              <a:rPr sz="1800" b="0" i="0">
                <a:solidFill>
                  <a:srgbClr val="0F172A"/>
                </a:solidFill>
                <a:latin typeface="Arial"/>
              </a:rPr>
              <a:t>In progress: statistical rigour and the M6 market-impact model; numbers will update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54864"/>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09728"/>
            <a:ext cx="11277295" cy="685800"/>
          </a:xfrm>
          <a:prstGeom prst="rect">
            <a:avLst/>
          </a:prstGeom>
          <a:noFill/>
        </p:spPr>
        <p:txBody>
          <a:bodyPr wrap="square" anchor="ctr" lIns="73152" rIns="73152" tIns="36576" bIns="36576">
            <a:spAutoFit/>
          </a:bodyPr>
          <a:lstStyle/>
          <a:p>
            <a:pPr algn="l">
              <a:spcAft>
                <a:spcPts val="0"/>
              </a:spcAft>
            </a:pPr>
            <a:r>
              <a:rPr sz="3000" b="1" i="0">
                <a:solidFill>
                  <a:srgbClr val="FFFFFF"/>
                </a:solidFill>
                <a:latin typeface="Arial"/>
              </a:rPr>
              <a:t>Live demo: streamlit run app.py</a:t>
            </a:r>
          </a:p>
        </p:txBody>
      </p:sp>
      <p:sp>
        <p:nvSpPr>
          <p:cNvPr id="5" name="TextBox 4"/>
          <p:cNvSpPr txBox="1"/>
          <p:nvPr/>
        </p:nvSpPr>
        <p:spPr>
          <a:xfrm>
            <a:off x="457200" y="6446520"/>
            <a:ext cx="9144000" cy="320040"/>
          </a:xfrm>
          <a:prstGeom prst="rect">
            <a:avLst/>
          </a:prstGeom>
          <a:noFill/>
        </p:spPr>
        <p:txBody>
          <a:bodyPr wrap="square" anchor="t" lIns="73152" rIns="73152" tIns="36576" bIns="36576">
            <a:spAutoFit/>
          </a:bodyPr>
          <a:lstStyle/>
          <a:p>
            <a:pPr algn="l">
              <a:spcAft>
                <a:spcPts val="0"/>
              </a:spcAft>
            </a:pPr>
            <a:r>
              <a:rPr sz="1100" b="0" i="0">
                <a:solidFill>
                  <a:srgbClr val="64748B"/>
                </a:solidFill>
                <a:latin typeface="Arial"/>
              </a:rPr>
              <a:t>DASC7606C Group 12 · Can a consumer beat a sports prediction market?</a:t>
            </a:r>
          </a:p>
        </p:txBody>
      </p:sp>
      <p:sp>
        <p:nvSpPr>
          <p:cNvPr id="6" name="TextBox 5"/>
          <p:cNvSpPr txBox="1"/>
          <p:nvPr/>
        </p:nvSpPr>
        <p:spPr>
          <a:xfrm>
            <a:off x="10820095" y="6446520"/>
            <a:ext cx="914400" cy="320040"/>
          </a:xfrm>
          <a:prstGeom prst="rect">
            <a:avLst/>
          </a:prstGeom>
          <a:noFill/>
        </p:spPr>
        <p:txBody>
          <a:bodyPr wrap="square" anchor="t" lIns="73152" rIns="73152" tIns="36576" bIns="36576">
            <a:spAutoFit/>
          </a:bodyPr>
          <a:lstStyle/>
          <a:p>
            <a:pPr algn="r">
              <a:spcAft>
                <a:spcPts val="0"/>
              </a:spcAft>
            </a:pPr>
            <a:r>
              <a:rPr sz="1100" b="0" i="0">
                <a:solidFill>
                  <a:srgbClr val="64748B"/>
                </a:solidFill>
                <a:latin typeface="Arial"/>
              </a:rPr>
              <a:t>14</a:t>
            </a:r>
          </a:p>
        </p:txBody>
      </p:sp>
      <p:graphicFrame>
        <p:nvGraphicFramePr>
          <p:cNvPr id="7" name="Table 6"/>
          <p:cNvGraphicFramePr>
            <a:graphicFrameLocks noGrp="1"/>
          </p:cNvGraphicFramePr>
          <p:nvPr/>
        </p:nvGraphicFramePr>
        <p:xfrm>
          <a:off x="457200" y="1234439"/>
          <a:ext cx="11277295" cy="4224528"/>
        </p:xfrm>
        <a:graphic>
          <a:graphicData uri="http://schemas.openxmlformats.org/drawingml/2006/table">
            <a:tbl>
              <a:tblPr firstRow="1" bandRow="1">
                <a:tableStyleId>{5C22544A-7EE6-4342-B048-85BDC9FD1C3A}</a:tableStyleId>
              </a:tblPr>
              <a:tblGrid>
                <a:gridCol w="2377440"/>
                <a:gridCol w="8899855"/>
              </a:tblGrid>
              <a:tr h="603504">
                <a:tc>
                  <a:txBody>
                    <a:bodyPr wrap="square"/>
                    <a:lstStyle/>
                    <a:p>
                      <a:pPr algn="l"/>
                      <a:r>
                        <a:rPr sz="1800" b="1" i="0">
                          <a:solidFill>
                            <a:srgbClr val="FFFFFF"/>
                          </a:solidFill>
                          <a:latin typeface="Arial"/>
                        </a:rPr>
                        <a:t>Tab</a:t>
                      </a:r>
                    </a:p>
                  </a:txBody>
                  <a:tcPr marL="73152" marR="73152" marT="36576" marB="36576" anchor="ctr">
                    <a:solidFill>
                      <a:srgbClr val="1E293B"/>
                    </a:solidFill>
                  </a:tcPr>
                </a:tc>
                <a:tc>
                  <a:txBody>
                    <a:bodyPr wrap="square"/>
                    <a:lstStyle/>
                    <a:p>
                      <a:pPr algn="l"/>
                      <a:r>
                        <a:rPr sz="1800" b="1" i="0">
                          <a:solidFill>
                            <a:srgbClr val="FFFFFF"/>
                          </a:solidFill>
                          <a:latin typeface="Arial"/>
                        </a:rPr>
                        <a:t>What to watch</a:t>
                      </a:r>
                    </a:p>
                  </a:txBody>
                  <a:tcPr marL="73152" marR="73152" marT="36576" marB="36576" anchor="ctr">
                    <a:solidFill>
                      <a:srgbClr val="1E293B"/>
                    </a:solidFill>
                  </a:tcPr>
                </a:tc>
              </a:tr>
              <a:tr h="603504">
                <a:tc>
                  <a:txBody>
                    <a:bodyPr wrap="square"/>
                    <a:lstStyle/>
                    <a:p>
                      <a:pPr algn="l"/>
                      <a:r>
                        <a:rPr sz="1800" b="0" i="0">
                          <a:solidFill>
                            <a:srgbClr val="0F172A"/>
                          </a:solidFill>
                          <a:latin typeface="Arial"/>
                        </a:rPr>
                        <a:t>Replayed night</a:t>
                      </a:r>
                    </a:p>
                  </a:txBody>
                  <a:tcPr marL="73152" marR="73152" marT="36576" marB="36576" anchor="ctr">
                    <a:solidFill>
                      <a:srgbClr val="F1F5F9"/>
                    </a:solidFill>
                  </a:tcPr>
                </a:tc>
                <a:tc>
                  <a:txBody>
                    <a:bodyPr wrap="square"/>
                    <a:lstStyle/>
                    <a:p>
                      <a:pPr algn="l"/>
                      <a:r>
                        <a:rPr sz="1800" b="0" i="0">
                          <a:solidFill>
                            <a:srgbClr val="0F172A"/>
                          </a:solidFill>
                          <a:latin typeface="Arial"/>
                        </a:rPr>
                        <a:t>News → estimate vs bid-ask → usually no order, with the reason (or a guarded paper order)</a:t>
                      </a:r>
                    </a:p>
                  </a:txBody>
                  <a:tcPr marL="73152" marR="73152" marT="36576" marB="36576" anchor="ctr">
                    <a:solidFill>
                      <a:srgbClr val="F1F5F9"/>
                    </a:solidFill>
                  </a:tcPr>
                </a:tc>
              </a:tr>
              <a:tr h="603504">
                <a:tc>
                  <a:txBody>
                    <a:bodyPr wrap="square"/>
                    <a:lstStyle/>
                    <a:p>
                      <a:pPr algn="l"/>
                      <a:r>
                        <a:rPr sz="1800" b="0" i="0">
                          <a:solidFill>
                            <a:srgbClr val="0F172A"/>
                          </a:solidFill>
                          <a:latin typeface="Arial"/>
                        </a:rPr>
                        <a:t>Coach</a:t>
                      </a:r>
                    </a:p>
                  </a:txBody>
                  <a:tcPr marL="73152" marR="73152" marT="36576" marB="36576" anchor="ctr">
                    <a:solidFill>
                      <a:srgbClr val="FFFFFF"/>
                    </a:solidFill>
                  </a:tcPr>
                </a:tc>
                <a:tc>
                  <a:txBody>
                    <a:bodyPr wrap="square"/>
                    <a:lstStyle/>
                    <a:p>
                      <a:pPr algn="l"/>
                      <a:r>
                        <a:rPr sz="1800" b="0" i="0">
                          <a:solidFill>
                            <a:srgbClr val="0F172A"/>
                          </a:solidFill>
                          <a:latin typeface="Arial"/>
                        </a:rPr>
                        <a:t>Break-even after spread + fee; paper call vs the close and the agent</a:t>
                      </a:r>
                    </a:p>
                  </a:txBody>
                  <a:tcPr marL="73152" marR="73152" marT="36576" marB="36576" anchor="ctr">
                    <a:solidFill>
                      <a:srgbClr val="FFFFFF"/>
                    </a:solidFill>
                  </a:tcPr>
                </a:tc>
              </a:tr>
              <a:tr h="603504">
                <a:tc>
                  <a:txBody>
                    <a:bodyPr wrap="square"/>
                    <a:lstStyle/>
                    <a:p>
                      <a:pPr algn="l"/>
                      <a:r>
                        <a:rPr sz="1800" b="0" i="0">
                          <a:solidFill>
                            <a:srgbClr val="0F172A"/>
                          </a:solidFill>
                          <a:latin typeface="Arial"/>
                        </a:rPr>
                        <a:t>Channel briefs</a:t>
                      </a:r>
                    </a:p>
                  </a:txBody>
                  <a:tcPr marL="73152" marR="73152" marT="36576" marB="36576" anchor="ctr">
                    <a:solidFill>
                      <a:srgbClr val="F1F5F9"/>
                    </a:solidFill>
                  </a:tcPr>
                </a:tc>
                <a:tc>
                  <a:txBody>
                    <a:bodyPr wrap="square"/>
                    <a:lstStyle/>
                    <a:p>
                      <a:pPr algn="l"/>
                      <a:r>
                        <a:rPr sz="1800" b="0" i="0">
                          <a:solidFill>
                            <a:srgbClr val="0F172A"/>
                          </a:solidFill>
                          <a:latin typeface="Arial"/>
                        </a:rPr>
                        <a:t>Retail: model vs market and no-order reason; no market language for media / team</a:t>
                      </a:r>
                    </a:p>
                  </a:txBody>
                  <a:tcPr marL="73152" marR="73152" marT="36576" marB="36576" anchor="ctr">
                    <a:solidFill>
                      <a:srgbClr val="F1F5F9"/>
                    </a:solidFill>
                  </a:tcPr>
                </a:tc>
              </a:tr>
              <a:tr h="603504">
                <a:tc>
                  <a:txBody>
                    <a:bodyPr wrap="square"/>
                    <a:lstStyle/>
                    <a:p>
                      <a:pPr algn="l"/>
                      <a:r>
                        <a:rPr sz="1800" b="0" i="0">
                          <a:solidFill>
                            <a:srgbClr val="0F172A"/>
                          </a:solidFill>
                          <a:latin typeface="Arial"/>
                        </a:rPr>
                        <a:t>Learning</a:t>
                      </a:r>
                    </a:p>
                  </a:txBody>
                  <a:tcPr marL="73152" marR="73152" marT="36576" marB="36576" anchor="ctr">
                    <a:solidFill>
                      <a:srgbClr val="FFFFFF"/>
                    </a:solidFill>
                  </a:tcPr>
                </a:tc>
                <a:tc>
                  <a:txBody>
                    <a:bodyPr wrap="square"/>
                    <a:lstStyle/>
                    <a:p>
                      <a:pPr algn="l"/>
                      <a:r>
                        <a:rPr sz="1800" b="0" i="0">
                          <a:solidFill>
                            <a:srgbClr val="0F172A"/>
                          </a:solidFill>
                          <a:latin typeface="Arial"/>
                        </a:rPr>
                        <a:t>Gate keeps protective rules (skip long shots, skip chasing)</a:t>
                      </a:r>
                    </a:p>
                  </a:txBody>
                  <a:tcPr marL="73152" marR="73152" marT="36576" marB="36576" anchor="ctr">
                    <a:solidFill>
                      <a:srgbClr val="FFFFFF"/>
                    </a:solidFill>
                  </a:tcPr>
                </a:tc>
              </a:tr>
              <a:tr h="603504">
                <a:tc>
                  <a:txBody>
                    <a:bodyPr wrap="square"/>
                    <a:lstStyle/>
                    <a:p>
                      <a:pPr algn="l"/>
                      <a:r>
                        <a:rPr sz="1800" b="0" i="0">
                          <a:solidFill>
                            <a:srgbClr val="0F172A"/>
                          </a:solidFill>
                          <a:latin typeface="Arial"/>
                        </a:rPr>
                        <a:t>Safety</a:t>
                      </a:r>
                    </a:p>
                  </a:txBody>
                  <a:tcPr marL="73152" marR="73152" marT="36576" marB="36576" anchor="ctr">
                    <a:solidFill>
                      <a:srgbClr val="F1F5F9"/>
                    </a:solidFill>
                  </a:tcPr>
                </a:tc>
                <a:tc>
                  <a:txBody>
                    <a:bodyPr wrap="square"/>
                    <a:lstStyle/>
                    <a:p>
                      <a:pPr algn="l"/>
                      <a:r>
                        <a:rPr sz="1800" b="0" i="0">
                          <a:solidFill>
                            <a:srgbClr val="0F172A"/>
                          </a:solidFill>
                          <a:latin typeface="Arial"/>
                        </a:rPr>
                        <a:t>Planted violations blocked (9 / 9)</a:t>
                      </a:r>
                    </a:p>
                  </a:txBody>
                  <a:tcPr marL="73152" marR="73152" marT="36576" marB="36576" anchor="ctr">
                    <a:solidFill>
                      <a:srgbClr val="F1F5F9"/>
                    </a:solidFill>
                  </a:tcPr>
                </a:tc>
              </a:tr>
              <a:tr h="603504">
                <a:tc>
                  <a:txBody>
                    <a:bodyPr wrap="square"/>
                    <a:lstStyle/>
                    <a:p>
                      <a:pPr algn="l"/>
                      <a:r>
                        <a:rPr sz="1800" b="0" i="0">
                          <a:solidFill>
                            <a:srgbClr val="0F172A"/>
                          </a:solidFill>
                          <a:latin typeface="Arial"/>
                        </a:rPr>
                        <a:t>Models</a:t>
                      </a:r>
                    </a:p>
                  </a:txBody>
                  <a:tcPr marL="73152" marR="73152" marT="36576" marB="36576" anchor="ctr">
                    <a:solidFill>
                      <a:srgbClr val="FFFFFF"/>
                    </a:solidFill>
                  </a:tcPr>
                </a:tc>
                <a:tc>
                  <a:txBody>
                    <a:bodyPr wrap="square"/>
                    <a:lstStyle/>
                    <a:p>
                      <a:pPr algn="l"/>
                      <a:r>
                        <a:rPr sz="1800" b="0" i="0">
                          <a:solidFill>
                            <a:srgbClr val="0F172A"/>
                          </a:solidFill>
                          <a:latin typeface="Arial"/>
                        </a:rPr>
                        <a:t>Held-out results and the market beating our model</a:t>
                      </a:r>
                    </a:p>
                  </a:txBody>
                  <a:tcPr marL="73152" marR="73152" marT="36576" marB="36576" anchor="ctr">
                    <a:solidFill>
                      <a:srgbClr val="FFFFFF"/>
                    </a:solidFill>
                  </a:tcPr>
                </a:tc>
              </a:tr>
            </a:tbl>
          </a:graphicData>
        </a:graphic>
      </p:graphicFrame>
      <p:sp>
        <p:nvSpPr>
          <p:cNvPr id="8" name="Rounded Rectangle 7"/>
          <p:cNvSpPr/>
          <p:nvPr/>
        </p:nvSpPr>
        <p:spPr>
          <a:xfrm>
            <a:off x="457200" y="5760720"/>
            <a:ext cx="11277295" cy="502920"/>
          </a:xfrm>
          <a:prstGeom prst="roundRect">
            <a:avLst>
              <a:gd name="adj" fmla="val 12000"/>
            </a:avLst>
          </a:prstGeom>
          <a:solidFill>
            <a:srgbClr val="FEF3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 y="5760720"/>
            <a:ext cx="11094415" cy="502920"/>
          </a:xfrm>
          <a:prstGeom prst="rect">
            <a:avLst/>
          </a:prstGeom>
          <a:noFill/>
        </p:spPr>
        <p:txBody>
          <a:bodyPr wrap="square" anchor="ctr" lIns="73152" rIns="73152" tIns="36576" bIns="36576">
            <a:spAutoFit/>
          </a:bodyPr>
          <a:lstStyle/>
          <a:p>
            <a:pPr algn="l">
              <a:spcAft>
                <a:spcPts val="0"/>
              </a:spcAft>
            </a:pPr>
            <a:r>
              <a:rPr sz="1800" b="0" i="0">
                <a:solidFill>
                  <a:srgbClr val="0F172A"/>
                </a:solidFill>
                <a:latin typeface="Arial"/>
              </a:rPr>
              <a:t>Backup: recorded run of the same demo</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54864"/>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09728"/>
            <a:ext cx="11277295" cy="685800"/>
          </a:xfrm>
          <a:prstGeom prst="rect">
            <a:avLst/>
          </a:prstGeom>
          <a:noFill/>
        </p:spPr>
        <p:txBody>
          <a:bodyPr wrap="square" anchor="ctr" lIns="73152" rIns="73152" tIns="36576" bIns="36576">
            <a:spAutoFit/>
          </a:bodyPr>
          <a:lstStyle/>
          <a:p>
            <a:pPr algn="l">
              <a:spcAft>
                <a:spcPts val="0"/>
              </a:spcAft>
            </a:pPr>
            <a:r>
              <a:rPr sz="3000" b="1" i="0">
                <a:solidFill>
                  <a:srgbClr val="FFFFFF"/>
                </a:solidFill>
                <a:latin typeface="Arial"/>
              </a:rPr>
              <a:t>Recommendations, next steps and Q&amp;A</a:t>
            </a:r>
          </a:p>
        </p:txBody>
      </p:sp>
      <p:sp>
        <p:nvSpPr>
          <p:cNvPr id="5" name="TextBox 4"/>
          <p:cNvSpPr txBox="1"/>
          <p:nvPr/>
        </p:nvSpPr>
        <p:spPr>
          <a:xfrm>
            <a:off x="457200" y="6446520"/>
            <a:ext cx="9144000" cy="320040"/>
          </a:xfrm>
          <a:prstGeom prst="rect">
            <a:avLst/>
          </a:prstGeom>
          <a:noFill/>
        </p:spPr>
        <p:txBody>
          <a:bodyPr wrap="square" anchor="t" lIns="73152" rIns="73152" tIns="36576" bIns="36576">
            <a:spAutoFit/>
          </a:bodyPr>
          <a:lstStyle/>
          <a:p>
            <a:pPr algn="l">
              <a:spcAft>
                <a:spcPts val="0"/>
              </a:spcAft>
            </a:pPr>
            <a:r>
              <a:rPr sz="1100" b="0" i="0">
                <a:solidFill>
                  <a:srgbClr val="64748B"/>
                </a:solidFill>
                <a:latin typeface="Arial"/>
              </a:rPr>
              <a:t>DASC7606C Group 12 · Can a consumer beat a sports prediction market?</a:t>
            </a:r>
          </a:p>
        </p:txBody>
      </p:sp>
      <p:sp>
        <p:nvSpPr>
          <p:cNvPr id="6" name="TextBox 5"/>
          <p:cNvSpPr txBox="1"/>
          <p:nvPr/>
        </p:nvSpPr>
        <p:spPr>
          <a:xfrm>
            <a:off x="10820095" y="6446520"/>
            <a:ext cx="914400" cy="320040"/>
          </a:xfrm>
          <a:prstGeom prst="rect">
            <a:avLst/>
          </a:prstGeom>
          <a:noFill/>
        </p:spPr>
        <p:txBody>
          <a:bodyPr wrap="square" anchor="t" lIns="73152" rIns="73152" tIns="36576" bIns="36576">
            <a:spAutoFit/>
          </a:bodyPr>
          <a:lstStyle/>
          <a:p>
            <a:pPr algn="r">
              <a:spcAft>
                <a:spcPts val="0"/>
              </a:spcAft>
            </a:pPr>
            <a:r>
              <a:rPr sz="1100" b="0" i="0">
                <a:solidFill>
                  <a:srgbClr val="64748B"/>
                </a:solidFill>
                <a:latin typeface="Arial"/>
              </a:rPr>
              <a:t>15</a:t>
            </a:r>
          </a:p>
        </p:txBody>
      </p:sp>
      <p:sp>
        <p:nvSpPr>
          <p:cNvPr id="7" name="Rounded Rectangle 6"/>
          <p:cNvSpPr/>
          <p:nvPr/>
        </p:nvSpPr>
        <p:spPr>
          <a:xfrm>
            <a:off x="457200" y="1234439"/>
            <a:ext cx="5852160" cy="3657600"/>
          </a:xfrm>
          <a:prstGeom prst="roundRect">
            <a:avLst>
              <a:gd name="adj" fmla="val 6000"/>
            </a:avLst>
          </a:prstGeom>
          <a:solidFill>
            <a:srgbClr val="FFFFFF"/>
          </a:solidFill>
          <a:ln w="15875">
            <a:solidFill>
              <a:srgbClr val="1E293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1234439"/>
            <a:ext cx="109728" cy="365760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1307592"/>
            <a:ext cx="5577840" cy="457200"/>
          </a:xfrm>
          <a:prstGeom prst="rect">
            <a:avLst/>
          </a:prstGeom>
          <a:noFill/>
        </p:spPr>
        <p:txBody>
          <a:bodyPr wrap="square" anchor="t" lIns="73152" rIns="73152" tIns="36576" bIns="36576">
            <a:spAutoFit/>
          </a:bodyPr>
          <a:lstStyle/>
          <a:p>
            <a:pPr algn="l">
              <a:spcAft>
                <a:spcPts val="0"/>
              </a:spcAft>
            </a:pPr>
            <a:r>
              <a:rPr sz="2000" b="1" i="0">
                <a:solidFill>
                  <a:srgbClr val="1E293B"/>
                </a:solidFill>
                <a:latin typeface="Arial"/>
              </a:rPr>
              <a:t>For products and policy</a:t>
            </a:r>
          </a:p>
        </p:txBody>
      </p:sp>
      <p:sp>
        <p:nvSpPr>
          <p:cNvPr id="10" name="TextBox 9"/>
          <p:cNvSpPr txBox="1"/>
          <p:nvPr/>
        </p:nvSpPr>
        <p:spPr>
          <a:xfrm>
            <a:off x="640080" y="1764791"/>
            <a:ext cx="5577840" cy="3054096"/>
          </a:xfrm>
          <a:prstGeom prst="rect">
            <a:avLst/>
          </a:prstGeom>
          <a:noFill/>
        </p:spPr>
        <p:txBody>
          <a:bodyPr wrap="square" anchor="t" lIns="73152" rIns="73152" tIns="36576" bIns="36576">
            <a:spAutoFit/>
          </a:bodyPr>
          <a:lstStyle/>
          <a:p>
            <a:pPr algn="l" marL="292608" indent="-256032">
              <a:spcAft>
                <a:spcPts val="600"/>
              </a:spcAft>
              <a:buChar char="•"/>
            </a:pPr>
            <a:r>
              <a:rPr sz="1800" b="0" i="0">
                <a:solidFill>
                  <a:srgbClr val="0F172A"/>
                </a:solidFill>
                <a:latin typeface="Arial"/>
              </a:rPr>
              <a:t>Show the all-in cost and break-even before every order</a:t>
            </a:r>
          </a:p>
          <a:p>
            <a:pPr algn="l" marL="292608" indent="-256032">
              <a:spcAft>
                <a:spcPts val="600"/>
              </a:spcAft>
              <a:buChar char="•"/>
            </a:pPr>
            <a:r>
              <a:rPr sz="1800" b="0" i="0">
                <a:solidFill>
                  <a:srgbClr val="0F172A"/>
                </a:solidFill>
                <a:latin typeface="Arial"/>
              </a:rPr>
              <a:t>Default warning: “this news is likely priced in”</a:t>
            </a:r>
          </a:p>
          <a:p>
            <a:pPr algn="l" marL="292608" indent="-256032">
              <a:spcAft>
                <a:spcPts val="600"/>
              </a:spcAft>
              <a:buChar char="•"/>
            </a:pPr>
            <a:r>
              <a:rPr sz="1800" b="0" i="0">
                <a:solidFill>
                  <a:srgbClr val="0F172A"/>
                </a:solidFill>
                <a:latin typeface="Arial"/>
              </a:rPr>
              <a:t>Education before the first trade; default stake limits</a:t>
            </a:r>
          </a:p>
        </p:txBody>
      </p:sp>
      <p:sp>
        <p:nvSpPr>
          <p:cNvPr id="11" name="Rounded Rectangle 10"/>
          <p:cNvSpPr/>
          <p:nvPr/>
        </p:nvSpPr>
        <p:spPr>
          <a:xfrm>
            <a:off x="6583680" y="1234439"/>
            <a:ext cx="5150815" cy="3657600"/>
          </a:xfrm>
          <a:prstGeom prst="roundRect">
            <a:avLst>
              <a:gd name="adj" fmla="val 6000"/>
            </a:avLst>
          </a:prstGeom>
          <a:solidFill>
            <a:srgbClr val="FFFFFF"/>
          </a:solidFill>
          <a:ln w="15875">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583680" y="1234439"/>
            <a:ext cx="109728" cy="3657600"/>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766560" y="1307592"/>
            <a:ext cx="4876495" cy="457200"/>
          </a:xfrm>
          <a:prstGeom prst="rect">
            <a:avLst/>
          </a:prstGeom>
          <a:noFill/>
        </p:spPr>
        <p:txBody>
          <a:bodyPr wrap="square" anchor="t" lIns="73152" rIns="73152" tIns="36576" bIns="36576">
            <a:spAutoFit/>
          </a:bodyPr>
          <a:lstStyle/>
          <a:p>
            <a:pPr algn="l">
              <a:spcAft>
                <a:spcPts val="0"/>
              </a:spcAft>
            </a:pPr>
            <a:r>
              <a:rPr sz="2000" b="1" i="0">
                <a:solidFill>
                  <a:srgbClr val="EA580C"/>
                </a:solidFill>
                <a:latin typeface="Arial"/>
              </a:rPr>
              <a:t>Our next steps</a:t>
            </a:r>
          </a:p>
        </p:txBody>
      </p:sp>
      <p:sp>
        <p:nvSpPr>
          <p:cNvPr id="14" name="TextBox 13"/>
          <p:cNvSpPr txBox="1"/>
          <p:nvPr/>
        </p:nvSpPr>
        <p:spPr>
          <a:xfrm>
            <a:off x="6766560" y="1764791"/>
            <a:ext cx="4876495" cy="3054096"/>
          </a:xfrm>
          <a:prstGeom prst="rect">
            <a:avLst/>
          </a:prstGeom>
          <a:noFill/>
        </p:spPr>
        <p:txBody>
          <a:bodyPr wrap="square" anchor="t" lIns="73152" rIns="73152" tIns="36576" bIns="36576">
            <a:spAutoFit/>
          </a:bodyPr>
          <a:lstStyle/>
          <a:p>
            <a:pPr algn="l" marL="292608" indent="-256032">
              <a:spcAft>
                <a:spcPts val="600"/>
              </a:spcAft>
              <a:buChar char="•"/>
            </a:pPr>
            <a:r>
              <a:rPr sz="1800" b="0" i="0">
                <a:solidFill>
                  <a:srgbClr val="0F172A"/>
                </a:solidFill>
                <a:latin typeface="Arial"/>
              </a:rPr>
              <a:t>Finish the statistical tests and the M6 market-impact model</a:t>
            </a:r>
          </a:p>
          <a:p>
            <a:pPr algn="l" marL="292608" indent="-256032">
              <a:spcAft>
                <a:spcPts val="600"/>
              </a:spcAft>
              <a:buChar char="•"/>
            </a:pPr>
            <a:r>
              <a:rPr sz="1800" b="0" i="0">
                <a:solidFill>
                  <a:srgbClr val="0F172A"/>
                </a:solidFill>
                <a:latin typeface="Arial"/>
              </a:rPr>
              <a:t>Show the full break-even in every retail brief</a:t>
            </a:r>
          </a:p>
          <a:p>
            <a:pPr algn="l" marL="292608" indent="-256032">
              <a:spcAft>
                <a:spcPts val="600"/>
              </a:spcAft>
              <a:buChar char="•"/>
            </a:pPr>
            <a:r>
              <a:rPr sz="1800" b="0" i="0">
                <a:solidFill>
                  <a:srgbClr val="0F172A"/>
                </a:solidFill>
                <a:latin typeface="Arial"/>
              </a:rPr>
              <a:t>Enforce a daily-loss stop</a:t>
            </a:r>
          </a:p>
          <a:p>
            <a:pPr algn="l" marL="292608" indent="-256032">
              <a:spcAft>
                <a:spcPts val="600"/>
              </a:spcAft>
              <a:buChar char="•"/>
            </a:pPr>
            <a:r>
              <a:rPr sz="1800" b="0" i="0">
                <a:solidFill>
                  <a:srgbClr val="0F172A"/>
                </a:solidFill>
                <a:latin typeface="Arial"/>
              </a:rPr>
              <a:t>Timestamped injury reports; player-prop markets</a:t>
            </a:r>
          </a:p>
        </p:txBody>
      </p:sp>
      <p:sp>
        <p:nvSpPr>
          <p:cNvPr id="15" name="TextBox 14"/>
          <p:cNvSpPr txBox="1"/>
          <p:nvPr/>
        </p:nvSpPr>
        <p:spPr>
          <a:xfrm>
            <a:off x="457200" y="5074920"/>
            <a:ext cx="11277295" cy="1097280"/>
          </a:xfrm>
          <a:prstGeom prst="rect">
            <a:avLst/>
          </a:prstGeom>
          <a:noFill/>
        </p:spPr>
        <p:txBody>
          <a:bodyPr wrap="square" anchor="ctr" lIns="73152" rIns="73152" tIns="36576" bIns="36576">
            <a:spAutoFit/>
          </a:bodyPr>
          <a:lstStyle/>
          <a:p>
            <a:pPr algn="ctr">
              <a:spcAft>
                <a:spcPts val="0"/>
              </a:spcAft>
            </a:pPr>
            <a:r>
              <a:rPr sz="4000" b="1" i="0">
                <a:solidFill>
                  <a:srgbClr val="1E293B"/>
                </a:solidFill>
                <a:latin typeface="Arial"/>
              </a:rPr>
              <a:t>Thank you. Questions?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
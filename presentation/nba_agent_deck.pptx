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Good morning, we are Group 12. Our title is Market-Graded Learning, and it is also our thesis. We built an AI agent that trades NBA prediction markets, and we let the market's closing price grade every part of it: the models, the learned rules and the LLM. The finding is that only the parts that defer to the market survive. If a disciplined agent cannot beat the close, a consumer cannot either, so our product educates and protects instead of giving tips.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parts. First, volume is surging. Pew Research, using The Block's data, found that monthly volume on Kalshi and Polymarket more than doubled from $26B in May to $53B in July 2026, mostly sports. Kalshi alone traded a record $61B notional in September 2026, about 46× its daily average a year earlier (TickerTracker, via NEXTPredict). Notional counts each contract at one dollar, so cash paid is lower, but in July Kalshi's sports notional of $31B compared with $11.6B of handle at all US sportsbooks (AGA). It reaches retail users through brokers: Robinhood reported 13.6B event contracts in Q2 2026 and nearly 2 million prediction-market customers; Coinbase routes to Kalshi since January 2026. Investors value Kalshi at $22B (May 2026, talks at about $40 billion reported by Reuters on 29 September) and Polymarket at $21B (Bloomberg, 31 August). Second, price protection is thin. An exchange has no house edge, but every taker pays a fee, 0.07 times p times one minus p per contract on Kalshi, plus the spread, and trades against professional market makers, including Kalshi's own affiliate, Kalshi Trading, which the CFTC has proposed to restrict. Kalshi has been CFTC-regulated since 2020 and self-certified sports contracts in January 2025; the CFTC did not block them. CFTC core principles protect market integrity, surveillance and manipulation, but nobody checks that the price a retail user pays is fair, and there is no federal responsible-gambling duty; sports contracts are open at 18, not 21. States are fighting back: the Third Circuit said New Jersey cannot regulate Kalshi, the Ninth Circuit in August said Nevada can. Our own measurement shows what this gap costs: about 5.0% per trade, and 91% of the price move before the public news. Third, published research shows harm: about 80M adults with gambling disorder (Lancet Public Health 2024); online betting lowers credit scores by 2.75 points and raises bankruptcies by about 10% (Hollenbeck, Larsen and Proserpio, SSRN 4903302). Full sources and dates: docs/market_regulation.md.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research question: can a consumer, even one armed with an AI agent and public news, beat the market? We built the strongest consumer we could: public news, trained models including a neural net trained on the market's own moves, a LangGraph agent with code risk limits and gated rule learning, and an LLM tool agent. A replay walks the season day by day, shows the agent only what was public, and fills every order at the recorded ask plus the Kalshi fee. The answer, tested with confidence intervals, is no: never trading wins.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agent. The top row is the decide loop, a LangGraph graph. A trigger, news or the clock an hour before tip, wakes it; it then chooses which as-of tools to call, prices, news, rotations, and our models M4 and M6, which only see what was public. It estimates a probability, the market anchor plus the model's news shift, or an LLM analyst; trades only if the gap after spread and fee is at least 4 cents; an LLM sceptic asks whether the news is already priced in and can veto; code re-checks every number; risk caps and a kill switch the LLM cannot override; then a confirm step, and an order or, about 90% of the time, a pass with the reason. One example: CLE at POR. Deni Avdija is out, 32.8 minutes and 26 points a game. M4's shift is −8.7 points, so the anchor of 42.5% becomes 33.8%. The agent bought POR “no” at 55¢, fee 1.73¢, a gap of 9.5¢ after costs, 36 contracts. The close was 62.5¢: closing-line value +7.5¢, profit +$15.57. The bottom row is the learn loop: at the close every trade is settled and graded by CLV, a reviewer proposes one rule, and the gate keeps it only if it helps on held-out days; kept rules feed back into the decision. The Coach and League turn the same analysis into education. The closing price grades every box.</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what the title means. Every component is a hypothesis that must pass an evidence gate on recorded prices, and the grader is the market's closing price. The raw win model fails: −$2,475 over the season, and recalibrating it does not help. The neural impact model fails: all 9 configurations are worse than predicting no move. What passes defers to the market: the market anchor, +$2,450 with p 0.002, and gated learning, which passes only by trading less. The newer agentic parts face the same gate; slide 11. So the finding is the product: if a disciplined agent cannot beat the close, a consumer cannot either. We say “we pass” as often as “we trade”.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data is all public. From Kalshi: every NBA game-winner market for 2025-26, 2,632 markets on 1,316 games, 3,938,368 one-minute rows of bid, ask and volume, and settlements. From ESPN: three seasons of games, 85,422 box-score rows and 3,371 inactive-list entries, which are our news. Models train on games before 1 February; the agent develops on November to January; the test period is 1 February to 12 April, 501 games; the walk-forward retrains monthly; and the 87 play-off games are a holdout scored once. The replay shows the agent only what was public, counts each inactive list as news 30 minutes before tip, and fills at the recorded ask plus the Kalshi fee.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First, costs. One hour before tip a $20 order pays half the bid-ask spread plus the Kalshi fee: 1.92 cents per contract on average, 5.0% of the price, and 9–14% on cheap contracts. Our best agent would have made +$36 at the mid but lost −$32 after costs; only 27 (36%) of its 74 trades beat or matched the close. Second, speed. On the 193 test games where the inactive list moved our win model by at least a point, 91% of the price move in the news direction happened before the inactive list, when a retail user could act. Against the official NBA injury reports, about two-thirds, 67% with a confidence interval of 47–85%, came before the first report listing the player out, which comes about 6 hours before the inactive list; 49% assuming no publication lag. These two facts are why the agent passes by default and why its trigger matters.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Third, expertise. On 501 test games our win model's Brier score one hour before tip is 0.186, against 0.164 for the market at the same moment; lower is better. When they disagree by more than five points, the market is right in both directions.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Deep learning sits in four places. M2 is a GRU over each player's last 20 games giving points and minutes quantiles; it beats gradient boosting, pinball 1.55 against 1.59. M4-NN is a neural win model on M4's features and split: alone it ties logistic regression, Brier 0.184 against 0.183, because 3,400 games is too few for capacity to pay, but plugged into the agent's anchor its news shift gives 0.163, level with the market, not significantly better. The LLM agent is a transformer used as a reasoning policy with tools and code guardrails. M6 is the fourth. Its label is the market itself: the move of the home price from the decision time to tip-off, so every decision time is a training row. A 16-unit GRU reads the last six hours of the price in 15-minute steps; it is joined with 18 static features such as the anchor, the clock, M4's news shift and who is out, and an MLP outputs the 10th, 50th and 90th percentiles, trained with pinball loss. It cannot beat “the price won't move”: 0.867 against 0.833 cents. To check that this is not a tuning accident, we ran a pre-declared grid of 9 configurations, GRU sizes, history lengths, an MLP and a CNN, with 3 seeds each: every one is worse than zero move, all 18 of 18 confidence intervals above zero, and none ever predicts the 5.5¢ move needed to pay for a trade. Recalibrating the win model does not help either: Brier 0.183 raw, 0.185 Platt, 0.184 isotonic, against 0.164 for the market, because its miscalibration flips between early and late season.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Money over time, after fees; the dashed line at zero is never trading. The red raw model falls steadily, −$2,087 in the test period and −$2,475 over the season: that slope is costs. The agent without learning falls less; the full agent learned rules that mostly say do not trade, so it flattens near zero. Then the honest test: walk-forward over the whole season with the win model retrained monthly and day-clustered bootstrap intervals. Mean closing-line value is below zero for every setup. The full agent's −$25 is indistinguishable from never trading, p 0.53. The market anchor is real, +$2,450, p 0.002; learning only means trading less. On the play-off holdout the full agent made no trades.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then made the agent more agentic and graded each upgrade the same way, pre-registered before scoring. Gate audit: the split gate, which judges a rule on held-out days by CLV dollars, kept 5 of 11 proposed rules where the legacy gate kept 0 of 24. Trades fell from 129 to 53 and CLV dollars improved by +$18 [+1, +34], but mean CLV per trade did not improve and it still does not beat never trading. The placebo test says why: random rules pass the split gate 57% of the time, the same as the reviewer's picks, so learning works by trading less, not by finding better rules. The kill switch is enforced but never tripped at $20 stakes; property tests show it blocks orders after a trip. Kelly sizing was not run. The Coach on simulated users with full compliance raises CLV dollars for every persona: overtrader +$88 [+65, +111], long-shot lover +$72 [+53, +90], cautious +$24 [+14, +36], price chaser +$17 [−4, +33], whose interval includes zero, and cuts trades by 66–87%. But it flags 99% of trades, so again the gain is trading less. The plain LLM made 5 trades in 304 decisions, CLV −$1, the same as never trading; the deterministic agent made 53 trades, CLV −$19. The tool agent and the sceptic are pending: the Gemini quota ran out and they are being re-run on DeepSeek. The orchestrator is built, shown on the right. The learned policy's selection step chose never trade, and the test was not scored. The rule language and memory are built and tested but not evaluated. The message: Every agentic upgrade, graded by the market, converges on the same answer: trade less. The market is hard to beat after fees, which is exactly why the product is education, not a trading bot.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the product educates and protects instead of encouraging bets. Protect: the agent passes by default, about 90% of decision points, and says why; risk limits and banned words are code the LLM cannot override, and all 9 / 9 planted violations were blocked. Teach: the Coach explains a game with only what was public and shows the break-even after spread and fee. Practise: the League gives everyone the same 10 real past decisions and $1,000 of play money, and ranks on closing-line value, not profit. In our example league the raw-model bot is up +$15 with negative CLV, and the badge says costs, not skill.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an agent and not one classifier? Each box of the slide 4 diagram answers a feature of the problem. The problem is event-driven: news arrives at random times and 91% of the move comes before the inactive list, about two-thirds before the first official report, so the hard decision is when to act; that is the trigger. What to look at is the as-of tools, which enforce no look-ahead. Whether to trade is the edge test and the LLM sceptic, and the code checks, risk caps and kill switch make sure the LLM can never override a limit, which matters for gambling harm. The learn loop is graded by the market through the gate, and the placebo shows honestly that it works by trading less. The Coach and League are the people in the loop. The counter-argument, a single classifier would do, is answered by our own data: the model alone loses −$2,475 over 711 trades; the decision process around it, the diagram's anchor, edge threshold and pass, adds +$2,450, p 0.002. The work is split across the team. The pregame news loop polls several news sources before a game and turns them into fair odds, pull request 7. The player-feature experiment tested isolated player features and probability calibration, pull request 8. In-play news and odds updates are pull request 9. Live, read-only Polymarket prices are pull requests 11 and 12. The replay, the agent, the models M4 and M6, the evaluation, the Coach and the League are on our main branch. Each part had to face the same market grade.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the demo, focused on protection. On the replayed night, watch the agent see the news, compare its estimate with the bid and ask, and usually decline with a reason. In the Coach, I'll make a paper call and compare it with the close. In the League tab I'll make one call on the shared slate, watch the closing line and result being revealed, and show the leaderboard ranked by closing-line value next to the house bots. Then a quick look at the learned rules and planted violations being blocked. If anything fails, we have a backup recording.</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recommendations follow from the evidence. Before any order, show the all-in cost and the break-even probability. Warn by default when news is likely already priced in. Put education and play-money practice in front of the first trade, and treat betting harm as a public-health issue, as the Lancet Commission argues. Honest scope: unfair here means structural disadvantages, costs, speed and expertise, not manipulation or fraud, and we make no accusation against Kalshi. We designed the market anchor and the reviewer after seeing the first February-to-April results, so the walk-forward season and the play-off holdout are our headline tests. Thank you, we are happy to take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3.png"/><Relationship Id="rId4" Type="http://schemas.openxmlformats.org/officeDocument/2006/relationships/image" Target="../media/image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5.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7.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8.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9.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60520"/>
            <a:ext cx="12191695" cy="73152"/>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868680"/>
            <a:ext cx="10545775" cy="1097280"/>
          </a:xfrm>
          <a:prstGeom prst="rect">
            <a:avLst/>
          </a:prstGeom>
          <a:noFill/>
        </p:spPr>
        <p:txBody>
          <a:bodyPr wrap="square" anchor="t" lIns="73152" rIns="73152" tIns="36576" bIns="36576">
            <a:spAutoFit/>
          </a:bodyPr>
          <a:lstStyle/>
          <a:p>
            <a:pPr algn="l">
              <a:spcAft>
                <a:spcPts val="800"/>
              </a:spcAft>
            </a:pPr>
            <a:r>
              <a:rPr sz="4800" b="1" i="0">
                <a:solidFill>
                  <a:srgbClr val="FFFFFF"/>
                </a:solidFill>
                <a:latin typeface="Arial"/>
              </a:rPr>
              <a:t>Market-Graded Learning</a:t>
            </a:r>
          </a:p>
        </p:txBody>
      </p:sp>
      <p:sp>
        <p:nvSpPr>
          <p:cNvPr id="5" name="TextBox 4"/>
          <p:cNvSpPr txBox="1"/>
          <p:nvPr/>
        </p:nvSpPr>
        <p:spPr>
          <a:xfrm>
            <a:off x="822960" y="1965960"/>
            <a:ext cx="10545775" cy="2011680"/>
          </a:xfrm>
          <a:prstGeom prst="rect">
            <a:avLst/>
          </a:prstGeom>
          <a:noFill/>
        </p:spPr>
        <p:txBody>
          <a:bodyPr wrap="square" anchor="t" lIns="73152" rIns="73152" tIns="36576" bIns="36576">
            <a:spAutoFit/>
          </a:bodyPr>
          <a:lstStyle/>
          <a:p>
            <a:pPr algn="l">
              <a:spcAft>
                <a:spcPts val="800"/>
              </a:spcAft>
            </a:pPr>
            <a:r>
              <a:rPr sz="2400" b="0" i="0">
                <a:solidFill>
                  <a:srgbClr val="CBD5E1"/>
                </a:solidFill>
                <a:latin typeface="Arial"/>
              </a:rPr>
              <a:t>The market's closing price grades every part of our NBA trading agent. Only the parts that defer to the market survive, so a consumer betting against it is at a structural disadvantage.</a:t>
            </a:r>
          </a:p>
        </p:txBody>
      </p:sp>
      <p:sp>
        <p:nvSpPr>
          <p:cNvPr id="6" name="TextBox 5"/>
          <p:cNvSpPr txBox="1"/>
          <p:nvPr/>
        </p:nvSpPr>
        <p:spPr>
          <a:xfrm>
            <a:off x="822960" y="4434840"/>
            <a:ext cx="10545775" cy="1737360"/>
          </a:xfrm>
          <a:prstGeom prst="rect">
            <a:avLst/>
          </a:prstGeom>
          <a:noFill/>
        </p:spPr>
        <p:txBody>
          <a:bodyPr wrap="square" anchor="t" lIns="73152" rIns="73152" tIns="36576" bIns="36576">
            <a:spAutoFit/>
          </a:bodyPr>
          <a:lstStyle/>
          <a:p>
            <a:pPr algn="l">
              <a:spcAft>
                <a:spcPts val="800"/>
              </a:spcAft>
            </a:pPr>
            <a:r>
              <a:rPr sz="2000" b="0" i="0">
                <a:solidFill>
                  <a:srgbClr val="FFFFFF"/>
                </a:solidFill>
                <a:latin typeface="Arial"/>
              </a:rPr>
              <a:t>Market-Graded Learning for NBA Game-Impact Intelligence</a:t>
            </a:r>
          </a:p>
          <a:p>
            <a:pPr algn="l">
              <a:spcAft>
                <a:spcPts val="800"/>
              </a:spcAft>
            </a:pPr>
            <a:r>
              <a:rPr sz="2000" b="0" i="0">
                <a:solidFill>
                  <a:srgbClr val="FFFFFF"/>
                </a:solidFill>
                <a:latin typeface="Arial"/>
              </a:rPr>
              <a:t>DASC7606C (COMP7606) · Group 12 · Track 2: Agentic Framework Design</a:t>
            </a:r>
          </a:p>
          <a:p>
            <a:pPr algn="l">
              <a:spcAft>
                <a:spcPts val="800"/>
              </a:spcAft>
            </a:pPr>
            <a:r>
              <a:rPr sz="2000" b="0" i="0">
                <a:solidFill>
                  <a:srgbClr val="FFFFFF"/>
                </a:solidFill>
                <a:latin typeface="Arial"/>
              </a:rPr>
              <a:t>Presenter: Ngan Tsz Sui · Friday 9 October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54864"/>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09728"/>
            <a:ext cx="11277295" cy="685800"/>
          </a:xfrm>
          <a:prstGeom prst="rect">
            <a:avLst/>
          </a:prstGeom>
          <a:noFill/>
        </p:spPr>
        <p:txBody>
          <a:bodyPr wrap="square" anchor="ctr" lIns="73152" rIns="73152" tIns="36576" bIns="36576">
            <a:spAutoFit/>
          </a:bodyPr>
          <a:lstStyle/>
          <a:p>
            <a:pPr algn="l">
              <a:spcAft>
                <a:spcPts val="0"/>
              </a:spcAft>
            </a:pPr>
            <a:r>
              <a:rPr sz="3000" b="1" i="0">
                <a:solidFill>
                  <a:srgbClr val="FFFFFF"/>
                </a:solidFill>
                <a:latin typeface="Arial"/>
              </a:rPr>
              <a:t>The problem: surging, under-protected betting markets</a:t>
            </a:r>
          </a:p>
        </p:txBody>
      </p:sp>
      <p:sp>
        <p:nvSpPr>
          <p:cNvPr id="5" name="TextBox 4"/>
          <p:cNvSpPr txBox="1"/>
          <p:nvPr/>
        </p:nvSpPr>
        <p:spPr>
          <a:xfrm>
            <a:off x="457200" y="6446520"/>
            <a:ext cx="9144000" cy="320040"/>
          </a:xfrm>
          <a:prstGeom prst="rect">
            <a:avLst/>
          </a:prstGeom>
          <a:noFill/>
        </p:spPr>
        <p:txBody>
          <a:bodyPr wrap="square" anchor="t" lIns="73152" rIns="73152" tIns="36576" bIns="36576">
            <a:spAutoFit/>
          </a:bodyPr>
          <a:lstStyle/>
          <a:p>
            <a:pPr algn="l">
              <a:spcAft>
                <a:spcPts val="0"/>
              </a:spcAft>
            </a:pPr>
            <a:r>
              <a:rPr sz="1100" b="0" i="0">
                <a:solidFill>
                  <a:srgbClr val="64748B"/>
                </a:solidFill>
                <a:latin typeface="Arial"/>
              </a:rPr>
              <a:t>DASC7606C Group 12 · Market-Graded Learning: the closing price grades every component</a:t>
            </a:r>
          </a:p>
        </p:txBody>
      </p:sp>
      <p:sp>
        <p:nvSpPr>
          <p:cNvPr id="6" name="TextBox 5"/>
          <p:cNvSpPr txBox="1"/>
          <p:nvPr/>
        </p:nvSpPr>
        <p:spPr>
          <a:xfrm>
            <a:off x="10820095" y="6446520"/>
            <a:ext cx="914400" cy="320040"/>
          </a:xfrm>
          <a:prstGeom prst="rect">
            <a:avLst/>
          </a:prstGeom>
          <a:noFill/>
        </p:spPr>
        <p:txBody>
          <a:bodyPr wrap="square" anchor="t" lIns="73152" rIns="73152" tIns="36576" bIns="36576">
            <a:spAutoFit/>
          </a:bodyPr>
          <a:lstStyle/>
          <a:p>
            <a:pPr algn="r">
              <a:spcAft>
                <a:spcPts val="0"/>
              </a:spcAft>
            </a:pPr>
            <a:r>
              <a:rPr sz="1100" b="0" i="0">
                <a:solidFill>
                  <a:srgbClr val="64748B"/>
                </a:solidFill>
                <a:latin typeface="Arial"/>
              </a:rPr>
              <a:t>2</a:t>
            </a:r>
          </a:p>
        </p:txBody>
      </p:sp>
      <p:sp>
        <p:nvSpPr>
          <p:cNvPr id="7" name="Rounded Rectangle 6"/>
          <p:cNvSpPr/>
          <p:nvPr/>
        </p:nvSpPr>
        <p:spPr>
          <a:xfrm>
            <a:off x="457200" y="1170432"/>
            <a:ext cx="3606698" cy="3721608"/>
          </a:xfrm>
          <a:prstGeom prst="roundRect">
            <a:avLst>
              <a:gd name="adj" fmla="val 6000"/>
            </a:avLst>
          </a:prstGeom>
          <a:solidFill>
            <a:srgbClr val="FFFFFF"/>
          </a:solidFill>
          <a:ln w="15875">
            <a:solidFill>
              <a:srgbClr val="2563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1170432"/>
            <a:ext cx="109728" cy="3721608"/>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1243584"/>
            <a:ext cx="3332378" cy="457200"/>
          </a:xfrm>
          <a:prstGeom prst="rect">
            <a:avLst/>
          </a:prstGeom>
          <a:noFill/>
        </p:spPr>
        <p:txBody>
          <a:bodyPr wrap="square" anchor="t" lIns="73152" rIns="73152" tIns="36576" bIns="36576">
            <a:spAutoFit/>
          </a:bodyPr>
          <a:lstStyle/>
          <a:p>
            <a:pPr algn="l">
              <a:spcAft>
                <a:spcPts val="0"/>
              </a:spcAft>
            </a:pPr>
            <a:r>
              <a:rPr sz="1800" b="1" i="0">
                <a:solidFill>
                  <a:srgbClr val="2563EB"/>
                </a:solidFill>
                <a:latin typeface="Arial"/>
              </a:rPr>
              <a:t>1  Surging volume</a:t>
            </a:r>
          </a:p>
        </p:txBody>
      </p:sp>
      <p:sp>
        <p:nvSpPr>
          <p:cNvPr id="10" name="TextBox 9"/>
          <p:cNvSpPr txBox="1"/>
          <p:nvPr/>
        </p:nvSpPr>
        <p:spPr>
          <a:xfrm>
            <a:off x="640080" y="1700784"/>
            <a:ext cx="3332378" cy="3118104"/>
          </a:xfrm>
          <a:prstGeom prst="rect">
            <a:avLst/>
          </a:prstGeom>
          <a:noFill/>
        </p:spPr>
        <p:txBody>
          <a:bodyPr wrap="square" anchor="t" lIns="73152" rIns="73152" tIns="36576" bIns="36576">
            <a:spAutoFit/>
          </a:bodyPr>
          <a:lstStyle/>
          <a:p>
            <a:pPr algn="l" marL="292608" indent="-256032">
              <a:spcAft>
                <a:spcPts val="600"/>
              </a:spcAft>
              <a:buChar char="•"/>
            </a:pPr>
            <a:r>
              <a:rPr sz="1600" b="0" i="0">
                <a:solidFill>
                  <a:srgbClr val="0F172A"/>
                </a:solidFill>
                <a:latin typeface="Arial"/>
              </a:rPr>
              <a:t>Kalshi + Polymarket: </a:t>
            </a:r>
            <a:r>
              <a:rPr sz="1600" b="1" i="0">
                <a:solidFill>
                  <a:srgbClr val="0F172A"/>
                </a:solidFill>
                <a:latin typeface="Arial"/>
              </a:rPr>
              <a:t>$26B → $53B</a:t>
            </a:r>
            <a:r>
              <a:rPr sz="1600" b="0" i="0">
                <a:solidFill>
                  <a:srgbClr val="0F172A"/>
                </a:solidFill>
                <a:latin typeface="Arial"/>
              </a:rPr>
              <a:t> a month, May → Jul 2026 ¹</a:t>
            </a:r>
          </a:p>
          <a:p>
            <a:pPr algn="l" marL="292608" indent="-256032">
              <a:spcAft>
                <a:spcPts val="600"/>
              </a:spcAft>
              <a:buChar char="•"/>
            </a:pPr>
            <a:r>
              <a:rPr sz="1600" b="0" i="0">
                <a:solidFill>
                  <a:srgbClr val="0F172A"/>
                </a:solidFill>
                <a:latin typeface="Arial"/>
              </a:rPr>
              <a:t>Kalshi Sep 2026: </a:t>
            </a:r>
            <a:r>
              <a:rPr sz="1600" b="1" i="0">
                <a:solidFill>
                  <a:srgbClr val="0F172A"/>
                </a:solidFill>
                <a:latin typeface="Arial"/>
              </a:rPr>
              <a:t>$61B</a:t>
            </a:r>
            <a:r>
              <a:rPr sz="1600" b="0" i="0">
                <a:solidFill>
                  <a:srgbClr val="0F172A"/>
                </a:solidFill>
                <a:latin typeface="Arial"/>
              </a:rPr>
              <a:t> notional, ~46× a year earlier ²</a:t>
            </a:r>
          </a:p>
          <a:p>
            <a:pPr algn="l" marL="292608" indent="-256032">
              <a:spcAft>
                <a:spcPts val="600"/>
              </a:spcAft>
              <a:buChar char="•"/>
            </a:pPr>
            <a:r>
              <a:rPr sz="1600" b="0" i="0">
                <a:solidFill>
                  <a:srgbClr val="0F172A"/>
                </a:solidFill>
                <a:latin typeface="Arial"/>
              </a:rPr>
              <a:t>Sold in Robinhood (~2M users) and Coinbase apps ³</a:t>
            </a:r>
          </a:p>
          <a:p>
            <a:pPr algn="l" marL="292608" indent="-256032">
              <a:spcAft>
                <a:spcPts val="600"/>
              </a:spcAft>
              <a:buChar char="•"/>
            </a:pPr>
            <a:r>
              <a:rPr sz="1600" b="0" i="0">
                <a:solidFill>
                  <a:srgbClr val="0F172A"/>
                </a:solidFill>
                <a:latin typeface="Arial"/>
              </a:rPr>
              <a:t>Valued at $22B (Kalshi), $21B (Polymarket) ⁴</a:t>
            </a:r>
          </a:p>
        </p:txBody>
      </p:sp>
      <p:sp>
        <p:nvSpPr>
          <p:cNvPr id="11" name="Rounded Rectangle 10"/>
          <p:cNvSpPr/>
          <p:nvPr/>
        </p:nvSpPr>
        <p:spPr>
          <a:xfrm>
            <a:off x="4292498" y="1170432"/>
            <a:ext cx="3606698" cy="3721608"/>
          </a:xfrm>
          <a:prstGeom prst="roundRect">
            <a:avLst>
              <a:gd name="adj" fmla="val 6000"/>
            </a:avLst>
          </a:prstGeom>
          <a:solidFill>
            <a:srgbClr val="FFFFFF"/>
          </a:solidFill>
          <a:ln w="15875">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292498" y="1170432"/>
            <a:ext cx="109728" cy="372160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475378" y="1243584"/>
            <a:ext cx="3332378" cy="457200"/>
          </a:xfrm>
          <a:prstGeom prst="rect">
            <a:avLst/>
          </a:prstGeom>
          <a:noFill/>
        </p:spPr>
        <p:txBody>
          <a:bodyPr wrap="square" anchor="t" lIns="73152" rIns="73152" tIns="36576" bIns="36576">
            <a:spAutoFit/>
          </a:bodyPr>
          <a:lstStyle/>
          <a:p>
            <a:pPr algn="l">
              <a:spcAft>
                <a:spcPts val="0"/>
              </a:spcAft>
            </a:pPr>
            <a:r>
              <a:rPr sz="1800" b="1" i="0">
                <a:solidFill>
                  <a:srgbClr val="EA580C"/>
                </a:solidFill>
                <a:latin typeface="Arial"/>
              </a:rPr>
              <a:t>2  Thin price protection</a:t>
            </a:r>
          </a:p>
        </p:txBody>
      </p:sp>
      <p:sp>
        <p:nvSpPr>
          <p:cNvPr id="14" name="TextBox 13"/>
          <p:cNvSpPr txBox="1"/>
          <p:nvPr/>
        </p:nvSpPr>
        <p:spPr>
          <a:xfrm>
            <a:off x="4475378" y="1700784"/>
            <a:ext cx="3332378" cy="3118104"/>
          </a:xfrm>
          <a:prstGeom prst="rect">
            <a:avLst/>
          </a:prstGeom>
          <a:noFill/>
        </p:spPr>
        <p:txBody>
          <a:bodyPr wrap="square" anchor="t" lIns="73152" rIns="73152" tIns="36576" bIns="36576">
            <a:spAutoFit/>
          </a:bodyPr>
          <a:lstStyle/>
          <a:p>
            <a:pPr algn="l" marL="292608" indent="-256032">
              <a:spcAft>
                <a:spcPts val="600"/>
              </a:spcAft>
              <a:buChar char="•"/>
            </a:pPr>
            <a:r>
              <a:rPr sz="1600" b="0" i="0">
                <a:solidFill>
                  <a:srgbClr val="0F172A"/>
                </a:solidFill>
                <a:latin typeface="Arial"/>
              </a:rPr>
              <a:t>No house edge, but fees, spreads and pro market makers, incl. Kalshi's own ⁵</a:t>
            </a:r>
          </a:p>
          <a:p>
            <a:pPr algn="l" marL="292608" indent="-256032">
              <a:spcAft>
                <a:spcPts val="600"/>
              </a:spcAft>
              <a:buChar char="•"/>
            </a:pPr>
            <a:r>
              <a:rPr sz="1600" b="0" i="0">
                <a:solidFill>
                  <a:srgbClr val="0F172A"/>
                </a:solidFill>
                <a:latin typeface="Arial"/>
              </a:rPr>
              <a:t>CFTC checks integrity, not fair prices or gambling harm; 18+ ⁶</a:t>
            </a:r>
          </a:p>
          <a:p>
            <a:pPr algn="l" marL="292608" indent="-256032">
              <a:spcAft>
                <a:spcPts val="600"/>
              </a:spcAft>
              <a:buChar char="•"/>
            </a:pPr>
            <a:r>
              <a:rPr sz="1600" b="0" i="0">
                <a:solidFill>
                  <a:srgbClr val="0F172A"/>
                </a:solidFill>
                <a:latin typeface="Arial"/>
              </a:rPr>
              <a:t>Courts split on state power (3rd vs 9th Cir.) ⁷</a:t>
            </a:r>
          </a:p>
          <a:p>
            <a:pPr algn="l" marL="292608" indent="-256032">
              <a:spcAft>
                <a:spcPts val="600"/>
              </a:spcAft>
              <a:buChar char="•"/>
            </a:pPr>
            <a:r>
              <a:rPr sz="1600" b="1" i="0">
                <a:solidFill>
                  <a:srgbClr val="0F172A"/>
                </a:solidFill>
                <a:latin typeface="Arial"/>
              </a:rPr>
              <a:t>Ours: ~5.0% cost per trade; 91% of the move before the news</a:t>
            </a:r>
          </a:p>
        </p:txBody>
      </p:sp>
      <p:sp>
        <p:nvSpPr>
          <p:cNvPr id="15" name="Rounded Rectangle 14"/>
          <p:cNvSpPr/>
          <p:nvPr/>
        </p:nvSpPr>
        <p:spPr>
          <a:xfrm>
            <a:off x="8127796" y="1170432"/>
            <a:ext cx="3606698" cy="3721608"/>
          </a:xfrm>
          <a:prstGeom prst="roundRect">
            <a:avLst>
              <a:gd name="adj" fmla="val 6000"/>
            </a:avLst>
          </a:prstGeom>
          <a:solidFill>
            <a:srgbClr val="FFFFFF"/>
          </a:solidFill>
          <a:ln w="15875">
            <a:solidFill>
              <a:srgbClr val="DC262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127796" y="1170432"/>
            <a:ext cx="109728" cy="3721608"/>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310676" y="1243584"/>
            <a:ext cx="3332378" cy="457200"/>
          </a:xfrm>
          <a:prstGeom prst="rect">
            <a:avLst/>
          </a:prstGeom>
          <a:noFill/>
        </p:spPr>
        <p:txBody>
          <a:bodyPr wrap="square" anchor="t" lIns="73152" rIns="73152" tIns="36576" bIns="36576">
            <a:spAutoFit/>
          </a:bodyPr>
          <a:lstStyle/>
          <a:p>
            <a:pPr algn="l">
              <a:spcAft>
                <a:spcPts val="0"/>
              </a:spcAft>
            </a:pPr>
            <a:r>
              <a:rPr sz="1800" b="1" i="0">
                <a:solidFill>
                  <a:srgbClr val="DC2626"/>
                </a:solidFill>
                <a:latin typeface="Arial"/>
              </a:rPr>
              <a:t>3  Betting causes harm</a:t>
            </a:r>
          </a:p>
        </p:txBody>
      </p:sp>
      <p:sp>
        <p:nvSpPr>
          <p:cNvPr id="18" name="TextBox 17"/>
          <p:cNvSpPr txBox="1"/>
          <p:nvPr/>
        </p:nvSpPr>
        <p:spPr>
          <a:xfrm>
            <a:off x="8310676" y="1700784"/>
            <a:ext cx="3332378" cy="3118104"/>
          </a:xfrm>
          <a:prstGeom prst="rect">
            <a:avLst/>
          </a:prstGeom>
          <a:noFill/>
        </p:spPr>
        <p:txBody>
          <a:bodyPr wrap="square" anchor="t" lIns="73152" rIns="73152" tIns="36576" bIns="36576">
            <a:spAutoFit/>
          </a:bodyPr>
          <a:lstStyle/>
          <a:p>
            <a:pPr algn="l" marL="292608" indent="-256032">
              <a:spcAft>
                <a:spcPts val="600"/>
              </a:spcAft>
              <a:buChar char="•"/>
            </a:pPr>
            <a:r>
              <a:rPr sz="1600" b="0" i="0">
                <a:solidFill>
                  <a:srgbClr val="0F172A"/>
                </a:solidFill>
                <a:latin typeface="Arial"/>
              </a:rPr>
              <a:t>~80M adults with gambling disorder or problem gambling ⁸</a:t>
            </a:r>
          </a:p>
          <a:p>
            <a:pPr algn="l" marL="292608" indent="-256032">
              <a:spcAft>
                <a:spcPts val="600"/>
              </a:spcAft>
              <a:buChar char="•"/>
            </a:pPr>
            <a:r>
              <a:rPr sz="1600" b="0" i="0">
                <a:solidFill>
                  <a:srgbClr val="0F172A"/>
                </a:solidFill>
                <a:latin typeface="Arial"/>
              </a:rPr>
              <a:t>Online betting: credit scores −2.75 pts, bankruptcies +~10% ⁹</a:t>
            </a:r>
          </a:p>
        </p:txBody>
      </p:sp>
      <p:sp>
        <p:nvSpPr>
          <p:cNvPr id="19" name="Rounded Rectangle 18"/>
          <p:cNvSpPr/>
          <p:nvPr/>
        </p:nvSpPr>
        <p:spPr>
          <a:xfrm>
            <a:off x="457200" y="4974336"/>
            <a:ext cx="11277295" cy="502920"/>
          </a:xfrm>
          <a:prstGeom prst="roundRect">
            <a:avLst>
              <a:gd name="adj" fmla="val 12000"/>
            </a:avLst>
          </a:prstGeom>
          <a:solidFill>
            <a:srgbClr val="FEF3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48640" y="4974336"/>
            <a:ext cx="11094415" cy="502920"/>
          </a:xfrm>
          <a:prstGeom prst="rect">
            <a:avLst/>
          </a:prstGeom>
          <a:noFill/>
        </p:spPr>
        <p:txBody>
          <a:bodyPr wrap="square" anchor="ctr" lIns="73152" rIns="73152" tIns="36576" bIns="36576">
            <a:spAutoFit/>
          </a:bodyPr>
          <a:lstStyle/>
          <a:p>
            <a:pPr algn="l">
              <a:spcAft>
                <a:spcPts val="0"/>
              </a:spcAft>
            </a:pPr>
            <a:r>
              <a:rPr sz="2000" b="0" i="0">
                <a:solidFill>
                  <a:srgbClr val="0F172A"/>
                </a:solidFill>
                <a:latin typeface="Arial"/>
              </a:rPr>
              <a:t>Consumers need education and protection, not betting tips</a:t>
            </a:r>
          </a:p>
        </p:txBody>
      </p:sp>
      <p:sp>
        <p:nvSpPr>
          <p:cNvPr id="21" name="TextBox 20"/>
          <p:cNvSpPr txBox="1"/>
          <p:nvPr/>
        </p:nvSpPr>
        <p:spPr>
          <a:xfrm>
            <a:off x="457200" y="5513832"/>
            <a:ext cx="11277295" cy="841248"/>
          </a:xfrm>
          <a:prstGeom prst="rect">
            <a:avLst/>
          </a:prstGeom>
          <a:noFill/>
        </p:spPr>
        <p:txBody>
          <a:bodyPr wrap="square" anchor="t" lIns="73152" rIns="73152" tIns="36576" bIns="36576">
            <a:spAutoFit/>
          </a:bodyPr>
          <a:lstStyle/>
          <a:p>
            <a:pPr algn="l">
              <a:spcAft>
                <a:spcPts val="0"/>
              </a:spcAft>
            </a:pPr>
            <a:r>
              <a:rPr sz="1000" b="0" i="0">
                <a:solidFill>
                  <a:srgbClr val="64748B"/>
                </a:solidFill>
                <a:latin typeface="Arial"/>
              </a:rPr>
              <a:t>¹ Pew Research, 23 Sep 2026 (The Block data)   ² NEXTPredict / TickerTracker, Sep–Oct 2026   ³ Robinhood Q2 2026 results; Coinbase, 28 Jan 2026   ⁴ Kalshi, 7 May 2026; Bloomberg, 31 Aug 2026   ⁵ Kalshi fee schedule &amp; Rule 2.12; CFTC affiliate proposal 2026   ⁶ DCM core principles; NBA letter to CFTC, 30 Apr 2026   ⁷ KalshiEX v. Flaherty (3d Cir., 6 Apr 2026); KalshiEX v. Assad (9th Cir., 28 Aug 2026)   ⁸ Lancet Public Health 2024   ⁹ Hollenbeck, Larsen &amp; Proserpio 2024 (SSRN)   Full list: docs/market_regulation.md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54864"/>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09728"/>
            <a:ext cx="11277295" cy="685800"/>
          </a:xfrm>
          <a:prstGeom prst="rect">
            <a:avLst/>
          </a:prstGeom>
          <a:noFill/>
        </p:spPr>
        <p:txBody>
          <a:bodyPr wrap="square" anchor="ctr" lIns="73152" rIns="73152" tIns="36576" bIns="36576">
            <a:spAutoFit/>
          </a:bodyPr>
          <a:lstStyle/>
          <a:p>
            <a:pPr algn="l">
              <a:spcAft>
                <a:spcPts val="0"/>
              </a:spcAft>
            </a:pPr>
            <a:r>
              <a:rPr sz="3000" b="1" i="0">
                <a:solidFill>
                  <a:srgbClr val="FFFFFF"/>
                </a:solidFill>
                <a:latin typeface="Arial"/>
              </a:rPr>
              <a:t>Research question, and what we built to test it</a:t>
            </a:r>
          </a:p>
        </p:txBody>
      </p:sp>
      <p:sp>
        <p:nvSpPr>
          <p:cNvPr id="5" name="TextBox 4"/>
          <p:cNvSpPr txBox="1"/>
          <p:nvPr/>
        </p:nvSpPr>
        <p:spPr>
          <a:xfrm>
            <a:off x="457200" y="6446520"/>
            <a:ext cx="9144000" cy="320040"/>
          </a:xfrm>
          <a:prstGeom prst="rect">
            <a:avLst/>
          </a:prstGeom>
          <a:noFill/>
        </p:spPr>
        <p:txBody>
          <a:bodyPr wrap="square" anchor="t" lIns="73152" rIns="73152" tIns="36576" bIns="36576">
            <a:spAutoFit/>
          </a:bodyPr>
          <a:lstStyle/>
          <a:p>
            <a:pPr algn="l">
              <a:spcAft>
                <a:spcPts val="0"/>
              </a:spcAft>
            </a:pPr>
            <a:r>
              <a:rPr sz="1100" b="0" i="0">
                <a:solidFill>
                  <a:srgbClr val="64748B"/>
                </a:solidFill>
                <a:latin typeface="Arial"/>
              </a:rPr>
              <a:t>DASC7606C Group 12 · Market-Graded Learning: the closing price grades every component</a:t>
            </a:r>
          </a:p>
        </p:txBody>
      </p:sp>
      <p:sp>
        <p:nvSpPr>
          <p:cNvPr id="6" name="TextBox 5"/>
          <p:cNvSpPr txBox="1"/>
          <p:nvPr/>
        </p:nvSpPr>
        <p:spPr>
          <a:xfrm>
            <a:off x="10820095" y="6446520"/>
            <a:ext cx="914400" cy="320040"/>
          </a:xfrm>
          <a:prstGeom prst="rect">
            <a:avLst/>
          </a:prstGeom>
          <a:noFill/>
        </p:spPr>
        <p:txBody>
          <a:bodyPr wrap="square" anchor="t" lIns="73152" rIns="73152" tIns="36576" bIns="36576">
            <a:spAutoFit/>
          </a:bodyPr>
          <a:lstStyle/>
          <a:p>
            <a:pPr algn="r">
              <a:spcAft>
                <a:spcPts val="0"/>
              </a:spcAft>
            </a:pPr>
            <a:r>
              <a:rPr sz="1100" b="0" i="0">
                <a:solidFill>
                  <a:srgbClr val="64748B"/>
                </a:solidFill>
                <a:latin typeface="Arial"/>
              </a:rPr>
              <a:t>3</a:t>
            </a:r>
          </a:p>
        </p:txBody>
      </p:sp>
      <p:sp>
        <p:nvSpPr>
          <p:cNvPr id="7" name="Rounded Rectangle 6"/>
          <p:cNvSpPr/>
          <p:nvPr/>
        </p:nvSpPr>
        <p:spPr>
          <a:xfrm>
            <a:off x="457200" y="1188720"/>
            <a:ext cx="11277295" cy="868680"/>
          </a:xfrm>
          <a:prstGeom prst="roundRect">
            <a:avLst>
              <a:gd name="adj" fmla="val 12000"/>
            </a:avLst>
          </a:prstGeom>
          <a:solidFill>
            <a:srgbClr val="DBE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188720"/>
            <a:ext cx="11094415" cy="868680"/>
          </a:xfrm>
          <a:prstGeom prst="rect">
            <a:avLst/>
          </a:prstGeom>
          <a:noFill/>
        </p:spPr>
        <p:txBody>
          <a:bodyPr wrap="square" anchor="ctr" lIns="73152" rIns="73152" tIns="36576" bIns="36576">
            <a:spAutoFit/>
          </a:bodyPr>
          <a:lstStyle/>
          <a:p>
            <a:pPr algn="l">
              <a:spcAft>
                <a:spcPts val="0"/>
              </a:spcAft>
            </a:pPr>
            <a:r>
              <a:rPr sz="2600" b="0" i="0">
                <a:solidFill>
                  <a:srgbClr val="1E293B"/>
                </a:solidFill>
                <a:latin typeface="Arial"/>
              </a:rPr>
              <a:t>Can a consumer, even one armed with an AI agent and public news, beat the market?</a:t>
            </a:r>
          </a:p>
        </p:txBody>
      </p:sp>
      <p:sp>
        <p:nvSpPr>
          <p:cNvPr id="9" name="TextBox 8"/>
          <p:cNvSpPr txBox="1"/>
          <p:nvPr/>
        </p:nvSpPr>
        <p:spPr>
          <a:xfrm>
            <a:off x="457200" y="2194560"/>
            <a:ext cx="5212080" cy="3017520"/>
          </a:xfrm>
          <a:prstGeom prst="rect">
            <a:avLst/>
          </a:prstGeom>
          <a:noFill/>
        </p:spPr>
        <p:txBody>
          <a:bodyPr wrap="square" anchor="t" lIns="73152" rIns="73152" tIns="36576" bIns="36576">
            <a:spAutoFit/>
          </a:bodyPr>
          <a:lstStyle/>
          <a:p>
            <a:pPr algn="l">
              <a:spcAft>
                <a:spcPts val="600"/>
              </a:spcAft>
            </a:pPr>
            <a:r>
              <a:rPr sz="1700" b="1" i="0">
                <a:solidFill>
                  <a:srgbClr val="1E293B"/>
                </a:solidFill>
                <a:latin typeface="Arial"/>
              </a:rPr>
              <a:t>We built the strongest consumer we could:</a:t>
            </a:r>
          </a:p>
          <a:p>
            <a:pPr algn="l" marL="292608" indent="-256032">
              <a:spcAft>
                <a:spcPts val="600"/>
              </a:spcAft>
              <a:buChar char="•"/>
            </a:pPr>
            <a:r>
              <a:rPr sz="1700" b="0" i="0">
                <a:solidFill>
                  <a:srgbClr val="0F172A"/>
                </a:solidFill>
                <a:latin typeface="Arial"/>
              </a:rPr>
              <a:t>Public news: ESPN inactive lists and box scores, 3 seasons</a:t>
            </a:r>
          </a:p>
          <a:p>
            <a:pPr algn="l" marL="292608" indent="-256032">
              <a:spcAft>
                <a:spcPts val="600"/>
              </a:spcAft>
              <a:buChar char="•"/>
            </a:pPr>
            <a:r>
              <a:rPr sz="1700" b="0" i="0">
                <a:solidFill>
                  <a:srgbClr val="0F172A"/>
                </a:solidFill>
                <a:latin typeface="Arial"/>
              </a:rPr>
              <a:t>Trained models, incl. a neural net trained on the market's own moves</a:t>
            </a:r>
          </a:p>
          <a:p>
            <a:pPr algn="l" marL="292608" indent="-256032">
              <a:spcAft>
                <a:spcPts val="600"/>
              </a:spcAft>
              <a:buChar char="•"/>
            </a:pPr>
            <a:r>
              <a:rPr sz="1700" b="0" i="0">
                <a:solidFill>
                  <a:srgbClr val="0F172A"/>
                </a:solidFill>
                <a:latin typeface="Arial"/>
              </a:rPr>
              <a:t>LangGraph agent; code risk limits; gated rule learning; LLM tools</a:t>
            </a:r>
          </a:p>
          <a:p>
            <a:pPr algn="l" marL="292608" indent="-256032">
              <a:spcAft>
                <a:spcPts val="600"/>
              </a:spcAft>
              <a:buChar char="•"/>
            </a:pPr>
            <a:r>
              <a:rPr sz="1700" b="0" i="0">
                <a:solidFill>
                  <a:srgbClr val="0F172A"/>
                </a:solidFill>
                <a:latin typeface="Arial"/>
              </a:rPr>
              <a:t>Graded on 1,316 Kalshi games (~3.9M price rows); every order pays the recorded ask + fee</a:t>
            </a:r>
          </a:p>
        </p:txBody>
      </p:sp>
      <p:pic>
        <p:nvPicPr>
          <p:cNvPr id="10" name="Picture 9" descr="product_workflow.png"/>
          <p:cNvPicPr>
            <a:picLocks noChangeAspect="1"/>
          </p:cNvPicPr>
          <p:nvPr/>
        </p:nvPicPr>
        <p:blipFill>
          <a:blip r:embed="rId3"/>
          <a:stretch>
            <a:fillRect/>
          </a:stretch>
        </p:blipFill>
        <p:spPr>
          <a:xfrm>
            <a:off x="5806440" y="2254293"/>
            <a:ext cx="5928055" cy="2898053"/>
          </a:xfrm>
          <a:prstGeom prst="rect">
            <a:avLst/>
          </a:prstGeom>
        </p:spPr>
      </p:pic>
      <p:sp>
        <p:nvSpPr>
          <p:cNvPr id="11" name="Rounded Rectangle 10"/>
          <p:cNvSpPr/>
          <p:nvPr/>
        </p:nvSpPr>
        <p:spPr>
          <a:xfrm>
            <a:off x="457200" y="5349240"/>
            <a:ext cx="11277295" cy="868680"/>
          </a:xfrm>
          <a:prstGeom prst="roundRect">
            <a:avLst>
              <a:gd name="adj" fmla="val 12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5349240"/>
            <a:ext cx="10728655" cy="868680"/>
          </a:xfrm>
          <a:prstGeom prst="rect">
            <a:avLst/>
          </a:prstGeom>
          <a:noFill/>
        </p:spPr>
        <p:txBody>
          <a:bodyPr wrap="square" anchor="ctr" lIns="73152" rIns="73152" tIns="36576" bIns="36576">
            <a:spAutoFit/>
          </a:bodyPr>
          <a:lstStyle/>
          <a:p>
            <a:pPr algn="l">
              <a:spcAft>
                <a:spcPts val="0"/>
              </a:spcAft>
            </a:pPr>
            <a:r>
              <a:rPr sz="2100" b="1" i="0">
                <a:solidFill>
                  <a:srgbClr val="FFFFFF"/>
                </a:solidFill>
                <a:latin typeface="Arial"/>
              </a:rPr>
              <a:t>Answer: no.</a:t>
            </a:r>
            <a:r>
              <a:rPr sz="2100" b="0" i="0">
                <a:solidFill>
                  <a:srgbClr val="FFFFFF"/>
                </a:solidFill>
                <a:latin typeface="Arial"/>
              </a:rPr>
              <a:t> Tested with confidence intervals, never trading wins, so the product educates and protects instead.</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54864"/>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09728"/>
            <a:ext cx="11277295" cy="685800"/>
          </a:xfrm>
          <a:prstGeom prst="rect">
            <a:avLst/>
          </a:prstGeom>
          <a:noFill/>
        </p:spPr>
        <p:txBody>
          <a:bodyPr wrap="square" anchor="ctr" lIns="73152" rIns="73152" tIns="36576" bIns="36576">
            <a:spAutoFit/>
          </a:bodyPr>
          <a:lstStyle/>
          <a:p>
            <a:pPr algn="l">
              <a:spcAft>
                <a:spcPts val="0"/>
              </a:spcAft>
            </a:pPr>
            <a:r>
              <a:rPr sz="3000" b="1" i="0">
                <a:solidFill>
                  <a:srgbClr val="FFFFFF"/>
                </a:solidFill>
                <a:latin typeface="Arial"/>
              </a:rPr>
              <a:t>How the agent works: decide, learn, graded by the close</a:t>
            </a:r>
          </a:p>
        </p:txBody>
      </p:sp>
      <p:sp>
        <p:nvSpPr>
          <p:cNvPr id="5" name="TextBox 4"/>
          <p:cNvSpPr txBox="1"/>
          <p:nvPr/>
        </p:nvSpPr>
        <p:spPr>
          <a:xfrm>
            <a:off x="457200" y="6446520"/>
            <a:ext cx="9144000" cy="320040"/>
          </a:xfrm>
          <a:prstGeom prst="rect">
            <a:avLst/>
          </a:prstGeom>
          <a:noFill/>
        </p:spPr>
        <p:txBody>
          <a:bodyPr wrap="square" anchor="t" lIns="73152" rIns="73152" tIns="36576" bIns="36576">
            <a:spAutoFit/>
          </a:bodyPr>
          <a:lstStyle/>
          <a:p>
            <a:pPr algn="l">
              <a:spcAft>
                <a:spcPts val="0"/>
              </a:spcAft>
            </a:pPr>
            <a:r>
              <a:rPr sz="1100" b="0" i="0">
                <a:solidFill>
                  <a:srgbClr val="64748B"/>
                </a:solidFill>
                <a:latin typeface="Arial"/>
              </a:rPr>
              <a:t>DASC7606C Group 12 · Market-Graded Learning: the closing price grades every component</a:t>
            </a:r>
          </a:p>
        </p:txBody>
      </p:sp>
      <p:sp>
        <p:nvSpPr>
          <p:cNvPr id="6" name="TextBox 5"/>
          <p:cNvSpPr txBox="1"/>
          <p:nvPr/>
        </p:nvSpPr>
        <p:spPr>
          <a:xfrm>
            <a:off x="10820095" y="6446520"/>
            <a:ext cx="914400" cy="320040"/>
          </a:xfrm>
          <a:prstGeom prst="rect">
            <a:avLst/>
          </a:prstGeom>
          <a:noFill/>
        </p:spPr>
        <p:txBody>
          <a:bodyPr wrap="square" anchor="t" lIns="73152" rIns="73152" tIns="36576" bIns="36576">
            <a:spAutoFit/>
          </a:bodyPr>
          <a:lstStyle/>
          <a:p>
            <a:pPr algn="r">
              <a:spcAft>
                <a:spcPts val="0"/>
              </a:spcAft>
            </a:pPr>
            <a:r>
              <a:rPr sz="1100" b="0" i="0">
                <a:solidFill>
                  <a:srgbClr val="64748B"/>
                </a:solidFill>
                <a:latin typeface="Arial"/>
              </a:rPr>
              <a:t>4</a:t>
            </a:r>
          </a:p>
        </p:txBody>
      </p:sp>
      <p:pic>
        <p:nvPicPr>
          <p:cNvPr id="7" name="Picture 6" descr="agent_architecture.png"/>
          <p:cNvPicPr>
            <a:picLocks noChangeAspect="1"/>
          </p:cNvPicPr>
          <p:nvPr/>
        </p:nvPicPr>
        <p:blipFill>
          <a:blip r:embed="rId3"/>
          <a:stretch>
            <a:fillRect/>
          </a:stretch>
        </p:blipFill>
        <p:spPr>
          <a:xfrm>
            <a:off x="874978" y="1051560"/>
            <a:ext cx="10441738" cy="4206240"/>
          </a:xfrm>
          <a:prstGeom prst="rect">
            <a:avLst/>
          </a:prstGeom>
        </p:spPr>
      </p:pic>
      <p:sp>
        <p:nvSpPr>
          <p:cNvPr id="8" name="Rounded Rectangle 7"/>
          <p:cNvSpPr/>
          <p:nvPr/>
        </p:nvSpPr>
        <p:spPr>
          <a:xfrm>
            <a:off x="457200" y="5212080"/>
            <a:ext cx="2716453" cy="1051560"/>
          </a:xfrm>
          <a:prstGeom prst="roundRect">
            <a:avLst>
              <a:gd name="adj" fmla="val 12000"/>
            </a:avLst>
          </a:prstGeom>
          <a:solidFill>
            <a:srgbClr val="FEF3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 y="5212080"/>
            <a:ext cx="2533573" cy="1051560"/>
          </a:xfrm>
          <a:prstGeom prst="rect">
            <a:avLst/>
          </a:prstGeom>
          <a:noFill/>
        </p:spPr>
        <p:txBody>
          <a:bodyPr wrap="square" anchor="ctr" lIns="73152" rIns="73152" tIns="36576" bIns="36576">
            <a:spAutoFit/>
          </a:bodyPr>
          <a:lstStyle/>
          <a:p>
            <a:pPr algn="l">
              <a:spcAft>
                <a:spcPts val="0"/>
              </a:spcAft>
            </a:pPr>
            <a:r>
              <a:rPr sz="1400" b="1" i="0">
                <a:solidFill>
                  <a:srgbClr val="0F172A"/>
                </a:solidFill>
                <a:latin typeface="Arial"/>
              </a:rPr>
              <a:t>Autonomy:</a:t>
            </a:r>
            <a:r>
              <a:rPr sz="1400" b="0" i="0">
                <a:solidFill>
                  <a:srgbClr val="0F172A"/>
                </a:solidFill>
                <a:latin typeface="Arial"/>
              </a:rPr>
              <a:t> it decides when to act, what to look at, and whether to trade</a:t>
            </a:r>
          </a:p>
        </p:txBody>
      </p:sp>
      <p:sp>
        <p:nvSpPr>
          <p:cNvPr id="10" name="Rounded Rectangle 9"/>
          <p:cNvSpPr/>
          <p:nvPr/>
        </p:nvSpPr>
        <p:spPr>
          <a:xfrm>
            <a:off x="3310813" y="5212080"/>
            <a:ext cx="2716453" cy="1051560"/>
          </a:xfrm>
          <a:prstGeom prst="roundRect">
            <a:avLst>
              <a:gd name="adj" fmla="val 12000"/>
            </a:avLst>
          </a:prstGeom>
          <a:solidFill>
            <a:srgbClr val="FEF3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402253" y="5212080"/>
            <a:ext cx="2533573" cy="1051560"/>
          </a:xfrm>
          <a:prstGeom prst="rect">
            <a:avLst/>
          </a:prstGeom>
          <a:noFill/>
        </p:spPr>
        <p:txBody>
          <a:bodyPr wrap="square" anchor="ctr" lIns="73152" rIns="73152" tIns="36576" bIns="36576">
            <a:spAutoFit/>
          </a:bodyPr>
          <a:lstStyle/>
          <a:p>
            <a:pPr algn="l">
              <a:spcAft>
                <a:spcPts val="0"/>
              </a:spcAft>
            </a:pPr>
            <a:r>
              <a:rPr sz="1400" b="1" i="0">
                <a:solidFill>
                  <a:srgbClr val="0F172A"/>
                </a:solidFill>
                <a:latin typeface="Arial"/>
              </a:rPr>
              <a:t>Safety:</a:t>
            </a:r>
            <a:r>
              <a:rPr sz="1400" b="0" i="0">
                <a:solidFill>
                  <a:srgbClr val="0F172A"/>
                </a:solidFill>
                <a:latin typeface="Arial"/>
              </a:rPr>
              <a:t> code limits and a kill switch; </a:t>
            </a:r>
            <a:r>
              <a:rPr sz="1400" b="1" i="0">
                <a:solidFill>
                  <a:srgbClr val="0F172A"/>
                </a:solidFill>
                <a:latin typeface="Arial"/>
              </a:rPr>
              <a:t>9 / 9</a:t>
            </a:r>
            <a:r>
              <a:rPr sz="1400" b="0" i="0">
                <a:solidFill>
                  <a:srgbClr val="0F172A"/>
                </a:solidFill>
                <a:latin typeface="Arial"/>
              </a:rPr>
              <a:t> planted violations blocked</a:t>
            </a:r>
          </a:p>
        </p:txBody>
      </p:sp>
      <p:sp>
        <p:nvSpPr>
          <p:cNvPr id="12" name="Rounded Rectangle 11"/>
          <p:cNvSpPr/>
          <p:nvPr/>
        </p:nvSpPr>
        <p:spPr>
          <a:xfrm>
            <a:off x="6164427" y="5212080"/>
            <a:ext cx="2716453" cy="1051560"/>
          </a:xfrm>
          <a:prstGeom prst="roundRect">
            <a:avLst>
              <a:gd name="adj" fmla="val 12000"/>
            </a:avLst>
          </a:prstGeom>
          <a:solidFill>
            <a:srgbClr val="FEF3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255867" y="5212080"/>
            <a:ext cx="2533573" cy="1051560"/>
          </a:xfrm>
          <a:prstGeom prst="rect">
            <a:avLst/>
          </a:prstGeom>
          <a:noFill/>
        </p:spPr>
        <p:txBody>
          <a:bodyPr wrap="square" anchor="ctr" lIns="73152" rIns="73152" tIns="36576" bIns="36576">
            <a:spAutoFit/>
          </a:bodyPr>
          <a:lstStyle/>
          <a:p>
            <a:pPr algn="l">
              <a:spcAft>
                <a:spcPts val="0"/>
              </a:spcAft>
            </a:pPr>
            <a:r>
              <a:rPr sz="1400" b="1" i="0">
                <a:solidFill>
                  <a:srgbClr val="0F172A"/>
                </a:solidFill>
                <a:latin typeface="Arial"/>
              </a:rPr>
              <a:t>Learning:</a:t>
            </a:r>
            <a:r>
              <a:rPr sz="1400" b="0" i="0">
                <a:solidFill>
                  <a:srgbClr val="0F172A"/>
                </a:solidFill>
                <a:latin typeface="Arial"/>
              </a:rPr>
              <a:t> rules graded by the market on held-out days, placebo-audited</a:t>
            </a:r>
          </a:p>
        </p:txBody>
      </p:sp>
      <p:sp>
        <p:nvSpPr>
          <p:cNvPr id="14" name="Rounded Rectangle 13"/>
          <p:cNvSpPr/>
          <p:nvPr/>
        </p:nvSpPr>
        <p:spPr>
          <a:xfrm>
            <a:off x="9018041" y="5212080"/>
            <a:ext cx="2716453" cy="1051560"/>
          </a:xfrm>
          <a:prstGeom prst="roundRect">
            <a:avLst>
              <a:gd name="adj" fmla="val 12000"/>
            </a:avLst>
          </a:prstGeom>
          <a:solidFill>
            <a:srgbClr val="FEF3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109481" y="5212080"/>
            <a:ext cx="2533573" cy="1051560"/>
          </a:xfrm>
          <a:prstGeom prst="rect">
            <a:avLst/>
          </a:prstGeom>
          <a:noFill/>
        </p:spPr>
        <p:txBody>
          <a:bodyPr wrap="square" anchor="ctr" lIns="73152" rIns="73152" tIns="36576" bIns="36576">
            <a:spAutoFit/>
          </a:bodyPr>
          <a:lstStyle/>
          <a:p>
            <a:pPr algn="l">
              <a:spcAft>
                <a:spcPts val="0"/>
              </a:spcAft>
            </a:pPr>
            <a:r>
              <a:rPr sz="1400" b="1" i="0">
                <a:solidFill>
                  <a:srgbClr val="0F172A"/>
                </a:solidFill>
                <a:latin typeface="Arial"/>
              </a:rPr>
              <a:t>People in the loop:</a:t>
            </a:r>
            <a:r>
              <a:rPr sz="1400" b="0" i="0">
                <a:solidFill>
                  <a:srgbClr val="0F172A"/>
                </a:solidFill>
                <a:latin typeface="Arial"/>
              </a:rPr>
              <a:t> humans confirm; Coach and League teach with its analysis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54864"/>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09728"/>
            <a:ext cx="11277295" cy="685800"/>
          </a:xfrm>
          <a:prstGeom prst="rect">
            <a:avLst/>
          </a:prstGeom>
          <a:noFill/>
        </p:spPr>
        <p:txBody>
          <a:bodyPr wrap="square" anchor="ctr" lIns="73152" rIns="73152" tIns="36576" bIns="36576">
            <a:spAutoFit/>
          </a:bodyPr>
          <a:lstStyle/>
          <a:p>
            <a:pPr algn="l">
              <a:spcAft>
                <a:spcPts val="0"/>
              </a:spcAft>
            </a:pPr>
            <a:r>
              <a:rPr sz="3000" b="1" i="0">
                <a:solidFill>
                  <a:srgbClr val="FFFFFF"/>
                </a:solidFill>
                <a:latin typeface="Arial"/>
              </a:rPr>
              <a:t>Market-Graded Learning: the closing price is the grader</a:t>
            </a:r>
          </a:p>
        </p:txBody>
      </p:sp>
      <p:sp>
        <p:nvSpPr>
          <p:cNvPr id="5" name="TextBox 4"/>
          <p:cNvSpPr txBox="1"/>
          <p:nvPr/>
        </p:nvSpPr>
        <p:spPr>
          <a:xfrm>
            <a:off x="457200" y="6446520"/>
            <a:ext cx="9144000" cy="320040"/>
          </a:xfrm>
          <a:prstGeom prst="rect">
            <a:avLst/>
          </a:prstGeom>
          <a:noFill/>
        </p:spPr>
        <p:txBody>
          <a:bodyPr wrap="square" anchor="t" lIns="73152" rIns="73152" tIns="36576" bIns="36576">
            <a:spAutoFit/>
          </a:bodyPr>
          <a:lstStyle/>
          <a:p>
            <a:pPr algn="l">
              <a:spcAft>
                <a:spcPts val="0"/>
              </a:spcAft>
            </a:pPr>
            <a:r>
              <a:rPr sz="1100" b="0" i="0">
                <a:solidFill>
                  <a:srgbClr val="64748B"/>
                </a:solidFill>
                <a:latin typeface="Arial"/>
              </a:rPr>
              <a:t>DASC7606C Group 12 · Market-Graded Learning: the closing price grades every component</a:t>
            </a:r>
          </a:p>
        </p:txBody>
      </p:sp>
      <p:sp>
        <p:nvSpPr>
          <p:cNvPr id="6" name="TextBox 5"/>
          <p:cNvSpPr txBox="1"/>
          <p:nvPr/>
        </p:nvSpPr>
        <p:spPr>
          <a:xfrm>
            <a:off x="10820095" y="6446520"/>
            <a:ext cx="914400" cy="320040"/>
          </a:xfrm>
          <a:prstGeom prst="rect">
            <a:avLst/>
          </a:prstGeom>
          <a:noFill/>
        </p:spPr>
        <p:txBody>
          <a:bodyPr wrap="square" anchor="t" lIns="73152" rIns="73152" tIns="36576" bIns="36576">
            <a:spAutoFit/>
          </a:bodyPr>
          <a:lstStyle/>
          <a:p>
            <a:pPr algn="r">
              <a:spcAft>
                <a:spcPts val="0"/>
              </a:spcAft>
            </a:pPr>
            <a:r>
              <a:rPr sz="1100" b="0" i="0">
                <a:solidFill>
                  <a:srgbClr val="64748B"/>
                </a:solidFill>
                <a:latin typeface="Arial"/>
              </a:rPr>
              <a:t>5</a:t>
            </a:r>
          </a:p>
        </p:txBody>
      </p:sp>
      <p:graphicFrame>
        <p:nvGraphicFramePr>
          <p:cNvPr id="7" name="Table 6"/>
          <p:cNvGraphicFramePr>
            <a:graphicFrameLocks noGrp="1"/>
          </p:cNvGraphicFramePr>
          <p:nvPr/>
        </p:nvGraphicFramePr>
        <p:xfrm>
          <a:off x="457200" y="1188720"/>
          <a:ext cx="11277295" cy="3959352"/>
        </p:xfrm>
        <a:graphic>
          <a:graphicData uri="http://schemas.openxmlformats.org/drawingml/2006/table">
            <a:tbl>
              <a:tblPr firstRow="1" bandRow="1">
                <a:tableStyleId>{5C22544A-7EE6-4342-B048-85BDC9FD1C3A}</a:tableStyleId>
              </a:tblPr>
              <a:tblGrid>
                <a:gridCol w="3246120"/>
                <a:gridCol w="3703320"/>
                <a:gridCol w="4327855"/>
              </a:tblGrid>
              <a:tr h="438912">
                <a:tc>
                  <a:txBody>
                    <a:bodyPr wrap="square"/>
                    <a:lstStyle/>
                    <a:p>
                      <a:pPr algn="l"/>
                      <a:r>
                        <a:rPr sz="1600" b="1" i="0">
                          <a:solidFill>
                            <a:srgbClr val="FFFFFF"/>
                          </a:solidFill>
                          <a:latin typeface="Arial"/>
                        </a:rPr>
                        <a:t>Component</a:t>
                      </a:r>
                    </a:p>
                  </a:txBody>
                  <a:tcPr marL="73152" marR="73152" marT="36576" marB="36576" anchor="ctr">
                    <a:solidFill>
                      <a:srgbClr val="1E293B"/>
                    </a:solidFill>
                  </a:tcPr>
                </a:tc>
                <a:tc>
                  <a:txBody>
                    <a:bodyPr wrap="square"/>
                    <a:lstStyle/>
                    <a:p>
                      <a:pPr algn="l"/>
                      <a:r>
                        <a:rPr sz="1600" b="1" i="0">
                          <a:solidFill>
                            <a:srgbClr val="FFFFFF"/>
                          </a:solidFill>
                          <a:latin typeface="Arial"/>
                        </a:rPr>
                        <a:t>Market's test</a:t>
                      </a:r>
                    </a:p>
                  </a:txBody>
                  <a:tcPr marL="73152" marR="73152" marT="36576" marB="36576" anchor="ctr">
                    <a:solidFill>
                      <a:srgbClr val="1E293B"/>
                    </a:solidFill>
                  </a:tcPr>
                </a:tc>
                <a:tc>
                  <a:txBody>
                    <a:bodyPr wrap="square"/>
                    <a:lstStyle/>
                    <a:p>
                      <a:pPr algn="l"/>
                      <a:r>
                        <a:rPr sz="1600" b="1" i="0">
                          <a:solidFill>
                            <a:srgbClr val="FFFFFF"/>
                          </a:solidFill>
                          <a:latin typeface="Arial"/>
                        </a:rPr>
                        <a:t>Verdict</a:t>
                      </a:r>
                    </a:p>
                  </a:txBody>
                  <a:tcPr marL="73152" marR="73152" marT="36576" marB="36576" anchor="ctr">
                    <a:solidFill>
                      <a:srgbClr val="1E293B"/>
                    </a:solidFill>
                  </a:tcPr>
                </a:tc>
              </a:tr>
              <a:tr h="502920">
                <a:tc>
                  <a:txBody>
                    <a:bodyPr wrap="square"/>
                    <a:lstStyle/>
                    <a:p>
                      <a:pPr algn="l"/>
                      <a:r>
                        <a:rPr sz="1600" b="0" i="0">
                          <a:solidFill>
                            <a:srgbClr val="0F172A"/>
                          </a:solidFill>
                          <a:latin typeface="Arial"/>
                        </a:rPr>
                        <a:t>Raw win model (M4) trading</a:t>
                      </a:r>
                    </a:p>
                  </a:txBody>
                  <a:tcPr marL="73152" marR="73152" marT="36576" marB="36576" anchor="ctr">
                    <a:solidFill>
                      <a:srgbClr val="F1F5F9"/>
                    </a:solidFill>
                  </a:tcPr>
                </a:tc>
                <a:tc>
                  <a:txBody>
                    <a:bodyPr wrap="square"/>
                    <a:lstStyle/>
                    <a:p>
                      <a:pPr algn="l"/>
                      <a:r>
                        <a:rPr sz="1600" b="0" i="0">
                          <a:solidFill>
                            <a:srgbClr val="0F172A"/>
                          </a:solidFill>
                          <a:latin typeface="Arial"/>
                        </a:rPr>
                        <a:t>Beat never trading</a:t>
                      </a:r>
                    </a:p>
                  </a:txBody>
                  <a:tcPr marL="73152" marR="73152" marT="36576" marB="36576" anchor="ctr">
                    <a:solidFill>
                      <a:srgbClr val="F1F5F9"/>
                    </a:solidFill>
                  </a:tcPr>
                </a:tc>
                <a:tc>
                  <a:txBody>
                    <a:bodyPr wrap="square"/>
                    <a:lstStyle/>
                    <a:p>
                      <a:pPr algn="l"/>
                      <a:r>
                        <a:rPr sz="1600" b="1" i="0">
                          <a:solidFill>
                            <a:srgbClr val="0F172A"/>
                          </a:solidFill>
                          <a:latin typeface="Arial"/>
                        </a:rPr>
                        <a:t>Failed:</a:t>
                      </a:r>
                      <a:r>
                        <a:rPr sz="1600" b="0" i="0">
                          <a:solidFill>
                            <a:srgbClr val="0F172A"/>
                          </a:solidFill>
                          <a:latin typeface="Arial"/>
                        </a:rPr>
                        <a:t> −$2,475, CI below 0</a:t>
                      </a:r>
                    </a:p>
                  </a:txBody>
                  <a:tcPr marL="73152" marR="73152" marT="36576" marB="36576" anchor="ctr">
                    <a:solidFill>
                      <a:srgbClr val="F1F5F9"/>
                    </a:solidFill>
                  </a:tcPr>
                </a:tc>
              </a:tr>
              <a:tr h="502920">
                <a:tc>
                  <a:txBody>
                    <a:bodyPr wrap="square"/>
                    <a:lstStyle/>
                    <a:p>
                      <a:pPr algn="l"/>
                      <a:r>
                        <a:rPr sz="1600" b="0" i="0">
                          <a:solidFill>
                            <a:srgbClr val="0F172A"/>
                          </a:solidFill>
                          <a:latin typeface="Arial"/>
                        </a:rPr>
                        <a:t>Recalibrated M4</a:t>
                      </a:r>
                    </a:p>
                  </a:txBody>
                  <a:tcPr marL="73152" marR="73152" marT="36576" marB="36576" anchor="ctr">
                    <a:solidFill>
                      <a:srgbClr val="FFFFFF"/>
                    </a:solidFill>
                  </a:tcPr>
                </a:tc>
                <a:tc>
                  <a:txBody>
                    <a:bodyPr wrap="square"/>
                    <a:lstStyle/>
                    <a:p>
                      <a:pPr algn="l"/>
                      <a:r>
                        <a:rPr sz="1600" b="0" i="0">
                          <a:solidFill>
                            <a:srgbClr val="0F172A"/>
                          </a:solidFill>
                          <a:latin typeface="Arial"/>
                        </a:rPr>
                        <a:t>Beat the market's Brier score</a:t>
                      </a:r>
                    </a:p>
                  </a:txBody>
                  <a:tcPr marL="73152" marR="73152" marT="36576" marB="36576" anchor="ctr">
                    <a:solidFill>
                      <a:srgbClr val="FFFFFF"/>
                    </a:solidFill>
                  </a:tcPr>
                </a:tc>
                <a:tc>
                  <a:txBody>
                    <a:bodyPr wrap="square"/>
                    <a:lstStyle/>
                    <a:p>
                      <a:pPr algn="l"/>
                      <a:r>
                        <a:rPr sz="1600" b="1" i="0">
                          <a:solidFill>
                            <a:srgbClr val="0F172A"/>
                          </a:solidFill>
                          <a:latin typeface="Arial"/>
                        </a:rPr>
                        <a:t>Failed:</a:t>
                      </a:r>
                      <a:r>
                        <a:rPr sz="1600" b="0" i="0">
                          <a:solidFill>
                            <a:srgbClr val="0F172A"/>
                          </a:solidFill>
                          <a:latin typeface="Arial"/>
                        </a:rPr>
                        <a:t> 0.185 vs market 0.164</a:t>
                      </a:r>
                    </a:p>
                  </a:txBody>
                  <a:tcPr marL="73152" marR="73152" marT="36576" marB="36576" anchor="ctr">
                    <a:solidFill>
                      <a:srgbClr val="FFFFFF"/>
                    </a:solidFill>
                  </a:tcPr>
                </a:tc>
              </a:tr>
              <a:tr h="502920">
                <a:tc>
                  <a:txBody>
                    <a:bodyPr wrap="square"/>
                    <a:lstStyle/>
                    <a:p>
                      <a:pPr algn="l"/>
                      <a:r>
                        <a:rPr sz="1600" b="0" i="0">
                          <a:solidFill>
                            <a:srgbClr val="0F172A"/>
                          </a:solidFill>
                          <a:latin typeface="Arial"/>
                        </a:rPr>
                        <a:t>M6 neural impact model</a:t>
                      </a:r>
                    </a:p>
                  </a:txBody>
                  <a:tcPr marL="73152" marR="73152" marT="36576" marB="36576" anchor="ctr">
                    <a:solidFill>
                      <a:srgbClr val="F1F5F9"/>
                    </a:solidFill>
                  </a:tcPr>
                </a:tc>
                <a:tc>
                  <a:txBody>
                    <a:bodyPr wrap="square"/>
                    <a:lstStyle/>
                    <a:p>
                      <a:pPr algn="l"/>
                      <a:r>
                        <a:rPr sz="1600" b="0" i="0">
                          <a:solidFill>
                            <a:srgbClr val="0F172A"/>
                          </a:solidFill>
                          <a:latin typeface="Arial"/>
                        </a:rPr>
                        <a:t>Beat “the price won't move”</a:t>
                      </a:r>
                    </a:p>
                  </a:txBody>
                  <a:tcPr marL="73152" marR="73152" marT="36576" marB="36576" anchor="ctr">
                    <a:solidFill>
                      <a:srgbClr val="F1F5F9"/>
                    </a:solidFill>
                  </a:tcPr>
                </a:tc>
                <a:tc>
                  <a:txBody>
                    <a:bodyPr wrap="square"/>
                    <a:lstStyle/>
                    <a:p>
                      <a:pPr algn="l"/>
                      <a:r>
                        <a:rPr sz="1600" b="1" i="0">
                          <a:solidFill>
                            <a:srgbClr val="0F172A"/>
                          </a:solidFill>
                          <a:latin typeface="Arial"/>
                        </a:rPr>
                        <a:t>Failed:</a:t>
                      </a:r>
                      <a:r>
                        <a:rPr sz="1600" b="0" i="0">
                          <a:solidFill>
                            <a:srgbClr val="0F172A"/>
                          </a:solidFill>
                          <a:latin typeface="Arial"/>
                        </a:rPr>
                        <a:t> 9 of 9 configurations worse</a:t>
                      </a:r>
                    </a:p>
                  </a:txBody>
                  <a:tcPr marL="73152" marR="73152" marT="36576" marB="36576" anchor="ctr">
                    <a:solidFill>
                      <a:srgbClr val="F1F5F9"/>
                    </a:solidFill>
                  </a:tcPr>
                </a:tc>
              </a:tr>
              <a:tr h="502920">
                <a:tc>
                  <a:txBody>
                    <a:bodyPr wrap="square"/>
                    <a:lstStyle/>
                    <a:p>
                      <a:pPr algn="l"/>
                      <a:r>
                        <a:rPr sz="1600" b="0" i="0">
                          <a:solidFill>
                            <a:srgbClr val="0F172A"/>
                          </a:solidFill>
                          <a:latin typeface="Arial"/>
                        </a:rPr>
                        <a:t>Market anchor</a:t>
                      </a:r>
                    </a:p>
                  </a:txBody>
                  <a:tcPr marL="73152" marR="73152" marT="36576" marB="36576" anchor="ctr">
                    <a:solidFill>
                      <a:srgbClr val="DCFCE7"/>
                    </a:solidFill>
                  </a:tcPr>
                </a:tc>
                <a:tc>
                  <a:txBody>
                    <a:bodyPr wrap="square"/>
                    <a:lstStyle/>
                    <a:p>
                      <a:pPr algn="l"/>
                      <a:r>
                        <a:rPr sz="1600" b="0" i="0">
                          <a:solidFill>
                            <a:srgbClr val="0F172A"/>
                          </a:solidFill>
                          <a:latin typeface="Arial"/>
                        </a:rPr>
                        <a:t>Beat the raw model</a:t>
                      </a:r>
                    </a:p>
                  </a:txBody>
                  <a:tcPr marL="73152" marR="73152" marT="36576" marB="36576" anchor="ctr">
                    <a:solidFill>
                      <a:srgbClr val="DCFCE7"/>
                    </a:solidFill>
                  </a:tcPr>
                </a:tc>
                <a:tc>
                  <a:txBody>
                    <a:bodyPr wrap="square"/>
                    <a:lstStyle/>
                    <a:p>
                      <a:pPr algn="l"/>
                      <a:r>
                        <a:rPr sz="1600" b="1" i="0">
                          <a:solidFill>
                            <a:srgbClr val="0F172A"/>
                          </a:solidFill>
                          <a:latin typeface="Arial"/>
                        </a:rPr>
                        <a:t>Passed:</a:t>
                      </a:r>
                      <a:r>
                        <a:rPr sz="1600" b="0" i="0">
                          <a:solidFill>
                            <a:srgbClr val="0F172A"/>
                          </a:solidFill>
                          <a:latin typeface="Arial"/>
                        </a:rPr>
                        <a:t> +$2,450, p = 0.002</a:t>
                      </a:r>
                    </a:p>
                  </a:txBody>
                  <a:tcPr marL="73152" marR="73152" marT="36576" marB="36576" anchor="ctr">
                    <a:solidFill>
                      <a:srgbClr val="DCFCE7"/>
                    </a:solidFill>
                  </a:tcPr>
                </a:tc>
              </a:tr>
              <a:tr h="502920">
                <a:tc>
                  <a:txBody>
                    <a:bodyPr wrap="square"/>
                    <a:lstStyle/>
                    <a:p>
                      <a:pPr algn="l"/>
                      <a:r>
                        <a:rPr sz="1600" b="0" i="0">
                          <a:solidFill>
                            <a:srgbClr val="0F172A"/>
                          </a:solidFill>
                          <a:latin typeface="Arial"/>
                        </a:rPr>
                        <a:t>Gated rule learning</a:t>
                      </a:r>
                    </a:p>
                  </a:txBody>
                  <a:tcPr marL="73152" marR="73152" marT="36576" marB="36576" anchor="ctr">
                    <a:solidFill>
                      <a:srgbClr val="F1F5F9"/>
                    </a:solidFill>
                  </a:tcPr>
                </a:tc>
                <a:tc>
                  <a:txBody>
                    <a:bodyPr wrap="square"/>
                    <a:lstStyle/>
                    <a:p>
                      <a:pPr algn="l"/>
                      <a:r>
                        <a:rPr sz="1600" b="0" i="0">
                          <a:solidFill>
                            <a:srgbClr val="0F172A"/>
                          </a:solidFill>
                          <a:latin typeface="Arial"/>
                        </a:rPr>
                        <a:t>Beat no learning on CLV $</a:t>
                      </a:r>
                    </a:p>
                  </a:txBody>
                  <a:tcPr marL="73152" marR="73152" marT="36576" marB="36576" anchor="ctr">
                    <a:solidFill>
                      <a:srgbClr val="F1F5F9"/>
                    </a:solidFill>
                  </a:tcPr>
                </a:tc>
                <a:tc>
                  <a:txBody>
                    <a:bodyPr wrap="square"/>
                    <a:lstStyle/>
                    <a:p>
                      <a:pPr algn="l"/>
                      <a:r>
                        <a:rPr sz="1600" b="1" i="0">
                          <a:solidFill>
                            <a:srgbClr val="0F172A"/>
                          </a:solidFill>
                          <a:latin typeface="Arial"/>
                        </a:rPr>
                        <a:t>Passed (trades less):</a:t>
                      </a:r>
                      <a:r>
                        <a:rPr sz="1600" b="0" i="0">
                          <a:solidFill>
                            <a:srgbClr val="0F172A"/>
                          </a:solidFill>
                          <a:latin typeface="Arial"/>
                        </a:rPr>
                        <a:t> +$39 CLV, p = 0.001</a:t>
                      </a:r>
                    </a:p>
                  </a:txBody>
                  <a:tcPr marL="73152" marR="73152" marT="36576" marB="36576" anchor="ctr">
                    <a:solidFill>
                      <a:srgbClr val="F1F5F9"/>
                    </a:solidFill>
                  </a:tcPr>
                </a:tc>
              </a:tr>
              <a:tr h="502920">
                <a:tc>
                  <a:txBody>
                    <a:bodyPr wrap="square"/>
                    <a:lstStyle/>
                    <a:p>
                      <a:pPr algn="l"/>
                      <a:r>
                        <a:rPr sz="1600" b="0" i="0">
                          <a:solidFill>
                            <a:srgbClr val="0F172A"/>
                          </a:solidFill>
                          <a:latin typeface="Arial"/>
                        </a:rPr>
                        <a:t>LLM agent, Coach, gate audit …</a:t>
                      </a:r>
                    </a:p>
                  </a:txBody>
                  <a:tcPr marL="73152" marR="73152" marT="36576" marB="36576" anchor="ctr">
                    <a:solidFill>
                      <a:srgbClr val="FFFFFF"/>
                    </a:solidFill>
                  </a:tcPr>
                </a:tc>
                <a:tc>
                  <a:txBody>
                    <a:bodyPr wrap="square"/>
                    <a:lstStyle/>
                    <a:p>
                      <a:pPr algn="l"/>
                      <a:r>
                        <a:rPr sz="1600" b="0" i="0">
                          <a:solidFill>
                            <a:srgbClr val="0F172A"/>
                          </a:solidFill>
                          <a:latin typeface="Arial"/>
                        </a:rPr>
                        <a:t>Same gates (slide 11)</a:t>
                      </a:r>
                    </a:p>
                  </a:txBody>
                  <a:tcPr marL="73152" marR="73152" marT="36576" marB="36576" anchor="ctr">
                    <a:solidFill>
                      <a:srgbClr val="FFFFFF"/>
                    </a:solidFill>
                  </a:tcPr>
                </a:tc>
                <a:tc>
                  <a:txBody>
                    <a:bodyPr wrap="square"/>
                    <a:lstStyle/>
                    <a:p>
                      <a:pPr algn="l"/>
                      <a:r>
                        <a:rPr sz="1600" b="1" i="0">
                          <a:solidFill>
                            <a:srgbClr val="0F172A"/>
                          </a:solidFill>
                          <a:latin typeface="Arial"/>
                        </a:rPr>
                        <a:t>Help only by trading less</a:t>
                      </a:r>
                    </a:p>
                  </a:txBody>
                  <a:tcPr marL="73152" marR="73152" marT="36576" marB="36576" anchor="ctr">
                    <a:solidFill>
                      <a:srgbClr val="FFFFFF"/>
                    </a:solidFill>
                  </a:tcPr>
                </a:tc>
              </a:tr>
              <a:tr h="502920">
                <a:tc>
                  <a:txBody>
                    <a:bodyPr wrap="square"/>
                    <a:lstStyle/>
                    <a:p>
                      <a:pPr algn="l"/>
                      <a:r>
                        <a:rPr sz="1600" b="0" i="0">
                          <a:solidFill>
                            <a:srgbClr val="0F172A"/>
                          </a:solidFill>
                          <a:latin typeface="Arial"/>
                        </a:rPr>
                        <a:t>A consumer</a:t>
                      </a:r>
                    </a:p>
                  </a:txBody>
                  <a:tcPr marL="73152" marR="73152" marT="36576" marB="36576" anchor="ctr">
                    <a:solidFill>
                      <a:srgbClr val="F1F5F9"/>
                    </a:solidFill>
                  </a:tcPr>
                </a:tc>
                <a:tc>
                  <a:txBody>
                    <a:bodyPr wrap="square"/>
                    <a:lstStyle/>
                    <a:p>
                      <a:pPr algn="l"/>
                      <a:r>
                        <a:rPr sz="1600" b="0" i="0">
                          <a:solidFill>
                            <a:srgbClr val="0F172A"/>
                          </a:solidFill>
                          <a:latin typeface="Arial"/>
                        </a:rPr>
                        <a:t>Beat ~1.92¢ cost; news 91% priced</a:t>
                      </a:r>
                    </a:p>
                  </a:txBody>
                  <a:tcPr marL="73152" marR="73152" marT="36576" marB="36576" anchor="ctr">
                    <a:solidFill>
                      <a:srgbClr val="F1F5F9"/>
                    </a:solidFill>
                  </a:tcPr>
                </a:tc>
                <a:tc>
                  <a:txBody>
                    <a:bodyPr wrap="square"/>
                    <a:lstStyle/>
                    <a:p>
                      <a:pPr algn="l"/>
                      <a:r>
                        <a:rPr sz="1600" b="1" i="0">
                          <a:solidFill>
                            <a:srgbClr val="0F172A"/>
                          </a:solidFill>
                          <a:latin typeface="Arial"/>
                        </a:rPr>
                        <a:t>Structurally hard</a:t>
                      </a:r>
                    </a:p>
                  </a:txBody>
                  <a:tcPr marL="73152" marR="73152" marT="36576" marB="36576" anchor="ctr">
                    <a:solidFill>
                      <a:srgbClr val="F1F5F9"/>
                    </a:solidFill>
                  </a:tcPr>
                </a:tc>
              </a:tr>
            </a:tbl>
          </a:graphicData>
        </a:graphic>
      </p:graphicFrame>
      <p:sp>
        <p:nvSpPr>
          <p:cNvPr id="8" name="Rounded Rectangle 7"/>
          <p:cNvSpPr/>
          <p:nvPr/>
        </p:nvSpPr>
        <p:spPr>
          <a:xfrm>
            <a:off x="457200" y="5440680"/>
            <a:ext cx="11277295" cy="777240"/>
          </a:xfrm>
          <a:prstGeom prst="roundRect">
            <a:avLst>
              <a:gd name="adj" fmla="val 12000"/>
            </a:avLst>
          </a:prstGeom>
          <a:solidFill>
            <a:srgbClr val="FEF3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 y="5440680"/>
            <a:ext cx="11094415" cy="777240"/>
          </a:xfrm>
          <a:prstGeom prst="rect">
            <a:avLst/>
          </a:prstGeom>
          <a:noFill/>
        </p:spPr>
        <p:txBody>
          <a:bodyPr wrap="square" anchor="ctr" lIns="73152" rIns="73152" tIns="36576" bIns="36576">
            <a:spAutoFit/>
          </a:bodyPr>
          <a:lstStyle/>
          <a:p>
            <a:pPr algn="l">
              <a:spcAft>
                <a:spcPts val="0"/>
              </a:spcAft>
            </a:pPr>
            <a:r>
              <a:rPr sz="1900" b="0" i="0">
                <a:solidFill>
                  <a:srgbClr val="0F172A"/>
                </a:solidFill>
                <a:latin typeface="Arial"/>
              </a:rPr>
              <a:t>Only the components that defer to the market survive, so the product teaches, lets people practise and enforces limits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54864"/>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09728"/>
            <a:ext cx="11277295" cy="685800"/>
          </a:xfrm>
          <a:prstGeom prst="rect">
            <a:avLst/>
          </a:prstGeom>
          <a:noFill/>
        </p:spPr>
        <p:txBody>
          <a:bodyPr wrap="square" anchor="ctr" lIns="73152" rIns="73152" tIns="36576" bIns="36576">
            <a:spAutoFit/>
          </a:bodyPr>
          <a:lstStyle/>
          <a:p>
            <a:pPr algn="l">
              <a:spcAft>
                <a:spcPts val="0"/>
              </a:spcAft>
            </a:pPr>
            <a:r>
              <a:rPr sz="3000" b="1" i="0">
                <a:solidFill>
                  <a:srgbClr val="FFFFFF"/>
                </a:solidFill>
                <a:latin typeface="Arial"/>
              </a:rPr>
              <a:t>Data: five public sources, split in time, no look-ahead</a:t>
            </a:r>
          </a:p>
        </p:txBody>
      </p:sp>
      <p:sp>
        <p:nvSpPr>
          <p:cNvPr id="5" name="TextBox 4"/>
          <p:cNvSpPr txBox="1"/>
          <p:nvPr/>
        </p:nvSpPr>
        <p:spPr>
          <a:xfrm>
            <a:off x="457200" y="6446520"/>
            <a:ext cx="9144000" cy="320040"/>
          </a:xfrm>
          <a:prstGeom prst="rect">
            <a:avLst/>
          </a:prstGeom>
          <a:noFill/>
        </p:spPr>
        <p:txBody>
          <a:bodyPr wrap="square" anchor="t" lIns="73152" rIns="73152" tIns="36576" bIns="36576">
            <a:spAutoFit/>
          </a:bodyPr>
          <a:lstStyle/>
          <a:p>
            <a:pPr algn="l">
              <a:spcAft>
                <a:spcPts val="0"/>
              </a:spcAft>
            </a:pPr>
            <a:r>
              <a:rPr sz="1100" b="0" i="0">
                <a:solidFill>
                  <a:srgbClr val="64748B"/>
                </a:solidFill>
                <a:latin typeface="Arial"/>
              </a:rPr>
              <a:t>DASC7606C Group 12 · Market-Graded Learning: the closing price grades every component</a:t>
            </a:r>
          </a:p>
        </p:txBody>
      </p:sp>
      <p:sp>
        <p:nvSpPr>
          <p:cNvPr id="6" name="TextBox 5"/>
          <p:cNvSpPr txBox="1"/>
          <p:nvPr/>
        </p:nvSpPr>
        <p:spPr>
          <a:xfrm>
            <a:off x="10820095" y="6446520"/>
            <a:ext cx="914400" cy="320040"/>
          </a:xfrm>
          <a:prstGeom prst="rect">
            <a:avLst/>
          </a:prstGeom>
          <a:noFill/>
        </p:spPr>
        <p:txBody>
          <a:bodyPr wrap="square" anchor="t" lIns="73152" rIns="73152" tIns="36576" bIns="36576">
            <a:spAutoFit/>
          </a:bodyPr>
          <a:lstStyle/>
          <a:p>
            <a:pPr algn="r">
              <a:spcAft>
                <a:spcPts val="0"/>
              </a:spcAft>
            </a:pPr>
            <a:r>
              <a:rPr sz="1100" b="0" i="0">
                <a:solidFill>
                  <a:srgbClr val="64748B"/>
                </a:solidFill>
                <a:latin typeface="Arial"/>
              </a:rPr>
              <a:t>6</a:t>
            </a:r>
          </a:p>
        </p:txBody>
      </p:sp>
      <p:graphicFrame>
        <p:nvGraphicFramePr>
          <p:cNvPr id="7" name="Table 6"/>
          <p:cNvGraphicFramePr>
            <a:graphicFrameLocks noGrp="1"/>
          </p:cNvGraphicFramePr>
          <p:nvPr/>
        </p:nvGraphicFramePr>
        <p:xfrm>
          <a:off x="457200" y="1188720"/>
          <a:ext cx="11277295" cy="2697480"/>
        </p:xfrm>
        <a:graphic>
          <a:graphicData uri="http://schemas.openxmlformats.org/drawingml/2006/table">
            <a:tbl>
              <a:tblPr firstRow="1" bandRow="1">
                <a:tableStyleId>{5C22544A-7EE6-4342-B048-85BDC9FD1C3A}</a:tableStyleId>
              </a:tblPr>
              <a:tblGrid>
                <a:gridCol w="2834640"/>
                <a:gridCol w="3566160"/>
                <a:gridCol w="1645920"/>
                <a:gridCol w="3230575"/>
              </a:tblGrid>
              <a:tr h="411480">
                <a:tc>
                  <a:txBody>
                    <a:bodyPr wrap="square"/>
                    <a:lstStyle/>
                    <a:p>
                      <a:pPr algn="l"/>
                      <a:r>
                        <a:rPr sz="1500" b="1" i="0">
                          <a:solidFill>
                            <a:srgbClr val="FFFFFF"/>
                          </a:solidFill>
                          <a:latin typeface="Arial"/>
                        </a:rPr>
                        <a:t>Source</a:t>
                      </a:r>
                    </a:p>
                  </a:txBody>
                  <a:tcPr marL="73152" marR="73152" marT="36576" marB="36576" anchor="ctr">
                    <a:solidFill>
                      <a:srgbClr val="1E293B"/>
                    </a:solidFill>
                  </a:tcPr>
                </a:tc>
                <a:tc>
                  <a:txBody>
                    <a:bodyPr wrap="square"/>
                    <a:lstStyle/>
                    <a:p>
                      <a:pPr algn="l"/>
                      <a:r>
                        <a:rPr sz="1500" b="1" i="0">
                          <a:solidFill>
                            <a:srgbClr val="FFFFFF"/>
                          </a:solidFill>
                          <a:latin typeface="Arial"/>
                        </a:rPr>
                        <a:t>What it contains</a:t>
                      </a:r>
                    </a:p>
                  </a:txBody>
                  <a:tcPr marL="73152" marR="73152" marT="36576" marB="36576" anchor="ctr">
                    <a:solidFill>
                      <a:srgbClr val="1E293B"/>
                    </a:solidFill>
                  </a:tcPr>
                </a:tc>
                <a:tc>
                  <a:txBody>
                    <a:bodyPr wrap="square"/>
                    <a:lstStyle/>
                    <a:p>
                      <a:pPr algn="ctr"/>
                      <a:r>
                        <a:rPr sz="1500" b="1" i="0">
                          <a:solidFill>
                            <a:srgbClr val="FFFFFF"/>
                          </a:solidFill>
                          <a:latin typeface="Arial"/>
                        </a:rPr>
                        <a:t>Rows</a:t>
                      </a:r>
                    </a:p>
                  </a:txBody>
                  <a:tcPr marL="73152" marR="73152" marT="36576" marB="36576" anchor="ctr">
                    <a:solidFill>
                      <a:srgbClr val="1E293B"/>
                    </a:solidFill>
                  </a:tcPr>
                </a:tc>
                <a:tc>
                  <a:txBody>
                    <a:bodyPr wrap="square"/>
                    <a:lstStyle/>
                    <a:p>
                      <a:pPr algn="l"/>
                      <a:r>
                        <a:rPr sz="1500" b="1" i="0">
                          <a:solidFill>
                            <a:srgbClr val="FFFFFF"/>
                          </a:solidFill>
                          <a:latin typeface="Arial"/>
                        </a:rPr>
                        <a:t>Used for</a:t>
                      </a:r>
                    </a:p>
                  </a:txBody>
                  <a:tcPr marL="73152" marR="73152" marT="36576" marB="36576" anchor="ctr">
                    <a:solidFill>
                      <a:srgbClr val="1E293B"/>
                    </a:solidFill>
                  </a:tcPr>
                </a:tc>
              </a:tr>
              <a:tr h="457200">
                <a:tc>
                  <a:txBody>
                    <a:bodyPr wrap="square"/>
                    <a:lstStyle/>
                    <a:p>
                      <a:pPr algn="l"/>
                      <a:r>
                        <a:rPr sz="1500" b="0" i="0">
                          <a:solidFill>
                            <a:srgbClr val="0F172A"/>
                          </a:solidFill>
                          <a:latin typeface="Arial"/>
                        </a:rPr>
                        <a:t>Kalshi prices (KXNBAGAME)</a:t>
                      </a:r>
                    </a:p>
                  </a:txBody>
                  <a:tcPr marL="73152" marR="73152" marT="36576" marB="36576" anchor="ctr">
                    <a:solidFill>
                      <a:srgbClr val="F1F5F9"/>
                    </a:solidFill>
                  </a:tcPr>
                </a:tc>
                <a:tc>
                  <a:txBody>
                    <a:bodyPr wrap="square"/>
                    <a:lstStyle/>
                    <a:p>
                      <a:pPr algn="l"/>
                      <a:r>
                        <a:rPr sz="1500" b="0" i="0">
                          <a:solidFill>
                            <a:srgbClr val="0F172A"/>
                          </a:solidFill>
                          <a:latin typeface="Arial"/>
                        </a:rPr>
                        <a:t>1-minute bid, ask, volume</a:t>
                      </a:r>
                    </a:p>
                  </a:txBody>
                  <a:tcPr marL="73152" marR="73152" marT="36576" marB="36576" anchor="ctr">
                    <a:solidFill>
                      <a:srgbClr val="F1F5F9"/>
                    </a:solidFill>
                  </a:tcPr>
                </a:tc>
                <a:tc>
                  <a:txBody>
                    <a:bodyPr wrap="square"/>
                    <a:lstStyle/>
                    <a:p>
                      <a:pPr algn="ctr"/>
                      <a:r>
                        <a:rPr sz="1500" b="0" i="0">
                          <a:solidFill>
                            <a:srgbClr val="0F172A"/>
                          </a:solidFill>
                          <a:latin typeface="Arial"/>
                        </a:rPr>
                        <a:t>3,938,368</a:t>
                      </a:r>
                    </a:p>
                  </a:txBody>
                  <a:tcPr marL="73152" marR="73152" marT="36576" marB="36576" anchor="ctr">
                    <a:solidFill>
                      <a:srgbClr val="F1F5F9"/>
                    </a:solidFill>
                  </a:tcPr>
                </a:tc>
                <a:tc>
                  <a:txBody>
                    <a:bodyPr wrap="square"/>
                    <a:lstStyle/>
                    <a:p>
                      <a:pPr algn="l"/>
                      <a:r>
                        <a:rPr sz="1500" b="0" i="0">
                          <a:solidFill>
                            <a:srgbClr val="0F172A"/>
                          </a:solidFill>
                          <a:latin typeface="Arial"/>
                        </a:rPr>
                        <a:t>Fills, costs, CLV, anchor, M6</a:t>
                      </a:r>
                    </a:p>
                  </a:txBody>
                  <a:tcPr marL="73152" marR="73152" marT="36576" marB="36576" anchor="ctr">
                    <a:solidFill>
                      <a:srgbClr val="F1F5F9"/>
                    </a:solidFill>
                  </a:tcPr>
                </a:tc>
              </a:tr>
              <a:tr h="457200">
                <a:tc>
                  <a:txBody>
                    <a:bodyPr wrap="square"/>
                    <a:lstStyle/>
                    <a:p>
                      <a:pPr algn="l"/>
                      <a:r>
                        <a:rPr sz="1500" b="0" i="0">
                          <a:solidFill>
                            <a:srgbClr val="0F172A"/>
                          </a:solidFill>
                          <a:latin typeface="Arial"/>
                        </a:rPr>
                        <a:t>Kalshi markets, settlements</a:t>
                      </a:r>
                    </a:p>
                  </a:txBody>
                  <a:tcPr marL="73152" marR="73152" marT="36576" marB="36576" anchor="ctr">
                    <a:solidFill>
                      <a:srgbClr val="FFFFFF"/>
                    </a:solidFill>
                  </a:tcPr>
                </a:tc>
                <a:tc>
                  <a:txBody>
                    <a:bodyPr wrap="square"/>
                    <a:lstStyle/>
                    <a:p>
                      <a:pPr algn="l"/>
                      <a:r>
                        <a:rPr sz="1500" b="0" i="0">
                          <a:solidFill>
                            <a:srgbClr val="0F172A"/>
                          </a:solidFill>
                          <a:latin typeface="Arial"/>
                        </a:rPr>
                        <a:t>Market → game; yes / no result</a:t>
                      </a:r>
                    </a:p>
                  </a:txBody>
                  <a:tcPr marL="73152" marR="73152" marT="36576" marB="36576" anchor="ctr">
                    <a:solidFill>
                      <a:srgbClr val="FFFFFF"/>
                    </a:solidFill>
                  </a:tcPr>
                </a:tc>
                <a:tc>
                  <a:txBody>
                    <a:bodyPr wrap="square"/>
                    <a:lstStyle/>
                    <a:p>
                      <a:pPr algn="ctr"/>
                      <a:r>
                        <a:rPr sz="1500" b="0" i="0">
                          <a:solidFill>
                            <a:srgbClr val="0F172A"/>
                          </a:solidFill>
                          <a:latin typeface="Arial"/>
                        </a:rPr>
                        <a:t>2,632 / 2,634</a:t>
                      </a:r>
                    </a:p>
                  </a:txBody>
                  <a:tcPr marL="73152" marR="73152" marT="36576" marB="36576" anchor="ctr">
                    <a:solidFill>
                      <a:srgbClr val="FFFFFF"/>
                    </a:solidFill>
                  </a:tcPr>
                </a:tc>
                <a:tc>
                  <a:txBody>
                    <a:bodyPr wrap="square"/>
                    <a:lstStyle/>
                    <a:p>
                      <a:pPr algn="l"/>
                      <a:r>
                        <a:rPr sz="1500" b="0" i="0">
                          <a:solidFill>
                            <a:srgbClr val="0F172A"/>
                          </a:solidFill>
                          <a:latin typeface="Arial"/>
                        </a:rPr>
                        <a:t>Settling P&amp;L</a:t>
                      </a:r>
                    </a:p>
                  </a:txBody>
                  <a:tcPr marL="73152" marR="73152" marT="36576" marB="36576" anchor="ctr">
                    <a:solidFill>
                      <a:srgbClr val="FFFFFF"/>
                    </a:solidFill>
                  </a:tcPr>
                </a:tc>
              </a:tr>
              <a:tr h="457200">
                <a:tc>
                  <a:txBody>
                    <a:bodyPr wrap="square"/>
                    <a:lstStyle/>
                    <a:p>
                      <a:pPr algn="l"/>
                      <a:r>
                        <a:rPr sz="1500" b="0" i="0">
                          <a:solidFill>
                            <a:srgbClr val="0F172A"/>
                          </a:solidFill>
                          <a:latin typeface="Arial"/>
                        </a:rPr>
                        <a:t>ESPN games</a:t>
                      </a:r>
                    </a:p>
                  </a:txBody>
                  <a:tcPr marL="73152" marR="73152" marT="36576" marB="36576" anchor="ctr">
                    <a:solidFill>
                      <a:srgbClr val="F1F5F9"/>
                    </a:solidFill>
                  </a:tcPr>
                </a:tc>
                <a:tc>
                  <a:txBody>
                    <a:bodyPr wrap="square"/>
                    <a:lstStyle/>
                    <a:p>
                      <a:pPr algn="l"/>
                      <a:r>
                        <a:rPr sz="1500" b="0" i="0">
                          <a:solidFill>
                            <a:srgbClr val="0F172A"/>
                          </a:solidFill>
                          <a:latin typeface="Arial"/>
                        </a:rPr>
                        <a:t>Schedule, tip time, score, 3 seasons</a:t>
                      </a:r>
                    </a:p>
                  </a:txBody>
                  <a:tcPr marL="73152" marR="73152" marT="36576" marB="36576" anchor="ctr">
                    <a:solidFill>
                      <a:srgbClr val="F1F5F9"/>
                    </a:solidFill>
                  </a:tcPr>
                </a:tc>
                <a:tc>
                  <a:txBody>
                    <a:bodyPr wrap="square"/>
                    <a:lstStyle/>
                    <a:p>
                      <a:pPr algn="ctr"/>
                      <a:r>
                        <a:rPr sz="1500" b="0" i="0">
                          <a:solidFill>
                            <a:srgbClr val="0F172A"/>
                          </a:solidFill>
                          <a:latin typeface="Arial"/>
                        </a:rPr>
                        <a:t>3,962</a:t>
                      </a:r>
                    </a:p>
                  </a:txBody>
                  <a:tcPr marL="73152" marR="73152" marT="36576" marB="36576" anchor="ctr">
                    <a:solidFill>
                      <a:srgbClr val="F1F5F9"/>
                    </a:solidFill>
                  </a:tcPr>
                </a:tc>
                <a:tc>
                  <a:txBody>
                    <a:bodyPr wrap="square"/>
                    <a:lstStyle/>
                    <a:p>
                      <a:pPr algn="l"/>
                      <a:r>
                        <a:rPr sz="1500" b="0" i="0">
                          <a:solidFill>
                            <a:srgbClr val="0F172A"/>
                          </a:solidFill>
                          <a:latin typeface="Arial"/>
                        </a:rPr>
                        <a:t>Splits, M4 labels</a:t>
                      </a:r>
                    </a:p>
                  </a:txBody>
                  <a:tcPr marL="73152" marR="73152" marT="36576" marB="36576" anchor="ctr">
                    <a:solidFill>
                      <a:srgbClr val="F1F5F9"/>
                    </a:solidFill>
                  </a:tcPr>
                </a:tc>
              </a:tr>
              <a:tr h="457200">
                <a:tc>
                  <a:txBody>
                    <a:bodyPr wrap="square"/>
                    <a:lstStyle/>
                    <a:p>
                      <a:pPr algn="l"/>
                      <a:r>
                        <a:rPr sz="1500" b="0" i="0">
                          <a:solidFill>
                            <a:srgbClr val="0F172A"/>
                          </a:solidFill>
                          <a:latin typeface="Arial"/>
                        </a:rPr>
                        <a:t>ESPN box scores</a:t>
                      </a:r>
                    </a:p>
                  </a:txBody>
                  <a:tcPr marL="73152" marR="73152" marT="36576" marB="36576" anchor="ctr">
                    <a:solidFill>
                      <a:srgbClr val="FFFFFF"/>
                    </a:solidFill>
                  </a:tcPr>
                </a:tc>
                <a:tc>
                  <a:txBody>
                    <a:bodyPr wrap="square"/>
                    <a:lstStyle/>
                    <a:p>
                      <a:pPr algn="l"/>
                      <a:r>
                        <a:rPr sz="1500" b="0" i="0">
                          <a:solidFill>
                            <a:srgbClr val="0F172A"/>
                          </a:solidFill>
                          <a:latin typeface="Arial"/>
                        </a:rPr>
                        <a:t>Minutes, points, shots per player</a:t>
                      </a:r>
                    </a:p>
                  </a:txBody>
                  <a:tcPr marL="73152" marR="73152" marT="36576" marB="36576" anchor="ctr">
                    <a:solidFill>
                      <a:srgbClr val="FFFFFF"/>
                    </a:solidFill>
                  </a:tcPr>
                </a:tc>
                <a:tc>
                  <a:txBody>
                    <a:bodyPr wrap="square"/>
                    <a:lstStyle/>
                    <a:p>
                      <a:pPr algn="ctr"/>
                      <a:r>
                        <a:rPr sz="1500" b="0" i="0">
                          <a:solidFill>
                            <a:srgbClr val="0F172A"/>
                          </a:solidFill>
                          <a:latin typeface="Arial"/>
                        </a:rPr>
                        <a:t>85,422</a:t>
                      </a:r>
                    </a:p>
                  </a:txBody>
                  <a:tcPr marL="73152" marR="73152" marT="36576" marB="36576" anchor="ctr">
                    <a:solidFill>
                      <a:srgbClr val="FFFFFF"/>
                    </a:solidFill>
                  </a:tcPr>
                </a:tc>
                <a:tc>
                  <a:txBody>
                    <a:bodyPr wrap="square"/>
                    <a:lstStyle/>
                    <a:p>
                      <a:pPr algn="l"/>
                      <a:r>
                        <a:rPr sz="1500" b="0" i="0">
                          <a:solidFill>
                            <a:srgbClr val="0F172A"/>
                          </a:solidFill>
                          <a:latin typeface="Arial"/>
                        </a:rPr>
                        <a:t>M1–M4 features</a:t>
                      </a:r>
                    </a:p>
                  </a:txBody>
                  <a:tcPr marL="73152" marR="73152" marT="36576" marB="36576" anchor="ctr">
                    <a:solidFill>
                      <a:srgbClr val="FFFFFF"/>
                    </a:solidFill>
                  </a:tcPr>
                </a:tc>
              </a:tr>
              <a:tr h="457200">
                <a:tc>
                  <a:txBody>
                    <a:bodyPr wrap="square"/>
                    <a:lstStyle/>
                    <a:p>
                      <a:pPr algn="l"/>
                      <a:r>
                        <a:rPr sz="1500" b="0" i="0">
                          <a:solidFill>
                            <a:srgbClr val="0F172A"/>
                          </a:solidFill>
                          <a:latin typeface="Arial"/>
                        </a:rPr>
                        <a:t>ESPN inactive lists</a:t>
                      </a:r>
                    </a:p>
                  </a:txBody>
                  <a:tcPr marL="73152" marR="73152" marT="36576" marB="36576" anchor="ctr">
                    <a:solidFill>
                      <a:srgbClr val="F1F5F9"/>
                    </a:solidFill>
                  </a:tcPr>
                </a:tc>
                <a:tc>
                  <a:txBody>
                    <a:bodyPr wrap="square"/>
                    <a:lstStyle/>
                    <a:p>
                      <a:pPr algn="l"/>
                      <a:r>
                        <a:rPr sz="1500" b="0" i="0">
                          <a:solidFill>
                            <a:srgbClr val="0F172A"/>
                          </a:solidFill>
                          <a:latin typeface="Arial"/>
                        </a:rPr>
                        <a:t>Who is out and why (our news)</a:t>
                      </a:r>
                    </a:p>
                  </a:txBody>
                  <a:tcPr marL="73152" marR="73152" marT="36576" marB="36576" anchor="ctr">
                    <a:solidFill>
                      <a:srgbClr val="F1F5F9"/>
                    </a:solidFill>
                  </a:tcPr>
                </a:tc>
                <a:tc>
                  <a:txBody>
                    <a:bodyPr wrap="square"/>
                    <a:lstStyle/>
                    <a:p>
                      <a:pPr algn="ctr"/>
                      <a:r>
                        <a:rPr sz="1500" b="0" i="0">
                          <a:solidFill>
                            <a:srgbClr val="0F172A"/>
                          </a:solidFill>
                          <a:latin typeface="Arial"/>
                        </a:rPr>
                        <a:t>3,371</a:t>
                      </a:r>
                    </a:p>
                  </a:txBody>
                  <a:tcPr marL="73152" marR="73152" marT="36576" marB="36576" anchor="ctr">
                    <a:solidFill>
                      <a:srgbClr val="F1F5F9"/>
                    </a:solidFill>
                  </a:tcPr>
                </a:tc>
                <a:tc>
                  <a:txBody>
                    <a:bodyPr wrap="square"/>
                    <a:lstStyle/>
                    <a:p>
                      <a:pPr algn="l"/>
                      <a:r>
                        <a:rPr sz="1500" b="0" i="0">
                          <a:solidFill>
                            <a:srgbClr val="0F172A"/>
                          </a:solidFill>
                          <a:latin typeface="Arial"/>
                        </a:rPr>
                        <a:t>News trigger; M4 after news</a:t>
                      </a:r>
                    </a:p>
                  </a:txBody>
                  <a:tcPr marL="73152" marR="73152" marT="36576" marB="36576" anchor="ctr">
                    <a:solidFill>
                      <a:srgbClr val="F1F5F9"/>
                    </a:solidFill>
                  </a:tcPr>
                </a:tc>
              </a:tr>
            </a:tbl>
          </a:graphicData>
        </a:graphic>
      </p:graphicFrame>
      <p:sp>
        <p:nvSpPr>
          <p:cNvPr id="8" name="TextBox 7"/>
          <p:cNvSpPr txBox="1"/>
          <p:nvPr/>
        </p:nvSpPr>
        <p:spPr>
          <a:xfrm>
            <a:off x="457200" y="4069080"/>
            <a:ext cx="5501487" cy="2240280"/>
          </a:xfrm>
          <a:prstGeom prst="rect">
            <a:avLst/>
          </a:prstGeom>
          <a:noFill/>
        </p:spPr>
        <p:txBody>
          <a:bodyPr wrap="square" anchor="t" lIns="73152" rIns="73152" tIns="36576" bIns="36576">
            <a:spAutoFit/>
          </a:bodyPr>
          <a:lstStyle/>
          <a:p>
            <a:pPr algn="l">
              <a:spcAft>
                <a:spcPts val="300"/>
              </a:spcAft>
            </a:pPr>
            <a:r>
              <a:rPr sz="1600" b="1" i="0">
                <a:solidFill>
                  <a:srgbClr val="1E293B"/>
                </a:solidFill>
                <a:latin typeface="Arial"/>
              </a:rPr>
              <a:t>Time splits</a:t>
            </a:r>
          </a:p>
          <a:p>
            <a:pPr algn="l" marL="292608" indent="-256032">
              <a:spcAft>
                <a:spcPts val="300"/>
              </a:spcAft>
              <a:buChar char="•"/>
            </a:pPr>
            <a:r>
              <a:rPr sz="1600" b="0" i="0">
                <a:solidFill>
                  <a:srgbClr val="0F172A"/>
                </a:solidFill>
                <a:latin typeface="Arial"/>
              </a:rPr>
              <a:t>Models train before 1 Feb 2026; agent develops Nov–Jan</a:t>
            </a:r>
          </a:p>
          <a:p>
            <a:pPr algn="l" marL="292608" indent="-256032">
              <a:spcAft>
                <a:spcPts val="300"/>
              </a:spcAft>
              <a:buChar char="•"/>
            </a:pPr>
            <a:r>
              <a:rPr sz="1600" b="0" i="0">
                <a:solidFill>
                  <a:srgbClr val="0F172A"/>
                </a:solidFill>
                <a:latin typeface="Arial"/>
              </a:rPr>
              <a:t>Test 1 Feb – 12 Apr (501 games); walk-forward retrains monthly</a:t>
            </a:r>
          </a:p>
          <a:p>
            <a:pPr algn="l" marL="292608" indent="-256032">
              <a:spcAft>
                <a:spcPts val="300"/>
              </a:spcAft>
              <a:buChar char="•"/>
            </a:pPr>
            <a:r>
              <a:rPr sz="1600" b="0" i="0">
                <a:solidFill>
                  <a:srgbClr val="0F172A"/>
                </a:solidFill>
                <a:latin typeface="Arial"/>
              </a:rPr>
              <a:t>Play-offs (87 games): holdout scored once</a:t>
            </a:r>
          </a:p>
        </p:txBody>
      </p:sp>
      <p:sp>
        <p:nvSpPr>
          <p:cNvPr id="9" name="TextBox 8"/>
          <p:cNvSpPr txBox="1"/>
          <p:nvPr/>
        </p:nvSpPr>
        <p:spPr>
          <a:xfrm>
            <a:off x="6233007" y="4069080"/>
            <a:ext cx="5501487" cy="2240280"/>
          </a:xfrm>
          <a:prstGeom prst="rect">
            <a:avLst/>
          </a:prstGeom>
          <a:noFill/>
        </p:spPr>
        <p:txBody>
          <a:bodyPr wrap="square" anchor="t" lIns="73152" rIns="73152" tIns="36576" bIns="36576">
            <a:spAutoFit/>
          </a:bodyPr>
          <a:lstStyle/>
          <a:p>
            <a:pPr algn="l">
              <a:spcAft>
                <a:spcPts val="300"/>
              </a:spcAft>
            </a:pPr>
            <a:r>
              <a:rPr sz="1600" b="1" i="0">
                <a:solidFill>
                  <a:srgbClr val="DC2626"/>
                </a:solidFill>
                <a:latin typeface="Arial"/>
              </a:rPr>
              <a:t>No look-ahead, real costs</a:t>
            </a:r>
          </a:p>
          <a:p>
            <a:pPr algn="l" marL="292608" indent="-256032">
              <a:spcAft>
                <a:spcPts val="300"/>
              </a:spcAft>
              <a:buChar char="•"/>
            </a:pPr>
            <a:r>
              <a:rPr sz="1600" b="0" i="0">
                <a:solidFill>
                  <a:srgbClr val="0F172A"/>
                </a:solidFill>
                <a:latin typeface="Arial"/>
              </a:rPr>
              <a:t>Agent sees only what was published by then</a:t>
            </a:r>
          </a:p>
          <a:p>
            <a:pPr algn="l" marL="292608" indent="-256032">
              <a:spcAft>
                <a:spcPts val="300"/>
              </a:spcAft>
              <a:buChar char="•"/>
            </a:pPr>
            <a:r>
              <a:rPr sz="1600" b="0" i="0">
                <a:solidFill>
                  <a:srgbClr val="0F172A"/>
                </a:solidFill>
                <a:latin typeface="Arial"/>
              </a:rPr>
              <a:t>Inactive list = news at tip − 30 min (ends 7 May)</a:t>
            </a:r>
          </a:p>
          <a:p>
            <a:pPr algn="l" marL="292608" indent="-256032">
              <a:spcAft>
                <a:spcPts val="300"/>
              </a:spcAft>
              <a:buChar char="•"/>
            </a:pPr>
            <a:r>
              <a:rPr sz="1600" b="0" i="0">
                <a:solidFill>
                  <a:srgbClr val="0F172A"/>
                </a:solidFill>
                <a:latin typeface="Arial"/>
              </a:rPr>
              <a:t>Fill at ask + fee; quote ≤ 5 min old; ≤ 10% of volume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54864"/>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09728"/>
            <a:ext cx="11277295" cy="685800"/>
          </a:xfrm>
          <a:prstGeom prst="rect">
            <a:avLst/>
          </a:prstGeom>
          <a:noFill/>
        </p:spPr>
        <p:txBody>
          <a:bodyPr wrap="square" anchor="ctr" lIns="73152" rIns="73152" tIns="36576" bIns="36576">
            <a:spAutoFit/>
          </a:bodyPr>
          <a:lstStyle/>
          <a:p>
            <a:pPr algn="l">
              <a:spcAft>
                <a:spcPts val="0"/>
              </a:spcAft>
            </a:pPr>
            <a:r>
              <a:rPr sz="3000" b="1" i="0">
                <a:solidFill>
                  <a:srgbClr val="FFFFFF"/>
                </a:solidFill>
                <a:latin typeface="Arial"/>
              </a:rPr>
              <a:t>Evidence 1: costs, and a price that moves before the news</a:t>
            </a:r>
          </a:p>
        </p:txBody>
      </p:sp>
      <p:sp>
        <p:nvSpPr>
          <p:cNvPr id="5" name="TextBox 4"/>
          <p:cNvSpPr txBox="1"/>
          <p:nvPr/>
        </p:nvSpPr>
        <p:spPr>
          <a:xfrm>
            <a:off x="457200" y="6446520"/>
            <a:ext cx="9144000" cy="320040"/>
          </a:xfrm>
          <a:prstGeom prst="rect">
            <a:avLst/>
          </a:prstGeom>
          <a:noFill/>
        </p:spPr>
        <p:txBody>
          <a:bodyPr wrap="square" anchor="t" lIns="73152" rIns="73152" tIns="36576" bIns="36576">
            <a:spAutoFit/>
          </a:bodyPr>
          <a:lstStyle/>
          <a:p>
            <a:pPr algn="l">
              <a:spcAft>
                <a:spcPts val="0"/>
              </a:spcAft>
            </a:pPr>
            <a:r>
              <a:rPr sz="1100" b="0" i="0">
                <a:solidFill>
                  <a:srgbClr val="64748B"/>
                </a:solidFill>
                <a:latin typeface="Arial"/>
              </a:rPr>
              <a:t>DASC7606C Group 12 · Market-Graded Learning: the closing price grades every component</a:t>
            </a:r>
          </a:p>
        </p:txBody>
      </p:sp>
      <p:sp>
        <p:nvSpPr>
          <p:cNvPr id="6" name="TextBox 5"/>
          <p:cNvSpPr txBox="1"/>
          <p:nvPr/>
        </p:nvSpPr>
        <p:spPr>
          <a:xfrm>
            <a:off x="10820095" y="6446520"/>
            <a:ext cx="914400" cy="320040"/>
          </a:xfrm>
          <a:prstGeom prst="rect">
            <a:avLst/>
          </a:prstGeom>
          <a:noFill/>
        </p:spPr>
        <p:txBody>
          <a:bodyPr wrap="square" anchor="t" lIns="73152" rIns="73152" tIns="36576" bIns="36576">
            <a:spAutoFit/>
          </a:bodyPr>
          <a:lstStyle/>
          <a:p>
            <a:pPr algn="r">
              <a:spcAft>
                <a:spcPts val="0"/>
              </a:spcAft>
            </a:pPr>
            <a:r>
              <a:rPr sz="1100" b="0" i="0">
                <a:solidFill>
                  <a:srgbClr val="64748B"/>
                </a:solidFill>
                <a:latin typeface="Arial"/>
              </a:rPr>
              <a:t>7</a:t>
            </a:r>
          </a:p>
        </p:txBody>
      </p:sp>
      <p:pic>
        <p:nvPicPr>
          <p:cNvPr id="7" name="Picture 6" descr="cost_burden.png"/>
          <p:cNvPicPr>
            <a:picLocks noChangeAspect="1"/>
          </p:cNvPicPr>
          <p:nvPr/>
        </p:nvPicPr>
        <p:blipFill>
          <a:blip r:embed="rId3"/>
          <a:stretch>
            <a:fillRect/>
          </a:stretch>
        </p:blipFill>
        <p:spPr>
          <a:xfrm>
            <a:off x="457200" y="1139982"/>
            <a:ext cx="5501487" cy="2200595"/>
          </a:xfrm>
          <a:prstGeom prst="rect">
            <a:avLst/>
          </a:prstGeom>
        </p:spPr>
      </p:pic>
      <p:pic>
        <p:nvPicPr>
          <p:cNvPr id="8" name="Picture 7" descr="price_discovery.png"/>
          <p:cNvPicPr>
            <a:picLocks noChangeAspect="1"/>
          </p:cNvPicPr>
          <p:nvPr/>
        </p:nvPicPr>
        <p:blipFill>
          <a:blip r:embed="rId4"/>
          <a:stretch>
            <a:fillRect/>
          </a:stretch>
        </p:blipFill>
        <p:spPr>
          <a:xfrm>
            <a:off x="6233007" y="1139982"/>
            <a:ext cx="5501487" cy="2200595"/>
          </a:xfrm>
          <a:prstGeom prst="rect">
            <a:avLst/>
          </a:prstGeom>
        </p:spPr>
      </p:pic>
      <p:sp>
        <p:nvSpPr>
          <p:cNvPr id="9" name="TextBox 8"/>
          <p:cNvSpPr txBox="1"/>
          <p:nvPr/>
        </p:nvSpPr>
        <p:spPr>
          <a:xfrm>
            <a:off x="457200" y="3520439"/>
            <a:ext cx="5501487" cy="457200"/>
          </a:xfrm>
          <a:prstGeom prst="rect">
            <a:avLst/>
          </a:prstGeom>
          <a:noFill/>
        </p:spPr>
        <p:txBody>
          <a:bodyPr wrap="square" anchor="t" lIns="73152" rIns="73152" tIns="36576" bIns="36576">
            <a:spAutoFit/>
          </a:bodyPr>
          <a:lstStyle/>
          <a:p>
            <a:pPr algn="l">
              <a:spcAft>
                <a:spcPts val="0"/>
              </a:spcAft>
            </a:pPr>
            <a:r>
              <a:rPr sz="2000" b="1" i="0">
                <a:solidFill>
                  <a:srgbClr val="EA580C"/>
                </a:solidFill>
                <a:latin typeface="Arial"/>
              </a:rPr>
              <a:t>Costs</a:t>
            </a:r>
          </a:p>
        </p:txBody>
      </p:sp>
      <p:sp>
        <p:nvSpPr>
          <p:cNvPr id="10" name="TextBox 9"/>
          <p:cNvSpPr txBox="1"/>
          <p:nvPr/>
        </p:nvSpPr>
        <p:spPr>
          <a:xfrm>
            <a:off x="457200" y="3931920"/>
            <a:ext cx="5501487" cy="2377440"/>
          </a:xfrm>
          <a:prstGeom prst="rect">
            <a:avLst/>
          </a:prstGeom>
          <a:noFill/>
        </p:spPr>
        <p:txBody>
          <a:bodyPr wrap="square" anchor="t" lIns="73152" rIns="73152" tIns="36576" bIns="36576">
            <a:spAutoFit/>
          </a:bodyPr>
          <a:lstStyle/>
          <a:p>
            <a:pPr algn="l" marL="292608" indent="-256032">
              <a:spcAft>
                <a:spcPts val="600"/>
              </a:spcAft>
              <a:buChar char="•"/>
            </a:pPr>
            <a:r>
              <a:rPr sz="1700" b="1" i="0">
                <a:solidFill>
                  <a:srgbClr val="0F172A"/>
                </a:solidFill>
                <a:latin typeface="Arial"/>
              </a:rPr>
              <a:t>1.92¢ per contract</a:t>
            </a:r>
            <a:r>
              <a:rPr sz="1700" b="0" i="0">
                <a:solidFill>
                  <a:srgbClr val="0F172A"/>
                </a:solidFill>
                <a:latin typeface="Arial"/>
              </a:rPr>
              <a:t> = 5.0% of price; </a:t>
            </a:r>
            <a:r>
              <a:rPr sz="1700" b="1" i="0">
                <a:solidFill>
                  <a:srgbClr val="0F172A"/>
                </a:solidFill>
                <a:latin typeface="Arial"/>
              </a:rPr>
              <a:t>9–14%</a:t>
            </a:r>
            <a:r>
              <a:rPr sz="1700" b="0" i="0">
                <a:solidFill>
                  <a:srgbClr val="0F172A"/>
                </a:solidFill>
                <a:latin typeface="Arial"/>
              </a:rPr>
              <a:t> under 20¢</a:t>
            </a:r>
          </a:p>
          <a:p>
            <a:pPr algn="l" marL="292608" indent="-256032">
              <a:spcAft>
                <a:spcPts val="600"/>
              </a:spcAft>
              <a:buChar char="•"/>
            </a:pPr>
            <a:r>
              <a:rPr sz="1700" b="0" i="0">
                <a:solidFill>
                  <a:srgbClr val="0F172A"/>
                </a:solidFill>
                <a:latin typeface="Arial"/>
              </a:rPr>
              <a:t>Best agent, Feb–Apr: +$36 at mid → </a:t>
            </a:r>
            <a:r>
              <a:rPr sz="1700" b="1" i="0">
                <a:solidFill>
                  <a:srgbClr val="0F172A"/>
                </a:solidFill>
                <a:latin typeface="Arial"/>
              </a:rPr>
              <a:t>−$32</a:t>
            </a:r>
            <a:r>
              <a:rPr sz="1700" b="0" i="0">
                <a:solidFill>
                  <a:srgbClr val="0F172A"/>
                </a:solidFill>
                <a:latin typeface="Arial"/>
              </a:rPr>
              <a:t> after costs</a:t>
            </a:r>
          </a:p>
          <a:p>
            <a:pPr algn="l" marL="292608" indent="-256032">
              <a:spcAft>
                <a:spcPts val="600"/>
              </a:spcAft>
              <a:buChar char="•"/>
            </a:pPr>
            <a:r>
              <a:rPr sz="1700" b="0" i="0">
                <a:solidFill>
                  <a:srgbClr val="0F172A"/>
                </a:solidFill>
                <a:latin typeface="Arial"/>
              </a:rPr>
              <a:t>771 decision points → </a:t>
            </a:r>
            <a:r>
              <a:rPr sz="1700" b="1" i="0">
                <a:solidFill>
                  <a:srgbClr val="0F172A"/>
                </a:solidFill>
                <a:latin typeface="Arial"/>
              </a:rPr>
              <a:t>74 trades</a:t>
            </a:r>
            <a:r>
              <a:rPr sz="1700" b="0" i="0">
                <a:solidFill>
                  <a:srgbClr val="0F172A"/>
                </a:solidFill>
                <a:latin typeface="Arial"/>
              </a:rPr>
              <a:t>; only </a:t>
            </a:r>
            <a:r>
              <a:rPr sz="1700" b="1" i="0">
                <a:solidFill>
                  <a:srgbClr val="0F172A"/>
                </a:solidFill>
                <a:latin typeface="Arial"/>
              </a:rPr>
              <a:t>27 (36%)</a:t>
            </a:r>
            <a:r>
              <a:rPr sz="1700" b="0" i="0">
                <a:solidFill>
                  <a:srgbClr val="0F172A"/>
                </a:solidFill>
                <a:latin typeface="Arial"/>
              </a:rPr>
              <a:t> beat the close</a:t>
            </a:r>
          </a:p>
        </p:txBody>
      </p:sp>
      <p:sp>
        <p:nvSpPr>
          <p:cNvPr id="11" name="TextBox 10"/>
          <p:cNvSpPr txBox="1"/>
          <p:nvPr/>
        </p:nvSpPr>
        <p:spPr>
          <a:xfrm>
            <a:off x="6233007" y="3520439"/>
            <a:ext cx="5501487" cy="457200"/>
          </a:xfrm>
          <a:prstGeom prst="rect">
            <a:avLst/>
          </a:prstGeom>
          <a:noFill/>
        </p:spPr>
        <p:txBody>
          <a:bodyPr wrap="square" anchor="t" lIns="73152" rIns="73152" tIns="36576" bIns="36576">
            <a:spAutoFit/>
          </a:bodyPr>
          <a:lstStyle/>
          <a:p>
            <a:pPr algn="l">
              <a:spcAft>
                <a:spcPts val="0"/>
              </a:spcAft>
            </a:pPr>
            <a:r>
              <a:rPr sz="2000" b="1" i="0">
                <a:solidFill>
                  <a:srgbClr val="2563EB"/>
                </a:solidFill>
                <a:latin typeface="Arial"/>
              </a:rPr>
              <a:t>Speed</a:t>
            </a:r>
          </a:p>
        </p:txBody>
      </p:sp>
      <p:sp>
        <p:nvSpPr>
          <p:cNvPr id="12" name="TextBox 11"/>
          <p:cNvSpPr txBox="1"/>
          <p:nvPr/>
        </p:nvSpPr>
        <p:spPr>
          <a:xfrm>
            <a:off x="6233007" y="3931920"/>
            <a:ext cx="5501487" cy="2377440"/>
          </a:xfrm>
          <a:prstGeom prst="rect">
            <a:avLst/>
          </a:prstGeom>
          <a:noFill/>
        </p:spPr>
        <p:txBody>
          <a:bodyPr wrap="square" anchor="t" lIns="73152" rIns="73152" tIns="36576" bIns="36576">
            <a:spAutoFit/>
          </a:bodyPr>
          <a:lstStyle/>
          <a:p>
            <a:pPr algn="l" marL="292608" indent="-256032">
              <a:spcAft>
                <a:spcPts val="600"/>
              </a:spcAft>
              <a:buChar char="•"/>
            </a:pPr>
            <a:r>
              <a:rPr sz="1700" b="1" i="0">
                <a:solidFill>
                  <a:srgbClr val="0F172A"/>
                </a:solidFill>
                <a:latin typeface="Arial"/>
              </a:rPr>
              <a:t>91%</a:t>
            </a:r>
            <a:r>
              <a:rPr sz="1700" b="0" i="0">
                <a:solidFill>
                  <a:srgbClr val="0F172A"/>
                </a:solidFill>
                <a:latin typeface="Arial"/>
              </a:rPr>
              <a:t> of the move before the inactive list (+1.80 vs +0.18 pts, 193 games)</a:t>
            </a:r>
          </a:p>
          <a:p>
            <a:pPr algn="l" marL="292608" indent="-256032">
              <a:spcAft>
                <a:spcPts val="600"/>
              </a:spcAft>
              <a:buChar char="•"/>
            </a:pPr>
            <a:r>
              <a:rPr sz="1700" b="1" i="0">
                <a:solidFill>
                  <a:srgbClr val="0F172A"/>
                </a:solidFill>
                <a:latin typeface="Arial"/>
              </a:rPr>
              <a:t>~⅔</a:t>
            </a:r>
            <a:r>
              <a:rPr sz="1700" b="0" i="0">
                <a:solidFill>
                  <a:srgbClr val="0F172A"/>
                </a:solidFill>
                <a:latin typeface="Arial"/>
              </a:rPr>
              <a:t> (67%, CI 47–85%) before the first official injury report, ~6 h earlier</a:t>
            </a:r>
          </a:p>
          <a:p>
            <a:pPr algn="l" marL="292608" indent="-256032">
              <a:spcAft>
                <a:spcPts val="600"/>
              </a:spcAft>
              <a:buChar char="•"/>
            </a:pPr>
            <a:r>
              <a:rPr sz="1400" b="0" i="0">
                <a:solidFill>
                  <a:srgbClr val="64748B"/>
                </a:solidFill>
                <a:latin typeface="Arial"/>
              </a:rPr>
              <a:t>49% with no publication lag; official reports only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54864"/>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09728"/>
            <a:ext cx="11277295" cy="685800"/>
          </a:xfrm>
          <a:prstGeom prst="rect">
            <a:avLst/>
          </a:prstGeom>
          <a:noFill/>
        </p:spPr>
        <p:txBody>
          <a:bodyPr wrap="square" anchor="ctr" lIns="73152" rIns="73152" tIns="36576" bIns="36576">
            <a:spAutoFit/>
          </a:bodyPr>
          <a:lstStyle/>
          <a:p>
            <a:pPr algn="l">
              <a:spcAft>
                <a:spcPts val="0"/>
              </a:spcAft>
            </a:pPr>
            <a:r>
              <a:rPr sz="3000" b="1" i="0">
                <a:solidFill>
                  <a:srgbClr val="FFFFFF"/>
                </a:solidFill>
                <a:latin typeface="Arial"/>
              </a:rPr>
              <a:t>Evidence 2: the market beats our model</a:t>
            </a:r>
          </a:p>
        </p:txBody>
      </p:sp>
      <p:sp>
        <p:nvSpPr>
          <p:cNvPr id="5" name="TextBox 4"/>
          <p:cNvSpPr txBox="1"/>
          <p:nvPr/>
        </p:nvSpPr>
        <p:spPr>
          <a:xfrm>
            <a:off x="457200" y="6446520"/>
            <a:ext cx="9144000" cy="320040"/>
          </a:xfrm>
          <a:prstGeom prst="rect">
            <a:avLst/>
          </a:prstGeom>
          <a:noFill/>
        </p:spPr>
        <p:txBody>
          <a:bodyPr wrap="square" anchor="t" lIns="73152" rIns="73152" tIns="36576" bIns="36576">
            <a:spAutoFit/>
          </a:bodyPr>
          <a:lstStyle/>
          <a:p>
            <a:pPr algn="l">
              <a:spcAft>
                <a:spcPts val="0"/>
              </a:spcAft>
            </a:pPr>
            <a:r>
              <a:rPr sz="1100" b="0" i="0">
                <a:solidFill>
                  <a:srgbClr val="64748B"/>
                </a:solidFill>
                <a:latin typeface="Arial"/>
              </a:rPr>
              <a:t>DASC7606C Group 12 · Market-Graded Learning: the closing price grades every component</a:t>
            </a:r>
          </a:p>
        </p:txBody>
      </p:sp>
      <p:sp>
        <p:nvSpPr>
          <p:cNvPr id="6" name="TextBox 5"/>
          <p:cNvSpPr txBox="1"/>
          <p:nvPr/>
        </p:nvSpPr>
        <p:spPr>
          <a:xfrm>
            <a:off x="10820095" y="6446520"/>
            <a:ext cx="914400" cy="320040"/>
          </a:xfrm>
          <a:prstGeom prst="rect">
            <a:avLst/>
          </a:prstGeom>
          <a:noFill/>
        </p:spPr>
        <p:txBody>
          <a:bodyPr wrap="square" anchor="t" lIns="73152" rIns="73152" tIns="36576" bIns="36576">
            <a:spAutoFit/>
          </a:bodyPr>
          <a:lstStyle/>
          <a:p>
            <a:pPr algn="r">
              <a:spcAft>
                <a:spcPts val="0"/>
              </a:spcAft>
            </a:pPr>
            <a:r>
              <a:rPr sz="1100" b="0" i="0">
                <a:solidFill>
                  <a:srgbClr val="64748B"/>
                </a:solidFill>
                <a:latin typeface="Arial"/>
              </a:rPr>
              <a:t>8</a:t>
            </a:r>
          </a:p>
        </p:txBody>
      </p:sp>
      <p:pic>
        <p:nvPicPr>
          <p:cNvPr id="7" name="Picture 6" descr="m4_vs_market.png"/>
          <p:cNvPicPr>
            <a:picLocks noChangeAspect="1"/>
          </p:cNvPicPr>
          <p:nvPr/>
        </p:nvPicPr>
        <p:blipFill>
          <a:blip r:embed="rId3"/>
          <a:stretch>
            <a:fillRect/>
          </a:stretch>
        </p:blipFill>
        <p:spPr>
          <a:xfrm>
            <a:off x="457200" y="1209821"/>
            <a:ext cx="6949440" cy="5078436"/>
          </a:xfrm>
          <a:prstGeom prst="rect">
            <a:avLst/>
          </a:prstGeom>
        </p:spPr>
      </p:pic>
      <p:sp>
        <p:nvSpPr>
          <p:cNvPr id="8" name="TextBox 7"/>
          <p:cNvSpPr txBox="1"/>
          <p:nvPr/>
        </p:nvSpPr>
        <p:spPr>
          <a:xfrm>
            <a:off x="7589520" y="1280160"/>
            <a:ext cx="4144975" cy="5120640"/>
          </a:xfrm>
          <a:prstGeom prst="rect">
            <a:avLst/>
          </a:prstGeom>
          <a:noFill/>
        </p:spPr>
        <p:txBody>
          <a:bodyPr wrap="square" anchor="t" lIns="73152" rIns="73152" tIns="36576" bIns="36576">
            <a:spAutoFit/>
          </a:bodyPr>
          <a:lstStyle/>
          <a:p>
            <a:pPr algn="l" marL="292608" indent="-256032">
              <a:spcAft>
                <a:spcPts val="1000"/>
              </a:spcAft>
              <a:buChar char="•"/>
            </a:pPr>
            <a:r>
              <a:rPr sz="1900" b="0" i="0">
                <a:solidFill>
                  <a:srgbClr val="0F172A"/>
                </a:solidFill>
                <a:latin typeface="Arial"/>
              </a:rPr>
              <a:t>Brier, 501 test games, 1 h before tip: </a:t>
            </a:r>
            <a:r>
              <a:rPr sz="1900" b="1" i="0">
                <a:solidFill>
                  <a:srgbClr val="0F172A"/>
                </a:solidFill>
                <a:latin typeface="Arial"/>
              </a:rPr>
              <a:t>market 0.164</a:t>
            </a:r>
            <a:r>
              <a:rPr sz="1900" b="0" i="0">
                <a:solidFill>
                  <a:srgbClr val="0F172A"/>
                </a:solidFill>
                <a:latin typeface="Arial"/>
              </a:rPr>
              <a:t>, our model 0.186</a:t>
            </a:r>
          </a:p>
          <a:p>
            <a:pPr algn="l" marL="292608" indent="-256032">
              <a:spcAft>
                <a:spcPts val="1000"/>
              </a:spcAft>
              <a:buChar char="•"/>
            </a:pPr>
            <a:r>
              <a:rPr sz="1900" b="0" i="0">
                <a:solidFill>
                  <a:srgbClr val="0F172A"/>
                </a:solidFill>
                <a:latin typeface="Arial"/>
              </a:rPr>
              <a:t>Disagree by more than 5 pts, and the market is right:</a:t>
            </a:r>
          </a:p>
          <a:p>
            <a:pPr algn="l" marL="612647" indent="-256032">
              <a:spcAft>
                <a:spcPts val="1000"/>
              </a:spcAft>
              <a:buChar char="–"/>
            </a:pPr>
            <a:r>
              <a:rPr sz="1700" b="0" i="0">
                <a:solidFill>
                  <a:srgbClr val="0F172A"/>
                </a:solidFill>
                <a:latin typeface="Arial"/>
              </a:rPr>
              <a:t>model higher on home: model 48%, market 35%, actual 34%</a:t>
            </a:r>
          </a:p>
          <a:p>
            <a:pPr algn="l" marL="612647" indent="-256032">
              <a:spcAft>
                <a:spcPts val="1000"/>
              </a:spcAft>
              <a:buChar char="–"/>
            </a:pPr>
            <a:r>
              <a:rPr sz="1700" b="0" i="0">
                <a:solidFill>
                  <a:srgbClr val="0F172A"/>
                </a:solidFill>
                <a:latin typeface="Arial"/>
              </a:rPr>
              <a:t>model lower on home: model 61%, market 73%, actual 77%</a:t>
            </a:r>
          </a:p>
          <a:p>
            <a:pPr algn="l" marL="292608" indent="-256032">
              <a:spcAft>
                <a:spcPts val="1000"/>
              </a:spcAft>
              <a:buChar char="•"/>
            </a:pPr>
            <a:r>
              <a:rPr sz="1600" b="0" i="0">
                <a:solidFill>
                  <a:srgbClr val="64748B"/>
                </a:solidFill>
                <a:latin typeface="Arial"/>
              </a:rPr>
              <a:t>With the inactive list: model 0.183 vs market at tip 0.163</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54864"/>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09728"/>
            <a:ext cx="11277295" cy="685800"/>
          </a:xfrm>
          <a:prstGeom prst="rect">
            <a:avLst/>
          </a:prstGeom>
          <a:noFill/>
        </p:spPr>
        <p:txBody>
          <a:bodyPr wrap="square" anchor="ctr" lIns="73152" rIns="73152" tIns="36576" bIns="36576">
            <a:spAutoFit/>
          </a:bodyPr>
          <a:lstStyle/>
          <a:p>
            <a:pPr algn="l">
              <a:spcAft>
                <a:spcPts val="0"/>
              </a:spcAft>
            </a:pPr>
            <a:r>
              <a:rPr sz="3000" b="1" i="0">
                <a:solidFill>
                  <a:srgbClr val="FFFFFF"/>
                </a:solidFill>
                <a:latin typeface="Arial"/>
              </a:rPr>
              <a:t>Deep learning: four neural parts, graded by the market</a:t>
            </a:r>
          </a:p>
        </p:txBody>
      </p:sp>
      <p:sp>
        <p:nvSpPr>
          <p:cNvPr id="5" name="TextBox 4"/>
          <p:cNvSpPr txBox="1"/>
          <p:nvPr/>
        </p:nvSpPr>
        <p:spPr>
          <a:xfrm>
            <a:off x="457200" y="6446520"/>
            <a:ext cx="9144000" cy="320040"/>
          </a:xfrm>
          <a:prstGeom prst="rect">
            <a:avLst/>
          </a:prstGeom>
          <a:noFill/>
        </p:spPr>
        <p:txBody>
          <a:bodyPr wrap="square" anchor="t" lIns="73152" rIns="73152" tIns="36576" bIns="36576">
            <a:spAutoFit/>
          </a:bodyPr>
          <a:lstStyle/>
          <a:p>
            <a:pPr algn="l">
              <a:spcAft>
                <a:spcPts val="0"/>
              </a:spcAft>
            </a:pPr>
            <a:r>
              <a:rPr sz="1100" b="0" i="0">
                <a:solidFill>
                  <a:srgbClr val="64748B"/>
                </a:solidFill>
                <a:latin typeface="Arial"/>
              </a:rPr>
              <a:t>DASC7606C Group 12 · Market-Graded Learning: the closing price grades every component</a:t>
            </a:r>
          </a:p>
        </p:txBody>
      </p:sp>
      <p:sp>
        <p:nvSpPr>
          <p:cNvPr id="6" name="TextBox 5"/>
          <p:cNvSpPr txBox="1"/>
          <p:nvPr/>
        </p:nvSpPr>
        <p:spPr>
          <a:xfrm>
            <a:off x="10820095" y="6446520"/>
            <a:ext cx="914400" cy="320040"/>
          </a:xfrm>
          <a:prstGeom prst="rect">
            <a:avLst/>
          </a:prstGeom>
          <a:noFill/>
        </p:spPr>
        <p:txBody>
          <a:bodyPr wrap="square" anchor="t" lIns="73152" rIns="73152" tIns="36576" bIns="36576">
            <a:spAutoFit/>
          </a:bodyPr>
          <a:lstStyle/>
          <a:p>
            <a:pPr algn="r">
              <a:spcAft>
                <a:spcPts val="0"/>
              </a:spcAft>
            </a:pPr>
            <a:r>
              <a:rPr sz="1100" b="0" i="0">
                <a:solidFill>
                  <a:srgbClr val="64748B"/>
                </a:solidFill>
                <a:latin typeface="Arial"/>
              </a:rPr>
              <a:t>9</a:t>
            </a:r>
          </a:p>
        </p:txBody>
      </p:sp>
      <p:graphicFrame>
        <p:nvGraphicFramePr>
          <p:cNvPr id="7" name="Table 6"/>
          <p:cNvGraphicFramePr>
            <a:graphicFrameLocks noGrp="1"/>
          </p:cNvGraphicFramePr>
          <p:nvPr/>
        </p:nvGraphicFramePr>
        <p:xfrm>
          <a:off x="457200" y="1143000"/>
          <a:ext cx="7223760" cy="3200400"/>
        </p:xfrm>
        <a:graphic>
          <a:graphicData uri="http://schemas.openxmlformats.org/drawingml/2006/table">
            <a:tbl>
              <a:tblPr firstRow="1" bandRow="1">
                <a:tableStyleId>{5C22544A-7EE6-4342-B048-85BDC9FD1C3A}</a:tableStyleId>
              </a:tblPr>
              <a:tblGrid>
                <a:gridCol w="1828800"/>
                <a:gridCol w="2743200"/>
                <a:gridCol w="2651760"/>
              </a:tblGrid>
              <a:tr h="365760">
                <a:tc>
                  <a:txBody>
                    <a:bodyPr wrap="square"/>
                    <a:lstStyle/>
                    <a:p>
                      <a:pPr algn="l"/>
                      <a:r>
                        <a:rPr sz="1300" b="1" i="0">
                          <a:solidFill>
                            <a:srgbClr val="FFFFFF"/>
                          </a:solidFill>
                          <a:latin typeface="Arial"/>
                        </a:rPr>
                        <a:t>Neural part</a:t>
                      </a:r>
                    </a:p>
                  </a:txBody>
                  <a:tcPr marL="73152" marR="73152" marT="36576" marB="36576" anchor="ctr">
                    <a:solidFill>
                      <a:srgbClr val="1E293B"/>
                    </a:solidFill>
                  </a:tcPr>
                </a:tc>
                <a:tc>
                  <a:txBody>
                    <a:bodyPr wrap="square"/>
                    <a:lstStyle/>
                    <a:p>
                      <a:pPr algn="l"/>
                      <a:r>
                        <a:rPr sz="1300" b="1" i="0">
                          <a:solidFill>
                            <a:srgbClr val="FFFFFF"/>
                          </a:solidFill>
                          <a:latin typeface="Arial"/>
                        </a:rPr>
                        <a:t>Design</a:t>
                      </a:r>
                    </a:p>
                  </a:txBody>
                  <a:tcPr marL="73152" marR="73152" marT="36576" marB="36576" anchor="ctr">
                    <a:solidFill>
                      <a:srgbClr val="1E293B"/>
                    </a:solidFill>
                  </a:tcPr>
                </a:tc>
                <a:tc>
                  <a:txBody>
                    <a:bodyPr wrap="square"/>
                    <a:lstStyle/>
                    <a:p>
                      <a:pPr algn="l"/>
                      <a:r>
                        <a:rPr sz="1300" b="1" i="0">
                          <a:solidFill>
                            <a:srgbClr val="FFFFFF"/>
                          </a:solidFill>
                          <a:latin typeface="Arial"/>
                        </a:rPr>
                        <a:t>Market-graded result</a:t>
                      </a:r>
                    </a:p>
                  </a:txBody>
                  <a:tcPr marL="73152" marR="73152" marT="36576" marB="36576" anchor="ctr">
                    <a:solidFill>
                      <a:srgbClr val="1E293B"/>
                    </a:solidFill>
                  </a:tcPr>
                </a:tc>
              </a:tr>
              <a:tr h="566928">
                <a:tc>
                  <a:txBody>
                    <a:bodyPr wrap="square"/>
                    <a:lstStyle/>
                    <a:p>
                      <a:pPr algn="l"/>
                      <a:r>
                        <a:rPr sz="1300" b="0" i="0">
                          <a:solidFill>
                            <a:srgbClr val="0F172A"/>
                          </a:solidFill>
                          <a:latin typeface="Arial"/>
                        </a:rPr>
                        <a:t>M2 player GRU</a:t>
                      </a:r>
                    </a:p>
                  </a:txBody>
                  <a:tcPr marL="73152" marR="73152" marT="36576" marB="36576" anchor="ctr">
                    <a:solidFill>
                      <a:srgbClr val="F1F5F9"/>
                    </a:solidFill>
                  </a:tcPr>
                </a:tc>
                <a:tc>
                  <a:txBody>
                    <a:bodyPr wrap="square"/>
                    <a:lstStyle/>
                    <a:p>
                      <a:pPr algn="l"/>
                      <a:r>
                        <a:rPr sz="1300" b="0" i="0">
                          <a:solidFill>
                            <a:srgbClr val="0F172A"/>
                          </a:solidFill>
                          <a:latin typeface="Arial"/>
                        </a:rPr>
                        <a:t>GRU over last 20 games → pts / min quantiles</a:t>
                      </a:r>
                    </a:p>
                  </a:txBody>
                  <a:tcPr marL="73152" marR="73152" marT="36576" marB="36576" anchor="ctr">
                    <a:solidFill>
                      <a:srgbClr val="F1F5F9"/>
                    </a:solidFill>
                  </a:tcPr>
                </a:tc>
                <a:tc>
                  <a:txBody>
                    <a:bodyPr wrap="square"/>
                    <a:lstStyle/>
                    <a:p>
                      <a:pPr algn="l"/>
                      <a:r>
                        <a:rPr sz="1300" b="1" i="0">
                          <a:solidFill>
                            <a:srgbClr val="0F172A"/>
                          </a:solidFill>
                          <a:latin typeface="Arial"/>
                        </a:rPr>
                        <a:t>Beats GBM:</a:t>
                      </a:r>
                      <a:r>
                        <a:rPr sz="1300" b="0" i="0">
                          <a:solidFill>
                            <a:srgbClr val="0F172A"/>
                          </a:solidFill>
                          <a:latin typeface="Arial"/>
                        </a:rPr>
                        <a:t> pinball 1.55 vs 1.59</a:t>
                      </a:r>
                    </a:p>
                  </a:txBody>
                  <a:tcPr marL="73152" marR="73152" marT="36576" marB="36576" anchor="ctr">
                    <a:solidFill>
                      <a:srgbClr val="F1F5F9"/>
                    </a:solidFill>
                  </a:tcPr>
                </a:tc>
              </a:tr>
              <a:tr h="566928">
                <a:tc>
                  <a:txBody>
                    <a:bodyPr wrap="square"/>
                    <a:lstStyle/>
                    <a:p>
                      <a:pPr algn="l"/>
                      <a:r>
                        <a:rPr sz="1300" b="0" i="0">
                          <a:solidFill>
                            <a:srgbClr val="0F172A"/>
                          </a:solidFill>
                          <a:latin typeface="Arial"/>
                        </a:rPr>
                        <a:t>M4-NN win MLP</a:t>
                      </a:r>
                    </a:p>
                  </a:txBody>
                  <a:tcPr marL="73152" marR="73152" marT="36576" marB="36576" anchor="ctr">
                    <a:solidFill>
                      <a:srgbClr val="FFFFFF"/>
                    </a:solidFill>
                  </a:tcPr>
                </a:tc>
                <a:tc>
                  <a:txBody>
                    <a:bodyPr wrap="square"/>
                    <a:lstStyle/>
                    <a:p>
                      <a:pPr algn="l"/>
                      <a:r>
                        <a:rPr sz="1300" b="0" i="0">
                          <a:solidFill>
                            <a:srgbClr val="0F172A"/>
                          </a:solidFill>
                          <a:latin typeface="Arial"/>
                        </a:rPr>
                        <a:t>M4's 6 features, BCE, early stop, 3 seeds</a:t>
                      </a:r>
                    </a:p>
                  </a:txBody>
                  <a:tcPr marL="73152" marR="73152" marT="36576" marB="36576" anchor="ctr">
                    <a:solidFill>
                      <a:srgbClr val="FFFFFF"/>
                    </a:solidFill>
                  </a:tcPr>
                </a:tc>
                <a:tc>
                  <a:txBody>
                    <a:bodyPr wrap="square"/>
                    <a:lstStyle/>
                    <a:p>
                      <a:pPr algn="l"/>
                      <a:r>
                        <a:rPr sz="1300" b="0" i="0">
                          <a:solidFill>
                            <a:srgbClr val="0F172A"/>
                          </a:solidFill>
                          <a:latin typeface="Arial"/>
                        </a:rPr>
                        <a:t>Brier 0.184 vs M4 0.183: tie</a:t>
                      </a:r>
                    </a:p>
                  </a:txBody>
                  <a:tcPr marL="73152" marR="73152" marT="36576" marB="36576" anchor="ctr">
                    <a:solidFill>
                      <a:srgbClr val="FFFFFF"/>
                    </a:solidFill>
                  </a:tcPr>
                </a:tc>
              </a:tr>
              <a:tr h="566928">
                <a:tc>
                  <a:txBody>
                    <a:bodyPr wrap="square"/>
                    <a:lstStyle/>
                    <a:p>
                      <a:pPr algn="l"/>
                      <a:r>
                        <a:rPr sz="1300" b="0" i="0">
                          <a:solidFill>
                            <a:srgbClr val="0F172A"/>
                          </a:solidFill>
                          <a:latin typeface="Arial"/>
                        </a:rPr>
                        <a:t>Anchor + NN shift</a:t>
                      </a:r>
                    </a:p>
                  </a:txBody>
                  <a:tcPr marL="73152" marR="73152" marT="36576" marB="36576" anchor="ctr">
                    <a:solidFill>
                      <a:srgbClr val="F1F5F9"/>
                    </a:solidFill>
                  </a:tcPr>
                </a:tc>
                <a:tc>
                  <a:txBody>
                    <a:bodyPr wrap="square"/>
                    <a:lstStyle/>
                    <a:p>
                      <a:pPr algn="l"/>
                      <a:r>
                        <a:rPr sz="1300" b="0" i="0">
                          <a:solidFill>
                            <a:srgbClr val="0F172A"/>
                          </a:solidFill>
                          <a:latin typeface="Arial"/>
                        </a:rPr>
                        <a:t>24 h mid + MLP news shift</a:t>
                      </a:r>
                    </a:p>
                  </a:txBody>
                  <a:tcPr marL="73152" marR="73152" marT="36576" marB="36576" anchor="ctr">
                    <a:solidFill>
                      <a:srgbClr val="F1F5F9"/>
                    </a:solidFill>
                  </a:tcPr>
                </a:tc>
                <a:tc>
                  <a:txBody>
                    <a:bodyPr wrap="square"/>
                    <a:lstStyle/>
                    <a:p>
                      <a:pPr algn="l"/>
                      <a:r>
                        <a:rPr sz="1300" b="0" i="0">
                          <a:solidFill>
                            <a:srgbClr val="0F172A"/>
                          </a:solidFill>
                          <a:latin typeface="Arial"/>
                        </a:rPr>
                        <a:t>Brier </a:t>
                      </a:r>
                      <a:r>
                        <a:rPr sz="1300" b="1" i="0">
                          <a:solidFill>
                            <a:srgbClr val="0F172A"/>
                          </a:solidFill>
                          <a:latin typeface="Arial"/>
                        </a:rPr>
                        <a:t>0.163</a:t>
                      </a:r>
                      <a:r>
                        <a:rPr sz="1300" b="0" i="0">
                          <a:solidFill>
                            <a:srgbClr val="0F172A"/>
                          </a:solidFill>
                          <a:latin typeface="Arial"/>
                        </a:rPr>
                        <a:t> vs market 0.164: level</a:t>
                      </a:r>
                    </a:p>
                  </a:txBody>
                  <a:tcPr marL="73152" marR="73152" marT="36576" marB="36576" anchor="ctr">
                    <a:solidFill>
                      <a:srgbClr val="F1F5F9"/>
                    </a:solidFill>
                  </a:tcPr>
                </a:tc>
              </a:tr>
              <a:tr h="566928">
                <a:tc>
                  <a:txBody>
                    <a:bodyPr wrap="square"/>
                    <a:lstStyle/>
                    <a:p>
                      <a:pPr algn="l"/>
                      <a:r>
                        <a:rPr sz="1300" b="0" i="0">
                          <a:solidFill>
                            <a:srgbClr val="0F172A"/>
                          </a:solidFill>
                          <a:latin typeface="Arial"/>
                        </a:rPr>
                        <a:t>M6 impact GRU</a:t>
                      </a:r>
                    </a:p>
                  </a:txBody>
                  <a:tcPr marL="73152" marR="73152" marT="36576" marB="36576" anchor="ctr">
                    <a:solidFill>
                      <a:srgbClr val="FFFFFF"/>
                    </a:solidFill>
                  </a:tcPr>
                </a:tc>
                <a:tc>
                  <a:txBody>
                    <a:bodyPr wrap="square"/>
                    <a:lstStyle/>
                    <a:p>
                      <a:pPr algn="l"/>
                      <a:r>
                        <a:rPr sz="1300" b="0" i="0">
                          <a:solidFill>
                            <a:srgbClr val="0F172A"/>
                          </a:solidFill>
                          <a:latin typeface="Arial"/>
                        </a:rPr>
                        <a:t>6 h prices + 18 features → quantiles</a:t>
                      </a:r>
                    </a:p>
                  </a:txBody>
                  <a:tcPr marL="73152" marR="73152" marT="36576" marB="36576" anchor="ctr">
                    <a:solidFill>
                      <a:srgbClr val="FFFFFF"/>
                    </a:solidFill>
                  </a:tcPr>
                </a:tc>
                <a:tc>
                  <a:txBody>
                    <a:bodyPr wrap="square"/>
                    <a:lstStyle/>
                    <a:p>
                      <a:pPr algn="l"/>
                      <a:r>
                        <a:rPr sz="1300" b="1" i="0">
                          <a:solidFill>
                            <a:srgbClr val="0F172A"/>
                          </a:solidFill>
                          <a:latin typeface="Arial"/>
                        </a:rPr>
                        <a:t>Fails:</a:t>
                      </a:r>
                      <a:r>
                        <a:rPr sz="1300" b="0" i="0">
                          <a:solidFill>
                            <a:srgbClr val="0F172A"/>
                          </a:solidFill>
                          <a:latin typeface="Arial"/>
                        </a:rPr>
                        <a:t> 9 of 9 configs worse than zero move</a:t>
                      </a:r>
                    </a:p>
                  </a:txBody>
                  <a:tcPr marL="73152" marR="73152" marT="36576" marB="36576" anchor="ctr">
                    <a:solidFill>
                      <a:srgbClr val="FFFFFF"/>
                    </a:solidFill>
                  </a:tcPr>
                </a:tc>
              </a:tr>
              <a:tr h="566928">
                <a:tc>
                  <a:txBody>
                    <a:bodyPr wrap="square"/>
                    <a:lstStyle/>
                    <a:p>
                      <a:pPr algn="l"/>
                      <a:r>
                        <a:rPr sz="1300" b="0" i="0">
                          <a:solidFill>
                            <a:srgbClr val="0F172A"/>
                          </a:solidFill>
                          <a:latin typeface="Arial"/>
                        </a:rPr>
                        <a:t>LLM tool agent</a:t>
                      </a:r>
                    </a:p>
                  </a:txBody>
                  <a:tcPr marL="73152" marR="73152" marT="36576" marB="36576" anchor="ctr">
                    <a:solidFill>
                      <a:srgbClr val="F1F5F9"/>
                    </a:solidFill>
                  </a:tcPr>
                </a:tc>
                <a:tc>
                  <a:txBody>
                    <a:bodyPr wrap="square"/>
                    <a:lstStyle/>
                    <a:p>
                      <a:pPr algn="l"/>
                      <a:r>
                        <a:rPr sz="1300" b="0" i="0">
                          <a:solidFill>
                            <a:srgbClr val="0F172A"/>
                          </a:solidFill>
                          <a:latin typeface="Arial"/>
                        </a:rPr>
                        <a:t>Transformer as policy; code guardrails</a:t>
                      </a:r>
                    </a:p>
                  </a:txBody>
                  <a:tcPr marL="73152" marR="73152" marT="36576" marB="36576" anchor="ctr">
                    <a:solidFill>
                      <a:srgbClr val="F1F5F9"/>
                    </a:solidFill>
                  </a:tcPr>
                </a:tc>
                <a:tc>
                  <a:txBody>
                    <a:bodyPr wrap="square"/>
                    <a:lstStyle/>
                    <a:p>
                      <a:pPr algn="l"/>
                      <a:r>
                        <a:rPr sz="1300" b="0" i="0">
                          <a:solidFill>
                            <a:srgbClr val="0F172A"/>
                          </a:solidFill>
                          <a:latin typeface="Arial"/>
                        </a:rPr>
                        <a:t>Slide 11: helps only by trading less</a:t>
                      </a:r>
                    </a:p>
                  </a:txBody>
                  <a:tcPr marL="73152" marR="73152" marT="36576" marB="36576" anchor="ctr">
                    <a:solidFill>
                      <a:srgbClr val="F1F5F9"/>
                    </a:solidFill>
                  </a:tcPr>
                </a:tc>
              </a:tr>
            </a:tbl>
          </a:graphicData>
        </a:graphic>
      </p:graphicFrame>
      <p:pic>
        <p:nvPicPr>
          <p:cNvPr id="8" name="Picture 7" descr="m6_robustness.png"/>
          <p:cNvPicPr>
            <a:picLocks noChangeAspect="1"/>
          </p:cNvPicPr>
          <p:nvPr/>
        </p:nvPicPr>
        <p:blipFill>
          <a:blip r:embed="rId3"/>
          <a:stretch>
            <a:fillRect/>
          </a:stretch>
        </p:blipFill>
        <p:spPr>
          <a:xfrm>
            <a:off x="7863840" y="2143810"/>
            <a:ext cx="3870655" cy="1290218"/>
          </a:xfrm>
          <a:prstGeom prst="rect">
            <a:avLst/>
          </a:prstGeom>
        </p:spPr>
      </p:pic>
      <p:sp>
        <p:nvSpPr>
          <p:cNvPr id="9" name="TextBox 8"/>
          <p:cNvSpPr txBox="1"/>
          <p:nvPr/>
        </p:nvSpPr>
        <p:spPr>
          <a:xfrm>
            <a:off x="457200" y="5074920"/>
            <a:ext cx="11277295" cy="640080"/>
          </a:xfrm>
          <a:prstGeom prst="rect">
            <a:avLst/>
          </a:prstGeom>
          <a:noFill/>
        </p:spPr>
        <p:txBody>
          <a:bodyPr wrap="square" anchor="t" lIns="73152" rIns="73152" tIns="36576" bIns="36576">
            <a:spAutoFit/>
          </a:bodyPr>
          <a:lstStyle/>
          <a:p>
            <a:pPr algn="l">
              <a:spcAft>
                <a:spcPts val="0"/>
              </a:spcAft>
            </a:pPr>
            <a:r>
              <a:rPr sz="1500" b="1" i="0">
                <a:solidFill>
                  <a:srgbClr val="0F172A"/>
                </a:solidFill>
                <a:latin typeface="Arial"/>
              </a:rPr>
              <a:t>Why small and quantile:</a:t>
            </a:r>
            <a:r>
              <a:rPr sz="1500" b="0" i="0">
                <a:solidFill>
                  <a:srgbClr val="0F172A"/>
                </a:solidFill>
                <a:latin typeface="Arial"/>
              </a:rPr>
              <a:t> ~3.4k training games, 3.9M price rows but only ~600 training games of them; GRU-8/16 with early stopping; pinball loss gives a 10–90% band, not a point bet</a:t>
            </a:r>
          </a:p>
        </p:txBody>
      </p:sp>
      <p:sp>
        <p:nvSpPr>
          <p:cNvPr id="10" name="TextBox 9"/>
          <p:cNvSpPr txBox="1"/>
          <p:nvPr/>
        </p:nvSpPr>
        <p:spPr>
          <a:xfrm>
            <a:off x="457200" y="5742432"/>
            <a:ext cx="11277295" cy="594360"/>
          </a:xfrm>
          <a:prstGeom prst="rect">
            <a:avLst/>
          </a:prstGeom>
          <a:noFill/>
        </p:spPr>
        <p:txBody>
          <a:bodyPr wrap="square" anchor="t" lIns="73152" rIns="73152" tIns="36576" bIns="36576">
            <a:spAutoFit/>
          </a:bodyPr>
          <a:lstStyle/>
          <a:p>
            <a:pPr algn="l">
              <a:spcAft>
                <a:spcPts val="0"/>
              </a:spcAft>
            </a:pPr>
            <a:r>
              <a:rPr sz="1500" b="1" i="0">
                <a:solidFill>
                  <a:srgbClr val="0F172A"/>
                </a:solidFill>
                <a:latin typeface="Arial"/>
              </a:rPr>
              <a:t>Null results are the finding:</a:t>
            </a:r>
            <a:r>
              <a:rPr sz="1500" b="0" i="0">
                <a:solidFill>
                  <a:srgbClr val="0F172A"/>
                </a:solidFill>
                <a:latin typeface="Arial"/>
              </a:rPr>
              <a:t> in an efficient market, “no move” and the market's own price are hard baselines; deep learning helps only next to the anchor</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54864"/>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09728"/>
            <a:ext cx="11277295" cy="685800"/>
          </a:xfrm>
          <a:prstGeom prst="rect">
            <a:avLst/>
          </a:prstGeom>
          <a:noFill/>
        </p:spPr>
        <p:txBody>
          <a:bodyPr wrap="square" anchor="ctr" lIns="73152" rIns="73152" tIns="36576" bIns="36576">
            <a:spAutoFit/>
          </a:bodyPr>
          <a:lstStyle/>
          <a:p>
            <a:pPr algn="l">
              <a:spcAft>
                <a:spcPts val="0"/>
              </a:spcAft>
            </a:pPr>
            <a:r>
              <a:rPr sz="3000" b="1" i="0">
                <a:solidFill>
                  <a:srgbClr val="FFFFFF"/>
                </a:solidFill>
                <a:latin typeface="Arial"/>
              </a:rPr>
              <a:t>Evidence 3: every line drifts down; never trading wins</a:t>
            </a:r>
          </a:p>
        </p:txBody>
      </p:sp>
      <p:sp>
        <p:nvSpPr>
          <p:cNvPr id="5" name="TextBox 4"/>
          <p:cNvSpPr txBox="1"/>
          <p:nvPr/>
        </p:nvSpPr>
        <p:spPr>
          <a:xfrm>
            <a:off x="457200" y="6446520"/>
            <a:ext cx="9144000" cy="320040"/>
          </a:xfrm>
          <a:prstGeom prst="rect">
            <a:avLst/>
          </a:prstGeom>
          <a:noFill/>
        </p:spPr>
        <p:txBody>
          <a:bodyPr wrap="square" anchor="t" lIns="73152" rIns="73152" tIns="36576" bIns="36576">
            <a:spAutoFit/>
          </a:bodyPr>
          <a:lstStyle/>
          <a:p>
            <a:pPr algn="l">
              <a:spcAft>
                <a:spcPts val="0"/>
              </a:spcAft>
            </a:pPr>
            <a:r>
              <a:rPr sz="1100" b="0" i="0">
                <a:solidFill>
                  <a:srgbClr val="64748B"/>
                </a:solidFill>
                <a:latin typeface="Arial"/>
              </a:rPr>
              <a:t>DASC7606C Group 12 · Market-Graded Learning: the closing price grades every component</a:t>
            </a:r>
          </a:p>
        </p:txBody>
      </p:sp>
      <p:sp>
        <p:nvSpPr>
          <p:cNvPr id="6" name="TextBox 5"/>
          <p:cNvSpPr txBox="1"/>
          <p:nvPr/>
        </p:nvSpPr>
        <p:spPr>
          <a:xfrm>
            <a:off x="10820095" y="6446520"/>
            <a:ext cx="914400" cy="320040"/>
          </a:xfrm>
          <a:prstGeom prst="rect">
            <a:avLst/>
          </a:prstGeom>
          <a:noFill/>
        </p:spPr>
        <p:txBody>
          <a:bodyPr wrap="square" anchor="t" lIns="73152" rIns="73152" tIns="36576" bIns="36576">
            <a:spAutoFit/>
          </a:bodyPr>
          <a:lstStyle/>
          <a:p>
            <a:pPr algn="r">
              <a:spcAft>
                <a:spcPts val="0"/>
              </a:spcAft>
            </a:pPr>
            <a:r>
              <a:rPr sz="1100" b="0" i="0">
                <a:solidFill>
                  <a:srgbClr val="64748B"/>
                </a:solidFill>
                <a:latin typeface="Arial"/>
              </a:rPr>
              <a:t>10</a:t>
            </a:r>
          </a:p>
        </p:txBody>
      </p:sp>
      <p:pic>
        <p:nvPicPr>
          <p:cNvPr id="7" name="Picture 6" descr="cumulative_pnl.png"/>
          <p:cNvPicPr>
            <a:picLocks noChangeAspect="1"/>
          </p:cNvPicPr>
          <p:nvPr/>
        </p:nvPicPr>
        <p:blipFill>
          <a:blip r:embed="rId3"/>
          <a:stretch>
            <a:fillRect/>
          </a:stretch>
        </p:blipFill>
        <p:spPr>
          <a:xfrm>
            <a:off x="2381097" y="1097280"/>
            <a:ext cx="7429500" cy="3200400"/>
          </a:xfrm>
          <a:prstGeom prst="rect">
            <a:avLst/>
          </a:prstGeom>
        </p:spPr>
      </p:pic>
      <p:graphicFrame>
        <p:nvGraphicFramePr>
          <p:cNvPr id="8" name="Table 7"/>
          <p:cNvGraphicFramePr>
            <a:graphicFrameLocks noGrp="1"/>
          </p:cNvGraphicFramePr>
          <p:nvPr/>
        </p:nvGraphicFramePr>
        <p:xfrm>
          <a:off x="457200" y="4389120"/>
          <a:ext cx="6400800" cy="1755648"/>
        </p:xfrm>
        <a:graphic>
          <a:graphicData uri="http://schemas.openxmlformats.org/drawingml/2006/table">
            <a:tbl>
              <a:tblPr firstRow="1" bandRow="1">
                <a:tableStyleId>{5C22544A-7EE6-4342-B048-85BDC9FD1C3A}</a:tableStyleId>
              </a:tblPr>
              <a:tblGrid>
                <a:gridCol w="2926080"/>
                <a:gridCol w="868680"/>
                <a:gridCol w="2606040"/>
              </a:tblGrid>
              <a:tr h="365760">
                <a:tc>
                  <a:txBody>
                    <a:bodyPr wrap="square"/>
                    <a:lstStyle/>
                    <a:p>
                      <a:pPr algn="l"/>
                      <a:r>
                        <a:rPr sz="1400" b="1" i="0">
                          <a:solidFill>
                            <a:srgbClr val="FFFFFF"/>
                          </a:solidFill>
                          <a:latin typeface="Arial"/>
                        </a:rPr>
                        <a:t>Walk-forward, Nov – 12 Apr</a:t>
                      </a:r>
                    </a:p>
                  </a:txBody>
                  <a:tcPr marL="73152" marR="73152" marT="36576" marB="36576" anchor="ctr">
                    <a:solidFill>
                      <a:srgbClr val="1E293B"/>
                    </a:solidFill>
                  </a:tcPr>
                </a:tc>
                <a:tc>
                  <a:txBody>
                    <a:bodyPr wrap="square"/>
                    <a:lstStyle/>
                    <a:p>
                      <a:pPr algn="ctr"/>
                      <a:r>
                        <a:rPr sz="1400" b="1" i="0">
                          <a:solidFill>
                            <a:srgbClr val="FFFFFF"/>
                          </a:solidFill>
                          <a:latin typeface="Arial"/>
                        </a:rPr>
                        <a:t>Trades</a:t>
                      </a:r>
                    </a:p>
                  </a:txBody>
                  <a:tcPr marL="73152" marR="73152" marT="36576" marB="36576" anchor="ctr">
                    <a:solidFill>
                      <a:srgbClr val="1E293B"/>
                    </a:solidFill>
                  </a:tcPr>
                </a:tc>
                <a:tc>
                  <a:txBody>
                    <a:bodyPr wrap="square"/>
                    <a:lstStyle/>
                    <a:p>
                      <a:pPr algn="ctr"/>
                      <a:r>
                        <a:rPr sz="1400" b="1" i="0">
                          <a:solidFill>
                            <a:srgbClr val="FFFFFF"/>
                          </a:solidFill>
                          <a:latin typeface="Arial"/>
                        </a:rPr>
                        <a:t>P&amp;L after fees [95% CI]</a:t>
                      </a:r>
                    </a:p>
                  </a:txBody>
                  <a:tcPr marL="73152" marR="73152" marT="36576" marB="36576" anchor="ctr">
                    <a:solidFill>
                      <a:srgbClr val="1E293B"/>
                    </a:solidFill>
                  </a:tcPr>
                </a:tc>
              </a:tr>
              <a:tr h="347472">
                <a:tc>
                  <a:txBody>
                    <a:bodyPr wrap="square"/>
                    <a:lstStyle/>
                    <a:p>
                      <a:pPr algn="l"/>
                      <a:r>
                        <a:rPr sz="1400" b="1" i="0">
                          <a:solidFill>
                            <a:srgbClr val="0F172A"/>
                          </a:solidFill>
                          <a:latin typeface="Arial"/>
                        </a:rPr>
                        <a:t>Never trade</a:t>
                      </a:r>
                    </a:p>
                  </a:txBody>
                  <a:tcPr marL="73152" marR="73152" marT="36576" marB="36576" anchor="ctr">
                    <a:solidFill>
                      <a:srgbClr val="DCFCE7"/>
                    </a:solidFill>
                  </a:tcPr>
                </a:tc>
                <a:tc>
                  <a:txBody>
                    <a:bodyPr wrap="square"/>
                    <a:lstStyle/>
                    <a:p>
                      <a:pPr algn="ctr"/>
                      <a:r>
                        <a:rPr sz="1400" b="0" i="0">
                          <a:solidFill>
                            <a:srgbClr val="0F172A"/>
                          </a:solidFill>
                          <a:latin typeface="Arial"/>
                        </a:rPr>
                        <a:t>0</a:t>
                      </a:r>
                    </a:p>
                  </a:txBody>
                  <a:tcPr marL="73152" marR="73152" marT="36576" marB="36576" anchor="ctr">
                    <a:solidFill>
                      <a:srgbClr val="DCFCE7"/>
                    </a:solidFill>
                  </a:tcPr>
                </a:tc>
                <a:tc>
                  <a:txBody>
                    <a:bodyPr wrap="square"/>
                    <a:lstStyle/>
                    <a:p>
                      <a:pPr algn="ctr"/>
                      <a:r>
                        <a:rPr sz="1400" b="1" i="0">
                          <a:solidFill>
                            <a:srgbClr val="0F172A"/>
                          </a:solidFill>
                          <a:latin typeface="Arial"/>
                        </a:rPr>
                        <a:t>$0</a:t>
                      </a:r>
                    </a:p>
                  </a:txBody>
                  <a:tcPr marL="73152" marR="73152" marT="36576" marB="36576" anchor="ctr">
                    <a:solidFill>
                      <a:srgbClr val="DCFCE7"/>
                    </a:solidFill>
                  </a:tcPr>
                </a:tc>
              </a:tr>
              <a:tr h="347472">
                <a:tc>
                  <a:txBody>
                    <a:bodyPr wrap="square"/>
                    <a:lstStyle/>
                    <a:p>
                      <a:pPr algn="l"/>
                      <a:r>
                        <a:rPr sz="1400" b="0" i="0">
                          <a:solidFill>
                            <a:srgbClr val="0F172A"/>
                          </a:solidFill>
                          <a:latin typeface="Arial"/>
                        </a:rPr>
                        <a:t>Full agent: anchor + learning</a:t>
                      </a:r>
                    </a:p>
                  </a:txBody>
                  <a:tcPr marL="73152" marR="73152" marT="36576" marB="36576" anchor="ctr">
                    <a:solidFill>
                      <a:srgbClr val="FFFFFF"/>
                    </a:solidFill>
                  </a:tcPr>
                </a:tc>
                <a:tc>
                  <a:txBody>
                    <a:bodyPr wrap="square"/>
                    <a:lstStyle/>
                    <a:p>
                      <a:pPr algn="ctr"/>
                      <a:r>
                        <a:rPr sz="1400" b="0" i="0">
                          <a:solidFill>
                            <a:srgbClr val="0F172A"/>
                          </a:solidFill>
                          <a:latin typeface="Arial"/>
                        </a:rPr>
                        <a:t>157</a:t>
                      </a:r>
                    </a:p>
                  </a:txBody>
                  <a:tcPr marL="73152" marR="73152" marT="36576" marB="36576" anchor="ctr">
                    <a:solidFill>
                      <a:srgbClr val="FFFFFF"/>
                    </a:solidFill>
                  </a:tcPr>
                </a:tc>
                <a:tc>
                  <a:txBody>
                    <a:bodyPr wrap="square"/>
                    <a:lstStyle/>
                    <a:p>
                      <a:pPr algn="ctr"/>
                      <a:r>
                        <a:rPr sz="1400" b="0" i="0">
                          <a:solidFill>
                            <a:srgbClr val="0F172A"/>
                          </a:solidFill>
                          <a:latin typeface="Arial"/>
                        </a:rPr>
                        <a:t>−$25 [−$569 to +$564]</a:t>
                      </a:r>
                    </a:p>
                  </a:txBody>
                  <a:tcPr marL="73152" marR="73152" marT="36576" marB="36576" anchor="ctr">
                    <a:solidFill>
                      <a:srgbClr val="FFFFFF"/>
                    </a:solidFill>
                  </a:tcPr>
                </a:tc>
              </a:tr>
              <a:tr h="347472">
                <a:tc>
                  <a:txBody>
                    <a:bodyPr wrap="square"/>
                    <a:lstStyle/>
                    <a:p>
                      <a:pPr algn="l"/>
                      <a:r>
                        <a:rPr sz="1400" b="0" i="0">
                          <a:solidFill>
                            <a:srgbClr val="0F172A"/>
                          </a:solidFill>
                          <a:latin typeface="Arial"/>
                        </a:rPr>
                        <a:t>Anchor, no learning</a:t>
                      </a:r>
                    </a:p>
                  </a:txBody>
                  <a:tcPr marL="73152" marR="73152" marT="36576" marB="36576" anchor="ctr">
                    <a:solidFill>
                      <a:srgbClr val="F1F5F9"/>
                    </a:solidFill>
                  </a:tcPr>
                </a:tc>
                <a:tc>
                  <a:txBody>
                    <a:bodyPr wrap="square"/>
                    <a:lstStyle/>
                    <a:p>
                      <a:pPr algn="ctr"/>
                      <a:r>
                        <a:rPr sz="1400" b="0" i="0">
                          <a:solidFill>
                            <a:srgbClr val="0F172A"/>
                          </a:solidFill>
                          <a:latin typeface="Arial"/>
                        </a:rPr>
                        <a:t>276</a:t>
                      </a:r>
                    </a:p>
                  </a:txBody>
                  <a:tcPr marL="73152" marR="73152" marT="36576" marB="36576" anchor="ctr">
                    <a:solidFill>
                      <a:srgbClr val="F1F5F9"/>
                    </a:solidFill>
                  </a:tcPr>
                </a:tc>
                <a:tc>
                  <a:txBody>
                    <a:bodyPr wrap="square"/>
                    <a:lstStyle/>
                    <a:p>
                      <a:pPr algn="ctr"/>
                      <a:r>
                        <a:rPr sz="1400" b="0" i="0">
                          <a:solidFill>
                            <a:srgbClr val="0F172A"/>
                          </a:solidFill>
                          <a:latin typeface="Arial"/>
                        </a:rPr>
                        <a:t>−$407 [−$1,324 to +$553]</a:t>
                      </a:r>
                    </a:p>
                  </a:txBody>
                  <a:tcPr marL="73152" marR="73152" marT="36576" marB="36576" anchor="ctr">
                    <a:solidFill>
                      <a:srgbClr val="F1F5F9"/>
                    </a:solidFill>
                  </a:tcPr>
                </a:tc>
              </a:tr>
              <a:tr h="347472">
                <a:tc>
                  <a:txBody>
                    <a:bodyPr wrap="square"/>
                    <a:lstStyle/>
                    <a:p>
                      <a:pPr algn="l"/>
                      <a:r>
                        <a:rPr sz="1400" b="0" i="0">
                          <a:solidFill>
                            <a:srgbClr val="0F172A"/>
                          </a:solidFill>
                          <a:latin typeface="Arial"/>
                        </a:rPr>
                        <a:t>Raw model</a:t>
                      </a:r>
                    </a:p>
                  </a:txBody>
                  <a:tcPr marL="73152" marR="73152" marT="36576" marB="36576" anchor="ctr">
                    <a:solidFill>
                      <a:srgbClr val="FFFFFF"/>
                    </a:solidFill>
                  </a:tcPr>
                </a:tc>
                <a:tc>
                  <a:txBody>
                    <a:bodyPr wrap="square"/>
                    <a:lstStyle/>
                    <a:p>
                      <a:pPr algn="ctr"/>
                      <a:r>
                        <a:rPr sz="1400" b="0" i="0">
                          <a:solidFill>
                            <a:srgbClr val="0F172A"/>
                          </a:solidFill>
                          <a:latin typeface="Arial"/>
                        </a:rPr>
                        <a:t>711</a:t>
                      </a:r>
                    </a:p>
                  </a:txBody>
                  <a:tcPr marL="73152" marR="73152" marT="36576" marB="36576" anchor="ctr">
                    <a:solidFill>
                      <a:srgbClr val="FFFFFF"/>
                    </a:solidFill>
                  </a:tcPr>
                </a:tc>
                <a:tc>
                  <a:txBody>
                    <a:bodyPr wrap="square"/>
                    <a:lstStyle/>
                    <a:p>
                      <a:pPr algn="ctr"/>
                      <a:r>
                        <a:rPr sz="1400" b="0" i="0">
                          <a:solidFill>
                            <a:srgbClr val="0F172A"/>
                          </a:solidFill>
                          <a:latin typeface="Arial"/>
                        </a:rPr>
                        <a:t>−$2,475 [−$3,995 to −$845]</a:t>
                      </a:r>
                    </a:p>
                  </a:txBody>
                  <a:tcPr marL="73152" marR="73152" marT="36576" marB="36576" anchor="ctr">
                    <a:solidFill>
                      <a:srgbClr val="FFFFFF"/>
                    </a:solidFill>
                  </a:tcPr>
                </a:tc>
              </a:tr>
            </a:tbl>
          </a:graphicData>
        </a:graphic>
      </p:graphicFrame>
      <p:sp>
        <p:nvSpPr>
          <p:cNvPr id="9" name="TextBox 8"/>
          <p:cNvSpPr txBox="1"/>
          <p:nvPr/>
        </p:nvSpPr>
        <p:spPr>
          <a:xfrm>
            <a:off x="7040880" y="4343400"/>
            <a:ext cx="4693615" cy="2011680"/>
          </a:xfrm>
          <a:prstGeom prst="rect">
            <a:avLst/>
          </a:prstGeom>
          <a:noFill/>
        </p:spPr>
        <p:txBody>
          <a:bodyPr wrap="square" anchor="t" lIns="73152" rIns="73152" tIns="36576" bIns="36576">
            <a:spAutoFit/>
          </a:bodyPr>
          <a:lstStyle/>
          <a:p>
            <a:pPr algn="l" marL="292608" indent="-256032">
              <a:spcAft>
                <a:spcPts val="400"/>
              </a:spcAft>
              <a:buChar char="•"/>
            </a:pPr>
            <a:r>
              <a:rPr sz="1600" b="0" i="0">
                <a:solidFill>
                  <a:srgbClr val="0F172A"/>
                </a:solidFill>
                <a:latin typeface="Arial"/>
              </a:rPr>
              <a:t>Mean CLV &lt; 0 for every setup; </a:t>
            </a:r>
            <a:r>
              <a:rPr sz="1600" b="1" i="0">
                <a:solidFill>
                  <a:srgbClr val="0F172A"/>
                </a:solidFill>
                <a:latin typeface="Arial"/>
              </a:rPr>
              <a:t>every CI below zero</a:t>
            </a:r>
          </a:p>
          <a:p>
            <a:pPr algn="l" marL="292608" indent="-256032">
              <a:spcAft>
                <a:spcPts val="400"/>
              </a:spcAft>
              <a:buChar char="•"/>
            </a:pPr>
            <a:r>
              <a:rPr sz="1600" b="0" i="0">
                <a:solidFill>
                  <a:srgbClr val="0F172A"/>
                </a:solidFill>
                <a:latin typeface="Arial"/>
              </a:rPr>
              <a:t>Anchor is real: +$2,450 (p = 0.002); learning = trading less (p = 0.13)</a:t>
            </a:r>
          </a:p>
          <a:p>
            <a:pPr algn="l" marL="292608" indent="-256032">
              <a:spcAft>
                <a:spcPts val="400"/>
              </a:spcAft>
              <a:buChar char="•"/>
            </a:pPr>
            <a:r>
              <a:rPr sz="1600" b="0" i="0">
                <a:solidFill>
                  <a:srgbClr val="0F172A"/>
                </a:solidFill>
                <a:latin typeface="Arial"/>
              </a:rPr>
              <a:t>Play-off holdout: full agent 0 trades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54864"/>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09728"/>
            <a:ext cx="11277295" cy="685800"/>
          </a:xfrm>
          <a:prstGeom prst="rect">
            <a:avLst/>
          </a:prstGeom>
          <a:noFill/>
        </p:spPr>
        <p:txBody>
          <a:bodyPr wrap="square" anchor="ctr" lIns="73152" rIns="73152" tIns="36576" bIns="36576">
            <a:spAutoFit/>
          </a:bodyPr>
          <a:lstStyle/>
          <a:p>
            <a:pPr algn="l">
              <a:spcAft>
                <a:spcPts val="0"/>
              </a:spcAft>
            </a:pPr>
            <a:r>
              <a:rPr sz="3000" b="1" i="0">
                <a:solidFill>
                  <a:srgbClr val="FFFFFF"/>
                </a:solidFill>
                <a:latin typeface="Arial"/>
              </a:rPr>
              <a:t>Agentic upgrades: the market's answer is “trade less”</a:t>
            </a:r>
          </a:p>
        </p:txBody>
      </p:sp>
      <p:sp>
        <p:nvSpPr>
          <p:cNvPr id="5" name="TextBox 4"/>
          <p:cNvSpPr txBox="1"/>
          <p:nvPr/>
        </p:nvSpPr>
        <p:spPr>
          <a:xfrm>
            <a:off x="457200" y="6446520"/>
            <a:ext cx="9144000" cy="320040"/>
          </a:xfrm>
          <a:prstGeom prst="rect">
            <a:avLst/>
          </a:prstGeom>
          <a:noFill/>
        </p:spPr>
        <p:txBody>
          <a:bodyPr wrap="square" anchor="t" lIns="73152" rIns="73152" tIns="36576" bIns="36576">
            <a:spAutoFit/>
          </a:bodyPr>
          <a:lstStyle/>
          <a:p>
            <a:pPr algn="l">
              <a:spcAft>
                <a:spcPts val="0"/>
              </a:spcAft>
            </a:pPr>
            <a:r>
              <a:rPr sz="1100" b="0" i="0">
                <a:solidFill>
                  <a:srgbClr val="64748B"/>
                </a:solidFill>
                <a:latin typeface="Arial"/>
              </a:rPr>
              <a:t>DASC7606C Group 12 · Market-Graded Learning: the closing price grades every component</a:t>
            </a:r>
          </a:p>
        </p:txBody>
      </p:sp>
      <p:sp>
        <p:nvSpPr>
          <p:cNvPr id="6" name="TextBox 5"/>
          <p:cNvSpPr txBox="1"/>
          <p:nvPr/>
        </p:nvSpPr>
        <p:spPr>
          <a:xfrm>
            <a:off x="10820095" y="6446520"/>
            <a:ext cx="914400" cy="320040"/>
          </a:xfrm>
          <a:prstGeom prst="rect">
            <a:avLst/>
          </a:prstGeom>
          <a:noFill/>
        </p:spPr>
        <p:txBody>
          <a:bodyPr wrap="square" anchor="t" lIns="73152" rIns="73152" tIns="36576" bIns="36576">
            <a:spAutoFit/>
          </a:bodyPr>
          <a:lstStyle/>
          <a:p>
            <a:pPr algn="r">
              <a:spcAft>
                <a:spcPts val="0"/>
              </a:spcAft>
            </a:pPr>
            <a:r>
              <a:rPr sz="1100" b="0" i="0">
                <a:solidFill>
                  <a:srgbClr val="64748B"/>
                </a:solidFill>
                <a:latin typeface="Arial"/>
              </a:rPr>
              <a:t>11</a:t>
            </a:r>
          </a:p>
        </p:txBody>
      </p:sp>
      <p:graphicFrame>
        <p:nvGraphicFramePr>
          <p:cNvPr id="7" name="Table 6"/>
          <p:cNvGraphicFramePr>
            <a:graphicFrameLocks noGrp="1"/>
          </p:cNvGraphicFramePr>
          <p:nvPr/>
        </p:nvGraphicFramePr>
        <p:xfrm>
          <a:off x="457200" y="1143000"/>
          <a:ext cx="8138160" cy="4608576"/>
        </p:xfrm>
        <a:graphic>
          <a:graphicData uri="http://schemas.openxmlformats.org/drawingml/2006/table">
            <a:tbl>
              <a:tblPr firstRow="1" bandRow="1">
                <a:tableStyleId>{5C22544A-7EE6-4342-B048-85BDC9FD1C3A}</a:tableStyleId>
              </a:tblPr>
              <a:tblGrid>
                <a:gridCol w="1783080"/>
                <a:gridCol w="2331720"/>
                <a:gridCol w="4023360"/>
              </a:tblGrid>
              <a:tr h="310896">
                <a:tc>
                  <a:txBody>
                    <a:bodyPr wrap="square"/>
                    <a:lstStyle/>
                    <a:p>
                      <a:pPr algn="l"/>
                      <a:r>
                        <a:rPr sz="1100" b="1" i="0">
                          <a:solidFill>
                            <a:srgbClr val="FFFFFF"/>
                          </a:solidFill>
                          <a:latin typeface="Arial"/>
                        </a:rPr>
                        <a:t>Upgrade</a:t>
                      </a:r>
                    </a:p>
                  </a:txBody>
                  <a:tcPr marL="73152" marR="73152" marT="36576" marB="36576" anchor="ctr">
                    <a:solidFill>
                      <a:srgbClr val="1E293B"/>
                    </a:solidFill>
                  </a:tcPr>
                </a:tc>
                <a:tc>
                  <a:txBody>
                    <a:bodyPr wrap="square"/>
                    <a:lstStyle/>
                    <a:p>
                      <a:pPr algn="l"/>
                      <a:r>
                        <a:rPr sz="1100" b="1" i="0">
                          <a:solidFill>
                            <a:srgbClr val="FFFFFF"/>
                          </a:solidFill>
                          <a:latin typeface="Arial"/>
                        </a:rPr>
                        <a:t>What it is</a:t>
                      </a:r>
                    </a:p>
                  </a:txBody>
                  <a:tcPr marL="73152" marR="73152" marT="36576" marB="36576" anchor="ctr">
                    <a:solidFill>
                      <a:srgbClr val="1E293B"/>
                    </a:solidFill>
                  </a:tcPr>
                </a:tc>
                <a:tc>
                  <a:txBody>
                    <a:bodyPr wrap="square"/>
                    <a:lstStyle/>
                    <a:p>
                      <a:pPr algn="l"/>
                      <a:r>
                        <a:rPr sz="1100" b="1" i="0">
                          <a:solidFill>
                            <a:srgbClr val="FFFFFF"/>
                          </a:solidFill>
                          <a:latin typeface="Arial"/>
                        </a:rPr>
                        <a:t>Result</a:t>
                      </a:r>
                    </a:p>
                  </a:txBody>
                  <a:tcPr marL="73152" marR="73152" marT="36576" marB="36576" anchor="ctr">
                    <a:solidFill>
                      <a:srgbClr val="1E293B"/>
                    </a:solidFill>
                  </a:tcPr>
                </a:tc>
              </a:tr>
              <a:tr h="429768">
                <a:tc>
                  <a:txBody>
                    <a:bodyPr wrap="square"/>
                    <a:lstStyle/>
                    <a:p>
                      <a:pPr algn="l"/>
                      <a:r>
                        <a:rPr sz="1100" b="1" i="0">
                          <a:solidFill>
                            <a:srgbClr val="0F172A"/>
                          </a:solidFill>
                          <a:latin typeface="Arial"/>
                        </a:rPr>
                        <a:t>Gate audit</a:t>
                      </a:r>
                    </a:p>
                  </a:txBody>
                  <a:tcPr marL="73152" marR="73152" marT="36576" marB="36576" anchor="ctr">
                    <a:solidFill>
                      <a:srgbClr val="F1F5F9"/>
                    </a:solidFill>
                  </a:tcPr>
                </a:tc>
                <a:tc>
                  <a:txBody>
                    <a:bodyPr wrap="square"/>
                    <a:lstStyle/>
                    <a:p>
                      <a:pPr algn="l"/>
                      <a:r>
                        <a:rPr sz="1100" b="0" i="0">
                          <a:solidFill>
                            <a:srgbClr val="0F172A"/>
                          </a:solidFill>
                          <a:latin typeface="Arial"/>
                        </a:rPr>
                        <a:t>Rule gate judged on held-out days, by CLV $</a:t>
                      </a:r>
                    </a:p>
                  </a:txBody>
                  <a:tcPr marL="73152" marR="73152" marT="36576" marB="36576" anchor="ctr">
                    <a:solidFill>
                      <a:srgbClr val="F1F5F9"/>
                    </a:solidFill>
                  </a:tcPr>
                </a:tc>
                <a:tc>
                  <a:txBody>
                    <a:bodyPr wrap="square"/>
                    <a:lstStyle/>
                    <a:p>
                      <a:pPr algn="l"/>
                      <a:r>
                        <a:rPr sz="1100" b="0" i="0">
                          <a:solidFill>
                            <a:srgbClr val="0F172A"/>
                          </a:solidFill>
                          <a:latin typeface="Arial"/>
                        </a:rPr>
                        <a:t>Kept 5 of 11 (legacy 0 of 24); trades 129 → 53; CLV $ +$18 [+1, +34], per trade no better; never trading still wins</a:t>
                      </a:r>
                    </a:p>
                  </a:txBody>
                  <a:tcPr marL="73152" marR="73152" marT="36576" marB="36576" anchor="ctr">
                    <a:solidFill>
                      <a:srgbClr val="F1F5F9"/>
                    </a:solidFill>
                  </a:tcPr>
                </a:tc>
              </a:tr>
              <a:tr h="429768">
                <a:tc>
                  <a:txBody>
                    <a:bodyPr wrap="square"/>
                    <a:lstStyle/>
                    <a:p>
                      <a:pPr algn="l"/>
                      <a:r>
                        <a:rPr sz="1100" b="1" i="0">
                          <a:solidFill>
                            <a:srgbClr val="0F172A"/>
                          </a:solidFill>
                          <a:latin typeface="Arial"/>
                        </a:rPr>
                        <a:t>Placebo rules</a:t>
                      </a:r>
                    </a:p>
                  </a:txBody>
                  <a:tcPr marL="73152" marR="73152" marT="36576" marB="36576" anchor="ctr">
                    <a:solidFill>
                      <a:srgbClr val="FFFFFF"/>
                    </a:solidFill>
                  </a:tcPr>
                </a:tc>
                <a:tc>
                  <a:txBody>
                    <a:bodyPr wrap="square"/>
                    <a:lstStyle/>
                    <a:p>
                      <a:pPr algn="l"/>
                      <a:r>
                        <a:rPr sz="1100" b="0" i="0">
                          <a:solidFill>
                            <a:srgbClr val="0F172A"/>
                          </a:solidFill>
                          <a:latin typeface="Arial"/>
                        </a:rPr>
                        <a:t>Random rules through the same gate</a:t>
                      </a:r>
                    </a:p>
                  </a:txBody>
                  <a:tcPr marL="73152" marR="73152" marT="36576" marB="36576" anchor="ctr">
                    <a:solidFill>
                      <a:srgbClr val="FFFFFF"/>
                    </a:solidFill>
                  </a:tcPr>
                </a:tc>
                <a:tc>
                  <a:txBody>
                    <a:bodyPr wrap="square"/>
                    <a:lstStyle/>
                    <a:p>
                      <a:pPr algn="l"/>
                      <a:r>
                        <a:rPr sz="1100" b="0" i="0">
                          <a:solidFill>
                            <a:srgbClr val="0F172A"/>
                          </a:solidFill>
                          <a:latin typeface="Arial"/>
                        </a:rPr>
                        <a:t>Random rules pass 57%, same as the reviewer's: learning works by trading less</a:t>
                      </a:r>
                    </a:p>
                  </a:txBody>
                  <a:tcPr marL="73152" marR="73152" marT="36576" marB="36576" anchor="ctr">
                    <a:solidFill>
                      <a:srgbClr val="FFFFFF"/>
                    </a:solidFill>
                  </a:tcPr>
                </a:tc>
              </a:tr>
              <a:tr h="429768">
                <a:tc>
                  <a:txBody>
                    <a:bodyPr wrap="square"/>
                    <a:lstStyle/>
                    <a:p>
                      <a:pPr algn="l"/>
                      <a:r>
                        <a:rPr sz="1100" b="1" i="0">
                          <a:solidFill>
                            <a:srgbClr val="0F172A"/>
                          </a:solidFill>
                          <a:latin typeface="Arial"/>
                        </a:rPr>
                        <a:t>Kill switch</a:t>
                      </a:r>
                    </a:p>
                  </a:txBody>
                  <a:tcPr marL="73152" marR="73152" marT="36576" marB="36576" anchor="ctr">
                    <a:solidFill>
                      <a:srgbClr val="F1F5F9"/>
                    </a:solidFill>
                  </a:tcPr>
                </a:tc>
                <a:tc>
                  <a:txBody>
                    <a:bodyPr wrap="square"/>
                    <a:lstStyle/>
                    <a:p>
                      <a:pPr algn="l"/>
                      <a:r>
                        <a:rPr sz="1100" b="0" i="0">
                          <a:solidFill>
                            <a:srgbClr val="0F172A"/>
                          </a:solidFill>
                          <a:latin typeface="Arial"/>
                        </a:rPr>
                        <a:t>$100 daily realised-loss stop</a:t>
                      </a:r>
                    </a:p>
                  </a:txBody>
                  <a:tcPr marL="73152" marR="73152" marT="36576" marB="36576" anchor="ctr">
                    <a:solidFill>
                      <a:srgbClr val="F1F5F9"/>
                    </a:solidFill>
                  </a:tcPr>
                </a:tc>
                <a:tc>
                  <a:txBody>
                    <a:bodyPr wrap="square"/>
                    <a:lstStyle/>
                    <a:p>
                      <a:pPr algn="l"/>
                      <a:r>
                        <a:rPr sz="1100" b="0" i="0">
                          <a:solidFill>
                            <a:srgbClr val="0F172A"/>
                          </a:solidFill>
                          <a:latin typeface="Arial"/>
                        </a:rPr>
                        <a:t>Enforced, never tripped at $20 stakes (worst day −$54); property-tested</a:t>
                      </a:r>
                    </a:p>
                  </a:txBody>
                  <a:tcPr marL="73152" marR="73152" marT="36576" marB="36576" anchor="ctr">
                    <a:solidFill>
                      <a:srgbClr val="F1F5F9"/>
                    </a:solidFill>
                  </a:tcPr>
                </a:tc>
              </a:tr>
              <a:tr h="429768">
                <a:tc>
                  <a:txBody>
                    <a:bodyPr wrap="square"/>
                    <a:lstStyle/>
                    <a:p>
                      <a:pPr algn="l"/>
                      <a:r>
                        <a:rPr sz="1100" b="1" i="0">
                          <a:solidFill>
                            <a:srgbClr val="0F172A"/>
                          </a:solidFill>
                          <a:latin typeface="Arial"/>
                        </a:rPr>
                        <a:t>Fractional Kelly</a:t>
                      </a:r>
                    </a:p>
                  </a:txBody>
                  <a:tcPr marL="73152" marR="73152" marT="36576" marB="36576" anchor="ctr">
                    <a:solidFill>
                      <a:srgbClr val="FFFFFF"/>
                    </a:solidFill>
                  </a:tcPr>
                </a:tc>
                <a:tc>
                  <a:txBody>
                    <a:bodyPr wrap="square"/>
                    <a:lstStyle/>
                    <a:p>
                      <a:pPr algn="l"/>
                      <a:r>
                        <a:rPr sz="1100" b="0" i="0">
                          <a:solidFill>
                            <a:srgbClr val="0F172A"/>
                          </a:solidFill>
                          <a:latin typeface="Arial"/>
                        </a:rPr>
                        <a:t>¼-Kelly with the fee vs flat $20</a:t>
                      </a:r>
                    </a:p>
                  </a:txBody>
                  <a:tcPr marL="73152" marR="73152" marT="36576" marB="36576" anchor="ctr">
                    <a:solidFill>
                      <a:srgbClr val="FFFFFF"/>
                    </a:solidFill>
                  </a:tcPr>
                </a:tc>
                <a:tc>
                  <a:txBody>
                    <a:bodyPr wrap="square"/>
                    <a:lstStyle/>
                    <a:p>
                      <a:pPr algn="l"/>
                      <a:r>
                        <a:rPr sz="1100" b="0" i="1">
                          <a:solidFill>
                            <a:srgbClr val="64748B"/>
                          </a:solidFill>
                          <a:latin typeface="Arial"/>
                        </a:rPr>
                        <a:t>Not run (time)</a:t>
                      </a:r>
                    </a:p>
                  </a:txBody>
                  <a:tcPr marL="73152" marR="73152" marT="36576" marB="36576" anchor="ctr">
                    <a:solidFill>
                      <a:srgbClr val="FFFFFF"/>
                    </a:solidFill>
                  </a:tcPr>
                </a:tc>
              </a:tr>
              <a:tr h="429768">
                <a:tc>
                  <a:txBody>
                    <a:bodyPr wrap="square"/>
                    <a:lstStyle/>
                    <a:p>
                      <a:pPr algn="l"/>
                      <a:r>
                        <a:rPr sz="1100" b="1" i="0">
                          <a:solidFill>
                            <a:srgbClr val="0F172A"/>
                          </a:solidFill>
                          <a:latin typeface="Arial"/>
                        </a:rPr>
                        <a:t>Coach, simulated users</a:t>
                      </a:r>
                    </a:p>
                  </a:txBody>
                  <a:tcPr marL="73152" marR="73152" marT="36576" marB="36576" anchor="ctr">
                    <a:solidFill>
                      <a:srgbClr val="F1F5F9"/>
                    </a:solidFill>
                  </a:tcPr>
                </a:tc>
                <a:tc>
                  <a:txBody>
                    <a:bodyPr wrap="square"/>
                    <a:lstStyle/>
                    <a:p>
                      <a:pPr algn="l"/>
                      <a:r>
                        <a:rPr sz="1100" b="0" i="0">
                          <a:solidFill>
                            <a:srgbClr val="0F172A"/>
                          </a:solidFill>
                          <a:latin typeface="Arial"/>
                        </a:rPr>
                        <a:t>Biased personas follow nudges (compliance 1.0)</a:t>
                      </a:r>
                    </a:p>
                  </a:txBody>
                  <a:tcPr marL="73152" marR="73152" marT="36576" marB="36576" anchor="ctr">
                    <a:solidFill>
                      <a:srgbClr val="F1F5F9"/>
                    </a:solidFill>
                  </a:tcPr>
                </a:tc>
                <a:tc>
                  <a:txBody>
                    <a:bodyPr wrap="square"/>
                    <a:lstStyle/>
                    <a:p>
                      <a:pPr algn="l"/>
                      <a:r>
                        <a:rPr sz="1100" b="0" i="0">
                          <a:solidFill>
                            <a:srgbClr val="0F172A"/>
                          </a:solidFill>
                          <a:latin typeface="Arial"/>
                        </a:rPr>
                        <a:t>CLV $ +$17 to +$88 for all 4 personas; trades −66–87%; flags 99%, so the gain is trading less</a:t>
                      </a:r>
                    </a:p>
                  </a:txBody>
                  <a:tcPr marL="73152" marR="73152" marT="36576" marB="36576" anchor="ctr">
                    <a:solidFill>
                      <a:srgbClr val="F1F5F9"/>
                    </a:solidFill>
                  </a:tcPr>
                </a:tc>
              </a:tr>
              <a:tr h="429768">
                <a:tc>
                  <a:txBody>
                    <a:bodyPr wrap="square"/>
                    <a:lstStyle/>
                    <a:p>
                      <a:pPr algn="l"/>
                      <a:r>
                        <a:rPr sz="1100" b="1" i="0">
                          <a:solidFill>
                            <a:srgbClr val="0F172A"/>
                          </a:solidFill>
                          <a:latin typeface="Arial"/>
                        </a:rPr>
                        <a:t>Plain LLM</a:t>
                      </a:r>
                    </a:p>
                  </a:txBody>
                  <a:tcPr marL="73152" marR="73152" marT="36576" marB="36576" anchor="ctr">
                    <a:solidFill>
                      <a:srgbClr val="FFFFFF"/>
                    </a:solidFill>
                  </a:tcPr>
                </a:tc>
                <a:tc>
                  <a:txBody>
                    <a:bodyPr wrap="square"/>
                    <a:lstStyle/>
                    <a:p>
                      <a:pPr algn="l"/>
                      <a:r>
                        <a:rPr sz="1100" b="0" i="0">
                          <a:solidFill>
                            <a:srgbClr val="0F172A"/>
                          </a:solidFill>
                          <a:latin typeface="Arial"/>
                        </a:rPr>
                        <a:t>One LLM call per decision, no tools</a:t>
                      </a:r>
                    </a:p>
                  </a:txBody>
                  <a:tcPr marL="73152" marR="73152" marT="36576" marB="36576" anchor="ctr">
                    <a:solidFill>
                      <a:srgbClr val="FFFFFF"/>
                    </a:solidFill>
                  </a:tcPr>
                </a:tc>
                <a:tc>
                  <a:txBody>
                    <a:bodyPr wrap="square"/>
                    <a:lstStyle/>
                    <a:p>
                      <a:pPr algn="l"/>
                      <a:r>
                        <a:rPr sz="1100" b="0" i="0">
                          <a:solidFill>
                            <a:srgbClr val="0F172A"/>
                          </a:solidFill>
                          <a:latin typeface="Arial"/>
                        </a:rPr>
                        <a:t>5 trades in 304 decisions, CLV $ −$1 = never trading (deterministic agent: 53 trades, −$19)</a:t>
                      </a:r>
                    </a:p>
                  </a:txBody>
                  <a:tcPr marL="73152" marR="73152" marT="36576" marB="36576" anchor="ctr">
                    <a:solidFill>
                      <a:srgbClr val="FFFFFF"/>
                    </a:solidFill>
                  </a:tcPr>
                </a:tc>
              </a:tr>
              <a:tr h="429768">
                <a:tc>
                  <a:txBody>
                    <a:bodyPr wrap="square"/>
                    <a:lstStyle/>
                    <a:p>
                      <a:pPr algn="l"/>
                      <a:r>
                        <a:rPr sz="1100" b="1" i="0">
                          <a:solidFill>
                            <a:srgbClr val="0F172A"/>
                          </a:solidFill>
                          <a:latin typeface="Arial"/>
                        </a:rPr>
                        <a:t>LLM tool agent + sceptic</a:t>
                      </a:r>
                    </a:p>
                  </a:txBody>
                  <a:tcPr marL="73152" marR="73152" marT="36576" marB="36576" anchor="ctr">
                    <a:solidFill>
                      <a:srgbClr val="F1F5F9"/>
                    </a:solidFill>
                  </a:tcPr>
                </a:tc>
                <a:tc>
                  <a:txBody>
                    <a:bodyPr wrap="square"/>
                    <a:lstStyle/>
                    <a:p>
                      <a:pPr algn="l"/>
                      <a:r>
                        <a:rPr sz="1100" b="0" i="0">
                          <a:solidFill>
                            <a:srgbClr val="0F172A"/>
                          </a:solidFill>
                          <a:latin typeface="Arial"/>
                        </a:rPr>
                        <a:t>Picks as-of tools; code checks numbers; sceptic can veto</a:t>
                      </a:r>
                    </a:p>
                  </a:txBody>
                  <a:tcPr marL="73152" marR="73152" marT="36576" marB="36576" anchor="ctr">
                    <a:solidFill>
                      <a:srgbClr val="F1F5F9"/>
                    </a:solidFill>
                  </a:tcPr>
                </a:tc>
                <a:tc>
                  <a:txBody>
                    <a:bodyPr wrap="square"/>
                    <a:lstStyle/>
                    <a:p>
                      <a:pPr algn="l"/>
                      <a:r>
                        <a:rPr sz="1100" b="0" i="1">
                          <a:solidFill>
                            <a:srgbClr val="64748B"/>
                          </a:solidFill>
                          <a:latin typeface="Arial"/>
                        </a:rPr>
                        <a:t>pending</a:t>
                      </a:r>
                    </a:p>
                  </a:txBody>
                  <a:tcPr marL="73152" marR="73152" marT="36576" marB="36576" anchor="ctr">
                    <a:solidFill>
                      <a:srgbClr val="F1F5F9"/>
                    </a:solidFill>
                  </a:tcPr>
                </a:tc>
              </a:tr>
              <a:tr h="429768">
                <a:tc>
                  <a:txBody>
                    <a:bodyPr wrap="square"/>
                    <a:lstStyle/>
                    <a:p>
                      <a:pPr algn="l"/>
                      <a:r>
                        <a:rPr sz="1100" b="1" i="0">
                          <a:solidFill>
                            <a:srgbClr val="0F172A"/>
                          </a:solidFill>
                          <a:latin typeface="Arial"/>
                        </a:rPr>
                        <a:t>Orchestrator</a:t>
                      </a:r>
                    </a:p>
                  </a:txBody>
                  <a:tcPr marL="73152" marR="73152" marT="36576" marB="36576" anchor="ctr">
                    <a:solidFill>
                      <a:srgbClr val="FFFFFF"/>
                    </a:solidFill>
                  </a:tcPr>
                </a:tc>
                <a:tc>
                  <a:txBody>
                    <a:bodyPr wrap="square"/>
                    <a:lstStyle/>
                    <a:p>
                      <a:pPr algn="l"/>
                      <a:r>
                        <a:rPr sz="1100" b="0" i="0">
                          <a:solidFill>
                            <a:srgbClr val="0F172A"/>
                          </a:solidFill>
                          <a:latin typeface="Arial"/>
                        </a:rPr>
                        <a:t>Pregame → trader → Coach → briefs, one as-of time</a:t>
                      </a:r>
                    </a:p>
                  </a:txBody>
                  <a:tcPr marL="73152" marR="73152" marT="36576" marB="36576" anchor="ctr">
                    <a:solidFill>
                      <a:srgbClr val="FFFFFF"/>
                    </a:solidFill>
                  </a:tcPr>
                </a:tc>
                <a:tc>
                  <a:txBody>
                    <a:bodyPr wrap="square"/>
                    <a:lstStyle/>
                    <a:p>
                      <a:pPr algn="l"/>
                      <a:r>
                        <a:rPr sz="1100" b="0" i="0">
                          <a:solidFill>
                            <a:srgbClr val="0F172A"/>
                          </a:solidFill>
                          <a:latin typeface="Arial"/>
                        </a:rPr>
                        <a:t>Built and tested (diagram); no new trading evaluation</a:t>
                      </a:r>
                    </a:p>
                  </a:txBody>
                  <a:tcPr marL="73152" marR="73152" marT="36576" marB="36576" anchor="ctr">
                    <a:solidFill>
                      <a:srgbClr val="FFFFFF"/>
                    </a:solidFill>
                  </a:tcPr>
                </a:tc>
              </a:tr>
              <a:tr h="429768">
                <a:tc>
                  <a:txBody>
                    <a:bodyPr wrap="square"/>
                    <a:lstStyle/>
                    <a:p>
                      <a:pPr algn="l"/>
                      <a:r>
                        <a:rPr sz="1100" b="1" i="0">
                          <a:solidFill>
                            <a:srgbClr val="0F172A"/>
                          </a:solidFill>
                          <a:latin typeface="Arial"/>
                        </a:rPr>
                        <a:t>Learned policy</a:t>
                      </a:r>
                    </a:p>
                  </a:txBody>
                  <a:tcPr marL="73152" marR="73152" marT="36576" marB="36576" anchor="ctr">
                    <a:solidFill>
                      <a:srgbClr val="F1F5F9"/>
                    </a:solidFill>
                  </a:tcPr>
                </a:tc>
                <a:tc>
                  <a:txBody>
                    <a:bodyPr wrap="square"/>
                    <a:lstStyle/>
                    <a:p>
                      <a:pPr algn="l"/>
                      <a:r>
                        <a:rPr sz="1100" b="0" i="0">
                          <a:solidFill>
                            <a:srgbClr val="0F172A"/>
                          </a:solidFill>
                          <a:latin typeface="Arial"/>
                        </a:rPr>
                        <a:t>Trade / pass model, selected on Nov–Jan</a:t>
                      </a:r>
                    </a:p>
                  </a:txBody>
                  <a:tcPr marL="73152" marR="73152" marT="36576" marB="36576" anchor="ctr">
                    <a:solidFill>
                      <a:srgbClr val="F1F5F9"/>
                    </a:solidFill>
                  </a:tcPr>
                </a:tc>
                <a:tc>
                  <a:txBody>
                    <a:bodyPr wrap="square"/>
                    <a:lstStyle/>
                    <a:p>
                      <a:pPr algn="l"/>
                      <a:r>
                        <a:rPr sz="1100" b="0" i="0">
                          <a:solidFill>
                            <a:srgbClr val="0F172A"/>
                          </a:solidFill>
                          <a:latin typeface="Arial"/>
                        </a:rPr>
                        <a:t>Selection chose never trade; test not scored</a:t>
                      </a:r>
                    </a:p>
                  </a:txBody>
                  <a:tcPr marL="73152" marR="73152" marT="36576" marB="36576" anchor="ctr">
                    <a:solidFill>
                      <a:srgbClr val="F1F5F9"/>
                    </a:solidFill>
                  </a:tcPr>
                </a:tc>
              </a:tr>
              <a:tr h="429768">
                <a:tc>
                  <a:txBody>
                    <a:bodyPr wrap="square"/>
                    <a:lstStyle/>
                    <a:p>
                      <a:pPr algn="l"/>
                      <a:r>
                        <a:rPr sz="1100" b="1" i="0">
                          <a:solidFill>
                            <a:srgbClr val="0F172A"/>
                          </a:solidFill>
                          <a:latin typeface="Arial"/>
                        </a:rPr>
                        <a:t>Rule DSL + memory</a:t>
                      </a:r>
                    </a:p>
                  </a:txBody>
                  <a:tcPr marL="73152" marR="73152" marT="36576" marB="36576" anchor="ctr">
                    <a:solidFill>
                      <a:srgbClr val="FFFFFF"/>
                    </a:solidFill>
                  </a:tcPr>
                </a:tc>
                <a:tc>
                  <a:txBody>
                    <a:bodyPr wrap="square"/>
                    <a:lstStyle/>
                    <a:p>
                      <a:pPr algn="l"/>
                      <a:r>
                        <a:rPr sz="1100" b="0" i="0">
                          <a:solidFill>
                            <a:srgbClr val="0F172A"/>
                          </a:solidFill>
                          <a:latin typeface="Arial"/>
                        </a:rPr>
                        <a:t>LLM rules in a safe DSL; recall of similar past trades</a:t>
                      </a:r>
                    </a:p>
                  </a:txBody>
                  <a:tcPr marL="73152" marR="73152" marT="36576" marB="36576" anchor="ctr">
                    <a:solidFill>
                      <a:srgbClr val="FFFFFF"/>
                    </a:solidFill>
                  </a:tcPr>
                </a:tc>
                <a:tc>
                  <a:txBody>
                    <a:bodyPr wrap="square"/>
                    <a:lstStyle/>
                    <a:p>
                      <a:pPr algn="l"/>
                      <a:r>
                        <a:rPr sz="1100" b="0" i="0">
                          <a:solidFill>
                            <a:srgbClr val="0F172A"/>
                          </a:solidFill>
                          <a:latin typeface="Arial"/>
                        </a:rPr>
                        <a:t>Built and unit-tested; not evaluated</a:t>
                      </a:r>
                    </a:p>
                  </a:txBody>
                  <a:tcPr marL="73152" marR="73152" marT="36576" marB="36576" anchor="ctr">
                    <a:solidFill>
                      <a:srgbClr val="FFFFFF"/>
                    </a:solidFill>
                  </a:tcPr>
                </a:tc>
              </a:tr>
            </a:tbl>
          </a:graphicData>
        </a:graphic>
      </p:graphicFrame>
      <p:pic>
        <p:nvPicPr>
          <p:cNvPr id="8" name="Picture 7" descr="orchestrator.png"/>
          <p:cNvPicPr>
            <a:picLocks noChangeAspect="1"/>
          </p:cNvPicPr>
          <p:nvPr/>
        </p:nvPicPr>
        <p:blipFill>
          <a:blip r:embed="rId3"/>
          <a:stretch>
            <a:fillRect/>
          </a:stretch>
        </p:blipFill>
        <p:spPr>
          <a:xfrm>
            <a:off x="8732520" y="2282726"/>
            <a:ext cx="3001975" cy="1561027"/>
          </a:xfrm>
          <a:prstGeom prst="rect">
            <a:avLst/>
          </a:prstGeom>
        </p:spPr>
      </p:pic>
      <p:sp>
        <p:nvSpPr>
          <p:cNvPr id="9" name="TextBox 8"/>
          <p:cNvSpPr txBox="1"/>
          <p:nvPr/>
        </p:nvSpPr>
        <p:spPr>
          <a:xfrm>
            <a:off x="8732520" y="5074920"/>
            <a:ext cx="3001975" cy="502920"/>
          </a:xfrm>
          <a:prstGeom prst="rect">
            <a:avLst/>
          </a:prstGeom>
          <a:noFill/>
        </p:spPr>
        <p:txBody>
          <a:bodyPr wrap="square" anchor="t" lIns="73152" rIns="73152" tIns="36576" bIns="36576">
            <a:spAutoFit/>
          </a:bodyPr>
          <a:lstStyle/>
          <a:p>
            <a:pPr algn="l">
              <a:spcAft>
                <a:spcPts val="0"/>
              </a:spcAft>
            </a:pPr>
            <a:r>
              <a:rPr sz="1100" b="0" i="0">
                <a:solidFill>
                  <a:srgbClr val="64748B"/>
                </a:solidFill>
                <a:latin typeface="Arial"/>
              </a:rPr>
              <a:t>Pre-registered before scoring; same replay, costs and day-clustered bootstrap as above</a:t>
            </a:r>
          </a:p>
        </p:txBody>
      </p:sp>
      <p:sp>
        <p:nvSpPr>
          <p:cNvPr id="10" name="Rounded Rectangle 9"/>
          <p:cNvSpPr/>
          <p:nvPr/>
        </p:nvSpPr>
        <p:spPr>
          <a:xfrm>
            <a:off x="457200" y="5815584"/>
            <a:ext cx="11277295" cy="512064"/>
          </a:xfrm>
          <a:prstGeom prst="roundRect">
            <a:avLst>
              <a:gd name="adj" fmla="val 12000"/>
            </a:avLst>
          </a:prstGeom>
          <a:solidFill>
            <a:srgbClr val="FEF3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5815584"/>
            <a:ext cx="11094415" cy="512064"/>
          </a:xfrm>
          <a:prstGeom prst="rect">
            <a:avLst/>
          </a:prstGeom>
          <a:noFill/>
        </p:spPr>
        <p:txBody>
          <a:bodyPr wrap="square" anchor="ctr" lIns="73152" rIns="73152" tIns="36576" bIns="36576">
            <a:spAutoFit/>
          </a:bodyPr>
          <a:lstStyle/>
          <a:p>
            <a:pPr algn="l">
              <a:spcAft>
                <a:spcPts val="0"/>
              </a:spcAft>
            </a:pPr>
            <a:r>
              <a:rPr sz="1400" b="0" i="0">
                <a:solidFill>
                  <a:srgbClr val="0F172A"/>
                </a:solidFill>
                <a:latin typeface="Arial"/>
              </a:rPr>
              <a:t>Every agentic upgrade, graded by the market, converges on the same answer: trade less. The market is hard to beat after fees, which is exactly why the product is education, not a trading bot.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54864"/>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09728"/>
            <a:ext cx="11277295" cy="685800"/>
          </a:xfrm>
          <a:prstGeom prst="rect">
            <a:avLst/>
          </a:prstGeom>
          <a:noFill/>
        </p:spPr>
        <p:txBody>
          <a:bodyPr wrap="square" anchor="ctr" lIns="73152" rIns="73152" tIns="36576" bIns="36576">
            <a:spAutoFit/>
          </a:bodyPr>
          <a:lstStyle/>
          <a:p>
            <a:pPr algn="l">
              <a:spcAft>
                <a:spcPts val="0"/>
              </a:spcAft>
            </a:pPr>
            <a:r>
              <a:rPr sz="3000" b="1" i="0">
                <a:solidFill>
                  <a:srgbClr val="FFFFFF"/>
                </a:solidFill>
                <a:latin typeface="Arial"/>
              </a:rPr>
              <a:t>Our product: protect, teach, practise</a:t>
            </a:r>
          </a:p>
        </p:txBody>
      </p:sp>
      <p:sp>
        <p:nvSpPr>
          <p:cNvPr id="5" name="TextBox 4"/>
          <p:cNvSpPr txBox="1"/>
          <p:nvPr/>
        </p:nvSpPr>
        <p:spPr>
          <a:xfrm>
            <a:off x="457200" y="6446520"/>
            <a:ext cx="9144000" cy="320040"/>
          </a:xfrm>
          <a:prstGeom prst="rect">
            <a:avLst/>
          </a:prstGeom>
          <a:noFill/>
        </p:spPr>
        <p:txBody>
          <a:bodyPr wrap="square" anchor="t" lIns="73152" rIns="73152" tIns="36576" bIns="36576">
            <a:spAutoFit/>
          </a:bodyPr>
          <a:lstStyle/>
          <a:p>
            <a:pPr algn="l">
              <a:spcAft>
                <a:spcPts val="0"/>
              </a:spcAft>
            </a:pPr>
            <a:r>
              <a:rPr sz="1100" b="0" i="0">
                <a:solidFill>
                  <a:srgbClr val="64748B"/>
                </a:solidFill>
                <a:latin typeface="Arial"/>
              </a:rPr>
              <a:t>DASC7606C Group 12 · Market-Graded Learning: the closing price grades every component</a:t>
            </a:r>
          </a:p>
        </p:txBody>
      </p:sp>
      <p:sp>
        <p:nvSpPr>
          <p:cNvPr id="6" name="TextBox 5"/>
          <p:cNvSpPr txBox="1"/>
          <p:nvPr/>
        </p:nvSpPr>
        <p:spPr>
          <a:xfrm>
            <a:off x="10820095" y="6446520"/>
            <a:ext cx="914400" cy="320040"/>
          </a:xfrm>
          <a:prstGeom prst="rect">
            <a:avLst/>
          </a:prstGeom>
          <a:noFill/>
        </p:spPr>
        <p:txBody>
          <a:bodyPr wrap="square" anchor="t" lIns="73152" rIns="73152" tIns="36576" bIns="36576">
            <a:spAutoFit/>
          </a:bodyPr>
          <a:lstStyle/>
          <a:p>
            <a:pPr algn="r">
              <a:spcAft>
                <a:spcPts val="0"/>
              </a:spcAft>
            </a:pPr>
            <a:r>
              <a:rPr sz="1100" b="0" i="0">
                <a:solidFill>
                  <a:srgbClr val="64748B"/>
                </a:solidFill>
                <a:latin typeface="Arial"/>
              </a:rPr>
              <a:t>12</a:t>
            </a:r>
          </a:p>
        </p:txBody>
      </p:sp>
      <p:sp>
        <p:nvSpPr>
          <p:cNvPr id="7" name="Rounded Rectangle 6"/>
          <p:cNvSpPr/>
          <p:nvPr/>
        </p:nvSpPr>
        <p:spPr>
          <a:xfrm>
            <a:off x="457200" y="1234439"/>
            <a:ext cx="3606698" cy="3291840"/>
          </a:xfrm>
          <a:prstGeom prst="roundRect">
            <a:avLst>
              <a:gd name="adj" fmla="val 6000"/>
            </a:avLst>
          </a:prstGeom>
          <a:solidFill>
            <a:srgbClr val="FFFFFF"/>
          </a:solidFill>
          <a:ln w="15875">
            <a:solidFill>
              <a:srgbClr val="1E293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1234439"/>
            <a:ext cx="109728" cy="329184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1307592"/>
            <a:ext cx="3332378" cy="457200"/>
          </a:xfrm>
          <a:prstGeom prst="rect">
            <a:avLst/>
          </a:prstGeom>
          <a:noFill/>
        </p:spPr>
        <p:txBody>
          <a:bodyPr wrap="square" anchor="t" lIns="73152" rIns="73152" tIns="36576" bIns="36576">
            <a:spAutoFit/>
          </a:bodyPr>
          <a:lstStyle/>
          <a:p>
            <a:pPr algn="l">
              <a:spcAft>
                <a:spcPts val="0"/>
              </a:spcAft>
            </a:pPr>
            <a:r>
              <a:rPr sz="1800" b="1" i="0">
                <a:solidFill>
                  <a:srgbClr val="1E293B"/>
                </a:solidFill>
                <a:latin typeface="Arial"/>
              </a:rPr>
              <a:t>Protect: the agent</a:t>
            </a:r>
          </a:p>
        </p:txBody>
      </p:sp>
      <p:sp>
        <p:nvSpPr>
          <p:cNvPr id="10" name="TextBox 9"/>
          <p:cNvSpPr txBox="1"/>
          <p:nvPr/>
        </p:nvSpPr>
        <p:spPr>
          <a:xfrm>
            <a:off x="640080" y="1764791"/>
            <a:ext cx="3332378" cy="2688336"/>
          </a:xfrm>
          <a:prstGeom prst="rect">
            <a:avLst/>
          </a:prstGeom>
          <a:noFill/>
        </p:spPr>
        <p:txBody>
          <a:bodyPr wrap="square" anchor="t" lIns="73152" rIns="73152" tIns="36576" bIns="36576">
            <a:spAutoFit/>
          </a:bodyPr>
          <a:lstStyle/>
          <a:p>
            <a:pPr algn="l" marL="292608" indent="-256032">
              <a:spcAft>
                <a:spcPts val="600"/>
              </a:spcAft>
              <a:buChar char="•"/>
            </a:pPr>
            <a:r>
              <a:rPr sz="1600" b="1" i="0">
                <a:solidFill>
                  <a:srgbClr val="0F172A"/>
                </a:solidFill>
                <a:latin typeface="Arial"/>
              </a:rPr>
              <a:t>Passes by default:</a:t>
            </a:r>
            <a:r>
              <a:rPr sz="1600" b="0" i="0">
                <a:solidFill>
                  <a:srgbClr val="0F172A"/>
                </a:solidFill>
                <a:latin typeface="Arial"/>
              </a:rPr>
              <a:t> 90% of decision points</a:t>
            </a:r>
          </a:p>
          <a:p>
            <a:pPr algn="l" marL="292608" indent="-256032">
              <a:spcAft>
                <a:spcPts val="600"/>
              </a:spcAft>
              <a:buChar char="•"/>
            </a:pPr>
            <a:r>
              <a:rPr sz="1600" b="0" i="0">
                <a:solidFill>
                  <a:srgbClr val="0F172A"/>
                </a:solidFill>
                <a:latin typeface="Arial"/>
              </a:rPr>
              <a:t>Says why there is no order</a:t>
            </a:r>
          </a:p>
          <a:p>
            <a:pPr algn="l" marL="292608" indent="-256032">
              <a:spcAft>
                <a:spcPts val="600"/>
              </a:spcAft>
              <a:buChar char="•"/>
            </a:pPr>
            <a:r>
              <a:rPr sz="1600" b="0" i="0">
                <a:solidFill>
                  <a:srgbClr val="0F172A"/>
                </a:solidFill>
                <a:latin typeface="Arial"/>
              </a:rPr>
              <a:t>Code limits: $50 / order, $100 / game, $300 / day</a:t>
            </a:r>
          </a:p>
          <a:p>
            <a:pPr algn="l" marL="292608" indent="-256032">
              <a:spcAft>
                <a:spcPts val="600"/>
              </a:spcAft>
              <a:buChar char="•"/>
            </a:pPr>
            <a:r>
              <a:rPr sz="1600" b="0" i="0">
                <a:solidFill>
                  <a:srgbClr val="0F172A"/>
                </a:solidFill>
                <a:latin typeface="Arial"/>
              </a:rPr>
              <a:t>Bans “lock”, “guaranteed”; </a:t>
            </a:r>
            <a:r>
              <a:rPr sz="1600" b="1" i="0">
                <a:solidFill>
                  <a:srgbClr val="0F172A"/>
                </a:solidFill>
                <a:latin typeface="Arial"/>
              </a:rPr>
              <a:t>9 / 9</a:t>
            </a:r>
            <a:r>
              <a:rPr sz="1600" b="0" i="0">
                <a:solidFill>
                  <a:srgbClr val="0F172A"/>
                </a:solidFill>
                <a:latin typeface="Arial"/>
              </a:rPr>
              <a:t> planted violations blocked</a:t>
            </a:r>
          </a:p>
        </p:txBody>
      </p:sp>
      <p:sp>
        <p:nvSpPr>
          <p:cNvPr id="11" name="Rounded Rectangle 10"/>
          <p:cNvSpPr/>
          <p:nvPr/>
        </p:nvSpPr>
        <p:spPr>
          <a:xfrm>
            <a:off x="4292498" y="1234439"/>
            <a:ext cx="3606698" cy="3291840"/>
          </a:xfrm>
          <a:prstGeom prst="roundRect">
            <a:avLst>
              <a:gd name="adj" fmla="val 6000"/>
            </a:avLst>
          </a:prstGeom>
          <a:solidFill>
            <a:srgbClr val="FFFFFF"/>
          </a:solidFill>
          <a:ln w="15875">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292498" y="1234439"/>
            <a:ext cx="109728" cy="3291840"/>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475378" y="1307592"/>
            <a:ext cx="3332378" cy="457200"/>
          </a:xfrm>
          <a:prstGeom prst="rect">
            <a:avLst/>
          </a:prstGeom>
          <a:noFill/>
        </p:spPr>
        <p:txBody>
          <a:bodyPr wrap="square" anchor="t" lIns="73152" rIns="73152" tIns="36576" bIns="36576">
            <a:spAutoFit/>
          </a:bodyPr>
          <a:lstStyle/>
          <a:p>
            <a:pPr algn="l">
              <a:spcAft>
                <a:spcPts val="0"/>
              </a:spcAft>
            </a:pPr>
            <a:r>
              <a:rPr sz="1800" b="1" i="0">
                <a:solidFill>
                  <a:srgbClr val="EA580C"/>
                </a:solidFill>
                <a:latin typeface="Arial"/>
              </a:rPr>
              <a:t>Teach: the Coach</a:t>
            </a:r>
          </a:p>
        </p:txBody>
      </p:sp>
      <p:sp>
        <p:nvSpPr>
          <p:cNvPr id="14" name="TextBox 13"/>
          <p:cNvSpPr txBox="1"/>
          <p:nvPr/>
        </p:nvSpPr>
        <p:spPr>
          <a:xfrm>
            <a:off x="4475378" y="1764791"/>
            <a:ext cx="3332378" cy="2688336"/>
          </a:xfrm>
          <a:prstGeom prst="rect">
            <a:avLst/>
          </a:prstGeom>
          <a:noFill/>
        </p:spPr>
        <p:txBody>
          <a:bodyPr wrap="square" anchor="t" lIns="73152" rIns="73152" tIns="36576" bIns="36576">
            <a:spAutoFit/>
          </a:bodyPr>
          <a:lstStyle/>
          <a:p>
            <a:pPr algn="l" marL="292608" indent="-256032">
              <a:spcAft>
                <a:spcPts val="600"/>
              </a:spcAft>
              <a:buChar char="•"/>
            </a:pPr>
            <a:r>
              <a:rPr sz="1600" b="0" i="0">
                <a:solidFill>
                  <a:srgbClr val="0F172A"/>
                </a:solidFill>
                <a:latin typeface="Arial"/>
              </a:rPr>
              <a:t>Only what was public at that moment</a:t>
            </a:r>
          </a:p>
          <a:p>
            <a:pPr algn="l" marL="292608" indent="-256032">
              <a:spcAft>
                <a:spcPts val="600"/>
              </a:spcAft>
              <a:buChar char="•"/>
            </a:pPr>
            <a:r>
              <a:rPr sz="1600" b="0" i="0">
                <a:solidFill>
                  <a:srgbClr val="0F172A"/>
                </a:solidFill>
                <a:latin typeface="Arial"/>
              </a:rPr>
              <a:t>Break-even after spread + fee</a:t>
            </a:r>
          </a:p>
          <a:p>
            <a:pPr algn="l" marL="292608" indent="-256032">
              <a:spcAft>
                <a:spcPts val="600"/>
              </a:spcAft>
              <a:buChar char="•"/>
            </a:pPr>
            <a:r>
              <a:rPr sz="1600" b="0" i="0">
                <a:solidFill>
                  <a:srgbClr val="0F172A"/>
                </a:solidFill>
                <a:latin typeface="Arial"/>
              </a:rPr>
              <a:t>Lessons: priced in, long shots, closing line</a:t>
            </a:r>
          </a:p>
          <a:p>
            <a:pPr algn="l" marL="292608" indent="-256032">
              <a:spcAft>
                <a:spcPts val="600"/>
              </a:spcAft>
              <a:buChar char="•"/>
            </a:pPr>
            <a:r>
              <a:rPr sz="1600" b="0" i="0">
                <a:solidFill>
                  <a:srgbClr val="0F172A"/>
                </a:solidFill>
                <a:latin typeface="Arial"/>
              </a:rPr>
              <a:t>Paper call, then the close and the agent's choice</a:t>
            </a:r>
          </a:p>
        </p:txBody>
      </p:sp>
      <p:sp>
        <p:nvSpPr>
          <p:cNvPr id="15" name="Rounded Rectangle 14"/>
          <p:cNvSpPr/>
          <p:nvPr/>
        </p:nvSpPr>
        <p:spPr>
          <a:xfrm>
            <a:off x="8127796" y="1234439"/>
            <a:ext cx="3606698" cy="3291840"/>
          </a:xfrm>
          <a:prstGeom prst="roundRect">
            <a:avLst>
              <a:gd name="adj" fmla="val 6000"/>
            </a:avLst>
          </a:prstGeom>
          <a:solidFill>
            <a:srgbClr val="FFFFFF"/>
          </a:solidFill>
          <a:ln w="15875">
            <a:solidFill>
              <a:srgbClr val="16A3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127796" y="1234439"/>
            <a:ext cx="109728" cy="3291840"/>
          </a:xfrm>
          <a:prstGeom prst="rect">
            <a:avLst/>
          </a:prstGeom>
          <a:solidFill>
            <a:srgbClr val="16A3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310676" y="1307592"/>
            <a:ext cx="3332378" cy="457200"/>
          </a:xfrm>
          <a:prstGeom prst="rect">
            <a:avLst/>
          </a:prstGeom>
          <a:noFill/>
        </p:spPr>
        <p:txBody>
          <a:bodyPr wrap="square" anchor="t" lIns="73152" rIns="73152" tIns="36576" bIns="36576">
            <a:spAutoFit/>
          </a:bodyPr>
          <a:lstStyle/>
          <a:p>
            <a:pPr algn="l">
              <a:spcAft>
                <a:spcPts val="0"/>
              </a:spcAft>
            </a:pPr>
            <a:r>
              <a:rPr sz="1800" b="1" i="0">
                <a:solidFill>
                  <a:srgbClr val="16A34A"/>
                </a:solidFill>
                <a:latin typeface="Arial"/>
              </a:rPr>
              <a:t>Practise: the League</a:t>
            </a:r>
          </a:p>
        </p:txBody>
      </p:sp>
      <p:sp>
        <p:nvSpPr>
          <p:cNvPr id="18" name="TextBox 17"/>
          <p:cNvSpPr txBox="1"/>
          <p:nvPr/>
        </p:nvSpPr>
        <p:spPr>
          <a:xfrm>
            <a:off x="8310676" y="1764791"/>
            <a:ext cx="3332378" cy="2688336"/>
          </a:xfrm>
          <a:prstGeom prst="rect">
            <a:avLst/>
          </a:prstGeom>
          <a:noFill/>
        </p:spPr>
        <p:txBody>
          <a:bodyPr wrap="square" anchor="t" lIns="73152" rIns="73152" tIns="36576" bIns="36576">
            <a:spAutoFit/>
          </a:bodyPr>
          <a:lstStyle/>
          <a:p>
            <a:pPr algn="l" marL="292608" indent="-256032">
              <a:spcAft>
                <a:spcPts val="600"/>
              </a:spcAft>
              <a:buChar char="•"/>
            </a:pPr>
            <a:r>
              <a:rPr sz="1600" b="0" i="0">
                <a:solidFill>
                  <a:srgbClr val="0F172A"/>
                </a:solidFill>
                <a:latin typeface="Arial"/>
              </a:rPr>
              <a:t>Same 10 real decisions, $1,000 play money</a:t>
            </a:r>
          </a:p>
          <a:p>
            <a:pPr algn="l" marL="292608" indent="-256032">
              <a:spcAft>
                <a:spcPts val="600"/>
              </a:spcAft>
              <a:buChar char="•"/>
            </a:pPr>
            <a:r>
              <a:rPr sz="1600" b="0" i="0">
                <a:solidFill>
                  <a:srgbClr val="0F172A"/>
                </a:solidFill>
                <a:latin typeface="Arial"/>
              </a:rPr>
              <a:t>Fills at ask + fee, like the agent</a:t>
            </a:r>
          </a:p>
          <a:p>
            <a:pPr algn="l" marL="292608" indent="-256032">
              <a:spcAft>
                <a:spcPts val="600"/>
              </a:spcAft>
              <a:buChar char="•"/>
            </a:pPr>
            <a:r>
              <a:rPr sz="1600" b="1" i="0">
                <a:solidFill>
                  <a:srgbClr val="0F172A"/>
                </a:solidFill>
                <a:latin typeface="Arial"/>
              </a:rPr>
              <a:t>Ranked by CLV</a:t>
            </a:r>
            <a:r>
              <a:rPr sz="1600" b="0" i="0">
                <a:solidFill>
                  <a:srgbClr val="0F172A"/>
                </a:solidFill>
                <a:latin typeface="Arial"/>
              </a:rPr>
              <a:t>, not profit (≥ 5 trades)</a:t>
            </a:r>
          </a:p>
          <a:p>
            <a:pPr algn="l" marL="292608" indent="-256032">
              <a:spcAft>
                <a:spcPts val="600"/>
              </a:spcAft>
              <a:buChar char="•"/>
            </a:pPr>
            <a:r>
              <a:rPr sz="1600" b="0" i="0">
                <a:solidFill>
                  <a:srgbClr val="0F172A"/>
                </a:solidFill>
                <a:latin typeface="Arial"/>
              </a:rPr>
              <a:t>Raw-model bot +$15 with CLV −0.63¢: “costs”</a:t>
            </a:r>
          </a:p>
        </p:txBody>
      </p:sp>
      <p:pic>
        <p:nvPicPr>
          <p:cNvPr id="19" name="Picture 18" descr="league_reveal.png"/>
          <p:cNvPicPr>
            <a:picLocks noChangeAspect="1"/>
          </p:cNvPicPr>
          <p:nvPr/>
        </p:nvPicPr>
        <p:blipFill>
          <a:blip r:embed="rId3"/>
          <a:stretch>
            <a:fillRect/>
          </a:stretch>
        </p:blipFill>
        <p:spPr>
          <a:xfrm>
            <a:off x="3249693" y="4663440"/>
            <a:ext cx="5692308" cy="868680"/>
          </a:xfrm>
          <a:prstGeom prst="rect">
            <a:avLst/>
          </a:prstGeom>
        </p:spPr>
      </p:pic>
      <p:sp>
        <p:nvSpPr>
          <p:cNvPr id="20" name="Rounded Rectangle 19"/>
          <p:cNvSpPr/>
          <p:nvPr/>
        </p:nvSpPr>
        <p:spPr>
          <a:xfrm>
            <a:off x="457200" y="5669280"/>
            <a:ext cx="11277295" cy="594360"/>
          </a:xfrm>
          <a:prstGeom prst="roundRect">
            <a:avLst>
              <a:gd name="adj" fmla="val 12000"/>
            </a:avLst>
          </a:prstGeom>
          <a:solidFill>
            <a:srgbClr val="FEF3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48640" y="5669280"/>
            <a:ext cx="11094415" cy="594360"/>
          </a:xfrm>
          <a:prstGeom prst="rect">
            <a:avLst/>
          </a:prstGeom>
          <a:noFill/>
        </p:spPr>
        <p:txBody>
          <a:bodyPr wrap="square" anchor="ctr" lIns="73152" rIns="73152" tIns="36576" bIns="36576">
            <a:spAutoFit/>
          </a:bodyPr>
          <a:lstStyle/>
          <a:p>
            <a:pPr algn="l">
              <a:spcAft>
                <a:spcPts val="0"/>
              </a:spcAft>
            </a:pPr>
            <a:r>
              <a:rPr sz="1800" b="0" i="0">
                <a:solidFill>
                  <a:srgbClr val="0F172A"/>
                </a:solidFill>
                <a:latin typeface="Arial"/>
              </a:rPr>
              <a:t>Educational, paper money only · only information public at that moment · no promise words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54864"/>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09728"/>
            <a:ext cx="11277295" cy="685800"/>
          </a:xfrm>
          <a:prstGeom prst="rect">
            <a:avLst/>
          </a:prstGeom>
          <a:noFill/>
        </p:spPr>
        <p:txBody>
          <a:bodyPr wrap="square" anchor="ctr" lIns="73152" rIns="73152" tIns="36576" bIns="36576">
            <a:spAutoFit/>
          </a:bodyPr>
          <a:lstStyle/>
          <a:p>
            <a:pPr algn="l">
              <a:spcAft>
                <a:spcPts val="0"/>
              </a:spcAft>
            </a:pPr>
            <a:r>
              <a:rPr sz="3000" b="1" i="0">
                <a:solidFill>
                  <a:srgbClr val="FFFFFF"/>
                </a:solidFill>
                <a:latin typeface="Arial"/>
              </a:rPr>
              <a:t>Why an agentic framework, and who built which part</a:t>
            </a:r>
          </a:p>
        </p:txBody>
      </p:sp>
      <p:sp>
        <p:nvSpPr>
          <p:cNvPr id="5" name="TextBox 4"/>
          <p:cNvSpPr txBox="1"/>
          <p:nvPr/>
        </p:nvSpPr>
        <p:spPr>
          <a:xfrm>
            <a:off x="457200" y="6446520"/>
            <a:ext cx="9144000" cy="320040"/>
          </a:xfrm>
          <a:prstGeom prst="rect">
            <a:avLst/>
          </a:prstGeom>
          <a:noFill/>
        </p:spPr>
        <p:txBody>
          <a:bodyPr wrap="square" anchor="t" lIns="73152" rIns="73152" tIns="36576" bIns="36576">
            <a:spAutoFit/>
          </a:bodyPr>
          <a:lstStyle/>
          <a:p>
            <a:pPr algn="l">
              <a:spcAft>
                <a:spcPts val="0"/>
              </a:spcAft>
            </a:pPr>
            <a:r>
              <a:rPr sz="1100" b="0" i="0">
                <a:solidFill>
                  <a:srgbClr val="64748B"/>
                </a:solidFill>
                <a:latin typeface="Arial"/>
              </a:rPr>
              <a:t>DASC7606C Group 12 · Market-Graded Learning: the closing price grades every component</a:t>
            </a:r>
          </a:p>
        </p:txBody>
      </p:sp>
      <p:sp>
        <p:nvSpPr>
          <p:cNvPr id="6" name="TextBox 5"/>
          <p:cNvSpPr txBox="1"/>
          <p:nvPr/>
        </p:nvSpPr>
        <p:spPr>
          <a:xfrm>
            <a:off x="10820095" y="6446520"/>
            <a:ext cx="914400" cy="320040"/>
          </a:xfrm>
          <a:prstGeom prst="rect">
            <a:avLst/>
          </a:prstGeom>
          <a:noFill/>
        </p:spPr>
        <p:txBody>
          <a:bodyPr wrap="square" anchor="t" lIns="73152" rIns="73152" tIns="36576" bIns="36576">
            <a:spAutoFit/>
          </a:bodyPr>
          <a:lstStyle/>
          <a:p>
            <a:pPr algn="r">
              <a:spcAft>
                <a:spcPts val="0"/>
              </a:spcAft>
            </a:pPr>
            <a:r>
              <a:rPr sz="1100" b="0" i="0">
                <a:solidFill>
                  <a:srgbClr val="64748B"/>
                </a:solidFill>
                <a:latin typeface="Arial"/>
              </a:rPr>
              <a:t>13</a:t>
            </a:r>
          </a:p>
        </p:txBody>
      </p:sp>
      <p:sp>
        <p:nvSpPr>
          <p:cNvPr id="7" name="TextBox 6"/>
          <p:cNvSpPr txBox="1"/>
          <p:nvPr/>
        </p:nvSpPr>
        <p:spPr>
          <a:xfrm>
            <a:off x="457200" y="1143000"/>
            <a:ext cx="5760720" cy="4206240"/>
          </a:xfrm>
          <a:prstGeom prst="rect">
            <a:avLst/>
          </a:prstGeom>
          <a:noFill/>
        </p:spPr>
        <p:txBody>
          <a:bodyPr wrap="square" anchor="t" lIns="73152" rIns="73152" tIns="36576" bIns="36576">
            <a:spAutoFit/>
          </a:bodyPr>
          <a:lstStyle/>
          <a:p>
            <a:pPr algn="l">
              <a:spcAft>
                <a:spcPts val="400"/>
              </a:spcAft>
            </a:pPr>
            <a:r>
              <a:rPr sz="1500" b="1" i="0">
                <a:solidFill>
                  <a:srgbClr val="1E293B"/>
                </a:solidFill>
                <a:latin typeface="Arial"/>
              </a:rPr>
              <a:t>Why agentic: each box of slide 4 answers the problem</a:t>
            </a:r>
          </a:p>
          <a:p>
            <a:pPr algn="l" marL="292608" indent="-256032">
              <a:spcAft>
                <a:spcPts val="400"/>
              </a:spcAft>
              <a:buChar char="•"/>
            </a:pPr>
            <a:r>
              <a:rPr sz="1500" b="1" i="0">
                <a:solidFill>
                  <a:srgbClr val="0F172A"/>
                </a:solidFill>
                <a:latin typeface="Arial"/>
              </a:rPr>
              <a:t>When to act = trigger:</a:t>
            </a:r>
            <a:r>
              <a:rPr sz="1500" b="0" i="0">
                <a:solidFill>
                  <a:srgbClr val="0F172A"/>
                </a:solidFill>
                <a:latin typeface="Arial"/>
              </a:rPr>
              <a:t> news is asynchronous; 91% of the move before the inactive list, ~⅔ before the first report</a:t>
            </a:r>
          </a:p>
          <a:p>
            <a:pPr algn="l" marL="292608" indent="-256032">
              <a:spcAft>
                <a:spcPts val="400"/>
              </a:spcAft>
              <a:buChar char="•"/>
            </a:pPr>
            <a:r>
              <a:rPr sz="1500" b="1" i="0">
                <a:solidFill>
                  <a:srgbClr val="0F172A"/>
                </a:solidFill>
                <a:latin typeface="Arial"/>
              </a:rPr>
              <a:t>What to look at = as-of tools:</a:t>
            </a:r>
            <a:r>
              <a:rPr sz="1500" b="0" i="0">
                <a:solidFill>
                  <a:srgbClr val="0F172A"/>
                </a:solidFill>
                <a:latin typeface="Arial"/>
              </a:rPr>
              <a:t> prices, news, rotations, M4 / M6; no look-ahead</a:t>
            </a:r>
          </a:p>
          <a:p>
            <a:pPr algn="l" marL="292608" indent="-256032">
              <a:spcAft>
                <a:spcPts val="400"/>
              </a:spcAft>
              <a:buChar char="•"/>
            </a:pPr>
            <a:r>
              <a:rPr sz="1500" b="1" i="0">
                <a:solidFill>
                  <a:srgbClr val="0F172A"/>
                </a:solidFill>
                <a:latin typeface="Arial"/>
              </a:rPr>
              <a:t>Whether to trade = edge + sceptic:</a:t>
            </a:r>
            <a:r>
              <a:rPr sz="1500" b="0" i="0">
                <a:solidFill>
                  <a:srgbClr val="0F172A"/>
                </a:solidFill>
                <a:latin typeface="Arial"/>
              </a:rPr>
              <a:t> code checks, risk caps, kill switch; LLM can't override</a:t>
            </a:r>
          </a:p>
          <a:p>
            <a:pPr algn="l" marL="292608" indent="-256032">
              <a:spcAft>
                <a:spcPts val="400"/>
              </a:spcAft>
              <a:buChar char="•"/>
            </a:pPr>
            <a:r>
              <a:rPr sz="1500" b="1" i="0">
                <a:solidFill>
                  <a:srgbClr val="0F172A"/>
                </a:solidFill>
                <a:latin typeface="Arial"/>
              </a:rPr>
              <a:t>Learn loop:</a:t>
            </a:r>
            <a:r>
              <a:rPr sz="1500" b="0" i="0">
                <a:solidFill>
                  <a:srgbClr val="0F172A"/>
                </a:solidFill>
                <a:latin typeface="Arial"/>
              </a:rPr>
              <a:t> CLV → reviewer → held-out gate → rules; placebo-audited</a:t>
            </a:r>
          </a:p>
          <a:p>
            <a:pPr algn="l" marL="292608" indent="-256032">
              <a:spcAft>
                <a:spcPts val="400"/>
              </a:spcAft>
              <a:buChar char="•"/>
            </a:pPr>
            <a:r>
              <a:rPr sz="1500" b="1" i="0">
                <a:solidFill>
                  <a:srgbClr val="0F172A"/>
                </a:solidFill>
                <a:latin typeface="Arial"/>
              </a:rPr>
              <a:t>People:</a:t>
            </a:r>
            <a:r>
              <a:rPr sz="1500" b="0" i="0">
                <a:solidFill>
                  <a:srgbClr val="0F172A"/>
                </a:solidFill>
                <a:latin typeface="Arial"/>
              </a:rPr>
              <a:t> Coach and League teach with the same analysis</a:t>
            </a:r>
          </a:p>
        </p:txBody>
      </p:sp>
      <p:graphicFrame>
        <p:nvGraphicFramePr>
          <p:cNvPr id="8" name="Table 7"/>
          <p:cNvGraphicFramePr>
            <a:graphicFrameLocks noGrp="1"/>
          </p:cNvGraphicFramePr>
          <p:nvPr/>
        </p:nvGraphicFramePr>
        <p:xfrm>
          <a:off x="6400800" y="1143000"/>
          <a:ext cx="5333695" cy="3200400"/>
        </p:xfrm>
        <a:graphic>
          <a:graphicData uri="http://schemas.openxmlformats.org/drawingml/2006/table">
            <a:tbl>
              <a:tblPr firstRow="1" bandRow="1">
                <a:tableStyleId>{5C22544A-7EE6-4342-B048-85BDC9FD1C3A}</a:tableStyleId>
              </a:tblPr>
              <a:tblGrid>
                <a:gridCol w="2743200"/>
                <a:gridCol w="868680"/>
                <a:gridCol w="1721815"/>
              </a:tblGrid>
              <a:tr h="365760">
                <a:tc>
                  <a:txBody>
                    <a:bodyPr wrap="square"/>
                    <a:lstStyle/>
                    <a:p>
                      <a:pPr algn="l"/>
                      <a:r>
                        <a:rPr sz="1200" b="1" i="0">
                          <a:solidFill>
                            <a:srgbClr val="FFFFFF"/>
                          </a:solidFill>
                          <a:latin typeface="Arial"/>
                        </a:rPr>
                        <a:t>Work</a:t>
                      </a:r>
                    </a:p>
                  </a:txBody>
                  <a:tcPr marL="73152" marR="73152" marT="36576" marB="36576" anchor="ctr">
                    <a:solidFill>
                      <a:srgbClr val="1E293B"/>
                    </a:solidFill>
                  </a:tcPr>
                </a:tc>
                <a:tc>
                  <a:txBody>
                    <a:bodyPr wrap="square"/>
                    <a:lstStyle/>
                    <a:p>
                      <a:pPr algn="ctr"/>
                      <a:r>
                        <a:rPr sz="1200" b="1" i="0">
                          <a:solidFill>
                            <a:srgbClr val="FFFFFF"/>
                          </a:solidFill>
                          <a:latin typeface="Arial"/>
                        </a:rPr>
                        <a:t>PR</a:t>
                      </a:r>
                    </a:p>
                  </a:txBody>
                  <a:tcPr marL="73152" marR="73152" marT="36576" marB="36576" anchor="ctr">
                    <a:solidFill>
                      <a:srgbClr val="1E293B"/>
                    </a:solidFill>
                  </a:tcPr>
                </a:tc>
                <a:tc>
                  <a:txBody>
                    <a:bodyPr wrap="square"/>
                    <a:lstStyle/>
                    <a:p>
                      <a:pPr algn="l"/>
                      <a:r>
                        <a:rPr sz="1200" b="1" i="0">
                          <a:solidFill>
                            <a:srgbClr val="FFFFFF"/>
                          </a:solidFill>
                          <a:latin typeface="Arial"/>
                        </a:rPr>
                        <a:t>Who</a:t>
                      </a:r>
                    </a:p>
                  </a:txBody>
                  <a:tcPr marL="73152" marR="73152" marT="36576" marB="36576" anchor="ctr">
                    <a:solidFill>
                      <a:srgbClr val="1E293B"/>
                    </a:solidFill>
                  </a:tcPr>
                </a:tc>
              </a:tr>
              <a:tr h="566928">
                <a:tc>
                  <a:txBody>
                    <a:bodyPr wrap="square"/>
                    <a:lstStyle/>
                    <a:p>
                      <a:pPr algn="l"/>
                      <a:r>
                        <a:rPr sz="1200" b="0" i="0">
                          <a:solidFill>
                            <a:srgbClr val="0F172A"/>
                          </a:solidFill>
                          <a:latin typeface="Arial"/>
                        </a:rPr>
                        <a:t>Pregame news and fair-odds loop</a:t>
                      </a:r>
                    </a:p>
                  </a:txBody>
                  <a:tcPr marL="73152" marR="73152" marT="36576" marB="36576" anchor="ctr">
                    <a:solidFill>
                      <a:srgbClr val="F1F5F9"/>
                    </a:solidFill>
                  </a:tcPr>
                </a:tc>
                <a:tc>
                  <a:txBody>
                    <a:bodyPr wrap="square"/>
                    <a:lstStyle/>
                    <a:p>
                      <a:pPr algn="ctr"/>
                      <a:r>
                        <a:rPr sz="1200" b="0" i="0">
                          <a:solidFill>
                            <a:srgbClr val="0F172A"/>
                          </a:solidFill>
                          <a:latin typeface="Arial"/>
                        </a:rPr>
                        <a:t>#7</a:t>
                      </a:r>
                    </a:p>
                  </a:txBody>
                  <a:tcPr marL="73152" marR="73152" marT="36576" marB="36576" anchor="ctr">
                    <a:solidFill>
                      <a:srgbClr val="F1F5F9"/>
                    </a:solidFill>
                  </a:tcPr>
                </a:tc>
                <a:tc>
                  <a:txBody>
                    <a:bodyPr wrap="square"/>
                    <a:lstStyle/>
                    <a:p>
                      <a:pPr algn="l"/>
                      <a:r>
                        <a:rPr sz="1200" b="0" i="0">
                          <a:solidFill>
                            <a:srgbClr val="0F172A"/>
                          </a:solidFill>
                          <a:latin typeface="Arial"/>
                        </a:rPr>
                        <a:t>codingMiiichael</a:t>
                      </a:r>
                    </a:p>
                  </a:txBody>
                  <a:tcPr marL="73152" marR="73152" marT="36576" marB="36576" anchor="ctr">
                    <a:solidFill>
                      <a:srgbClr val="F1F5F9"/>
                    </a:solidFill>
                  </a:tcPr>
                </a:tc>
              </a:tr>
              <a:tr h="566928">
                <a:tc>
                  <a:txBody>
                    <a:bodyPr wrap="square"/>
                    <a:lstStyle/>
                    <a:p>
                      <a:pPr algn="l"/>
                      <a:r>
                        <a:rPr sz="1200" b="0" i="0">
                          <a:solidFill>
                            <a:srgbClr val="0F172A"/>
                          </a:solidFill>
                          <a:latin typeface="Arial"/>
                        </a:rPr>
                        <a:t>Player-feature experiment</a:t>
                      </a:r>
                    </a:p>
                  </a:txBody>
                  <a:tcPr marL="73152" marR="73152" marT="36576" marB="36576" anchor="ctr">
                    <a:solidFill>
                      <a:srgbClr val="FFFFFF"/>
                    </a:solidFill>
                  </a:tcPr>
                </a:tc>
                <a:tc>
                  <a:txBody>
                    <a:bodyPr wrap="square"/>
                    <a:lstStyle/>
                    <a:p>
                      <a:pPr algn="ctr"/>
                      <a:r>
                        <a:rPr sz="1200" b="0" i="0">
                          <a:solidFill>
                            <a:srgbClr val="0F172A"/>
                          </a:solidFill>
                          <a:latin typeface="Arial"/>
                        </a:rPr>
                        <a:t>#8</a:t>
                      </a:r>
                    </a:p>
                  </a:txBody>
                  <a:tcPr marL="73152" marR="73152" marT="36576" marB="36576" anchor="ctr">
                    <a:solidFill>
                      <a:srgbClr val="FFFFFF"/>
                    </a:solidFill>
                  </a:tcPr>
                </a:tc>
                <a:tc>
                  <a:txBody>
                    <a:bodyPr wrap="square"/>
                    <a:lstStyle/>
                    <a:p>
                      <a:pPr algn="l"/>
                      <a:r>
                        <a:rPr sz="1200" b="0" i="0">
                          <a:solidFill>
                            <a:srgbClr val="0F172A"/>
                          </a:solidFill>
                          <a:latin typeface="Arial"/>
                        </a:rPr>
                        <a:t>Catharine Li</a:t>
                      </a:r>
                    </a:p>
                  </a:txBody>
                  <a:tcPr marL="73152" marR="73152" marT="36576" marB="36576" anchor="ctr">
                    <a:solidFill>
                      <a:srgbClr val="FFFFFF"/>
                    </a:solidFill>
                  </a:tcPr>
                </a:tc>
              </a:tr>
              <a:tr h="566928">
                <a:tc>
                  <a:txBody>
                    <a:bodyPr wrap="square"/>
                    <a:lstStyle/>
                    <a:p>
                      <a:pPr algn="l"/>
                      <a:r>
                        <a:rPr sz="1200" b="0" i="0">
                          <a:solidFill>
                            <a:srgbClr val="0F172A"/>
                          </a:solidFill>
                          <a:latin typeface="Arial"/>
                        </a:rPr>
                        <a:t>In-play news and odds</a:t>
                      </a:r>
                    </a:p>
                  </a:txBody>
                  <a:tcPr marL="73152" marR="73152" marT="36576" marB="36576" anchor="ctr">
                    <a:solidFill>
                      <a:srgbClr val="F1F5F9"/>
                    </a:solidFill>
                  </a:tcPr>
                </a:tc>
                <a:tc>
                  <a:txBody>
                    <a:bodyPr wrap="square"/>
                    <a:lstStyle/>
                    <a:p>
                      <a:pPr algn="ctr"/>
                      <a:r>
                        <a:rPr sz="1200" b="0" i="0">
                          <a:solidFill>
                            <a:srgbClr val="0F172A"/>
                          </a:solidFill>
                          <a:latin typeface="Arial"/>
                        </a:rPr>
                        <a:t>#9</a:t>
                      </a:r>
                    </a:p>
                  </a:txBody>
                  <a:tcPr marL="73152" marR="73152" marT="36576" marB="36576" anchor="ctr">
                    <a:solidFill>
                      <a:srgbClr val="F1F5F9"/>
                    </a:solidFill>
                  </a:tcPr>
                </a:tc>
                <a:tc>
                  <a:txBody>
                    <a:bodyPr wrap="square"/>
                    <a:lstStyle/>
                    <a:p>
                      <a:pPr algn="l"/>
                      <a:r>
                        <a:rPr sz="1200" b="0" i="0">
                          <a:solidFill>
                            <a:srgbClr val="0F172A"/>
                          </a:solidFill>
                          <a:latin typeface="Arial"/>
                        </a:rPr>
                        <a:t>codingMiiichael</a:t>
                      </a:r>
                    </a:p>
                  </a:txBody>
                  <a:tcPr marL="73152" marR="73152" marT="36576" marB="36576" anchor="ctr">
                    <a:solidFill>
                      <a:srgbClr val="F1F5F9"/>
                    </a:solidFill>
                  </a:tcPr>
                </a:tc>
              </a:tr>
              <a:tr h="566928">
                <a:tc>
                  <a:txBody>
                    <a:bodyPr wrap="square"/>
                    <a:lstStyle/>
                    <a:p>
                      <a:pPr algn="l"/>
                      <a:r>
                        <a:rPr sz="1200" b="0" i="0">
                          <a:solidFill>
                            <a:srgbClr val="0F172A"/>
                          </a:solidFill>
                          <a:latin typeface="Arial"/>
                        </a:rPr>
                        <a:t>Live Polymarket markets</a:t>
                      </a:r>
                    </a:p>
                  </a:txBody>
                  <a:tcPr marL="73152" marR="73152" marT="36576" marB="36576" anchor="ctr">
                    <a:solidFill>
                      <a:srgbClr val="FFFFFF"/>
                    </a:solidFill>
                  </a:tcPr>
                </a:tc>
                <a:tc>
                  <a:txBody>
                    <a:bodyPr wrap="square"/>
                    <a:lstStyle/>
                    <a:p>
                      <a:pPr algn="ctr"/>
                      <a:r>
                        <a:rPr sz="1200" b="0" i="0">
                          <a:solidFill>
                            <a:srgbClr val="0F172A"/>
                          </a:solidFill>
                          <a:latin typeface="Arial"/>
                        </a:rPr>
                        <a:t>#11, #12</a:t>
                      </a:r>
                    </a:p>
                  </a:txBody>
                  <a:tcPr marL="73152" marR="73152" marT="36576" marB="36576" anchor="ctr">
                    <a:solidFill>
                      <a:srgbClr val="FFFFFF"/>
                    </a:solidFill>
                  </a:tcPr>
                </a:tc>
                <a:tc>
                  <a:txBody>
                    <a:bodyPr wrap="square"/>
                    <a:lstStyle/>
                    <a:p>
                      <a:pPr algn="l"/>
                      <a:r>
                        <a:rPr sz="1200" b="0" i="0">
                          <a:solidFill>
                            <a:srgbClr val="0F172A"/>
                          </a:solidFill>
                          <a:latin typeface="Arial"/>
                        </a:rPr>
                        <a:t>shidafuyang-alt, hijojo</a:t>
                      </a:r>
                    </a:p>
                  </a:txBody>
                  <a:tcPr marL="73152" marR="73152" marT="36576" marB="36576" anchor="ctr">
                    <a:solidFill>
                      <a:srgbClr val="FFFFFF"/>
                    </a:solidFill>
                  </a:tcPr>
                </a:tc>
              </a:tr>
              <a:tr h="566928">
                <a:tc>
                  <a:txBody>
                    <a:bodyPr wrap="square"/>
                    <a:lstStyle/>
                    <a:p>
                      <a:pPr algn="l"/>
                      <a:r>
                        <a:rPr sz="1200" b="0" i="0">
                          <a:solidFill>
                            <a:srgbClr val="0F172A"/>
                          </a:solidFill>
                          <a:latin typeface="Arial"/>
                        </a:rPr>
                        <a:t>Replay, agent and evaluation</a:t>
                      </a:r>
                    </a:p>
                  </a:txBody>
                  <a:tcPr marL="73152" marR="73152" marT="36576" marB="36576" anchor="ctr">
                    <a:solidFill>
                      <a:srgbClr val="F1F5F9"/>
                    </a:solidFill>
                  </a:tcPr>
                </a:tc>
                <a:tc>
                  <a:txBody>
                    <a:bodyPr wrap="square"/>
                    <a:lstStyle/>
                    <a:p>
                      <a:pPr algn="ctr"/>
                      <a:r>
                        <a:rPr sz="1200" b="0" i="0">
                          <a:solidFill>
                            <a:srgbClr val="0F172A"/>
                          </a:solidFill>
                          <a:latin typeface="Arial"/>
                        </a:rPr>
                        <a:t>branch</a:t>
                      </a:r>
                    </a:p>
                  </a:txBody>
                  <a:tcPr marL="73152" marR="73152" marT="36576" marB="36576" anchor="ctr">
                    <a:solidFill>
                      <a:srgbClr val="F1F5F9"/>
                    </a:solidFill>
                  </a:tcPr>
                </a:tc>
                <a:tc>
                  <a:txBody>
                    <a:bodyPr wrap="square"/>
                    <a:lstStyle/>
                    <a:p>
                      <a:pPr algn="l"/>
                      <a:r>
                        <a:rPr sz="1200" b="0" i="0">
                          <a:solidFill>
                            <a:srgbClr val="0F172A"/>
                          </a:solidFill>
                          <a:latin typeface="Arial"/>
                        </a:rPr>
                        <a:t>Michael Ngan</a:t>
                      </a:r>
                    </a:p>
                  </a:txBody>
                  <a:tcPr marL="73152" marR="73152" marT="36576" marB="36576" anchor="ctr">
                    <a:solidFill>
                      <a:srgbClr val="F1F5F9"/>
                    </a:solidFill>
                  </a:tcPr>
                </a:tc>
              </a:tr>
            </a:tbl>
          </a:graphicData>
        </a:graphic>
      </p:graphicFrame>
      <p:sp>
        <p:nvSpPr>
          <p:cNvPr id="9" name="Rounded Rectangle 8"/>
          <p:cNvSpPr/>
          <p:nvPr/>
        </p:nvSpPr>
        <p:spPr>
          <a:xfrm>
            <a:off x="457200" y="5257800"/>
            <a:ext cx="11277295" cy="960120"/>
          </a:xfrm>
          <a:prstGeom prst="roundRect">
            <a:avLst>
              <a:gd name="adj" fmla="val 12000"/>
            </a:avLst>
          </a:prstGeom>
          <a:solidFill>
            <a:srgbClr val="FEF3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48640" y="5257800"/>
            <a:ext cx="11094415" cy="960120"/>
          </a:xfrm>
          <a:prstGeom prst="rect">
            <a:avLst/>
          </a:prstGeom>
          <a:noFill/>
        </p:spPr>
        <p:txBody>
          <a:bodyPr wrap="square" anchor="ctr" lIns="73152" rIns="73152" tIns="36576" bIns="36576">
            <a:spAutoFit/>
          </a:bodyPr>
          <a:lstStyle/>
          <a:p>
            <a:pPr algn="l">
              <a:spcAft>
                <a:spcPts val="0"/>
              </a:spcAft>
            </a:pPr>
            <a:r>
              <a:rPr sz="1700" b="0" i="0">
                <a:solidFill>
                  <a:srgbClr val="0F172A"/>
                </a:solidFill>
                <a:latin typeface="Arial"/>
              </a:rPr>
              <a:t>“A single classifier would do”? The model alone loses −$2,475 over 711 trades; the decision process around it adds +$2,450 [+$854, +$3,984], p = 0.002</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54864"/>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09728"/>
            <a:ext cx="11277295" cy="685800"/>
          </a:xfrm>
          <a:prstGeom prst="rect">
            <a:avLst/>
          </a:prstGeom>
          <a:noFill/>
        </p:spPr>
        <p:txBody>
          <a:bodyPr wrap="square" anchor="ctr" lIns="73152" rIns="73152" tIns="36576" bIns="36576">
            <a:spAutoFit/>
          </a:bodyPr>
          <a:lstStyle/>
          <a:p>
            <a:pPr algn="l">
              <a:spcAft>
                <a:spcPts val="0"/>
              </a:spcAft>
            </a:pPr>
            <a:r>
              <a:rPr sz="3000" b="1" i="0">
                <a:solidFill>
                  <a:srgbClr val="FFFFFF"/>
                </a:solidFill>
                <a:latin typeface="Arial"/>
              </a:rPr>
              <a:t>Live demo: streamlit run app.py</a:t>
            </a:r>
          </a:p>
        </p:txBody>
      </p:sp>
      <p:sp>
        <p:nvSpPr>
          <p:cNvPr id="5" name="TextBox 4"/>
          <p:cNvSpPr txBox="1"/>
          <p:nvPr/>
        </p:nvSpPr>
        <p:spPr>
          <a:xfrm>
            <a:off x="457200" y="6446520"/>
            <a:ext cx="9144000" cy="320040"/>
          </a:xfrm>
          <a:prstGeom prst="rect">
            <a:avLst/>
          </a:prstGeom>
          <a:noFill/>
        </p:spPr>
        <p:txBody>
          <a:bodyPr wrap="square" anchor="t" lIns="73152" rIns="73152" tIns="36576" bIns="36576">
            <a:spAutoFit/>
          </a:bodyPr>
          <a:lstStyle/>
          <a:p>
            <a:pPr algn="l">
              <a:spcAft>
                <a:spcPts val="0"/>
              </a:spcAft>
            </a:pPr>
            <a:r>
              <a:rPr sz="1100" b="0" i="0">
                <a:solidFill>
                  <a:srgbClr val="64748B"/>
                </a:solidFill>
                <a:latin typeface="Arial"/>
              </a:rPr>
              <a:t>DASC7606C Group 12 · Market-Graded Learning: the closing price grades every component</a:t>
            </a:r>
          </a:p>
        </p:txBody>
      </p:sp>
      <p:sp>
        <p:nvSpPr>
          <p:cNvPr id="6" name="TextBox 5"/>
          <p:cNvSpPr txBox="1"/>
          <p:nvPr/>
        </p:nvSpPr>
        <p:spPr>
          <a:xfrm>
            <a:off x="10820095" y="6446520"/>
            <a:ext cx="914400" cy="320040"/>
          </a:xfrm>
          <a:prstGeom prst="rect">
            <a:avLst/>
          </a:prstGeom>
          <a:noFill/>
        </p:spPr>
        <p:txBody>
          <a:bodyPr wrap="square" anchor="t" lIns="73152" rIns="73152" tIns="36576" bIns="36576">
            <a:spAutoFit/>
          </a:bodyPr>
          <a:lstStyle/>
          <a:p>
            <a:pPr algn="r">
              <a:spcAft>
                <a:spcPts val="0"/>
              </a:spcAft>
            </a:pPr>
            <a:r>
              <a:rPr sz="1100" b="0" i="0">
                <a:solidFill>
                  <a:srgbClr val="64748B"/>
                </a:solidFill>
                <a:latin typeface="Arial"/>
              </a:rPr>
              <a:t>14</a:t>
            </a:r>
          </a:p>
        </p:txBody>
      </p:sp>
      <p:graphicFrame>
        <p:nvGraphicFramePr>
          <p:cNvPr id="7" name="Table 6"/>
          <p:cNvGraphicFramePr>
            <a:graphicFrameLocks noGrp="1"/>
          </p:cNvGraphicFramePr>
          <p:nvPr/>
        </p:nvGraphicFramePr>
        <p:xfrm>
          <a:off x="457200" y="1234439"/>
          <a:ext cx="11277295" cy="3840480"/>
        </p:xfrm>
        <a:graphic>
          <a:graphicData uri="http://schemas.openxmlformats.org/drawingml/2006/table">
            <a:tbl>
              <a:tblPr firstRow="1" bandRow="1">
                <a:tableStyleId>{5C22544A-7EE6-4342-B048-85BDC9FD1C3A}</a:tableStyleId>
              </a:tblPr>
              <a:tblGrid>
                <a:gridCol w="2377440"/>
                <a:gridCol w="8899855"/>
              </a:tblGrid>
              <a:tr h="640080">
                <a:tc>
                  <a:txBody>
                    <a:bodyPr wrap="square"/>
                    <a:lstStyle/>
                    <a:p>
                      <a:pPr algn="l"/>
                      <a:r>
                        <a:rPr sz="1800" b="1" i="0">
                          <a:solidFill>
                            <a:srgbClr val="FFFFFF"/>
                          </a:solidFill>
                          <a:latin typeface="Arial"/>
                        </a:rPr>
                        <a:t>Tab</a:t>
                      </a:r>
                    </a:p>
                  </a:txBody>
                  <a:tcPr marL="73152" marR="73152" marT="36576" marB="36576" anchor="ctr">
                    <a:solidFill>
                      <a:srgbClr val="1E293B"/>
                    </a:solidFill>
                  </a:tcPr>
                </a:tc>
                <a:tc>
                  <a:txBody>
                    <a:bodyPr wrap="square"/>
                    <a:lstStyle/>
                    <a:p>
                      <a:pPr algn="l"/>
                      <a:r>
                        <a:rPr sz="1800" b="1" i="0">
                          <a:solidFill>
                            <a:srgbClr val="FFFFFF"/>
                          </a:solidFill>
                          <a:latin typeface="Arial"/>
                        </a:rPr>
                        <a:t>What to watch</a:t>
                      </a:r>
                    </a:p>
                  </a:txBody>
                  <a:tcPr marL="73152" marR="73152" marT="36576" marB="36576" anchor="ctr">
                    <a:solidFill>
                      <a:srgbClr val="1E293B"/>
                    </a:solidFill>
                  </a:tcPr>
                </a:tc>
              </a:tr>
              <a:tr h="640080">
                <a:tc>
                  <a:txBody>
                    <a:bodyPr wrap="square"/>
                    <a:lstStyle/>
                    <a:p>
                      <a:pPr algn="l"/>
                      <a:r>
                        <a:rPr sz="1800" b="0" i="0">
                          <a:solidFill>
                            <a:srgbClr val="0F172A"/>
                          </a:solidFill>
                          <a:latin typeface="Arial"/>
                        </a:rPr>
                        <a:t>Replayed night</a:t>
                      </a:r>
                    </a:p>
                  </a:txBody>
                  <a:tcPr marL="73152" marR="73152" marT="36576" marB="36576" anchor="ctr">
                    <a:solidFill>
                      <a:srgbClr val="F1F5F9"/>
                    </a:solidFill>
                  </a:tcPr>
                </a:tc>
                <a:tc>
                  <a:txBody>
                    <a:bodyPr wrap="square"/>
                    <a:lstStyle/>
                    <a:p>
                      <a:pPr algn="l"/>
                      <a:r>
                        <a:rPr sz="1800" b="0" i="0">
                          <a:solidFill>
                            <a:srgbClr val="0F172A"/>
                          </a:solidFill>
                          <a:latin typeface="Arial"/>
                        </a:rPr>
                        <a:t>News → estimate vs bid-ask → usually no order, with the reason</a:t>
                      </a:r>
                    </a:p>
                  </a:txBody>
                  <a:tcPr marL="73152" marR="73152" marT="36576" marB="36576" anchor="ctr">
                    <a:solidFill>
                      <a:srgbClr val="F1F5F9"/>
                    </a:solidFill>
                  </a:tcPr>
                </a:tc>
              </a:tr>
              <a:tr h="640080">
                <a:tc>
                  <a:txBody>
                    <a:bodyPr wrap="square"/>
                    <a:lstStyle/>
                    <a:p>
                      <a:pPr algn="l"/>
                      <a:r>
                        <a:rPr sz="1800" b="0" i="0">
                          <a:solidFill>
                            <a:srgbClr val="0F172A"/>
                          </a:solidFill>
                          <a:latin typeface="Arial"/>
                        </a:rPr>
                        <a:t>Coach</a:t>
                      </a:r>
                    </a:p>
                  </a:txBody>
                  <a:tcPr marL="73152" marR="73152" marT="36576" marB="36576" anchor="ctr">
                    <a:solidFill>
                      <a:srgbClr val="FFFFFF"/>
                    </a:solidFill>
                  </a:tcPr>
                </a:tc>
                <a:tc>
                  <a:txBody>
                    <a:bodyPr wrap="square"/>
                    <a:lstStyle/>
                    <a:p>
                      <a:pPr algn="l"/>
                      <a:r>
                        <a:rPr sz="1800" b="0" i="0">
                          <a:solidFill>
                            <a:srgbClr val="0F172A"/>
                          </a:solidFill>
                          <a:latin typeface="Arial"/>
                        </a:rPr>
                        <a:t>Break-even after spread + fee; paper call vs the close and the agent</a:t>
                      </a:r>
                    </a:p>
                  </a:txBody>
                  <a:tcPr marL="73152" marR="73152" marT="36576" marB="36576" anchor="ctr">
                    <a:solidFill>
                      <a:srgbClr val="FFFFFF"/>
                    </a:solidFill>
                  </a:tcPr>
                </a:tc>
              </a:tr>
              <a:tr h="640080">
                <a:tc>
                  <a:txBody>
                    <a:bodyPr wrap="square"/>
                    <a:lstStyle/>
                    <a:p>
                      <a:pPr algn="l"/>
                      <a:r>
                        <a:rPr sz="1800" b="0" i="0">
                          <a:solidFill>
                            <a:srgbClr val="0F172A"/>
                          </a:solidFill>
                          <a:latin typeface="Arial"/>
                        </a:rPr>
                        <a:t>League</a:t>
                      </a:r>
                    </a:p>
                  </a:txBody>
                  <a:tcPr marL="73152" marR="73152" marT="36576" marB="36576" anchor="ctr">
                    <a:solidFill>
                      <a:srgbClr val="F1F5F9"/>
                    </a:solidFill>
                  </a:tcPr>
                </a:tc>
                <a:tc>
                  <a:txBody>
                    <a:bodyPr wrap="square"/>
                    <a:lstStyle/>
                    <a:p>
                      <a:pPr algn="l"/>
                      <a:r>
                        <a:rPr sz="1800" b="0" i="0">
                          <a:solidFill>
                            <a:srgbClr val="0F172A"/>
                          </a:solidFill>
                          <a:latin typeface="Arial"/>
                        </a:rPr>
                        <a:t>One call on the shared slate → close revealed → ranked by CLV next to the house bots</a:t>
                      </a:r>
                    </a:p>
                  </a:txBody>
                  <a:tcPr marL="73152" marR="73152" marT="36576" marB="36576" anchor="ctr">
                    <a:solidFill>
                      <a:srgbClr val="F1F5F9"/>
                    </a:solidFill>
                  </a:tcPr>
                </a:tc>
              </a:tr>
              <a:tr h="640080">
                <a:tc>
                  <a:txBody>
                    <a:bodyPr wrap="square"/>
                    <a:lstStyle/>
                    <a:p>
                      <a:pPr algn="l"/>
                      <a:r>
                        <a:rPr sz="1800" b="0" i="0">
                          <a:solidFill>
                            <a:srgbClr val="0F172A"/>
                          </a:solidFill>
                          <a:latin typeface="Arial"/>
                        </a:rPr>
                        <a:t>Learning</a:t>
                      </a:r>
                    </a:p>
                  </a:txBody>
                  <a:tcPr marL="73152" marR="73152" marT="36576" marB="36576" anchor="ctr">
                    <a:solidFill>
                      <a:srgbClr val="FFFFFF"/>
                    </a:solidFill>
                  </a:tcPr>
                </a:tc>
                <a:tc>
                  <a:txBody>
                    <a:bodyPr wrap="square"/>
                    <a:lstStyle/>
                    <a:p>
                      <a:pPr algn="l"/>
                      <a:r>
                        <a:rPr sz="1800" b="0" i="0">
                          <a:solidFill>
                            <a:srgbClr val="0F172A"/>
                          </a:solidFill>
                          <a:latin typeface="Arial"/>
                        </a:rPr>
                        <a:t>Gate keeps protective rules (skip long shots, skip chasing)</a:t>
                      </a:r>
                    </a:p>
                  </a:txBody>
                  <a:tcPr marL="73152" marR="73152" marT="36576" marB="36576" anchor="ctr">
                    <a:solidFill>
                      <a:srgbClr val="FFFFFF"/>
                    </a:solidFill>
                  </a:tcPr>
                </a:tc>
              </a:tr>
              <a:tr h="640080">
                <a:tc>
                  <a:txBody>
                    <a:bodyPr wrap="square"/>
                    <a:lstStyle/>
                    <a:p>
                      <a:pPr algn="l"/>
                      <a:r>
                        <a:rPr sz="1800" b="0" i="0">
                          <a:solidFill>
                            <a:srgbClr val="0F172A"/>
                          </a:solidFill>
                          <a:latin typeface="Arial"/>
                        </a:rPr>
                        <a:t>Safety</a:t>
                      </a:r>
                    </a:p>
                  </a:txBody>
                  <a:tcPr marL="73152" marR="73152" marT="36576" marB="36576" anchor="ctr">
                    <a:solidFill>
                      <a:srgbClr val="F1F5F9"/>
                    </a:solidFill>
                  </a:tcPr>
                </a:tc>
                <a:tc>
                  <a:txBody>
                    <a:bodyPr wrap="square"/>
                    <a:lstStyle/>
                    <a:p>
                      <a:pPr algn="l"/>
                      <a:r>
                        <a:rPr sz="1800" b="0" i="0">
                          <a:solidFill>
                            <a:srgbClr val="0F172A"/>
                          </a:solidFill>
                          <a:latin typeface="Arial"/>
                        </a:rPr>
                        <a:t>Planted violations blocked (9 / 9)</a:t>
                      </a:r>
                    </a:p>
                  </a:txBody>
                  <a:tcPr marL="73152" marR="73152" marT="36576" marB="36576" anchor="ctr">
                    <a:solidFill>
                      <a:srgbClr val="F1F5F9"/>
                    </a:solidFill>
                  </a:tcPr>
                </a:tc>
              </a:tr>
            </a:tbl>
          </a:graphicData>
        </a:graphic>
      </p:graphicFrame>
      <p:sp>
        <p:nvSpPr>
          <p:cNvPr id="8" name="Rounded Rectangle 7"/>
          <p:cNvSpPr/>
          <p:nvPr/>
        </p:nvSpPr>
        <p:spPr>
          <a:xfrm>
            <a:off x="457200" y="5669280"/>
            <a:ext cx="11277295" cy="548640"/>
          </a:xfrm>
          <a:prstGeom prst="roundRect">
            <a:avLst>
              <a:gd name="adj" fmla="val 12000"/>
            </a:avLst>
          </a:prstGeom>
          <a:solidFill>
            <a:srgbClr val="FEF3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 y="5669280"/>
            <a:ext cx="11094415" cy="548640"/>
          </a:xfrm>
          <a:prstGeom prst="rect">
            <a:avLst/>
          </a:prstGeom>
          <a:noFill/>
        </p:spPr>
        <p:txBody>
          <a:bodyPr wrap="square" anchor="ctr" lIns="73152" rIns="73152" tIns="36576" bIns="36576">
            <a:spAutoFit/>
          </a:bodyPr>
          <a:lstStyle/>
          <a:p>
            <a:pPr algn="l">
              <a:spcAft>
                <a:spcPts val="0"/>
              </a:spcAft>
            </a:pPr>
            <a:r>
              <a:rPr sz="1800" b="0" i="0">
                <a:solidFill>
                  <a:srgbClr val="0F172A"/>
                </a:solidFill>
                <a:latin typeface="Arial"/>
              </a:rPr>
              <a:t>Backup: recorded run of the same demo</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54864"/>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09728"/>
            <a:ext cx="11277295" cy="685800"/>
          </a:xfrm>
          <a:prstGeom prst="rect">
            <a:avLst/>
          </a:prstGeom>
          <a:noFill/>
        </p:spPr>
        <p:txBody>
          <a:bodyPr wrap="square" anchor="ctr" lIns="73152" rIns="73152" tIns="36576" bIns="36576">
            <a:spAutoFit/>
          </a:bodyPr>
          <a:lstStyle/>
          <a:p>
            <a:pPr algn="l">
              <a:spcAft>
                <a:spcPts val="0"/>
              </a:spcAft>
            </a:pPr>
            <a:r>
              <a:rPr sz="3000" b="1" i="0">
                <a:solidFill>
                  <a:srgbClr val="FFFFFF"/>
                </a:solidFill>
                <a:latin typeface="Arial"/>
              </a:rPr>
              <a:t>Recommendations, honest scope and Q&amp;A</a:t>
            </a:r>
          </a:p>
        </p:txBody>
      </p:sp>
      <p:sp>
        <p:nvSpPr>
          <p:cNvPr id="5" name="TextBox 4"/>
          <p:cNvSpPr txBox="1"/>
          <p:nvPr/>
        </p:nvSpPr>
        <p:spPr>
          <a:xfrm>
            <a:off x="457200" y="6446520"/>
            <a:ext cx="9144000" cy="320040"/>
          </a:xfrm>
          <a:prstGeom prst="rect">
            <a:avLst/>
          </a:prstGeom>
          <a:noFill/>
        </p:spPr>
        <p:txBody>
          <a:bodyPr wrap="square" anchor="t" lIns="73152" rIns="73152" tIns="36576" bIns="36576">
            <a:spAutoFit/>
          </a:bodyPr>
          <a:lstStyle/>
          <a:p>
            <a:pPr algn="l">
              <a:spcAft>
                <a:spcPts val="0"/>
              </a:spcAft>
            </a:pPr>
            <a:r>
              <a:rPr sz="1100" b="0" i="0">
                <a:solidFill>
                  <a:srgbClr val="64748B"/>
                </a:solidFill>
                <a:latin typeface="Arial"/>
              </a:rPr>
              <a:t>DASC7606C Group 12 · Market-Graded Learning: the closing price grades every component</a:t>
            </a:r>
          </a:p>
        </p:txBody>
      </p:sp>
      <p:sp>
        <p:nvSpPr>
          <p:cNvPr id="6" name="TextBox 5"/>
          <p:cNvSpPr txBox="1"/>
          <p:nvPr/>
        </p:nvSpPr>
        <p:spPr>
          <a:xfrm>
            <a:off x="10820095" y="6446520"/>
            <a:ext cx="914400" cy="320040"/>
          </a:xfrm>
          <a:prstGeom prst="rect">
            <a:avLst/>
          </a:prstGeom>
          <a:noFill/>
        </p:spPr>
        <p:txBody>
          <a:bodyPr wrap="square" anchor="t" lIns="73152" rIns="73152" tIns="36576" bIns="36576">
            <a:spAutoFit/>
          </a:bodyPr>
          <a:lstStyle/>
          <a:p>
            <a:pPr algn="r">
              <a:spcAft>
                <a:spcPts val="0"/>
              </a:spcAft>
            </a:pPr>
            <a:r>
              <a:rPr sz="1100" b="0" i="0">
                <a:solidFill>
                  <a:srgbClr val="64748B"/>
                </a:solidFill>
                <a:latin typeface="Arial"/>
              </a:rPr>
              <a:t>15</a:t>
            </a:r>
          </a:p>
        </p:txBody>
      </p:sp>
      <p:sp>
        <p:nvSpPr>
          <p:cNvPr id="7" name="Rounded Rectangle 6"/>
          <p:cNvSpPr/>
          <p:nvPr/>
        </p:nvSpPr>
        <p:spPr>
          <a:xfrm>
            <a:off x="457200" y="1234439"/>
            <a:ext cx="5852160" cy="3566160"/>
          </a:xfrm>
          <a:prstGeom prst="roundRect">
            <a:avLst>
              <a:gd name="adj" fmla="val 6000"/>
            </a:avLst>
          </a:prstGeom>
          <a:solidFill>
            <a:srgbClr val="FFFFFF"/>
          </a:solidFill>
          <a:ln w="15875">
            <a:solidFill>
              <a:srgbClr val="1E293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1234439"/>
            <a:ext cx="109728" cy="356616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1307592"/>
            <a:ext cx="5577840" cy="457200"/>
          </a:xfrm>
          <a:prstGeom prst="rect">
            <a:avLst/>
          </a:prstGeom>
          <a:noFill/>
        </p:spPr>
        <p:txBody>
          <a:bodyPr wrap="square" anchor="t" lIns="73152" rIns="73152" tIns="36576" bIns="36576">
            <a:spAutoFit/>
          </a:bodyPr>
          <a:lstStyle/>
          <a:p>
            <a:pPr algn="l">
              <a:spcAft>
                <a:spcPts val="0"/>
              </a:spcAft>
            </a:pPr>
            <a:r>
              <a:rPr sz="1900" b="1" i="0">
                <a:solidFill>
                  <a:srgbClr val="1E293B"/>
                </a:solidFill>
                <a:latin typeface="Arial"/>
              </a:rPr>
              <a:t>For products and policy</a:t>
            </a:r>
          </a:p>
        </p:txBody>
      </p:sp>
      <p:sp>
        <p:nvSpPr>
          <p:cNvPr id="10" name="TextBox 9"/>
          <p:cNvSpPr txBox="1"/>
          <p:nvPr/>
        </p:nvSpPr>
        <p:spPr>
          <a:xfrm>
            <a:off x="640080" y="1764791"/>
            <a:ext cx="5577840" cy="2962656"/>
          </a:xfrm>
          <a:prstGeom prst="rect">
            <a:avLst/>
          </a:prstGeom>
          <a:noFill/>
        </p:spPr>
        <p:txBody>
          <a:bodyPr wrap="square" anchor="t" lIns="73152" rIns="73152" tIns="36576" bIns="36576">
            <a:spAutoFit/>
          </a:bodyPr>
          <a:lstStyle/>
          <a:p>
            <a:pPr algn="l" marL="292608" indent="-256032">
              <a:spcAft>
                <a:spcPts val="600"/>
              </a:spcAft>
              <a:buChar char="•"/>
            </a:pPr>
            <a:r>
              <a:rPr sz="1700" b="0" i="0">
                <a:solidFill>
                  <a:srgbClr val="0F172A"/>
                </a:solidFill>
                <a:latin typeface="Arial"/>
              </a:rPr>
              <a:t>Show the all-in cost and break-even before every order</a:t>
            </a:r>
          </a:p>
          <a:p>
            <a:pPr algn="l" marL="292608" indent="-256032">
              <a:spcAft>
                <a:spcPts val="600"/>
              </a:spcAft>
              <a:buChar char="•"/>
            </a:pPr>
            <a:r>
              <a:rPr sz="1700" b="0" i="0">
                <a:solidFill>
                  <a:srgbClr val="0F172A"/>
                </a:solidFill>
                <a:latin typeface="Arial"/>
              </a:rPr>
              <a:t>Default warning: “this news is likely priced in”</a:t>
            </a:r>
          </a:p>
          <a:p>
            <a:pPr algn="l" marL="292608" indent="-256032">
              <a:spcAft>
                <a:spcPts val="600"/>
              </a:spcAft>
              <a:buChar char="•"/>
            </a:pPr>
            <a:r>
              <a:rPr sz="1700" b="0" i="0">
                <a:solidFill>
                  <a:srgbClr val="0F172A"/>
                </a:solidFill>
                <a:latin typeface="Arial"/>
              </a:rPr>
              <a:t>Education and play-money practice before the first trade</a:t>
            </a:r>
          </a:p>
          <a:p>
            <a:pPr algn="l" marL="292608" indent="-256032">
              <a:spcAft>
                <a:spcPts val="600"/>
              </a:spcAft>
              <a:buChar char="•"/>
            </a:pPr>
            <a:r>
              <a:rPr sz="1700" b="0" i="0">
                <a:solidFill>
                  <a:srgbClr val="0F172A"/>
                </a:solidFill>
                <a:latin typeface="Arial"/>
              </a:rPr>
              <a:t>Treat betting harm as a public-health issue (Lancet)</a:t>
            </a:r>
          </a:p>
        </p:txBody>
      </p:sp>
      <p:sp>
        <p:nvSpPr>
          <p:cNvPr id="11" name="Rounded Rectangle 10"/>
          <p:cNvSpPr/>
          <p:nvPr/>
        </p:nvSpPr>
        <p:spPr>
          <a:xfrm>
            <a:off x="6583680" y="1234439"/>
            <a:ext cx="5150815" cy="3566160"/>
          </a:xfrm>
          <a:prstGeom prst="roundRect">
            <a:avLst>
              <a:gd name="adj" fmla="val 6000"/>
            </a:avLst>
          </a:prstGeom>
          <a:solidFill>
            <a:srgbClr val="FFFFFF"/>
          </a:solidFill>
          <a:ln w="15875">
            <a:solidFill>
              <a:srgbClr val="DC262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583680" y="1234439"/>
            <a:ext cx="109728" cy="3566160"/>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766560" y="1307592"/>
            <a:ext cx="4876495" cy="457200"/>
          </a:xfrm>
          <a:prstGeom prst="rect">
            <a:avLst/>
          </a:prstGeom>
          <a:noFill/>
        </p:spPr>
        <p:txBody>
          <a:bodyPr wrap="square" anchor="t" lIns="73152" rIns="73152" tIns="36576" bIns="36576">
            <a:spAutoFit/>
          </a:bodyPr>
          <a:lstStyle/>
          <a:p>
            <a:pPr algn="l">
              <a:spcAft>
                <a:spcPts val="0"/>
              </a:spcAft>
            </a:pPr>
            <a:r>
              <a:rPr sz="1800" b="1" i="0">
                <a:solidFill>
                  <a:srgbClr val="DC2626"/>
                </a:solidFill>
                <a:latin typeface="Arial"/>
              </a:rPr>
              <a:t>Honest scope</a:t>
            </a:r>
          </a:p>
        </p:txBody>
      </p:sp>
      <p:sp>
        <p:nvSpPr>
          <p:cNvPr id="14" name="TextBox 13"/>
          <p:cNvSpPr txBox="1"/>
          <p:nvPr/>
        </p:nvSpPr>
        <p:spPr>
          <a:xfrm>
            <a:off x="6766560" y="1764791"/>
            <a:ext cx="4876495" cy="2962656"/>
          </a:xfrm>
          <a:prstGeom prst="rect">
            <a:avLst/>
          </a:prstGeom>
          <a:noFill/>
        </p:spPr>
        <p:txBody>
          <a:bodyPr wrap="square" anchor="t" lIns="73152" rIns="73152" tIns="36576" bIns="36576">
            <a:spAutoFit/>
          </a:bodyPr>
          <a:lstStyle/>
          <a:p>
            <a:pPr algn="l" marL="292608" indent="-256032">
              <a:spcAft>
                <a:spcPts val="600"/>
              </a:spcAft>
              <a:buChar char="•"/>
            </a:pPr>
            <a:r>
              <a:rPr sz="1600" b="0" i="0">
                <a:solidFill>
                  <a:srgbClr val="0F172A"/>
                </a:solidFill>
                <a:latin typeface="Arial"/>
              </a:rPr>
              <a:t>“Unfair” = costs, speed, expertise; </a:t>
            </a:r>
            <a:r>
              <a:rPr sz="1600" b="1" i="0">
                <a:solidFill>
                  <a:srgbClr val="0F172A"/>
                </a:solidFill>
                <a:latin typeface="Arial"/>
              </a:rPr>
              <a:t>not</a:t>
            </a:r>
            <a:r>
              <a:rPr sz="1600" b="0" i="0">
                <a:solidFill>
                  <a:srgbClr val="0F172A"/>
                </a:solidFill>
                <a:latin typeface="Arial"/>
              </a:rPr>
              <a:t> fraud; no accusation against Kalshi</a:t>
            </a:r>
          </a:p>
          <a:p>
            <a:pPr algn="l" marL="292608" indent="-256032">
              <a:spcAft>
                <a:spcPts val="600"/>
              </a:spcAft>
              <a:buChar char="•"/>
            </a:pPr>
            <a:r>
              <a:rPr sz="1600" b="0" i="0">
                <a:solidFill>
                  <a:srgbClr val="0F172A"/>
                </a:solidFill>
                <a:latin typeface="Arial"/>
              </a:rPr>
              <a:t>Anchor and reviewer designed after seeing Feb–Apr; walk-forward and play-offs are the honest tests</a:t>
            </a:r>
          </a:p>
          <a:p>
            <a:pPr algn="l" marL="292608" indent="-256032">
              <a:spcAft>
                <a:spcPts val="600"/>
              </a:spcAft>
              <a:buChar char="•"/>
            </a:pPr>
            <a:r>
              <a:rPr sz="1600" b="0" i="0">
                <a:solidFill>
                  <a:srgbClr val="0F172A"/>
                </a:solidFill>
                <a:latin typeface="Arial"/>
              </a:rPr>
              <a:t>One season, inactive lists as our news; paper money</a:t>
            </a:r>
          </a:p>
        </p:txBody>
      </p:sp>
      <p:sp>
        <p:nvSpPr>
          <p:cNvPr id="15" name="TextBox 14"/>
          <p:cNvSpPr txBox="1"/>
          <p:nvPr/>
        </p:nvSpPr>
        <p:spPr>
          <a:xfrm>
            <a:off x="457200" y="4983480"/>
            <a:ext cx="11277295" cy="1188720"/>
          </a:xfrm>
          <a:prstGeom prst="rect">
            <a:avLst/>
          </a:prstGeom>
          <a:noFill/>
        </p:spPr>
        <p:txBody>
          <a:bodyPr wrap="square" anchor="ctr" lIns="73152" rIns="73152" tIns="36576" bIns="36576">
            <a:spAutoFit/>
          </a:bodyPr>
          <a:lstStyle/>
          <a:p>
            <a:pPr algn="ctr">
              <a:spcAft>
                <a:spcPts val="0"/>
              </a:spcAft>
            </a:pPr>
            <a:r>
              <a:rPr sz="4000" b="1" i="0">
                <a:solidFill>
                  <a:srgbClr val="1E293B"/>
                </a:solidFill>
                <a:latin typeface="Arial"/>
              </a:rPr>
              <a:t>Thank you. Questions?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
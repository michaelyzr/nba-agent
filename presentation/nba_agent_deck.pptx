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project starts from a consumer problem: sports betting and prediction markets are now everywhere, people want to understand them, the markets are structurally tilted against them, and betting harms well-being. We built an AI agent to test how tilted the game is, and turned what we learned into a product that educates and protects.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a 2018 US Supreme Court ruling, 38 US states have legalised sports betting, and the Lancet Public Health Commission estimates 46% of adults worldwide gambled in the past year, yet few users understand how prices, fees and spreads work. Second, the markets are structurally unfair, which is what we measured: about 5.0% cost per trade, 91% of the price move before the public news, the market beats our model, and never trading wins. Third, external research shows betting harms well-being: the Commission estimates 80M adults have gambling disorder or problem gambling; Hollenbeck, Larsen and Proserpio find legal online betting lowers credit scores by 2.75 points and raises bankruptcies by about 10%; Baker and co-authors find each dollar of online betting cuts investment by about $0.99. References: Wardle H. et al., The Lancet Public Health Commission on gambling, Lancet Public Health 2024; 9: e950–94. Hollenbeck B., Larsen P., Proserpio D., The Financial Consequences of Legalized Sports Gambling, SSRN 4903302, 2024, revised 2025. Baker S.R., Balthrop J., Johnson M.J., Kotter J.D., Pisciotta K., Gambling Away Stability: Sports Betting's Impact on Vulnerable Households, NBER Working Paper 33108,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research question: can a consumer, even one armed with an AI agent and public news, beat the market? We built the strongest consumer we could: public news, trained models including a neural net trained on the market's own moves, an LLM-capable agent loop, risk limits and rules learned through a backtest gate, graded on a full season of real Kalshi prices. The answer, tested with confidence intervals, is no: never trading wins. So the product's job is to educate and protect.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the system. Public data on the left; models trained once; a replay that walks the season day by day and only shows the agent what was public at that moment; then the agent and its outputs. Because the replay uses recorded prices, every trade pays the real ask and the real Kalshi fee, which is what lets us measure what a consumer would actually face.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On average that is 1.92 cents per contract, 5.0% of the price, and 9–14% on cheap contracts. You must beat the price by that much just to break even. On the right, our best agent would have made +$36 at the mid but lost −$32 after costs. Even being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changed our win model by at least a point, the price had already moved 1.80 points in the news direction before the list was public, and only 0.18 after. About 91% of the move happened before a retail user reading the list could 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we trained M6, a neural network whose only job is to predict how the price moves between our decision time and tip-off, using the market's own past reactions. It cannot beat the simplest guess, that the price will not move: 0.867 cents average error against 0.833, and R squared about zero on both test and holdout. After the inactive list the price moves only about 2.5% of what our win model implies. The M6 agent therefore makes no trades; forced to trade, it loses −$652. The price already contains the public information; what is left for the consumer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honest test. We re-ran the whole season walk-forward, retraining the win model every month, with day-clustered bootstrap confidence intervals. Mean closing-line value is below zero for every setup, and every interval lies entirely below zero. The full agent's −$25 is indistinguishable from never trading, p 0.53; the raw model loses −$2,475. The market anchor is a real improvement, +$2,450 with p 0.002, but learning only means trading less. On the play-off holdout the full agent made no trades at 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back to the problem: the product educates and protects instead of encouraging bets. The agent passes by default: it declined about 90% of decision points, and on the play-off holdout it did not trade at all. Retail briefs show the bid and ask next to our estimate, and when there is no order they say why. The Coach shows the full break-even after spread and fee. Risk limits and banned words are code the LLM cannot override; all 9 / 9 planted violations were blocked. Even the learned rules ended up protective.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turns this evidence into lessons. At a chosen moment it explains the game using only what was public and shows the break-even after spread and fee. Lesson cards appear when relevant: price is a probability, costs move your break-even, news may be priced in, long shots look cheap. Users make a paper call and see the close and what the agent did. Paper money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precise: unfair here means structural disadvantages, namely costs, speed and expertise. It does not mean manipulation or fraud, and we make no accusation against Kalshi. One disclosure: we designed the market anchor and the reviewer after seeing the first February-to-April results, so that window is not a clean holdout. That is why the walk-forward season and the untouched play-off holdout are our headline tests. Other caveats: one season, game-winner markets only, a proxy news timestamp, and long-shot bias was not clearly supported in our data. The well-being numbers on the problem slide are published research, not our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not just the price. Warn by default when news is likely already priced in. Put education, like our Coach, in front of the first trade, with sensible default limits, and, as the Lancet Commission argues, treat betting harm as a public-health issue. For our own work: enforce a daily-loss stop, use timestamped injury reports, and extend to player-prop markets.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45775" cy="1828800"/>
          </a:xfrm>
          <a:prstGeom prst="rect">
            <a:avLst/>
          </a:prstGeom>
          <a:noFill/>
        </p:spPr>
        <p:txBody>
          <a:bodyPr wrap="square" anchor="t" lIns="73152" rIns="73152" tIns="36576" bIns="36576">
            <a:spAutoFit/>
          </a:bodyPr>
          <a:lstStyle/>
          <a:p>
            <a:pPr algn="l">
              <a:spcAft>
                <a:spcPts val="800"/>
              </a:spcAft>
            </a:pPr>
            <a:r>
              <a:rPr sz="4400" b="1" i="0">
                <a:solidFill>
                  <a:srgbClr val="FFFFFF"/>
                </a:solidFill>
                <a:latin typeface="Arial"/>
              </a:rPr>
              <a:t>Betting markets are tilted against consumers</a:t>
            </a:r>
          </a:p>
        </p:txBody>
      </p:sp>
      <p:sp>
        <p:nvSpPr>
          <p:cNvPr id="5" name="TextBox 4"/>
          <p:cNvSpPr txBox="1"/>
          <p:nvPr/>
        </p:nvSpPr>
        <p:spPr>
          <a:xfrm>
            <a:off x="822960" y="2834640"/>
            <a:ext cx="10545775" cy="118872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An AI agent that tests it on a full NBA season, and a product that teaches it</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234439"/>
            <a:ext cx="11277295" cy="105156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34439"/>
            <a:ext cx="11094415" cy="1051560"/>
          </a:xfrm>
          <a:prstGeom prst="rect">
            <a:avLst/>
          </a:prstGeom>
          <a:noFill/>
        </p:spPr>
        <p:txBody>
          <a:bodyPr wrap="square" anchor="ctr" lIns="73152" rIns="73152" tIns="36576" bIns="36576">
            <a:spAutoFit/>
          </a:bodyPr>
          <a:lstStyle/>
          <a:p>
            <a:pPr algn="l">
              <a:spcAft>
                <a:spcPts val="0"/>
              </a:spcAft>
            </a:pPr>
            <a:r>
              <a:rPr sz="2800" b="0" i="0">
                <a:solidFill>
                  <a:srgbClr val="1E293B"/>
                </a:solidFill>
                <a:latin typeface="Arial"/>
              </a:rPr>
              <a:t>Can a consumer, even one armed with an AI agent and public news, beat the market?</a:t>
            </a:r>
          </a:p>
        </p:txBody>
      </p:sp>
      <p:sp>
        <p:nvSpPr>
          <p:cNvPr id="9" name="TextBox 8"/>
          <p:cNvSpPr txBox="1"/>
          <p:nvPr/>
        </p:nvSpPr>
        <p:spPr>
          <a:xfrm>
            <a:off x="457200" y="2514600"/>
            <a:ext cx="6309360" cy="3840480"/>
          </a:xfrm>
          <a:prstGeom prst="rect">
            <a:avLst/>
          </a:prstGeom>
          <a:noFill/>
        </p:spPr>
        <p:txBody>
          <a:bodyPr wrap="square" anchor="t" lIns="73152" rIns="73152" tIns="36576" bIns="36576">
            <a:spAutoFit/>
          </a:bodyPr>
          <a:lstStyle/>
          <a:p>
            <a:pPr algn="l">
              <a:spcAft>
                <a:spcPts val="800"/>
              </a:spcAft>
            </a:pPr>
            <a:r>
              <a:rPr sz="1900" b="1" i="0">
                <a:solidFill>
                  <a:srgbClr val="1E293B"/>
                </a:solidFill>
                <a:latin typeface="Arial"/>
              </a:rPr>
              <a:t>We built the strongest consumer we could:</a:t>
            </a:r>
          </a:p>
          <a:p>
            <a:pPr algn="l" marL="292608" indent="-256032">
              <a:spcAft>
                <a:spcPts val="800"/>
              </a:spcAft>
              <a:buChar char="•"/>
            </a:pPr>
            <a:r>
              <a:rPr sz="1900" b="0" i="0">
                <a:solidFill>
                  <a:srgbClr val="0F172A"/>
                </a:solidFill>
                <a:latin typeface="Arial"/>
              </a:rPr>
              <a:t>Public news: ESPN inactive lists and box scores, 3 seasons</a:t>
            </a:r>
          </a:p>
          <a:p>
            <a:pPr algn="l" marL="292608" indent="-256032">
              <a:spcAft>
                <a:spcPts val="800"/>
              </a:spcAft>
              <a:buChar char="•"/>
            </a:pPr>
            <a:r>
              <a:rPr sz="1900" b="0" i="0">
                <a:solidFill>
                  <a:srgbClr val="0F172A"/>
                </a:solidFill>
                <a:latin typeface="Arial"/>
              </a:rPr>
              <a:t>Trained models, incl. a neural net trained on the market's own moves</a:t>
            </a:r>
          </a:p>
          <a:p>
            <a:pPr algn="l" marL="292608" indent="-256032">
              <a:spcAft>
                <a:spcPts val="800"/>
              </a:spcAft>
              <a:buChar char="•"/>
            </a:pPr>
            <a:r>
              <a:rPr sz="1900" b="0" i="0">
                <a:solidFill>
                  <a:srgbClr val="0F172A"/>
                </a:solidFill>
                <a:latin typeface="Arial"/>
              </a:rPr>
              <a:t>LLM-capable LangGraph agent; code risk limits; gated rule learning</a:t>
            </a:r>
          </a:p>
          <a:p>
            <a:pPr algn="l" marL="292608" indent="-256032">
              <a:spcAft>
                <a:spcPts val="800"/>
              </a:spcAft>
              <a:buChar char="•"/>
            </a:pPr>
            <a:r>
              <a:rPr sz="1900" b="0" i="0">
                <a:solidFill>
                  <a:srgbClr val="0F172A"/>
                </a:solidFill>
                <a:latin typeface="Arial"/>
              </a:rPr>
              <a:t>Graded on 1,316 Kalshi games (~3.9M price rows), 2025-26</a:t>
            </a:r>
          </a:p>
        </p:txBody>
      </p:sp>
      <p:sp>
        <p:nvSpPr>
          <p:cNvPr id="10" name="Rounded Rectangle 9"/>
          <p:cNvSpPr/>
          <p:nvPr/>
        </p:nvSpPr>
        <p:spPr>
          <a:xfrm>
            <a:off x="7086600" y="2560320"/>
            <a:ext cx="4647895" cy="27432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2697480"/>
            <a:ext cx="4099255" cy="2514600"/>
          </a:xfrm>
          <a:prstGeom prst="rect">
            <a:avLst/>
          </a:prstGeom>
          <a:noFill/>
        </p:spPr>
        <p:txBody>
          <a:bodyPr wrap="square" anchor="t" lIns="73152" rIns="73152" tIns="36576" bIns="36576">
            <a:spAutoFit/>
          </a:bodyPr>
          <a:lstStyle/>
          <a:p>
            <a:pPr algn="l">
              <a:spcAft>
                <a:spcPts val="1400"/>
              </a:spcAft>
            </a:pPr>
            <a:r>
              <a:rPr sz="2200" b="1" i="0">
                <a:solidFill>
                  <a:srgbClr val="FDBA74"/>
                </a:solidFill>
                <a:latin typeface="Arial"/>
              </a:rPr>
              <a:t>Answer: no</a:t>
            </a:r>
          </a:p>
          <a:p>
            <a:pPr algn="l">
              <a:spcAft>
                <a:spcPts val="1400"/>
              </a:spcAft>
            </a:pPr>
            <a:r>
              <a:rPr sz="2200" b="0" i="0">
                <a:solidFill>
                  <a:srgbClr val="FFFFFF"/>
                </a:solidFill>
                <a:latin typeface="Arial"/>
              </a:rPr>
              <a:t>Tested with confidence intervals, never trading wins.</a:t>
            </a:r>
          </a:p>
          <a:p>
            <a:pPr algn="l">
              <a:spcAft>
                <a:spcPts val="1400"/>
              </a:spcAft>
            </a:pPr>
            <a:r>
              <a:rPr sz="2200" b="0" i="0">
                <a:solidFill>
                  <a:srgbClr val="FFFFFF"/>
                </a:solidFill>
                <a:latin typeface="Arial"/>
              </a:rPr>
              <a:t>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What we built: a market-graded agent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pic>
        <p:nvPicPr>
          <p:cNvPr id="7" name="Picture 6" descr="product_workflow.png"/>
          <p:cNvPicPr>
            <a:picLocks noChangeAspect="1"/>
          </p:cNvPicPr>
          <p:nvPr/>
        </p:nvPicPr>
        <p:blipFill>
          <a:blip r:embed="rId3"/>
          <a:stretch>
            <a:fillRect/>
          </a:stretch>
        </p:blipFill>
        <p:spPr>
          <a:xfrm>
            <a:off x="1513288" y="1097280"/>
            <a:ext cx="9165119" cy="4480560"/>
          </a:xfrm>
          <a:prstGeom prst="rect">
            <a:avLst/>
          </a:prstGeom>
        </p:spPr>
      </p:pic>
      <p:sp>
        <p:nvSpPr>
          <p:cNvPr id="8" name="TextBox 7"/>
          <p:cNvSpPr txBox="1"/>
          <p:nvPr/>
        </p:nvSpPr>
        <p:spPr>
          <a:xfrm>
            <a:off x="457200" y="5623560"/>
            <a:ext cx="11277295" cy="731520"/>
          </a:xfrm>
          <a:prstGeom prst="rect">
            <a:avLst/>
          </a:prstGeom>
          <a:noFill/>
        </p:spPr>
        <p:txBody>
          <a:bodyPr wrap="square" anchor="t" lIns="73152" rIns="73152" tIns="36576" bIns="36576">
            <a:spAutoFit/>
          </a:bodyPr>
          <a:lstStyle/>
          <a:p>
            <a:pPr algn="ctr">
              <a:spcAft>
                <a:spcPts val="800"/>
              </a:spcAft>
            </a:pPr>
            <a:r>
              <a:rPr sz="1800" b="0" i="0">
                <a:solidFill>
                  <a:srgbClr val="0F172A"/>
                </a:solidFill>
                <a:latin typeface="Arial"/>
              </a:rPr>
              <a:t>Every simulated order pays the recorded ask plus the Kalshi fee, so we measure what a consumer would face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price_discovery.png"/>
          <p:cNvPicPr>
            <a:picLocks noChangeAspect="1"/>
          </p:cNvPicPr>
          <p:nvPr/>
        </p:nvPicPr>
        <p:blipFill>
          <a:blip r:embed="rId3"/>
          <a:stretch>
            <a:fillRect/>
          </a:stretch>
        </p:blipFill>
        <p:spPr>
          <a:xfrm>
            <a:off x="895197" y="1097280"/>
            <a:ext cx="10401299" cy="4160520"/>
          </a:xfrm>
          <a:prstGeom prst="rect">
            <a:avLst/>
          </a:prstGeom>
        </p:spPr>
      </p:pic>
      <p:sp>
        <p:nvSpPr>
          <p:cNvPr id="8" name="TextBox 7"/>
          <p:cNvSpPr txBox="1"/>
          <p:nvPr/>
        </p:nvSpPr>
        <p:spPr>
          <a:xfrm>
            <a:off x="457200" y="5349240"/>
            <a:ext cx="11277295" cy="10058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news-direction move was already in the price when the list was public (+1.80 vs +0.18 pts, 193 test games)</a:t>
            </a:r>
          </a:p>
          <a:p>
            <a:pPr algn="l" marL="292608" indent="-256032">
              <a:spcAft>
                <a:spcPts val="400"/>
              </a:spcAft>
              <a:buChar char="•"/>
            </a:pPr>
            <a:r>
              <a:rPr sz="1800" b="0" i="0">
                <a:solidFill>
                  <a:srgbClr val="0F172A"/>
                </a:solidFill>
                <a:latin typeface="Arial"/>
              </a:rPr>
              <a:t>List stamped tip − 30 min: our proxy for when a retail user sees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even a market-trained neural net finds nothing</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6_vs_baselines.png"/>
          <p:cNvPicPr>
            <a:picLocks noChangeAspect="1"/>
          </p:cNvPicPr>
          <p:nvPr/>
        </p:nvPicPr>
        <p:blipFill>
          <a:blip r:embed="rId3"/>
          <a:stretch>
            <a:fillRect/>
          </a:stretch>
        </p:blipFill>
        <p:spPr>
          <a:xfrm>
            <a:off x="579630" y="1097280"/>
            <a:ext cx="11032434" cy="3383280"/>
          </a:xfrm>
          <a:prstGeom prst="rect">
            <a:avLst/>
          </a:prstGeom>
        </p:spPr>
      </p:pic>
      <p:sp>
        <p:nvSpPr>
          <p:cNvPr id="8" name="TextBox 7"/>
          <p:cNvSpPr txBox="1"/>
          <p:nvPr/>
        </p:nvSpPr>
        <p:spPr>
          <a:xfrm>
            <a:off x="457200" y="4526280"/>
            <a:ext cx="11277295" cy="1298448"/>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Average error on 771 test decision times: </a:t>
            </a:r>
            <a:r>
              <a:rPr sz="1800" b="1" i="0">
                <a:solidFill>
                  <a:srgbClr val="0F172A"/>
                </a:solidFill>
                <a:latin typeface="Arial"/>
              </a:rPr>
              <a:t>M6 0.867¢</a:t>
            </a:r>
            <a:r>
              <a:rPr sz="1800" b="0" i="0">
                <a:solidFill>
                  <a:srgbClr val="0F172A"/>
                </a:solidFill>
                <a:latin typeface="Arial"/>
              </a:rPr>
              <a:t> vs “price won't move” </a:t>
            </a:r>
            <a:r>
              <a:rPr sz="1800" b="1" i="0">
                <a:solidFill>
                  <a:srgbClr val="0F172A"/>
                </a:solidFill>
                <a:latin typeface="Arial"/>
              </a:rPr>
              <a:t>0.833¢</a:t>
            </a:r>
            <a:r>
              <a:rPr sz="1800" b="0" i="0">
                <a:solidFill>
                  <a:srgbClr val="0F172A"/>
                </a:solidFill>
                <a:latin typeface="Arial"/>
              </a:rPr>
              <a:t>; R² ≈ 0 on test and holdout</a:t>
            </a:r>
          </a:p>
          <a:p>
            <a:pPr algn="l" marL="292608" indent="-256032">
              <a:spcAft>
                <a:spcPts val="400"/>
              </a:spcAft>
              <a:buChar char="•"/>
            </a:pPr>
            <a:r>
              <a:rPr sz="1800" b="0" i="0">
                <a:solidFill>
                  <a:srgbClr val="0F172A"/>
                </a:solidFill>
                <a:latin typeface="Arial"/>
              </a:rPr>
              <a:t>After the list, the price moves ~2.5% of the model's implied shift (coefficient 0.025); M6 agent: 0 trades. Forced: 501 trades, −$652</a:t>
            </a:r>
          </a:p>
        </p:txBody>
      </p:sp>
      <p:sp>
        <p:nvSpPr>
          <p:cNvPr id="9" name="Rounded Rectangle 8"/>
          <p:cNvSpPr/>
          <p:nvPr/>
        </p:nvSpPr>
        <p:spPr>
          <a:xfrm>
            <a:off x="457200" y="5870448"/>
            <a:ext cx="11277295" cy="4572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870448"/>
            <a:ext cx="11094415" cy="45720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The price already contains the public information; the consumer is left paying costs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5: tested with CIs,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pic>
        <p:nvPicPr>
          <p:cNvPr id="7" name="Picture 6" descr="walkforward.png"/>
          <p:cNvPicPr>
            <a:picLocks noChangeAspect="1"/>
          </p:cNvPicPr>
          <p:nvPr/>
        </p:nvPicPr>
        <p:blipFill>
          <a:blip r:embed="rId3"/>
          <a:stretch>
            <a:fillRect/>
          </a:stretch>
        </p:blipFill>
        <p:spPr>
          <a:xfrm>
            <a:off x="457200" y="1188719"/>
            <a:ext cx="5943600" cy="3429000"/>
          </a:xfrm>
          <a:prstGeom prst="rect">
            <a:avLst/>
          </a:prstGeom>
        </p:spPr>
      </p:pic>
      <p:graphicFrame>
        <p:nvGraphicFramePr>
          <p:cNvPr id="8" name="Table 7"/>
          <p:cNvGraphicFramePr>
            <a:graphicFrameLocks noGrp="1"/>
          </p:cNvGraphicFramePr>
          <p:nvPr/>
        </p:nvGraphicFramePr>
        <p:xfrm>
          <a:off x="6537960" y="1188720"/>
          <a:ext cx="5193791" cy="2871216"/>
        </p:xfrm>
        <a:graphic>
          <a:graphicData uri="http://schemas.openxmlformats.org/drawingml/2006/table">
            <a:tbl>
              <a:tblPr firstRow="1" bandRow="1">
                <a:tableStyleId>{5C22544A-7EE6-4342-B048-85BDC9FD1C3A}</a:tableStyleId>
              </a:tblPr>
              <a:tblGrid>
                <a:gridCol w="1874519"/>
                <a:gridCol w="868680"/>
                <a:gridCol w="2450592"/>
              </a:tblGrid>
              <a:tr h="457200">
                <a:tc>
                  <a:txBody>
                    <a:bodyPr wrap="square"/>
                    <a:lstStyle/>
                    <a:p>
                      <a:pPr algn="l"/>
                      <a:r>
                        <a:rPr sz="1600" b="1" i="0">
                          <a:solidFill>
                            <a:srgbClr val="FFFFFF"/>
                          </a:solidFill>
                          <a:latin typeface="Arial"/>
                        </a:rPr>
                        <a:t>Nov – 12 Apr</a:t>
                      </a:r>
                    </a:p>
                  </a:txBody>
                  <a:tcPr marL="73152" marR="73152" marT="36576" marB="36576" anchor="ctr">
                    <a:solidFill>
                      <a:srgbClr val="1E293B"/>
                    </a:solidFill>
                  </a:tcPr>
                </a:tc>
                <a:tc>
                  <a:txBody>
                    <a:bodyPr wrap="square"/>
                    <a:lstStyle/>
                    <a:p>
                      <a:pPr algn="ctr"/>
                      <a:r>
                        <a:rPr sz="1600" b="1" i="0">
                          <a:solidFill>
                            <a:srgbClr val="FFFFFF"/>
                          </a:solidFill>
                          <a:latin typeface="Arial"/>
                        </a:rPr>
                        <a:t>Trades</a:t>
                      </a:r>
                    </a:p>
                  </a:txBody>
                  <a:tcPr marL="73152" marR="73152" marT="36576" marB="36576" anchor="ctr">
                    <a:solidFill>
                      <a:srgbClr val="1E293B"/>
                    </a:solidFill>
                  </a:tcPr>
                </a:tc>
                <a:tc>
                  <a:txBody>
                    <a:bodyPr wrap="square"/>
                    <a:lstStyle/>
                    <a:p>
                      <a:pPr algn="ctr"/>
                      <a:r>
                        <a:rPr sz="1600" b="1" i="0">
                          <a:solidFill>
                            <a:srgbClr val="FFFFFF"/>
                          </a:solidFill>
                          <a:latin typeface="Arial"/>
                        </a:rPr>
                        <a:t>P&amp;L [95% CI]</a:t>
                      </a:r>
                    </a:p>
                  </a:txBody>
                  <a:tcPr marL="73152" marR="73152" marT="36576" marB="36576" anchor="ctr">
                    <a:solidFill>
                      <a:srgbClr val="1E293B"/>
                    </a:solidFill>
                  </a:tcPr>
                </a:tc>
              </a:tr>
              <a:tr h="603504">
                <a:tc>
                  <a:txBody>
                    <a:bodyPr wrap="square"/>
                    <a:lstStyle/>
                    <a:p>
                      <a:pPr algn="l"/>
                      <a:r>
                        <a:rPr sz="16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600" b="0" i="0">
                          <a:solidFill>
                            <a:srgbClr val="0F172A"/>
                          </a:solidFill>
                          <a:latin typeface="Arial"/>
                        </a:rPr>
                        <a:t>0</a:t>
                      </a:r>
                    </a:p>
                  </a:txBody>
                  <a:tcPr marL="73152" marR="73152" marT="36576" marB="36576" anchor="ctr">
                    <a:solidFill>
                      <a:srgbClr val="DCFCE7"/>
                    </a:solidFill>
                  </a:tcPr>
                </a:tc>
                <a:tc>
                  <a:txBody>
                    <a:bodyPr wrap="square"/>
                    <a:lstStyle/>
                    <a:p>
                      <a:pPr algn="ctr"/>
                      <a:r>
                        <a:rPr sz="1600" b="1" i="0">
                          <a:solidFill>
                            <a:srgbClr val="0F172A"/>
                          </a:solidFill>
                          <a:latin typeface="Arial"/>
                        </a:rPr>
                        <a:t>$0</a:t>
                      </a:r>
                    </a:p>
                  </a:txBody>
                  <a:tcPr marL="73152" marR="73152" marT="36576" marB="36576" anchor="ctr">
                    <a:solidFill>
                      <a:srgbClr val="DCFCE7"/>
                    </a:solidFill>
                  </a:tcPr>
                </a:tc>
              </a:tr>
              <a:tr h="603504">
                <a:tc>
                  <a:txBody>
                    <a:bodyPr wrap="square"/>
                    <a:lstStyle/>
                    <a:p>
                      <a:pPr algn="l"/>
                      <a:r>
                        <a:rPr sz="1600" b="0" i="0">
                          <a:solidFill>
                            <a:srgbClr val="0F172A"/>
                          </a:solidFill>
                          <a:latin typeface="Arial"/>
                        </a:rPr>
                        <a:t>Full agent</a:t>
                      </a:r>
                    </a:p>
                  </a:txBody>
                  <a:tcPr marL="73152" marR="73152" marT="36576" marB="36576" anchor="ctr">
                    <a:solidFill>
                      <a:srgbClr val="FFFFFF"/>
                    </a:solidFill>
                  </a:tcPr>
                </a:tc>
                <a:tc>
                  <a:txBody>
                    <a:bodyPr wrap="square"/>
                    <a:lstStyle/>
                    <a:p>
                      <a:pPr algn="ctr"/>
                      <a:r>
                        <a:rPr sz="1600" b="0" i="0">
                          <a:solidFill>
                            <a:srgbClr val="0F172A"/>
                          </a:solidFill>
                          <a:latin typeface="Arial"/>
                        </a:rPr>
                        <a:t>157</a:t>
                      </a:r>
                    </a:p>
                  </a:txBody>
                  <a:tcPr marL="73152" marR="73152" marT="36576" marB="36576" anchor="ctr">
                    <a:solidFill>
                      <a:srgbClr val="FFFFFF"/>
                    </a:solidFill>
                  </a:tcPr>
                </a:tc>
                <a:tc>
                  <a:txBody>
                    <a:bodyPr wrap="square"/>
                    <a:lstStyle/>
                    <a:p>
                      <a:pPr algn="ctr"/>
                      <a:r>
                        <a:rPr sz="1600" b="0" i="0">
                          <a:solidFill>
                            <a:srgbClr val="0F172A"/>
                          </a:solidFill>
                          <a:latin typeface="Arial"/>
                        </a:rPr>
                        <a:t>−$25 [−$569 to +$564]</a:t>
                      </a:r>
                    </a:p>
                  </a:txBody>
                  <a:tcPr marL="73152" marR="73152" marT="36576" marB="36576" anchor="ctr">
                    <a:solidFill>
                      <a:srgbClr val="FFFFFF"/>
                    </a:solidFill>
                  </a:tcPr>
                </a:tc>
              </a:tr>
              <a:tr h="603504">
                <a:tc>
                  <a:txBody>
                    <a:bodyPr wrap="square"/>
                    <a:lstStyle/>
                    <a:p>
                      <a:pPr algn="l"/>
                      <a:r>
                        <a:rPr sz="1600" b="0" i="0">
                          <a:solidFill>
                            <a:srgbClr val="0F172A"/>
                          </a:solidFill>
                          <a:latin typeface="Arial"/>
                        </a:rPr>
                        <a:t>No learning</a:t>
                      </a:r>
                    </a:p>
                  </a:txBody>
                  <a:tcPr marL="73152" marR="73152" marT="36576" marB="36576" anchor="ctr">
                    <a:solidFill>
                      <a:srgbClr val="F1F5F9"/>
                    </a:solidFill>
                  </a:tcPr>
                </a:tc>
                <a:tc>
                  <a:txBody>
                    <a:bodyPr wrap="square"/>
                    <a:lstStyle/>
                    <a:p>
                      <a:pPr algn="ctr"/>
                      <a:r>
                        <a:rPr sz="1600" b="0" i="0">
                          <a:solidFill>
                            <a:srgbClr val="0F172A"/>
                          </a:solidFill>
                          <a:latin typeface="Arial"/>
                        </a:rPr>
                        <a:t>276</a:t>
                      </a:r>
                    </a:p>
                  </a:txBody>
                  <a:tcPr marL="73152" marR="73152" marT="36576" marB="36576" anchor="ctr">
                    <a:solidFill>
                      <a:srgbClr val="F1F5F9"/>
                    </a:solidFill>
                  </a:tcPr>
                </a:tc>
                <a:tc>
                  <a:txBody>
                    <a:bodyPr wrap="square"/>
                    <a:lstStyle/>
                    <a:p>
                      <a:pPr algn="ctr"/>
                      <a:r>
                        <a:rPr sz="1600" b="0" i="0">
                          <a:solidFill>
                            <a:srgbClr val="0F172A"/>
                          </a:solidFill>
                          <a:latin typeface="Arial"/>
                        </a:rPr>
                        <a:t>−$407 [−$1,324 to +$553]</a:t>
                      </a:r>
                    </a:p>
                  </a:txBody>
                  <a:tcPr marL="73152" marR="73152" marT="36576" marB="36576" anchor="ctr">
                    <a:solidFill>
                      <a:srgbClr val="F1F5F9"/>
                    </a:solidFill>
                  </a:tcPr>
                </a:tc>
              </a:tr>
              <a:tr h="603504">
                <a:tc>
                  <a:txBody>
                    <a:bodyPr wrap="square"/>
                    <a:lstStyle/>
                    <a:p>
                      <a:pPr algn="l"/>
                      <a:r>
                        <a:rPr sz="1600" b="0" i="0">
                          <a:solidFill>
                            <a:srgbClr val="0F172A"/>
                          </a:solidFill>
                          <a:latin typeface="Arial"/>
                        </a:rPr>
                        <a:t>Raw model</a:t>
                      </a:r>
                    </a:p>
                  </a:txBody>
                  <a:tcPr marL="73152" marR="73152" marT="36576" marB="36576" anchor="ctr">
                    <a:solidFill>
                      <a:srgbClr val="FFFFFF"/>
                    </a:solidFill>
                  </a:tcPr>
                </a:tc>
                <a:tc>
                  <a:txBody>
                    <a:bodyPr wrap="square"/>
                    <a:lstStyle/>
                    <a:p>
                      <a:pPr algn="ctr"/>
                      <a:r>
                        <a:rPr sz="1600" b="0" i="0">
                          <a:solidFill>
                            <a:srgbClr val="0F172A"/>
                          </a:solidFill>
                          <a:latin typeface="Arial"/>
                        </a:rPr>
                        <a:t>711</a:t>
                      </a:r>
                    </a:p>
                  </a:txBody>
                  <a:tcPr marL="73152" marR="73152" marT="36576" marB="36576" anchor="ctr">
                    <a:solidFill>
                      <a:srgbClr val="FFFFFF"/>
                    </a:solidFill>
                  </a:tcPr>
                </a:tc>
                <a:tc>
                  <a:txBody>
                    <a:bodyPr wrap="square"/>
                    <a:lstStyle/>
                    <a:p>
                      <a:pPr algn="ctr"/>
                      <a:r>
                        <a:rPr sz="16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6537960" y="4114800"/>
            <a:ext cx="5196535" cy="640080"/>
          </a:xfrm>
          <a:prstGeom prst="rect">
            <a:avLst/>
          </a:prstGeom>
          <a:noFill/>
        </p:spPr>
        <p:txBody>
          <a:bodyPr wrap="square" anchor="t" lIns="73152" rIns="73152" tIns="36576" bIns="36576">
            <a:spAutoFit/>
          </a:bodyPr>
          <a:lstStyle/>
          <a:p>
            <a:pPr algn="l">
              <a:spcAft>
                <a:spcPts val="800"/>
              </a:spcAft>
            </a:pPr>
            <a:r>
              <a:rPr sz="1400" b="0" i="0">
                <a:solidFill>
                  <a:srgbClr val="64748B"/>
                </a:solidFill>
                <a:latin typeface="Arial"/>
              </a:rPr>
              <a:t>Day-clustered bootstrap; M4 retrained monthly. Chart totals include play-offs, the table does not</a:t>
            </a:r>
          </a:p>
        </p:txBody>
      </p:sp>
      <p:sp>
        <p:nvSpPr>
          <p:cNvPr id="10" name="TextBox 9"/>
          <p:cNvSpPr txBox="1"/>
          <p:nvPr/>
        </p:nvSpPr>
        <p:spPr>
          <a:xfrm>
            <a:off x="457200" y="4663440"/>
            <a:ext cx="11277295" cy="169164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Mean CLV &lt; 0 for every setup; </a:t>
            </a:r>
            <a:r>
              <a:rPr sz="1800" b="1" i="0">
                <a:solidFill>
                  <a:srgbClr val="0F172A"/>
                </a:solidFill>
                <a:latin typeface="Arial"/>
              </a:rPr>
              <a:t>every 95% CI entirely below zero</a:t>
            </a:r>
          </a:p>
          <a:p>
            <a:pPr algn="l" marL="292608" indent="-256032">
              <a:spcAft>
                <a:spcPts val="400"/>
              </a:spcAft>
              <a:buChar char="•"/>
            </a:pPr>
            <a:r>
              <a:rPr sz="1800" b="0" i="0">
                <a:solidFill>
                  <a:srgbClr val="0F172A"/>
                </a:solidFill>
                <a:latin typeface="Arial"/>
              </a:rPr>
              <a:t>Market anchor is real: +$2,450 vs raw model (p = 0.002); learning = trading less (p = 0.13)</a:t>
            </a:r>
          </a:p>
          <a:p>
            <a:pPr algn="l" marL="292608" indent="-256032">
              <a:spcAft>
                <a:spcPts val="400"/>
              </a:spcAft>
              <a:buChar char="•"/>
            </a:pPr>
            <a:r>
              <a:rPr sz="1800" b="0" i="0">
                <a:solidFill>
                  <a:srgbClr val="0F172A"/>
                </a:solidFill>
                <a:latin typeface="Arial"/>
              </a:rPr>
              <a:t>Play-off holdout (87 games): full agent 0 trades; no learning 6 trades, −$74; raw model +$450 with negative CLV (luck)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educate and protect the consumer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agent_workflow.png"/>
          <p:cNvPicPr>
            <a:picLocks noChangeAspect="1"/>
          </p:cNvPicPr>
          <p:nvPr/>
        </p:nvPicPr>
        <p:blipFill>
          <a:blip r:embed="rId3"/>
          <a:stretch>
            <a:fillRect/>
          </a:stretch>
        </p:blipFill>
        <p:spPr>
          <a:xfrm>
            <a:off x="457200" y="1853719"/>
            <a:ext cx="6766560" cy="3744920"/>
          </a:xfrm>
          <a:prstGeom prst="rect">
            <a:avLst/>
          </a:prstGeom>
        </p:spPr>
      </p:pic>
      <p:sp>
        <p:nvSpPr>
          <p:cNvPr id="8" name="TextBox 7"/>
          <p:cNvSpPr txBox="1"/>
          <p:nvPr/>
        </p:nvSpPr>
        <p:spPr>
          <a:xfrm>
            <a:off x="7406640" y="1234439"/>
            <a:ext cx="4327855" cy="5120640"/>
          </a:xfrm>
          <a:prstGeom prst="rect">
            <a:avLst/>
          </a:prstGeom>
          <a:noFill/>
        </p:spPr>
        <p:txBody>
          <a:bodyPr wrap="square" anchor="t" lIns="73152" rIns="73152" tIns="36576" bIns="36576">
            <a:spAutoFit/>
          </a:bodyPr>
          <a:lstStyle/>
          <a:p>
            <a:pPr algn="l" marL="292608" indent="-256032">
              <a:spcAft>
                <a:spcPts val="800"/>
              </a:spcAft>
              <a:buChar char="•"/>
            </a:pPr>
            <a:r>
              <a:rPr sz="1800" b="1" i="0">
                <a:solidFill>
                  <a:srgbClr val="0F172A"/>
                </a:solidFill>
                <a:latin typeface="Arial"/>
              </a:rPr>
              <a:t>Pass by default:</a:t>
            </a:r>
            <a:r>
              <a:rPr sz="1800" b="0" i="0">
                <a:solidFill>
                  <a:srgbClr val="0F172A"/>
                </a:solidFill>
                <a:latin typeface="Arial"/>
              </a:rPr>
              <a:t> 90% of decision points → no trade</a:t>
            </a:r>
          </a:p>
          <a:p>
            <a:pPr algn="l" marL="292608" indent="-256032">
              <a:spcAft>
                <a:spcPts val="800"/>
              </a:spcAft>
              <a:buChar char="•"/>
            </a:pPr>
            <a:r>
              <a:rPr sz="1800" b="1" i="0">
                <a:solidFill>
                  <a:srgbClr val="0F172A"/>
                </a:solidFill>
                <a:latin typeface="Arial"/>
              </a:rPr>
              <a:t>No-order reason:</a:t>
            </a:r>
            <a:r>
              <a:rPr sz="1800" b="0" i="0">
                <a:solidFill>
                  <a:srgbClr val="0F172A"/>
                </a:solidFill>
                <a:latin typeface="Arial"/>
              </a:rPr>
              <a:t> “gap after fees too small or the price already moved”</a:t>
            </a:r>
          </a:p>
          <a:p>
            <a:pPr algn="l" marL="292608" indent="-256032">
              <a:spcAft>
                <a:spcPts val="800"/>
              </a:spcAft>
              <a:buChar char="•"/>
            </a:pPr>
            <a:r>
              <a:rPr sz="1800" b="1" i="0">
                <a:solidFill>
                  <a:srgbClr val="0F172A"/>
                </a:solidFill>
                <a:latin typeface="Arial"/>
              </a:rPr>
              <a:t>Costs shown:</a:t>
            </a:r>
            <a:r>
              <a:rPr sz="1800" b="0" i="0">
                <a:solidFill>
                  <a:srgbClr val="0F172A"/>
                </a:solidFill>
                <a:latin typeface="Arial"/>
              </a:rPr>
              <a:t> bid-ask in briefs; Coach shows break-even after spread + fee</a:t>
            </a:r>
          </a:p>
          <a:p>
            <a:pPr algn="l" marL="292608" indent="-256032">
              <a:spcAft>
                <a:spcPts val="800"/>
              </a:spcAft>
              <a:buChar char="•"/>
            </a:pPr>
            <a:r>
              <a:rPr sz="1800" b="1" i="0">
                <a:solidFill>
                  <a:srgbClr val="0F172A"/>
                </a:solidFill>
                <a:latin typeface="Arial"/>
              </a:rPr>
              <a:t>Code limits:</a:t>
            </a:r>
            <a:r>
              <a:rPr sz="1800" b="0" i="0">
                <a:solidFill>
                  <a:srgbClr val="0F172A"/>
                </a:solidFill>
                <a:latin typeface="Arial"/>
              </a:rPr>
              <a:t> $50 / order, $100 / game, $300 / day; bans “lock”, “guaranteed”, “risk-free”</a:t>
            </a:r>
          </a:p>
          <a:p>
            <a:pPr algn="l" marL="292608" indent="-256032">
              <a:spcAft>
                <a:spcPts val="800"/>
              </a:spcAft>
              <a:buChar char="•"/>
            </a:pPr>
            <a:r>
              <a:rPr sz="1800" b="1" i="0">
                <a:solidFill>
                  <a:srgbClr val="0F172A"/>
                </a:solidFill>
                <a:latin typeface="Arial"/>
              </a:rPr>
              <a:t>9 / 9</a:t>
            </a:r>
            <a:r>
              <a:rPr sz="1800" b="0" i="0">
                <a:solidFill>
                  <a:srgbClr val="0F172A"/>
                </a:solidFill>
                <a:latin typeface="Arial"/>
              </a:rPr>
              <a:t> planted violations blocked</a:t>
            </a:r>
          </a:p>
          <a:p>
            <a:pPr algn="l" marL="292608" indent="-256032">
              <a:spcAft>
                <a:spcPts val="800"/>
              </a:spcAft>
              <a:buChar char="•"/>
            </a:pPr>
            <a:r>
              <a:rPr sz="1800" b="1" i="0">
                <a:solidFill>
                  <a:srgbClr val="0F172A"/>
                </a:solidFill>
                <a:latin typeface="Arial"/>
              </a:rPr>
              <a:t>Learned rules:</a:t>
            </a:r>
            <a:r>
              <a:rPr sz="1800" b="0" i="0">
                <a:solidFill>
                  <a:srgbClr val="0F172A"/>
                </a:solidFill>
                <a:latin typeface="Arial"/>
              </a:rPr>
              <a:t> skip ≤ 35¢; skip after a 2¢ move against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Coach: teach why most bets don't clear costs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sp>
        <p:nvSpPr>
          <p:cNvPr id="7" name="Rounded Rectangle 6"/>
          <p:cNvSpPr/>
          <p:nvPr/>
        </p:nvSpPr>
        <p:spPr>
          <a:xfrm>
            <a:off x="457200" y="1234439"/>
            <a:ext cx="5501487" cy="205740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2057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What's going on</a:t>
            </a:r>
          </a:p>
        </p:txBody>
      </p:sp>
      <p:sp>
        <p:nvSpPr>
          <p:cNvPr id="10" name="TextBox 9"/>
          <p:cNvSpPr txBox="1"/>
          <p:nvPr/>
        </p:nvSpPr>
        <p:spPr>
          <a:xfrm>
            <a:off x="640080"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News so far; model before / after the news</a:t>
            </a:r>
          </a:p>
          <a:p>
            <a:pPr algn="l" marL="292608" indent="-256032">
              <a:spcAft>
                <a:spcPts val="600"/>
              </a:spcAft>
              <a:buChar char="•"/>
            </a:pPr>
            <a:r>
              <a:rPr sz="1800" b="0" i="0">
                <a:solidFill>
                  <a:srgbClr val="0F172A"/>
                </a:solidFill>
                <a:latin typeface="Arial"/>
              </a:rPr>
              <a:t>Market now vs 24 h ago; break-even after spread + fee</a:t>
            </a:r>
          </a:p>
        </p:txBody>
      </p:sp>
      <p:sp>
        <p:nvSpPr>
          <p:cNvPr id="11" name="Rounded Rectangle 10"/>
          <p:cNvSpPr/>
          <p:nvPr/>
        </p:nvSpPr>
        <p:spPr>
          <a:xfrm>
            <a:off x="6233007" y="1234439"/>
            <a:ext cx="5501487" cy="20574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234439"/>
            <a:ext cx="109728" cy="20574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87"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Lessons, when relevant</a:t>
            </a:r>
          </a:p>
        </p:txBody>
      </p:sp>
      <p:sp>
        <p:nvSpPr>
          <p:cNvPr id="14" name="TextBox 13"/>
          <p:cNvSpPr txBox="1"/>
          <p:nvPr/>
        </p:nvSpPr>
        <p:spPr>
          <a:xfrm>
            <a:off x="6415887"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Price = probability · costs move break-even</a:t>
            </a:r>
          </a:p>
          <a:p>
            <a:pPr algn="l" marL="292608" indent="-256032">
              <a:spcAft>
                <a:spcPts val="600"/>
              </a:spcAft>
              <a:buChar char="•"/>
            </a:pPr>
            <a:r>
              <a:rPr sz="1800" b="0" i="0">
                <a:solidFill>
                  <a:srgbClr val="0F172A"/>
                </a:solidFill>
                <a:latin typeface="Arial"/>
              </a:rPr>
              <a:t>Priced in / chasing · long shots · closing line · passing</a:t>
            </a:r>
          </a:p>
        </p:txBody>
      </p:sp>
      <p:sp>
        <p:nvSpPr>
          <p:cNvPr id="15" name="Rounded Rectangle 14"/>
          <p:cNvSpPr/>
          <p:nvPr/>
        </p:nvSpPr>
        <p:spPr>
          <a:xfrm>
            <a:off x="457200" y="3474720"/>
            <a:ext cx="5501487" cy="205740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474720"/>
            <a:ext cx="109728" cy="20574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3  Your paper call</a:t>
            </a:r>
          </a:p>
        </p:txBody>
      </p:sp>
      <p:sp>
        <p:nvSpPr>
          <p:cNvPr id="18" name="TextBox 17"/>
          <p:cNvSpPr txBox="1"/>
          <p:nvPr/>
        </p:nvSpPr>
        <p:spPr>
          <a:xfrm>
            <a:off x="640080"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Back a team or pass</a:t>
            </a:r>
          </a:p>
          <a:p>
            <a:pPr algn="l" marL="292608" indent="-256032">
              <a:spcAft>
                <a:spcPts val="600"/>
              </a:spcAft>
              <a:buChar char="•"/>
            </a:pPr>
            <a:r>
              <a:rPr sz="1800" b="0" i="0">
                <a:solidFill>
                  <a:srgbClr val="0F172A"/>
                </a:solidFill>
                <a:latin typeface="Arial"/>
              </a:rPr>
              <a:t>Then: close, CLV, result, and what the agent did</a:t>
            </a:r>
          </a:p>
        </p:txBody>
      </p:sp>
      <p:sp>
        <p:nvSpPr>
          <p:cNvPr id="19" name="Rounded Rectangle 18"/>
          <p:cNvSpPr/>
          <p:nvPr/>
        </p:nvSpPr>
        <p:spPr>
          <a:xfrm>
            <a:off x="6233007" y="3474720"/>
            <a:ext cx="5501487" cy="20574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3474720"/>
            <a:ext cx="109728" cy="20574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4  Habit feedback</a:t>
            </a:r>
          </a:p>
        </p:txBody>
      </p:sp>
      <p:sp>
        <p:nvSpPr>
          <p:cNvPr id="22" name="TextBox 21"/>
          <p:cNvSpPr txBox="1"/>
          <p:nvPr/>
        </p:nvSpPr>
        <p:spPr>
          <a:xfrm>
            <a:off x="6415887"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Paying above the close, long shots, chasing</a:t>
            </a:r>
          </a:p>
          <a:p>
            <a:pPr algn="l" marL="292608" indent="-256032">
              <a:spcAft>
                <a:spcPts val="600"/>
              </a:spcAft>
              <a:buChar char="•"/>
            </a:pPr>
            <a:r>
              <a:rPr sz="1800" b="0" i="0">
                <a:solidFill>
                  <a:srgbClr val="0F172A"/>
                </a:solidFill>
                <a:latin typeface="Arial"/>
              </a:rPr>
              <a:t>Small samples are mostly luck</a:t>
            </a:r>
          </a:p>
        </p:txBody>
      </p:sp>
      <p:sp>
        <p:nvSpPr>
          <p:cNvPr id="23" name="Rounded Rectangle 22"/>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Honest scope: what “unfair” means here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5120640" cy="507492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5074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484632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What we claim</a:t>
            </a:r>
          </a:p>
        </p:txBody>
      </p:sp>
      <p:sp>
        <p:nvSpPr>
          <p:cNvPr id="10" name="TextBox 9"/>
          <p:cNvSpPr txBox="1"/>
          <p:nvPr/>
        </p:nvSpPr>
        <p:spPr>
          <a:xfrm>
            <a:off x="640080" y="1764791"/>
            <a:ext cx="4846320" cy="447141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Structural disadvantages: costs, speed, expertise</a:t>
            </a:r>
          </a:p>
          <a:p>
            <a:pPr algn="l" marL="292608" indent="-256032">
              <a:spcAft>
                <a:spcPts val="600"/>
              </a:spcAft>
              <a:buChar char="•"/>
            </a:pPr>
            <a:r>
              <a:rPr sz="1800" b="1" i="0">
                <a:solidFill>
                  <a:srgbClr val="0F172A"/>
                </a:solidFill>
                <a:latin typeface="Arial"/>
              </a:rPr>
              <a:t>Not</a:t>
            </a:r>
            <a:r>
              <a:rPr sz="1800" b="0" i="0">
                <a:solidFill>
                  <a:srgbClr val="0F172A"/>
                </a:solidFill>
                <a:latin typeface="Arial"/>
              </a:rPr>
              <a:t> manipulation or fraud</a:t>
            </a:r>
          </a:p>
          <a:p>
            <a:pPr algn="l" marL="292608" indent="-256032">
              <a:spcAft>
                <a:spcPts val="600"/>
              </a:spcAft>
              <a:buChar char="•"/>
            </a:pPr>
            <a:r>
              <a:rPr sz="1800" b="1" i="0">
                <a:solidFill>
                  <a:srgbClr val="0F172A"/>
                </a:solidFill>
                <a:latin typeface="Arial"/>
              </a:rPr>
              <a:t>No</a:t>
            </a:r>
            <a:r>
              <a:rPr sz="1800" b="0" i="0">
                <a:solidFill>
                  <a:srgbClr val="0F172A"/>
                </a:solidFill>
                <a:latin typeface="Arial"/>
              </a:rPr>
              <a:t> accusation against Kalshi or any venue</a:t>
            </a:r>
          </a:p>
          <a:p>
            <a:pPr algn="l" marL="292608" indent="-256032">
              <a:spcAft>
                <a:spcPts val="600"/>
              </a:spcAft>
              <a:buChar char="•"/>
            </a:pPr>
            <a:r>
              <a:rPr sz="1800" b="0" i="0">
                <a:solidFill>
                  <a:srgbClr val="0F172A"/>
                </a:solidFill>
                <a:latin typeface="Arial"/>
              </a:rPr>
              <a:t>Paper money; public data only</a:t>
            </a:r>
          </a:p>
        </p:txBody>
      </p:sp>
      <p:sp>
        <p:nvSpPr>
          <p:cNvPr id="11" name="Rounded Rectangle 10"/>
          <p:cNvSpPr/>
          <p:nvPr/>
        </p:nvSpPr>
        <p:spPr>
          <a:xfrm>
            <a:off x="5852160" y="1234439"/>
            <a:ext cx="5882335" cy="50749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52160" y="1234439"/>
            <a:ext cx="109728" cy="50749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0" y="1307592"/>
            <a:ext cx="5608015"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Caveats and disclosure</a:t>
            </a:r>
          </a:p>
        </p:txBody>
      </p:sp>
      <p:sp>
        <p:nvSpPr>
          <p:cNvPr id="14" name="TextBox 13"/>
          <p:cNvSpPr txBox="1"/>
          <p:nvPr/>
        </p:nvSpPr>
        <p:spPr>
          <a:xfrm>
            <a:off x="6035040" y="1764791"/>
            <a:ext cx="5608015" cy="4471416"/>
          </a:xfrm>
          <a:prstGeom prst="rect">
            <a:avLst/>
          </a:prstGeom>
          <a:noFill/>
        </p:spPr>
        <p:txBody>
          <a:bodyPr wrap="square" anchor="t" lIns="73152" rIns="73152" tIns="36576" bIns="36576">
            <a:spAutoFit/>
          </a:bodyPr>
          <a:lstStyle/>
          <a:p>
            <a:pPr algn="l" marL="292608" indent="-256032">
              <a:spcAft>
                <a:spcPts val="600"/>
              </a:spcAft>
              <a:buChar char="•"/>
            </a:pPr>
            <a:r>
              <a:rPr sz="1800" b="1" i="0">
                <a:solidFill>
                  <a:srgbClr val="0F172A"/>
                </a:solidFill>
                <a:latin typeface="Arial"/>
              </a:rPr>
              <a:t>Disclosure:</a:t>
            </a:r>
            <a:r>
              <a:rPr sz="1800" b="0" i="0">
                <a:solidFill>
                  <a:srgbClr val="0F172A"/>
                </a:solidFill>
                <a:latin typeface="Arial"/>
              </a:rPr>
              <a:t> anchor and reviewer designed after seeing Feb–Apr results, so that window is not a clean holdout; walk-forward and play-off holdout are the honest checks</a:t>
            </a:r>
          </a:p>
          <a:p>
            <a:pPr algn="l" marL="292608" indent="-256032">
              <a:spcAft>
                <a:spcPts val="600"/>
              </a:spcAft>
              <a:buChar char="•"/>
            </a:pPr>
            <a:r>
              <a:rPr sz="1800" b="0" i="0">
                <a:solidFill>
                  <a:srgbClr val="0F172A"/>
                </a:solidFill>
                <a:latin typeface="Arial"/>
              </a:rPr>
              <a:t>One season (1,316 games), game-winner markets only</a:t>
            </a:r>
          </a:p>
          <a:p>
            <a:pPr algn="l" marL="292608" indent="-256032">
              <a:spcAft>
                <a:spcPts val="600"/>
              </a:spcAft>
              <a:buChar char="•"/>
            </a:pPr>
            <a:r>
              <a:rPr sz="1800" b="0" i="0">
                <a:solidFill>
                  <a:srgbClr val="0F172A"/>
                </a:solidFill>
                <a:latin typeface="Arial"/>
              </a:rPr>
              <a:t>News stamped tip − 30 min (proxy; real reports come earlier)</a:t>
            </a:r>
          </a:p>
          <a:p>
            <a:pPr algn="l" marL="292608" indent="-256032">
              <a:spcAft>
                <a:spcPts val="600"/>
              </a:spcAft>
              <a:buChar char="•"/>
            </a:pPr>
            <a:r>
              <a:rPr sz="1800" b="0" i="0">
                <a:solidFill>
                  <a:srgbClr val="0F172A"/>
                </a:solidFill>
                <a:latin typeface="Arial"/>
              </a:rPr>
              <a:t>Costs for a $20 order at tip − 60 min; long-shot bias not clearly supported</a:t>
            </a:r>
          </a:p>
          <a:p>
            <a:pPr algn="l" marL="292608" indent="-256032">
              <a:spcAft>
                <a:spcPts val="600"/>
              </a:spcAft>
              <a:buChar char="•"/>
            </a:pPr>
            <a:r>
              <a:rPr sz="1800" b="0" i="0">
                <a:solidFill>
                  <a:srgbClr val="0F172A"/>
                </a:solidFill>
                <a:latin typeface="Arial"/>
              </a:rPr>
              <a:t>Well-being figures are published research, not 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graphicFrame>
        <p:nvGraphicFramePr>
          <p:cNvPr id="7" name="Table 6"/>
          <p:cNvGraphicFramePr>
            <a:graphicFrameLocks noGrp="1"/>
          </p:cNvGraphicFramePr>
          <p:nvPr/>
        </p:nvGraphicFramePr>
        <p:xfrm>
          <a:off x="457200" y="1234439"/>
          <a:ext cx="11277295" cy="4224528"/>
        </p:xfrm>
        <a:graphic>
          <a:graphicData uri="http://schemas.openxmlformats.org/drawingml/2006/table">
            <a:tbl>
              <a:tblPr firstRow="1" bandRow="1">
                <a:tableStyleId>{5C22544A-7EE6-4342-B048-85BDC9FD1C3A}</a:tableStyleId>
              </a:tblPr>
              <a:tblGrid>
                <a:gridCol w="2377440"/>
                <a:gridCol w="8899855"/>
              </a:tblGrid>
              <a:tr h="603504">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03504">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 (or a guarded paper order)</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Channel briefs</a:t>
                      </a:r>
                    </a:p>
                  </a:txBody>
                  <a:tcPr marL="73152" marR="73152" marT="36576" marB="36576" anchor="ctr">
                    <a:solidFill>
                      <a:srgbClr val="F1F5F9"/>
                    </a:solidFill>
                  </a:tcPr>
                </a:tc>
                <a:tc>
                  <a:txBody>
                    <a:bodyPr wrap="square"/>
                    <a:lstStyle/>
                    <a:p>
                      <a:pPr algn="l"/>
                      <a:r>
                        <a:rPr sz="1800" b="0" i="0">
                          <a:solidFill>
                            <a:srgbClr val="0F172A"/>
                          </a:solidFill>
                          <a:latin typeface="Arial"/>
                        </a:rPr>
                        <a:t>Retail: model vs market and no-order reason; no market language for media / team</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Models</a:t>
                      </a:r>
                    </a:p>
                  </a:txBody>
                  <a:tcPr marL="73152" marR="73152" marT="36576" marB="36576" anchor="ctr">
                    <a:solidFill>
                      <a:srgbClr val="FFFFFF"/>
                    </a:solidFill>
                  </a:tcPr>
                </a:tc>
                <a:tc>
                  <a:txBody>
                    <a:bodyPr wrap="square"/>
                    <a:lstStyle/>
                    <a:p>
                      <a:pPr algn="l"/>
                      <a:r>
                        <a:rPr sz="1800" b="0" i="0">
                          <a:solidFill>
                            <a:srgbClr val="0F172A"/>
                          </a:solidFill>
                          <a:latin typeface="Arial"/>
                        </a:rPr>
                        <a:t>Held-out results and the market beating our model</a:t>
                      </a:r>
                    </a:p>
                  </a:txBody>
                  <a:tcPr marL="73152" marR="73152" marT="36576" marB="36576" anchor="ctr">
                    <a:solidFill>
                      <a:srgbClr val="FFFFFF"/>
                    </a:solidFill>
                  </a:tcPr>
                </a:tc>
              </a:tr>
            </a:tbl>
          </a:graphicData>
        </a:graphic>
      </p:graphicFrame>
      <p:sp>
        <p:nvSpPr>
          <p:cNvPr id="8" name="Rounded Rectangle 7"/>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next steps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sp>
        <p:nvSpPr>
          <p:cNvPr id="7" name="Rounded Rectangle 6"/>
          <p:cNvSpPr/>
          <p:nvPr/>
        </p:nvSpPr>
        <p:spPr>
          <a:xfrm>
            <a:off x="457200" y="1234439"/>
            <a:ext cx="5852160" cy="36576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For products and policy</a:t>
            </a:r>
          </a:p>
        </p:txBody>
      </p:sp>
      <p:sp>
        <p:nvSpPr>
          <p:cNvPr id="10" name="TextBox 9"/>
          <p:cNvSpPr txBox="1"/>
          <p:nvPr/>
        </p:nvSpPr>
        <p:spPr>
          <a:xfrm>
            <a:off x="640080" y="1764791"/>
            <a:ext cx="5577840"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all-in cost and break-even before every order</a:t>
            </a:r>
          </a:p>
          <a:p>
            <a:pPr algn="l" marL="292608" indent="-256032">
              <a:spcAft>
                <a:spcPts val="600"/>
              </a:spcAft>
              <a:buChar char="•"/>
            </a:pPr>
            <a:r>
              <a:rPr sz="1800" b="0" i="0">
                <a:solidFill>
                  <a:srgbClr val="0F172A"/>
                </a:solidFill>
                <a:latin typeface="Arial"/>
              </a:rPr>
              <a:t>Default warning: “this news is likely priced in”</a:t>
            </a:r>
          </a:p>
          <a:p>
            <a:pPr algn="l" marL="292608" indent="-256032">
              <a:spcAft>
                <a:spcPts val="600"/>
              </a:spcAft>
              <a:buChar char="•"/>
            </a:pPr>
            <a:r>
              <a:rPr sz="1800" b="0" i="0">
                <a:solidFill>
                  <a:srgbClr val="0F172A"/>
                </a:solidFill>
                <a:latin typeface="Arial"/>
              </a:rPr>
              <a:t>Education before the first trade; default stake limits</a:t>
            </a:r>
          </a:p>
          <a:p>
            <a:pPr algn="l" marL="292608" indent="-256032">
              <a:spcAft>
                <a:spcPts val="600"/>
              </a:spcAft>
              <a:buChar char="•"/>
            </a:pPr>
            <a:r>
              <a:rPr sz="1800" b="0" i="0">
                <a:solidFill>
                  <a:srgbClr val="0F172A"/>
                </a:solidFill>
                <a:latin typeface="Arial"/>
              </a:rPr>
              <a:t>Treat betting harm as a public-health issue (Lancet)</a:t>
            </a:r>
          </a:p>
        </p:txBody>
      </p:sp>
      <p:sp>
        <p:nvSpPr>
          <p:cNvPr id="11" name="Rounded Rectangle 10"/>
          <p:cNvSpPr/>
          <p:nvPr/>
        </p:nvSpPr>
        <p:spPr>
          <a:xfrm>
            <a:off x="6583680" y="1234439"/>
            <a:ext cx="5150815" cy="36576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6576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Our next steps</a:t>
            </a:r>
          </a:p>
        </p:txBody>
      </p:sp>
      <p:sp>
        <p:nvSpPr>
          <p:cNvPr id="14" name="TextBox 13"/>
          <p:cNvSpPr txBox="1"/>
          <p:nvPr/>
        </p:nvSpPr>
        <p:spPr>
          <a:xfrm>
            <a:off x="6766560" y="1764791"/>
            <a:ext cx="4876495"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full break-even in every retail brief</a:t>
            </a:r>
          </a:p>
          <a:p>
            <a:pPr algn="l" marL="292608" indent="-256032">
              <a:spcAft>
                <a:spcPts val="600"/>
              </a:spcAft>
              <a:buChar char="•"/>
            </a:pPr>
            <a:r>
              <a:rPr sz="1800" b="0" i="0">
                <a:solidFill>
                  <a:srgbClr val="0F172A"/>
                </a:solidFill>
                <a:latin typeface="Arial"/>
              </a:rPr>
              <a:t>Enforce a daily-loss stop</a:t>
            </a:r>
          </a:p>
          <a:p>
            <a:pPr algn="l" marL="292608" indent="-256032">
              <a:spcAft>
                <a:spcPts val="600"/>
              </a:spcAft>
              <a:buChar char="•"/>
            </a:pPr>
            <a:r>
              <a:rPr sz="1800" b="0" i="0">
                <a:solidFill>
                  <a:srgbClr val="0F172A"/>
                </a:solidFill>
                <a:latin typeface="Arial"/>
              </a:rPr>
              <a:t>Timestamped injury reports; player-prop markets</a:t>
            </a:r>
          </a:p>
        </p:txBody>
      </p:sp>
      <p:sp>
        <p:nvSpPr>
          <p:cNvPr id="15" name="TextBox 14"/>
          <p:cNvSpPr txBox="1"/>
          <p:nvPr/>
        </p:nvSpPr>
        <p:spPr>
          <a:xfrm>
            <a:off x="457200" y="5074920"/>
            <a:ext cx="11277295" cy="109728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
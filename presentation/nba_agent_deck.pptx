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volume is surging. Pew Research, using The Block's data, found that monthly volume on Kalshi and Polymarket more than doubled from $26B in May to $53B in July 2026, mostly sports. Kalshi alone traded a record $61B notional in September 2026, about 46× its daily average a year earlier (TickerTracker, via NEXTPredict). Notional counts each contract at one dollar, so cash paid is lower, but in July Kalshi's sports notional of $31B compared with $11.6B of handle at all US sportsbooks (AGA). It reaches retail users through brokers: Robinhood reported 13.6B event contracts in Q2 2026 and nearly 2 million prediction-market customers; Coinbase routes to Kalshi since January 2026. Investors value Kalshi at $22B (May 2026, talks at about $40 billion reported by Reuters on 29 September) and Polymarket at $21B (Bloomberg, 31 August). Second, price protection is thin. An exchange has no house edge, but every taker pays a fee, 0.07 times p times one minus p per contract on Kalshi, plus the spread, and trades against professional market makers, including Kalshi's own affiliate, Kalshi Trading, which the CFTC has proposed to restrict. Kalshi has been CFTC-regulated since 2020 and self-certified sports contracts in January 2025; the CFTC did not block them. CFTC core principles protect market integrity, surveillance and manipulation, but nobody checks that the price a retail user pays is fair, and there is no federal responsible-gambling duty; sports contracts are open at 18, not 21. States are fighting back: the Third Circuit said New Jersey cannot regulate Kalshi, the Ninth Circuit in August said Nevada can. Our own measurement shows what this gap costs: about 5.0% per trade, and 91% of the price move before the public news. Third, published research shows harm: about 80M adults with gambling disorder (Lancet Public Health 2024); online betting lowers credit scores by 2.75 points and raises bankruptcies by about 10% (Hollenbeck, Larsen and Proserpio, SSRN 4903302). Full sources and dates: docs/market_regulation.md.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agent. The top row is the decide loop, a LangGraph graph. A trigger, news or the clock an hour before tip, wakes it; it then chooses which as-of tools to call, prices, news, rotations, and our models M4 and M6, which only see what was public. It estimates a probability, the market anchor plus the model's news shift, or an LLM analyst; trades only if the gap after spread and fee is at least 4 cents; an LLM sceptic asks whether the news is already priced in and can veto; code re-checks every number; risk caps and a kill switch the LLM cannot override; then a confirm step, and an order or, about 90% of the time, a pass with the reason. One example: CLE at POR. Deni Avdija is out, 32.8 minutes and 26 points a game. M4's shift is −8.7 points, so the anchor of 42.5% becomes 33.8%. The agent bought POR “no” at 55¢, fee 1.73¢, a gap of 9.5¢ after costs, 36 contracts. The close was 62.5¢: closing-line value +7.5¢, profit +$15.57. The bottom row is the learn loop: at the close every trade is settled and graded by CLV, a reviewer proposes one rule, and the gate keeps it only if it helps on held-out days; kept rules feed back into the decision. The Coach and League turn the same analysis into education. The closing price grades every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only 27 (36%) of its 74 trades beat or matched the close. Second, speed. On the 193 test games where the inactive list moved our win model by at least a point, 91% of the price move in the news direction happened before the inactive list, when a retail user could act. Against the official NBA injury reports, about two-thirds, 67% with a confidence interval of 47–85%, came before the first report listing the player out, which comes about 6 hours before the inactive list; 49% assuming no publication lag. These two facts are why the agent passes by default and why its trigger matters.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learning sits in four places. M2 is a GRU over each player's last 20 games giving points and minutes quantiles; it beats gradient boosting, pinball 1.55 against 1.59. M4-NN is a neural win model on M4's features and split: alone it ties logistic regression, Brier 0.184 against 0.183, because 3,400 games is too few for capacity to pay, but plugged into the agent's anchor its news shift gives 0.163, level with the market, not significantly better. The LLM agent is a transformer used as a reasoning policy with tools and code guardrails. M6 is the fourth.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Gate audit: the split gate, which judges a rule on held-out days by CLV dollars, kept 5 of 11 proposed rules where the legacy gate kept 0 of 24. Trades fell from 129 to 53 and CLV dollars improved by +$18 [+1, +34], but mean CLV per trade did not improve and it still does not beat never trading. The placebo test says why: random rules pass the split gate 57% of the time, the same as the reviewer's picks, so learning works by trading less, not by finding better rules. The kill switch is enforced but never tripped at $20 stakes; property tests show it blocks orders after a trip. Kelly sizing was not run. The Coach on simulated users with full compliance raises CLV dollars for every persona: overtrader +$88 [+65, +111], long-shot lover +$72 [+53, +90], cautious +$24 [+14, +36], price chaser +$17 [−4, +33], whose interval includes zero, and cuts trades by 66–87%. But it flags 99% of trades, so again the gain is trading less. The plain LLM made 5 trades in 304 decisions, CLV −$1, the same as never trading; the deterministic agent made 53 trades, CLV −$19. The tool agent with the sceptic, re-run on DeepSeek: DeepSeek reasoner: 2 trades, CLV $ +$4 [−3, +15] = never; sceptic vetoed 40/42 (chat: 0 trades). The orchestrator is built, shown on the right. The learned policy's selection step chose never trade, and the test was not scored. The rule language and memory are built and tested but not evaluated. The message: Every agentic upgrade, graded by the market, converges on the same answer: trade less. The market is hard to beat after fees, which is exactly why the product is education, not a trading 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an agent and not one classifier? Each box of the slide 4 diagram answers a feature of the problem. The problem is event-driven: news arrives at random times and 91% of the move comes before the inactive list, about two-thirds before the first official report, so the hard decision is when to act; that is the trigger. What to look at is the as-of tools, which enforce no look-ahead. Whether to trade is the edge test and the LLM sceptic, and the code checks, risk caps and kill switch make sure the LLM can never override a limit, which matters for gambling harm. The learn loop is graded by the market through the gate, and the placebo shows honestly that it works by trading less. The Coach and League are the people in the loop. The counter-argument, a single classifier would do, is answered by our own data: the model alone loses −$2,475 over 711 trades; the decision process around it, the diagram's anchor, edge threshold and pass, adds +$2,450, p 0.002. 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surging, under-protected betting markets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170432"/>
            <a:ext cx="3606698" cy="3721608"/>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170432"/>
            <a:ext cx="109728" cy="37216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243584"/>
            <a:ext cx="3332378" cy="457200"/>
          </a:xfrm>
          <a:prstGeom prst="rect">
            <a:avLst/>
          </a:prstGeom>
          <a:noFill/>
        </p:spPr>
        <p:txBody>
          <a:bodyPr wrap="square" anchor="t" lIns="73152" rIns="73152" tIns="36576" bIns="36576">
            <a:spAutoFit/>
          </a:bodyPr>
          <a:lstStyle/>
          <a:p>
            <a:pPr algn="l">
              <a:spcAft>
                <a:spcPts val="0"/>
              </a:spcAft>
            </a:pPr>
            <a:r>
              <a:rPr sz="1800" b="1" i="0">
                <a:solidFill>
                  <a:srgbClr val="2563EB"/>
                </a:solidFill>
                <a:latin typeface="Arial"/>
              </a:rPr>
              <a:t>1  Surging volume</a:t>
            </a:r>
          </a:p>
        </p:txBody>
      </p:sp>
      <p:sp>
        <p:nvSpPr>
          <p:cNvPr id="10" name="TextBox 9"/>
          <p:cNvSpPr txBox="1"/>
          <p:nvPr/>
        </p:nvSpPr>
        <p:spPr>
          <a:xfrm>
            <a:off x="640080" y="1700784"/>
            <a:ext cx="3332378" cy="3118104"/>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Kalshi + Polymarket: </a:t>
            </a:r>
            <a:r>
              <a:rPr sz="1600" b="1" i="0">
                <a:solidFill>
                  <a:srgbClr val="0F172A"/>
                </a:solidFill>
                <a:latin typeface="Arial"/>
              </a:rPr>
              <a:t>$26B → $53B</a:t>
            </a:r>
            <a:r>
              <a:rPr sz="1600" b="0" i="0">
                <a:solidFill>
                  <a:srgbClr val="0F172A"/>
                </a:solidFill>
                <a:latin typeface="Arial"/>
              </a:rPr>
              <a:t> a month, May → Jul 2026 ¹</a:t>
            </a:r>
          </a:p>
          <a:p>
            <a:pPr algn="l" marL="292608" indent="-256032">
              <a:spcAft>
                <a:spcPts val="600"/>
              </a:spcAft>
              <a:buChar char="•"/>
            </a:pPr>
            <a:r>
              <a:rPr sz="1600" b="0" i="0">
                <a:solidFill>
                  <a:srgbClr val="0F172A"/>
                </a:solidFill>
                <a:latin typeface="Arial"/>
              </a:rPr>
              <a:t>Kalshi Sep 2026: </a:t>
            </a:r>
            <a:r>
              <a:rPr sz="1600" b="1" i="0">
                <a:solidFill>
                  <a:srgbClr val="0F172A"/>
                </a:solidFill>
                <a:latin typeface="Arial"/>
              </a:rPr>
              <a:t>$61B</a:t>
            </a:r>
            <a:r>
              <a:rPr sz="1600" b="0" i="0">
                <a:solidFill>
                  <a:srgbClr val="0F172A"/>
                </a:solidFill>
                <a:latin typeface="Arial"/>
              </a:rPr>
              <a:t> notional, ~46× a year earlier ²</a:t>
            </a:r>
          </a:p>
          <a:p>
            <a:pPr algn="l" marL="292608" indent="-256032">
              <a:spcAft>
                <a:spcPts val="600"/>
              </a:spcAft>
              <a:buChar char="•"/>
            </a:pPr>
            <a:r>
              <a:rPr sz="1600" b="0" i="0">
                <a:solidFill>
                  <a:srgbClr val="0F172A"/>
                </a:solidFill>
                <a:latin typeface="Arial"/>
              </a:rPr>
              <a:t>Sold in Robinhood (~2M users) and Coinbase apps ³</a:t>
            </a:r>
          </a:p>
          <a:p>
            <a:pPr algn="l" marL="292608" indent="-256032">
              <a:spcAft>
                <a:spcPts val="600"/>
              </a:spcAft>
              <a:buChar char="•"/>
            </a:pPr>
            <a:r>
              <a:rPr sz="1600" b="0" i="0">
                <a:solidFill>
                  <a:srgbClr val="0F172A"/>
                </a:solidFill>
                <a:latin typeface="Arial"/>
              </a:rPr>
              <a:t>Valued at $22B (Kalshi), $21B (Polymarket) ⁴</a:t>
            </a:r>
          </a:p>
        </p:txBody>
      </p:sp>
      <p:sp>
        <p:nvSpPr>
          <p:cNvPr id="11" name="Rounded Rectangle 10"/>
          <p:cNvSpPr/>
          <p:nvPr/>
        </p:nvSpPr>
        <p:spPr>
          <a:xfrm>
            <a:off x="4292498" y="1170432"/>
            <a:ext cx="3606698" cy="3721608"/>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170432"/>
            <a:ext cx="109728" cy="372160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243584"/>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2  Thin price protection</a:t>
            </a:r>
          </a:p>
        </p:txBody>
      </p:sp>
      <p:sp>
        <p:nvSpPr>
          <p:cNvPr id="14" name="TextBox 13"/>
          <p:cNvSpPr txBox="1"/>
          <p:nvPr/>
        </p:nvSpPr>
        <p:spPr>
          <a:xfrm>
            <a:off x="4475378" y="1700784"/>
            <a:ext cx="3332378" cy="3118104"/>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No house edge, but fees, spreads and pro market makers, incl. Kalshi's own ⁵</a:t>
            </a:r>
          </a:p>
          <a:p>
            <a:pPr algn="l" marL="292608" indent="-256032">
              <a:spcAft>
                <a:spcPts val="600"/>
              </a:spcAft>
              <a:buChar char="•"/>
            </a:pPr>
            <a:r>
              <a:rPr sz="1600" b="0" i="0">
                <a:solidFill>
                  <a:srgbClr val="0F172A"/>
                </a:solidFill>
                <a:latin typeface="Arial"/>
              </a:rPr>
              <a:t>CFTC checks integrity, not fair prices or gambling harm; 18+ ⁶</a:t>
            </a:r>
          </a:p>
          <a:p>
            <a:pPr algn="l" marL="292608" indent="-256032">
              <a:spcAft>
                <a:spcPts val="600"/>
              </a:spcAft>
              <a:buChar char="•"/>
            </a:pPr>
            <a:r>
              <a:rPr sz="1600" b="0" i="0">
                <a:solidFill>
                  <a:srgbClr val="0F172A"/>
                </a:solidFill>
                <a:latin typeface="Arial"/>
              </a:rPr>
              <a:t>Courts split on state power (3rd vs 9th Cir.) ⁷</a:t>
            </a:r>
          </a:p>
          <a:p>
            <a:pPr algn="l" marL="292608" indent="-256032">
              <a:spcAft>
                <a:spcPts val="600"/>
              </a:spcAft>
              <a:buChar char="•"/>
            </a:pPr>
            <a:r>
              <a:rPr sz="1600" b="1" i="0">
                <a:solidFill>
                  <a:srgbClr val="0F172A"/>
                </a:solidFill>
                <a:latin typeface="Arial"/>
              </a:rPr>
              <a:t>Ours: ~5.0% cost per trade; 91% of the move before the news</a:t>
            </a:r>
          </a:p>
        </p:txBody>
      </p:sp>
      <p:sp>
        <p:nvSpPr>
          <p:cNvPr id="15" name="Rounded Rectangle 14"/>
          <p:cNvSpPr/>
          <p:nvPr/>
        </p:nvSpPr>
        <p:spPr>
          <a:xfrm>
            <a:off x="8127796" y="1170432"/>
            <a:ext cx="3606698" cy="3721608"/>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170432"/>
            <a:ext cx="109728" cy="372160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243584"/>
            <a:ext cx="3332378"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3  Betting causes harm</a:t>
            </a:r>
          </a:p>
        </p:txBody>
      </p:sp>
      <p:sp>
        <p:nvSpPr>
          <p:cNvPr id="18" name="TextBox 17"/>
          <p:cNvSpPr txBox="1"/>
          <p:nvPr/>
        </p:nvSpPr>
        <p:spPr>
          <a:xfrm>
            <a:off x="8310676" y="1700784"/>
            <a:ext cx="3332378" cy="3118104"/>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~80M adults with gambling disorder or problem gambling ⁸</a:t>
            </a:r>
          </a:p>
          <a:p>
            <a:pPr algn="l" marL="292608" indent="-256032">
              <a:spcAft>
                <a:spcPts val="600"/>
              </a:spcAft>
              <a:buChar char="•"/>
            </a:pPr>
            <a:r>
              <a:rPr sz="1600" b="0" i="0">
                <a:solidFill>
                  <a:srgbClr val="0F172A"/>
                </a:solidFill>
                <a:latin typeface="Arial"/>
              </a:rPr>
              <a:t>Online betting: credit scores −2.75 pts, bankruptcies +~10% ⁹</a:t>
            </a:r>
          </a:p>
        </p:txBody>
      </p:sp>
      <p:sp>
        <p:nvSpPr>
          <p:cNvPr id="19" name="Rounded Rectangle 18"/>
          <p:cNvSpPr/>
          <p:nvPr/>
        </p:nvSpPr>
        <p:spPr>
          <a:xfrm>
            <a:off x="457200" y="4974336"/>
            <a:ext cx="11277295" cy="5029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974336"/>
            <a:ext cx="11094415" cy="502920"/>
          </a:xfrm>
          <a:prstGeom prst="rect">
            <a:avLst/>
          </a:prstGeom>
          <a:noFill/>
        </p:spPr>
        <p:txBody>
          <a:bodyPr wrap="square" anchor="ctr" lIns="73152" rIns="73152" tIns="36576" bIns="36576">
            <a:spAutoFit/>
          </a:bodyPr>
          <a:lstStyle/>
          <a:p>
            <a:pPr algn="l">
              <a:spcAft>
                <a:spcPts val="0"/>
              </a:spcAft>
            </a:pPr>
            <a:r>
              <a:rPr sz="2000" b="0" i="0">
                <a:solidFill>
                  <a:srgbClr val="0F172A"/>
                </a:solidFill>
                <a:latin typeface="Arial"/>
              </a:rPr>
              <a:t>Consumers need education and protection, not betting tips</a:t>
            </a:r>
          </a:p>
        </p:txBody>
      </p:sp>
      <p:sp>
        <p:nvSpPr>
          <p:cNvPr id="21" name="TextBox 20"/>
          <p:cNvSpPr txBox="1"/>
          <p:nvPr/>
        </p:nvSpPr>
        <p:spPr>
          <a:xfrm>
            <a:off x="457200" y="5513832"/>
            <a:ext cx="11277295" cy="841248"/>
          </a:xfrm>
          <a:prstGeom prst="rect">
            <a:avLst/>
          </a:prstGeom>
          <a:noFill/>
        </p:spPr>
        <p:txBody>
          <a:bodyPr wrap="square" anchor="t" lIns="73152" rIns="73152" tIns="36576" bIns="36576">
            <a:spAutoFit/>
          </a:bodyPr>
          <a:lstStyle/>
          <a:p>
            <a:pPr algn="l">
              <a:spcAft>
                <a:spcPts val="0"/>
              </a:spcAft>
            </a:pPr>
            <a:r>
              <a:rPr sz="1000" b="0" i="0">
                <a:solidFill>
                  <a:srgbClr val="64748B"/>
                </a:solidFill>
                <a:latin typeface="Arial"/>
              </a:rPr>
              <a:t>¹ Pew Research, 23 Sep 2026 (The Block data)   ² NEXTPredict / TickerTracker, Sep–Oct 2026   ³ Robinhood Q2 2026 results; Coinbase, 28 Jan 2026   ⁴ Kalshi, 7 May 2026; Bloomberg, 31 Aug 2026   ⁵ Kalshi fee schedule &amp; Rule 2.12; CFTC affiliate proposal 2026   ⁶ DCM core principles; NBA letter to CFTC, 30 Apr 2026   ⁷ KalshiEX v. Flaherty (3d Cir., 6 Apr 2026); KalshiEX v. Assad (9th Cir., 28 Aug 2026)   ⁸ Lancet Public Health 2024   ⁹ Hollenbeck, Larsen &amp; Proserpio 2024 (SSRN)   Full list: docs/market_regulation.md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How the agent works: decide, learn, graded by the close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pic>
        <p:nvPicPr>
          <p:cNvPr id="7" name="Picture 6" descr="agent_architecture.png"/>
          <p:cNvPicPr>
            <a:picLocks noChangeAspect="1"/>
          </p:cNvPicPr>
          <p:nvPr/>
        </p:nvPicPr>
        <p:blipFill>
          <a:blip r:embed="rId3"/>
          <a:stretch>
            <a:fillRect/>
          </a:stretch>
        </p:blipFill>
        <p:spPr>
          <a:xfrm>
            <a:off x="874978" y="1051560"/>
            <a:ext cx="10441738" cy="4206240"/>
          </a:xfrm>
          <a:prstGeom prst="rect">
            <a:avLst/>
          </a:prstGeom>
        </p:spPr>
      </p:pic>
      <p:sp>
        <p:nvSpPr>
          <p:cNvPr id="8" name="Rounded Rectangle 7"/>
          <p:cNvSpPr/>
          <p:nvPr/>
        </p:nvSpPr>
        <p:spPr>
          <a:xfrm>
            <a:off x="457200"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Autonomy:</a:t>
            </a:r>
            <a:r>
              <a:rPr sz="1400" b="0" i="0">
                <a:solidFill>
                  <a:srgbClr val="0F172A"/>
                </a:solidFill>
                <a:latin typeface="Arial"/>
              </a:rPr>
              <a:t> it decides when to act, what to look at, and whether to trade</a:t>
            </a:r>
          </a:p>
        </p:txBody>
      </p:sp>
      <p:sp>
        <p:nvSpPr>
          <p:cNvPr id="10" name="Rounded Rectangle 9"/>
          <p:cNvSpPr/>
          <p:nvPr/>
        </p:nvSpPr>
        <p:spPr>
          <a:xfrm>
            <a:off x="3310813"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2253"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Safety:</a:t>
            </a:r>
            <a:r>
              <a:rPr sz="1400" b="0" i="0">
                <a:solidFill>
                  <a:srgbClr val="0F172A"/>
                </a:solidFill>
                <a:latin typeface="Arial"/>
              </a:rPr>
              <a:t> code limits and a kill switch; </a:t>
            </a:r>
            <a:r>
              <a:rPr sz="1400" b="1" i="0">
                <a:solidFill>
                  <a:srgbClr val="0F172A"/>
                </a:solidFill>
                <a:latin typeface="Arial"/>
              </a:rPr>
              <a:t>9 / 9</a:t>
            </a:r>
            <a:r>
              <a:rPr sz="1400" b="0" i="0">
                <a:solidFill>
                  <a:srgbClr val="0F172A"/>
                </a:solidFill>
                <a:latin typeface="Arial"/>
              </a:rPr>
              <a:t> planted violations blocked</a:t>
            </a:r>
          </a:p>
        </p:txBody>
      </p:sp>
      <p:sp>
        <p:nvSpPr>
          <p:cNvPr id="12" name="Rounded Rectangle 11"/>
          <p:cNvSpPr/>
          <p:nvPr/>
        </p:nvSpPr>
        <p:spPr>
          <a:xfrm>
            <a:off x="6164427"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Learning:</a:t>
            </a:r>
            <a:r>
              <a:rPr sz="1400" b="0" i="0">
                <a:solidFill>
                  <a:srgbClr val="0F172A"/>
                </a:solidFill>
                <a:latin typeface="Arial"/>
              </a:rPr>
              <a:t> rules graded by the market on held-out days, placebo-audited</a:t>
            </a:r>
          </a:p>
        </p:txBody>
      </p:sp>
      <p:sp>
        <p:nvSpPr>
          <p:cNvPr id="14" name="Rounded Rectangle 13"/>
          <p:cNvSpPr/>
          <p:nvPr/>
        </p:nvSpPr>
        <p:spPr>
          <a:xfrm>
            <a:off x="9018041" y="5212080"/>
            <a:ext cx="2716453"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481" y="5212080"/>
            <a:ext cx="2533573" cy="1051560"/>
          </a:xfrm>
          <a:prstGeom prst="rect">
            <a:avLst/>
          </a:prstGeom>
          <a:noFill/>
        </p:spPr>
        <p:txBody>
          <a:bodyPr wrap="square" anchor="ctr" lIns="73152" rIns="73152" tIns="36576" bIns="36576">
            <a:spAutoFit/>
          </a:bodyPr>
          <a:lstStyle/>
          <a:p>
            <a:pPr algn="l">
              <a:spcAft>
                <a:spcPts val="0"/>
              </a:spcAft>
            </a:pPr>
            <a:r>
              <a:rPr sz="1400" b="1" i="0">
                <a:solidFill>
                  <a:srgbClr val="0F172A"/>
                </a:solidFill>
                <a:latin typeface="Arial"/>
              </a:rPr>
              <a:t>People in the loop:</a:t>
            </a:r>
            <a:r>
              <a:rPr sz="1400" b="0" i="0">
                <a:solidFill>
                  <a:srgbClr val="0F172A"/>
                </a:solidFill>
                <a:latin typeface="Arial"/>
              </a:rPr>
              <a:t> humans confirm; Coach and League teach with its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gate audit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1" i="0">
                          <a:solidFill>
                            <a:srgbClr val="0F172A"/>
                          </a:solidFill>
                          <a:latin typeface="Arial"/>
                        </a:rPr>
                        <a:t>Help only by trading less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and a price that moves before the news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cost_burden.png"/>
          <p:cNvPicPr>
            <a:picLocks noChangeAspect="1"/>
          </p:cNvPicPr>
          <p:nvPr/>
        </p:nvPicPr>
        <p:blipFill>
          <a:blip r:embed="rId3"/>
          <a:stretch>
            <a:fillRect/>
          </a:stretch>
        </p:blipFill>
        <p:spPr>
          <a:xfrm>
            <a:off x="457200" y="1139982"/>
            <a:ext cx="5501487" cy="2200595"/>
          </a:xfrm>
          <a:prstGeom prst="rect">
            <a:avLst/>
          </a:prstGeom>
        </p:spPr>
      </p:pic>
      <p:pic>
        <p:nvPicPr>
          <p:cNvPr id="8" name="Picture 7" descr="price_discovery.png"/>
          <p:cNvPicPr>
            <a:picLocks noChangeAspect="1"/>
          </p:cNvPicPr>
          <p:nvPr/>
        </p:nvPicPr>
        <p:blipFill>
          <a:blip r:embed="rId4"/>
          <a:stretch>
            <a:fillRect/>
          </a:stretch>
        </p:blipFill>
        <p:spPr>
          <a:xfrm>
            <a:off x="6233007" y="1139982"/>
            <a:ext cx="5501487" cy="2200595"/>
          </a:xfrm>
          <a:prstGeom prst="rect">
            <a:avLst/>
          </a:prstGeom>
        </p:spPr>
      </p:pic>
      <p:sp>
        <p:nvSpPr>
          <p:cNvPr id="9" name="TextBox 8"/>
          <p:cNvSpPr txBox="1"/>
          <p:nvPr/>
        </p:nvSpPr>
        <p:spPr>
          <a:xfrm>
            <a:off x="457200" y="3520439"/>
            <a:ext cx="5501487"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Costs</a:t>
            </a:r>
          </a:p>
        </p:txBody>
      </p:sp>
      <p:sp>
        <p:nvSpPr>
          <p:cNvPr id="10" name="TextBox 9"/>
          <p:cNvSpPr txBox="1"/>
          <p:nvPr/>
        </p:nvSpPr>
        <p:spPr>
          <a:xfrm>
            <a:off x="457200" y="3931920"/>
            <a:ext cx="5501487" cy="2377440"/>
          </a:xfrm>
          <a:prstGeom prst="rect">
            <a:avLst/>
          </a:prstGeom>
          <a:noFill/>
        </p:spPr>
        <p:txBody>
          <a:bodyPr wrap="square" anchor="t" lIns="73152" rIns="73152" tIns="36576" bIns="36576">
            <a:spAutoFit/>
          </a:bodyPr>
          <a:lstStyle/>
          <a:p>
            <a:pPr algn="l" marL="292608" indent="-256032">
              <a:spcAft>
                <a:spcPts val="600"/>
              </a:spcAft>
              <a:buChar char="•"/>
            </a:pPr>
            <a:r>
              <a:rPr sz="1700" b="1" i="0">
                <a:solidFill>
                  <a:srgbClr val="0F172A"/>
                </a:solidFill>
                <a:latin typeface="Arial"/>
              </a:rPr>
              <a:t>1.92¢ per contract</a:t>
            </a:r>
            <a:r>
              <a:rPr sz="1700" b="0" i="0">
                <a:solidFill>
                  <a:srgbClr val="0F172A"/>
                </a:solidFill>
                <a:latin typeface="Arial"/>
              </a:rPr>
              <a:t> = 5.0% of price; </a:t>
            </a:r>
            <a:r>
              <a:rPr sz="1700" b="1" i="0">
                <a:solidFill>
                  <a:srgbClr val="0F172A"/>
                </a:solidFill>
                <a:latin typeface="Arial"/>
              </a:rPr>
              <a:t>9–14%</a:t>
            </a:r>
            <a:r>
              <a:rPr sz="1700" b="0" i="0">
                <a:solidFill>
                  <a:srgbClr val="0F172A"/>
                </a:solidFill>
                <a:latin typeface="Arial"/>
              </a:rPr>
              <a:t> under 20¢</a:t>
            </a:r>
          </a:p>
          <a:p>
            <a:pPr algn="l" marL="292608" indent="-256032">
              <a:spcAft>
                <a:spcPts val="600"/>
              </a:spcAft>
              <a:buChar char="•"/>
            </a:pPr>
            <a:r>
              <a:rPr sz="1700" b="0" i="0">
                <a:solidFill>
                  <a:srgbClr val="0F172A"/>
                </a:solidFill>
                <a:latin typeface="Arial"/>
              </a:rPr>
              <a:t>Best agent, Feb–Apr: +$36 at mid → </a:t>
            </a:r>
            <a:r>
              <a:rPr sz="1700" b="1" i="0">
                <a:solidFill>
                  <a:srgbClr val="0F172A"/>
                </a:solidFill>
                <a:latin typeface="Arial"/>
              </a:rPr>
              <a:t>−$32</a:t>
            </a:r>
            <a:r>
              <a:rPr sz="1700" b="0" i="0">
                <a:solidFill>
                  <a:srgbClr val="0F172A"/>
                </a:solidFill>
                <a:latin typeface="Arial"/>
              </a:rPr>
              <a:t> after costs</a:t>
            </a:r>
          </a:p>
          <a:p>
            <a:pPr algn="l" marL="292608" indent="-256032">
              <a:spcAft>
                <a:spcPts val="600"/>
              </a:spcAft>
              <a:buChar char="•"/>
            </a:pPr>
            <a:r>
              <a:rPr sz="1700" b="0" i="0">
                <a:solidFill>
                  <a:srgbClr val="0F172A"/>
                </a:solidFill>
                <a:latin typeface="Arial"/>
              </a:rPr>
              <a:t>771 decision points → </a:t>
            </a:r>
            <a:r>
              <a:rPr sz="1700" b="1" i="0">
                <a:solidFill>
                  <a:srgbClr val="0F172A"/>
                </a:solidFill>
                <a:latin typeface="Arial"/>
              </a:rPr>
              <a:t>74 trades</a:t>
            </a:r>
            <a:r>
              <a:rPr sz="1700" b="0" i="0">
                <a:solidFill>
                  <a:srgbClr val="0F172A"/>
                </a:solidFill>
                <a:latin typeface="Arial"/>
              </a:rPr>
              <a:t>; only </a:t>
            </a:r>
            <a:r>
              <a:rPr sz="1700" b="1" i="0">
                <a:solidFill>
                  <a:srgbClr val="0F172A"/>
                </a:solidFill>
                <a:latin typeface="Arial"/>
              </a:rPr>
              <a:t>27 (36%)</a:t>
            </a:r>
            <a:r>
              <a:rPr sz="1700" b="0" i="0">
                <a:solidFill>
                  <a:srgbClr val="0F172A"/>
                </a:solidFill>
                <a:latin typeface="Arial"/>
              </a:rPr>
              <a:t> beat the close</a:t>
            </a:r>
          </a:p>
        </p:txBody>
      </p:sp>
      <p:sp>
        <p:nvSpPr>
          <p:cNvPr id="11" name="TextBox 10"/>
          <p:cNvSpPr txBox="1"/>
          <p:nvPr/>
        </p:nvSpPr>
        <p:spPr>
          <a:xfrm>
            <a:off x="6233007" y="3520439"/>
            <a:ext cx="5501487"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Speed</a:t>
            </a:r>
          </a:p>
        </p:txBody>
      </p:sp>
      <p:sp>
        <p:nvSpPr>
          <p:cNvPr id="12" name="TextBox 11"/>
          <p:cNvSpPr txBox="1"/>
          <p:nvPr/>
        </p:nvSpPr>
        <p:spPr>
          <a:xfrm>
            <a:off x="6233007" y="3931920"/>
            <a:ext cx="5501487" cy="2377440"/>
          </a:xfrm>
          <a:prstGeom prst="rect">
            <a:avLst/>
          </a:prstGeom>
          <a:noFill/>
        </p:spPr>
        <p:txBody>
          <a:bodyPr wrap="square" anchor="t" lIns="73152" rIns="73152" tIns="36576" bIns="36576">
            <a:spAutoFit/>
          </a:bodyPr>
          <a:lstStyle/>
          <a:p>
            <a:pPr algn="l" marL="292608" indent="-256032">
              <a:spcAft>
                <a:spcPts val="600"/>
              </a:spcAft>
              <a:buChar char="•"/>
            </a:pPr>
            <a:r>
              <a:rPr sz="1700" b="1" i="0">
                <a:solidFill>
                  <a:srgbClr val="0F172A"/>
                </a:solidFill>
                <a:latin typeface="Arial"/>
              </a:rPr>
              <a:t>91%</a:t>
            </a:r>
            <a:r>
              <a:rPr sz="1700" b="0" i="0">
                <a:solidFill>
                  <a:srgbClr val="0F172A"/>
                </a:solidFill>
                <a:latin typeface="Arial"/>
              </a:rPr>
              <a:t> of the move before the inactive list (+1.80 vs +0.18 pts, 193 games)</a:t>
            </a:r>
          </a:p>
          <a:p>
            <a:pPr algn="l" marL="292608" indent="-256032">
              <a:spcAft>
                <a:spcPts val="600"/>
              </a:spcAft>
              <a:buChar char="•"/>
            </a:pPr>
            <a:r>
              <a:rPr sz="1700" b="1" i="0">
                <a:solidFill>
                  <a:srgbClr val="0F172A"/>
                </a:solidFill>
                <a:latin typeface="Arial"/>
              </a:rPr>
              <a:t>~⅔</a:t>
            </a:r>
            <a:r>
              <a:rPr sz="1700" b="0" i="0">
                <a:solidFill>
                  <a:srgbClr val="0F172A"/>
                </a:solidFill>
                <a:latin typeface="Arial"/>
              </a:rPr>
              <a:t> (67%, CI 47–85%) before the first official injury report, ~6 h earlier</a:t>
            </a:r>
          </a:p>
          <a:p>
            <a:pPr algn="l" marL="292608" indent="-256032">
              <a:spcAft>
                <a:spcPts val="600"/>
              </a:spcAft>
              <a:buChar char="•"/>
            </a:pPr>
            <a:r>
              <a:rPr sz="1400" b="0" i="0">
                <a:solidFill>
                  <a:srgbClr val="64748B"/>
                </a:solidFill>
                <a:latin typeface="Arial"/>
              </a:rPr>
              <a:t>49% with no publication lag; official reports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four neural parts, graded by the market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graphicFrame>
        <p:nvGraphicFramePr>
          <p:cNvPr id="7" name="Table 6"/>
          <p:cNvGraphicFramePr>
            <a:graphicFrameLocks noGrp="1"/>
          </p:cNvGraphicFramePr>
          <p:nvPr/>
        </p:nvGraphicFramePr>
        <p:xfrm>
          <a:off x="457200" y="1143000"/>
          <a:ext cx="7223760" cy="3200400"/>
        </p:xfrm>
        <a:graphic>
          <a:graphicData uri="http://schemas.openxmlformats.org/drawingml/2006/table">
            <a:tbl>
              <a:tblPr firstRow="1" bandRow="1">
                <a:tableStyleId>{5C22544A-7EE6-4342-B048-85BDC9FD1C3A}</a:tableStyleId>
              </a:tblPr>
              <a:tblGrid>
                <a:gridCol w="1828800"/>
                <a:gridCol w="2743200"/>
                <a:gridCol w="2651760"/>
              </a:tblGrid>
              <a:tr h="365760">
                <a:tc>
                  <a:txBody>
                    <a:bodyPr wrap="square"/>
                    <a:lstStyle/>
                    <a:p>
                      <a:pPr algn="l"/>
                      <a:r>
                        <a:rPr sz="1300" b="1" i="0">
                          <a:solidFill>
                            <a:srgbClr val="FFFFFF"/>
                          </a:solidFill>
                          <a:latin typeface="Arial"/>
                        </a:rPr>
                        <a:t>Neural part</a:t>
                      </a:r>
                    </a:p>
                  </a:txBody>
                  <a:tcPr marL="73152" marR="73152" marT="36576" marB="36576" anchor="ctr">
                    <a:solidFill>
                      <a:srgbClr val="1E293B"/>
                    </a:solidFill>
                  </a:tcPr>
                </a:tc>
                <a:tc>
                  <a:txBody>
                    <a:bodyPr wrap="square"/>
                    <a:lstStyle/>
                    <a:p>
                      <a:pPr algn="l"/>
                      <a:r>
                        <a:rPr sz="1300" b="1" i="0">
                          <a:solidFill>
                            <a:srgbClr val="FFFFFF"/>
                          </a:solidFill>
                          <a:latin typeface="Arial"/>
                        </a:rPr>
                        <a:t>Design</a:t>
                      </a:r>
                    </a:p>
                  </a:txBody>
                  <a:tcPr marL="73152" marR="73152" marT="36576" marB="36576" anchor="ctr">
                    <a:solidFill>
                      <a:srgbClr val="1E293B"/>
                    </a:solidFill>
                  </a:tcPr>
                </a:tc>
                <a:tc>
                  <a:txBody>
                    <a:bodyPr wrap="square"/>
                    <a:lstStyle/>
                    <a:p>
                      <a:pPr algn="l"/>
                      <a:r>
                        <a:rPr sz="1300" b="1" i="0">
                          <a:solidFill>
                            <a:srgbClr val="FFFFFF"/>
                          </a:solidFill>
                          <a:latin typeface="Arial"/>
                        </a:rPr>
                        <a:t>Market-graded result</a:t>
                      </a:r>
                    </a:p>
                  </a:txBody>
                  <a:tcPr marL="73152" marR="73152" marT="36576" marB="36576" anchor="ctr">
                    <a:solidFill>
                      <a:srgbClr val="1E293B"/>
                    </a:solidFill>
                  </a:tcPr>
                </a:tc>
              </a:tr>
              <a:tr h="566928">
                <a:tc>
                  <a:txBody>
                    <a:bodyPr wrap="square"/>
                    <a:lstStyle/>
                    <a:p>
                      <a:pPr algn="l"/>
                      <a:r>
                        <a:rPr sz="1300" b="0" i="0">
                          <a:solidFill>
                            <a:srgbClr val="0F172A"/>
                          </a:solidFill>
                          <a:latin typeface="Arial"/>
                        </a:rPr>
                        <a:t>M2 player GRU</a:t>
                      </a:r>
                    </a:p>
                  </a:txBody>
                  <a:tcPr marL="73152" marR="73152" marT="36576" marB="36576" anchor="ctr">
                    <a:solidFill>
                      <a:srgbClr val="F1F5F9"/>
                    </a:solidFill>
                  </a:tcPr>
                </a:tc>
                <a:tc>
                  <a:txBody>
                    <a:bodyPr wrap="square"/>
                    <a:lstStyle/>
                    <a:p>
                      <a:pPr algn="l"/>
                      <a:r>
                        <a:rPr sz="1300" b="0" i="0">
                          <a:solidFill>
                            <a:srgbClr val="0F172A"/>
                          </a:solidFill>
                          <a:latin typeface="Arial"/>
                        </a:rPr>
                        <a:t>GRU over last 20 games → pts / min quantiles</a:t>
                      </a:r>
                    </a:p>
                  </a:txBody>
                  <a:tcPr marL="73152" marR="73152" marT="36576" marB="36576" anchor="ctr">
                    <a:solidFill>
                      <a:srgbClr val="F1F5F9"/>
                    </a:solidFill>
                  </a:tcPr>
                </a:tc>
                <a:tc>
                  <a:txBody>
                    <a:bodyPr wrap="square"/>
                    <a:lstStyle/>
                    <a:p>
                      <a:pPr algn="l"/>
                      <a:r>
                        <a:rPr sz="1300" b="1" i="0">
                          <a:solidFill>
                            <a:srgbClr val="0F172A"/>
                          </a:solidFill>
                          <a:latin typeface="Arial"/>
                        </a:rPr>
                        <a:t>Beats GBM:</a:t>
                      </a:r>
                      <a:r>
                        <a:rPr sz="1300" b="0" i="0">
                          <a:solidFill>
                            <a:srgbClr val="0F172A"/>
                          </a:solidFill>
                          <a:latin typeface="Arial"/>
                        </a:rPr>
                        <a:t> pinball 1.55 vs 1.59</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M4-NN win MLP</a:t>
                      </a:r>
                    </a:p>
                  </a:txBody>
                  <a:tcPr marL="73152" marR="73152" marT="36576" marB="36576" anchor="ctr">
                    <a:solidFill>
                      <a:srgbClr val="FFFFFF"/>
                    </a:solidFill>
                  </a:tcPr>
                </a:tc>
                <a:tc>
                  <a:txBody>
                    <a:bodyPr wrap="square"/>
                    <a:lstStyle/>
                    <a:p>
                      <a:pPr algn="l"/>
                      <a:r>
                        <a:rPr sz="1300" b="0" i="0">
                          <a:solidFill>
                            <a:srgbClr val="0F172A"/>
                          </a:solidFill>
                          <a:latin typeface="Arial"/>
                        </a:rPr>
                        <a:t>M4's 6 features, BCE, early stop, 3 seeds</a:t>
                      </a:r>
                    </a:p>
                  </a:txBody>
                  <a:tcPr marL="73152" marR="73152" marT="36576" marB="36576" anchor="ctr">
                    <a:solidFill>
                      <a:srgbClr val="FFFFFF"/>
                    </a:solidFill>
                  </a:tcPr>
                </a:tc>
                <a:tc>
                  <a:txBody>
                    <a:bodyPr wrap="square"/>
                    <a:lstStyle/>
                    <a:p>
                      <a:pPr algn="l"/>
                      <a:r>
                        <a:rPr sz="1300" b="0" i="0">
                          <a:solidFill>
                            <a:srgbClr val="0F172A"/>
                          </a:solidFill>
                          <a:latin typeface="Arial"/>
                        </a:rPr>
                        <a:t>Brier 0.184 vs M4 0.183: tie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Anchor + NN shift</a:t>
                      </a:r>
                    </a:p>
                  </a:txBody>
                  <a:tcPr marL="73152" marR="73152" marT="36576" marB="36576" anchor="ctr">
                    <a:solidFill>
                      <a:srgbClr val="F1F5F9"/>
                    </a:solidFill>
                  </a:tcPr>
                </a:tc>
                <a:tc>
                  <a:txBody>
                    <a:bodyPr wrap="square"/>
                    <a:lstStyle/>
                    <a:p>
                      <a:pPr algn="l"/>
                      <a:r>
                        <a:rPr sz="1300" b="0" i="0">
                          <a:solidFill>
                            <a:srgbClr val="0F172A"/>
                          </a:solidFill>
                          <a:latin typeface="Arial"/>
                        </a:rPr>
                        <a:t>24 h mid + MLP news shift</a:t>
                      </a:r>
                    </a:p>
                  </a:txBody>
                  <a:tcPr marL="73152" marR="73152" marT="36576" marB="36576" anchor="ctr">
                    <a:solidFill>
                      <a:srgbClr val="F1F5F9"/>
                    </a:solidFill>
                  </a:tcPr>
                </a:tc>
                <a:tc>
                  <a:txBody>
                    <a:bodyPr wrap="square"/>
                    <a:lstStyle/>
                    <a:p>
                      <a:pPr algn="l"/>
                      <a:r>
                        <a:rPr sz="1300" b="0" i="0">
                          <a:solidFill>
                            <a:srgbClr val="0F172A"/>
                          </a:solidFill>
                          <a:latin typeface="Arial"/>
                        </a:rPr>
                        <a:t>Brier </a:t>
                      </a:r>
                      <a:r>
                        <a:rPr sz="1300" b="1" i="0">
                          <a:solidFill>
                            <a:srgbClr val="0F172A"/>
                          </a:solidFill>
                          <a:latin typeface="Arial"/>
                        </a:rPr>
                        <a:t>0.163</a:t>
                      </a:r>
                      <a:r>
                        <a:rPr sz="1300" b="0" i="0">
                          <a:solidFill>
                            <a:srgbClr val="0F172A"/>
                          </a:solidFill>
                          <a:latin typeface="Arial"/>
                        </a:rPr>
                        <a:t> vs market 0.164: level</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M6 impact GRU</a:t>
                      </a:r>
                    </a:p>
                  </a:txBody>
                  <a:tcPr marL="73152" marR="73152" marT="36576" marB="36576" anchor="ctr">
                    <a:solidFill>
                      <a:srgbClr val="FFFFFF"/>
                    </a:solidFill>
                  </a:tcPr>
                </a:tc>
                <a:tc>
                  <a:txBody>
                    <a:bodyPr wrap="square"/>
                    <a:lstStyle/>
                    <a:p>
                      <a:pPr algn="l"/>
                      <a:r>
                        <a:rPr sz="1300" b="0" i="0">
                          <a:solidFill>
                            <a:srgbClr val="0F172A"/>
                          </a:solidFill>
                          <a:latin typeface="Arial"/>
                        </a:rPr>
                        <a:t>6 h prices + 18 features → quantiles</a:t>
                      </a:r>
                    </a:p>
                  </a:txBody>
                  <a:tcPr marL="73152" marR="73152" marT="36576" marB="36576" anchor="ctr">
                    <a:solidFill>
                      <a:srgbClr val="FFFFFF"/>
                    </a:solidFill>
                  </a:tcPr>
                </a:tc>
                <a:tc>
                  <a:txBody>
                    <a:bodyPr wrap="square"/>
                    <a:lstStyle/>
                    <a:p>
                      <a:pPr algn="l"/>
                      <a:r>
                        <a:rPr sz="1300" b="1" i="0">
                          <a:solidFill>
                            <a:srgbClr val="0F172A"/>
                          </a:solidFill>
                          <a:latin typeface="Arial"/>
                        </a:rPr>
                        <a:t>Fails:</a:t>
                      </a:r>
                      <a:r>
                        <a:rPr sz="1300" b="0" i="0">
                          <a:solidFill>
                            <a:srgbClr val="0F172A"/>
                          </a:solidFill>
                          <a:latin typeface="Arial"/>
                        </a:rPr>
                        <a:t> 9 of 9 configs worse than zero move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LLM tool agent</a:t>
                      </a:r>
                    </a:p>
                  </a:txBody>
                  <a:tcPr marL="73152" marR="73152" marT="36576" marB="36576" anchor="ctr">
                    <a:solidFill>
                      <a:srgbClr val="F1F5F9"/>
                    </a:solidFill>
                  </a:tcPr>
                </a:tc>
                <a:tc>
                  <a:txBody>
                    <a:bodyPr wrap="square"/>
                    <a:lstStyle/>
                    <a:p>
                      <a:pPr algn="l"/>
                      <a:r>
                        <a:rPr sz="1300" b="0" i="0">
                          <a:solidFill>
                            <a:srgbClr val="0F172A"/>
                          </a:solidFill>
                          <a:latin typeface="Arial"/>
                        </a:rPr>
                        <a:t>Transformer as policy; code guardrails</a:t>
                      </a:r>
                    </a:p>
                  </a:txBody>
                  <a:tcPr marL="73152" marR="73152" marT="36576" marB="36576" anchor="ctr">
                    <a:solidFill>
                      <a:srgbClr val="F1F5F9"/>
                    </a:solidFill>
                  </a:tcPr>
                </a:tc>
                <a:tc>
                  <a:txBody>
                    <a:bodyPr wrap="square"/>
                    <a:lstStyle/>
                    <a:p>
                      <a:pPr algn="l"/>
                      <a:r>
                        <a:rPr sz="1300" b="0" i="0">
                          <a:solidFill>
                            <a:srgbClr val="0F172A"/>
                          </a:solidFill>
                          <a:latin typeface="Arial"/>
                        </a:rPr>
                        <a:t>Slide 11: helps only by trading less</a:t>
                      </a:r>
                    </a:p>
                  </a:txBody>
                  <a:tcPr marL="73152" marR="73152" marT="36576" marB="36576" anchor="ctr">
                    <a:solidFill>
                      <a:srgbClr val="F1F5F9"/>
                    </a:solidFill>
                  </a:tcPr>
                </a:tc>
              </a:tr>
            </a:tbl>
          </a:graphicData>
        </a:graphic>
      </p:graphicFrame>
      <p:pic>
        <p:nvPicPr>
          <p:cNvPr id="8" name="Picture 7" descr="m6_robustness.png"/>
          <p:cNvPicPr>
            <a:picLocks noChangeAspect="1"/>
          </p:cNvPicPr>
          <p:nvPr/>
        </p:nvPicPr>
        <p:blipFill>
          <a:blip r:embed="rId3"/>
          <a:stretch>
            <a:fillRect/>
          </a:stretch>
        </p:blipFill>
        <p:spPr>
          <a:xfrm>
            <a:off x="7863840" y="2143810"/>
            <a:ext cx="3870655" cy="1290218"/>
          </a:xfrm>
          <a:prstGeom prst="rect">
            <a:avLst/>
          </a:prstGeom>
        </p:spPr>
      </p:pic>
      <p:sp>
        <p:nvSpPr>
          <p:cNvPr id="9" name="TextBox 8"/>
          <p:cNvSpPr txBox="1"/>
          <p:nvPr/>
        </p:nvSpPr>
        <p:spPr>
          <a:xfrm>
            <a:off x="457200" y="5074920"/>
            <a:ext cx="11277295" cy="64008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Why small and quantile:</a:t>
            </a:r>
            <a:r>
              <a:rPr sz="1500" b="0" i="0">
                <a:solidFill>
                  <a:srgbClr val="0F172A"/>
                </a:solidFill>
                <a:latin typeface="Arial"/>
              </a:rPr>
              <a:t> ~3.4k training games, 3.9M price rows but only ~600 training games of them; GRU-8/16 with early stopping; pinball loss gives a 10–90% band, not a point bet</a:t>
            </a:r>
          </a:p>
        </p:txBody>
      </p:sp>
      <p:sp>
        <p:nvSpPr>
          <p:cNvPr id="10" name="TextBox 9"/>
          <p:cNvSpPr txBox="1"/>
          <p:nvPr/>
        </p:nvSpPr>
        <p:spPr>
          <a:xfrm>
            <a:off x="457200" y="5742432"/>
            <a:ext cx="11277295" cy="59436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Null results are the finding:</a:t>
            </a:r>
            <a:r>
              <a:rPr sz="1500" b="0" i="0">
                <a:solidFill>
                  <a:srgbClr val="0F172A"/>
                </a:solidFill>
                <a:latin typeface="Arial"/>
              </a:rPr>
              <a:t> in an efficient market, “no move” and the market's own price are hard baselines; deep learning helps only next to the anchor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market's answer is “trade less”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8138160" cy="4608576"/>
        </p:xfrm>
        <a:graphic>
          <a:graphicData uri="http://schemas.openxmlformats.org/drawingml/2006/table">
            <a:tbl>
              <a:tblPr firstRow="1" bandRow="1">
                <a:tableStyleId>{5C22544A-7EE6-4342-B048-85BDC9FD1C3A}</a:tableStyleId>
              </a:tblPr>
              <a:tblGrid>
                <a:gridCol w="1783080"/>
                <a:gridCol w="2331720"/>
                <a:gridCol w="4023360"/>
              </a:tblGrid>
              <a:tr h="310896">
                <a:tc>
                  <a:txBody>
                    <a:bodyPr wrap="square"/>
                    <a:lstStyle/>
                    <a:p>
                      <a:pPr algn="l"/>
                      <a:r>
                        <a:rPr sz="1100" b="1" i="0">
                          <a:solidFill>
                            <a:srgbClr val="FFFFFF"/>
                          </a:solidFill>
                          <a:latin typeface="Arial"/>
                        </a:rPr>
                        <a:t>Upgrade</a:t>
                      </a:r>
                    </a:p>
                  </a:txBody>
                  <a:tcPr marL="73152" marR="73152" marT="36576" marB="36576" anchor="ctr">
                    <a:solidFill>
                      <a:srgbClr val="1E293B"/>
                    </a:solidFill>
                  </a:tcPr>
                </a:tc>
                <a:tc>
                  <a:txBody>
                    <a:bodyPr wrap="square"/>
                    <a:lstStyle/>
                    <a:p>
                      <a:pPr algn="l"/>
                      <a:r>
                        <a:rPr sz="1100" b="1" i="0">
                          <a:solidFill>
                            <a:srgbClr val="FFFFFF"/>
                          </a:solidFill>
                          <a:latin typeface="Arial"/>
                        </a:rPr>
                        <a:t>What it is</a:t>
                      </a:r>
                    </a:p>
                  </a:txBody>
                  <a:tcPr marL="73152" marR="73152" marT="36576" marB="36576" anchor="ctr">
                    <a:solidFill>
                      <a:srgbClr val="1E293B"/>
                    </a:solidFill>
                  </a:tcPr>
                </a:tc>
                <a:tc>
                  <a:txBody>
                    <a:bodyPr wrap="square"/>
                    <a:lstStyle/>
                    <a:p>
                      <a:pPr algn="l"/>
                      <a:r>
                        <a:rPr sz="1100" b="1" i="0">
                          <a:solidFill>
                            <a:srgbClr val="FFFFFF"/>
                          </a:solidFill>
                          <a:latin typeface="Arial"/>
                        </a:rPr>
                        <a:t>Result</a:t>
                      </a:r>
                    </a:p>
                  </a:txBody>
                  <a:tcPr marL="73152" marR="73152" marT="36576" marB="36576" anchor="ctr">
                    <a:solidFill>
                      <a:srgbClr val="1E293B"/>
                    </a:solidFill>
                  </a:tcPr>
                </a:tc>
              </a:tr>
              <a:tr h="429768">
                <a:tc>
                  <a:txBody>
                    <a:bodyPr wrap="square"/>
                    <a:lstStyle/>
                    <a:p>
                      <a:pPr algn="l"/>
                      <a:r>
                        <a:rPr sz="1100" b="1" i="0">
                          <a:solidFill>
                            <a:srgbClr val="0F172A"/>
                          </a:solidFill>
                          <a:latin typeface="Arial"/>
                        </a:rPr>
                        <a:t>Gate audit</a:t>
                      </a:r>
                    </a:p>
                  </a:txBody>
                  <a:tcPr marL="73152" marR="73152" marT="36576" marB="36576" anchor="ctr">
                    <a:solidFill>
                      <a:srgbClr val="F1F5F9"/>
                    </a:solidFill>
                  </a:tcPr>
                </a:tc>
                <a:tc>
                  <a:txBody>
                    <a:bodyPr wrap="square"/>
                    <a:lstStyle/>
                    <a:p>
                      <a:pPr algn="l"/>
                      <a:r>
                        <a:rPr sz="1100" b="0" i="0">
                          <a:solidFill>
                            <a:srgbClr val="0F172A"/>
                          </a:solidFill>
                          <a:latin typeface="Arial"/>
                        </a:rPr>
                        <a:t>Rule gate judged on held-out days, by CLV $</a:t>
                      </a:r>
                    </a:p>
                  </a:txBody>
                  <a:tcPr marL="73152" marR="73152" marT="36576" marB="36576" anchor="ctr">
                    <a:solidFill>
                      <a:srgbClr val="F1F5F9"/>
                    </a:solidFill>
                  </a:tcPr>
                </a:tc>
                <a:tc>
                  <a:txBody>
                    <a:bodyPr wrap="square"/>
                    <a:lstStyle/>
                    <a:p>
                      <a:pPr algn="l"/>
                      <a:r>
                        <a:rPr sz="1100" b="0" i="0">
                          <a:solidFill>
                            <a:srgbClr val="0F172A"/>
                          </a:solidFill>
                          <a:latin typeface="Arial"/>
                        </a:rPr>
                        <a:t>Kept 5 of 11 (legacy 0 of 24); trades 129 → 53; CLV $ +$18 [+1, +34], per trade no better; never trading still wins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Placebo rules</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through the same gate</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pass 57%, same as the reviewer's: learning works by trading less</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Kill switch</a:t>
                      </a:r>
                    </a:p>
                  </a:txBody>
                  <a:tcPr marL="73152" marR="73152" marT="36576" marB="36576" anchor="ctr">
                    <a:solidFill>
                      <a:srgbClr val="F1F5F9"/>
                    </a:solidFill>
                  </a:tcPr>
                </a:tc>
                <a:tc>
                  <a:txBody>
                    <a:bodyPr wrap="square"/>
                    <a:lstStyle/>
                    <a:p>
                      <a:pPr algn="l"/>
                      <a:r>
                        <a:rPr sz="1100" b="0" i="0">
                          <a:solidFill>
                            <a:srgbClr val="0F172A"/>
                          </a:solidFill>
                          <a:latin typeface="Arial"/>
                        </a:rPr>
                        <a:t>$100 daily realised-loss stop</a:t>
                      </a:r>
                    </a:p>
                  </a:txBody>
                  <a:tcPr marL="73152" marR="73152" marT="36576" marB="36576" anchor="ctr">
                    <a:solidFill>
                      <a:srgbClr val="F1F5F9"/>
                    </a:solidFill>
                  </a:tcPr>
                </a:tc>
                <a:tc>
                  <a:txBody>
                    <a:bodyPr wrap="square"/>
                    <a:lstStyle/>
                    <a:p>
                      <a:pPr algn="l"/>
                      <a:r>
                        <a:rPr sz="1100" b="0" i="0">
                          <a:solidFill>
                            <a:srgbClr val="0F172A"/>
                          </a:solidFill>
                          <a:latin typeface="Arial"/>
                        </a:rPr>
                        <a:t>Enforced, never tripped at $20 stakes (worst day −$54); property-tested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100" b="0" i="0">
                          <a:solidFill>
                            <a:srgbClr val="0F172A"/>
                          </a:solidFill>
                          <a:latin typeface="Arial"/>
                        </a:rPr>
                        <a:t>¼-Kelly with the fee vs flat $20</a:t>
                      </a:r>
                    </a:p>
                  </a:txBody>
                  <a:tcPr marL="73152" marR="73152" marT="36576" marB="36576" anchor="ctr">
                    <a:solidFill>
                      <a:srgbClr val="FFFFFF"/>
                    </a:solidFill>
                  </a:tcPr>
                </a:tc>
                <a:tc>
                  <a:txBody>
                    <a:bodyPr wrap="square"/>
                    <a:lstStyle/>
                    <a:p>
                      <a:pPr algn="l"/>
                      <a:r>
                        <a:rPr sz="1100" b="0" i="1">
                          <a:solidFill>
                            <a:srgbClr val="64748B"/>
                          </a:solidFill>
                          <a:latin typeface="Arial"/>
                        </a:rPr>
                        <a:t>Not run (time)</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100" b="0" i="0">
                          <a:solidFill>
                            <a:srgbClr val="0F172A"/>
                          </a:solidFill>
                          <a:latin typeface="Arial"/>
                        </a:rPr>
                        <a:t>Biased personas follow nudges (compliance 1.0)</a:t>
                      </a:r>
                    </a:p>
                  </a:txBody>
                  <a:tcPr marL="73152" marR="73152" marT="36576" marB="36576" anchor="ctr">
                    <a:solidFill>
                      <a:srgbClr val="F1F5F9"/>
                    </a:solidFill>
                  </a:tcPr>
                </a:tc>
                <a:tc>
                  <a:txBody>
                    <a:bodyPr wrap="square"/>
                    <a:lstStyle/>
                    <a:p>
                      <a:pPr algn="l"/>
                      <a:r>
                        <a:rPr sz="1100" b="0" i="0">
                          <a:solidFill>
                            <a:srgbClr val="0F172A"/>
                          </a:solidFill>
                          <a:latin typeface="Arial"/>
                        </a:rPr>
                        <a:t>CLV $ +$17 to +$88 for all 4 personas; trades −66–87%; flags 99%, so the gain is trading less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Plain LLM</a:t>
                      </a:r>
                    </a:p>
                  </a:txBody>
                  <a:tcPr marL="73152" marR="73152" marT="36576" marB="36576" anchor="ctr">
                    <a:solidFill>
                      <a:srgbClr val="FFFFFF"/>
                    </a:solidFill>
                  </a:tcPr>
                </a:tc>
                <a:tc>
                  <a:txBody>
                    <a:bodyPr wrap="square"/>
                    <a:lstStyle/>
                    <a:p>
                      <a:pPr algn="l"/>
                      <a:r>
                        <a:rPr sz="1100" b="0" i="0">
                          <a:solidFill>
                            <a:srgbClr val="0F172A"/>
                          </a:solidFill>
                          <a:latin typeface="Arial"/>
                        </a:rPr>
                        <a:t>One LLM call per decision, no tools</a:t>
                      </a:r>
                    </a:p>
                  </a:txBody>
                  <a:tcPr marL="73152" marR="73152" marT="36576" marB="36576" anchor="ctr">
                    <a:solidFill>
                      <a:srgbClr val="FFFFFF"/>
                    </a:solidFill>
                  </a:tcPr>
                </a:tc>
                <a:tc>
                  <a:txBody>
                    <a:bodyPr wrap="square"/>
                    <a:lstStyle/>
                    <a:p>
                      <a:pPr algn="l"/>
                      <a:r>
                        <a:rPr sz="1100" b="0" i="0">
                          <a:solidFill>
                            <a:srgbClr val="0F172A"/>
                          </a:solidFill>
                          <a:latin typeface="Arial"/>
                        </a:rPr>
                        <a:t>5 trades in 304 decisions, CLV $ −$1 = never trading (deterministic agent: 53 trades, −$19)</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100" b="0" i="0">
                          <a:solidFill>
                            <a:srgbClr val="0F172A"/>
                          </a:solidFill>
                          <a:latin typeface="Arial"/>
                        </a:rPr>
                        <a:t>Picks as-of tools; code checks numbers; sceptic can veto</a:t>
                      </a:r>
                    </a:p>
                  </a:txBody>
                  <a:tcPr marL="73152" marR="73152" marT="36576" marB="36576" anchor="ctr">
                    <a:solidFill>
                      <a:srgbClr val="F1F5F9"/>
                    </a:solidFill>
                  </a:tcPr>
                </a:tc>
                <a:tc>
                  <a:txBody>
                    <a:bodyPr wrap="square"/>
                    <a:lstStyle/>
                    <a:p>
                      <a:pPr algn="l"/>
                      <a:r>
                        <a:rPr sz="1100" b="0" i="0">
                          <a:solidFill>
                            <a:srgbClr val="0F172A"/>
                          </a:solidFill>
                          <a:latin typeface="Arial"/>
                        </a:rPr>
                        <a:t>DeepSeek reasoner: 2 trades, CLV $ +$4 [−3, +15] = never; sceptic vetoed 40/42 (chat: 0 trades)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100" b="0" i="0">
                          <a:solidFill>
                            <a:srgbClr val="0F172A"/>
                          </a:solidFill>
                          <a:latin typeface="Arial"/>
                        </a:rPr>
                        <a:t>Pregame → trader → Coach → briefs, one as-of time</a:t>
                      </a:r>
                    </a:p>
                  </a:txBody>
                  <a:tcPr marL="73152" marR="73152" marT="36576" marB="36576" anchor="ctr">
                    <a:solidFill>
                      <a:srgbClr val="FFFFFF"/>
                    </a:solidFill>
                  </a:tcPr>
                </a:tc>
                <a:tc>
                  <a:txBody>
                    <a:bodyPr wrap="square"/>
                    <a:lstStyle/>
                    <a:p>
                      <a:pPr algn="l"/>
                      <a:r>
                        <a:rPr sz="1100" b="0" i="0">
                          <a:solidFill>
                            <a:srgbClr val="0F172A"/>
                          </a:solidFill>
                          <a:latin typeface="Arial"/>
                        </a:rPr>
                        <a:t>Built and tested (diagram); no new trading evaluation</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100" b="0" i="0">
                          <a:solidFill>
                            <a:srgbClr val="0F172A"/>
                          </a:solidFill>
                          <a:latin typeface="Arial"/>
                        </a:rPr>
                        <a:t>Trade / pass model, selected on Nov–Jan</a:t>
                      </a:r>
                    </a:p>
                  </a:txBody>
                  <a:tcPr marL="73152" marR="73152" marT="36576" marB="36576" anchor="ctr">
                    <a:solidFill>
                      <a:srgbClr val="F1F5F9"/>
                    </a:solidFill>
                  </a:tcPr>
                </a:tc>
                <a:tc>
                  <a:txBody>
                    <a:bodyPr wrap="square"/>
                    <a:lstStyle/>
                    <a:p>
                      <a:pPr algn="l"/>
                      <a:r>
                        <a:rPr sz="1100" b="0" i="0">
                          <a:solidFill>
                            <a:srgbClr val="0F172A"/>
                          </a:solidFill>
                          <a:latin typeface="Arial"/>
                        </a:rPr>
                        <a:t>Selection chose never trade; test not scored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Rule DSL + memory</a:t>
                      </a:r>
                    </a:p>
                  </a:txBody>
                  <a:tcPr marL="73152" marR="73152" marT="36576" marB="36576" anchor="ctr">
                    <a:solidFill>
                      <a:srgbClr val="FFFFFF"/>
                    </a:solidFill>
                  </a:tcPr>
                </a:tc>
                <a:tc>
                  <a:txBody>
                    <a:bodyPr wrap="square"/>
                    <a:lstStyle/>
                    <a:p>
                      <a:pPr algn="l"/>
                      <a:r>
                        <a:rPr sz="1100" b="0" i="0">
                          <a:solidFill>
                            <a:srgbClr val="0F172A"/>
                          </a:solidFill>
                          <a:latin typeface="Arial"/>
                        </a:rPr>
                        <a:t>LLM rules in a safe DSL; recall of similar past trades</a:t>
                      </a:r>
                    </a:p>
                  </a:txBody>
                  <a:tcPr marL="73152" marR="73152" marT="36576" marB="36576" anchor="ctr">
                    <a:solidFill>
                      <a:srgbClr val="FFFFFF"/>
                    </a:solidFill>
                  </a:tcPr>
                </a:tc>
                <a:tc>
                  <a:txBody>
                    <a:bodyPr wrap="square"/>
                    <a:lstStyle/>
                    <a:p>
                      <a:pPr algn="l"/>
                      <a:r>
                        <a:rPr sz="1100" b="0" i="0">
                          <a:solidFill>
                            <a:srgbClr val="0F172A"/>
                          </a:solidFill>
                          <a:latin typeface="Arial"/>
                        </a:rPr>
                        <a:t>Built and unit-tested; not evaluated</a:t>
                      </a:r>
                    </a:p>
                  </a:txBody>
                  <a:tcPr marL="73152" marR="73152" marT="36576" marB="36576" anchor="ctr">
                    <a:solidFill>
                      <a:srgbClr val="FFFFFF"/>
                    </a:solidFill>
                  </a:tcPr>
                </a:tc>
              </a:tr>
            </a:tbl>
          </a:graphicData>
        </a:graphic>
      </p:graphicFrame>
      <p:pic>
        <p:nvPicPr>
          <p:cNvPr id="8" name="Picture 7" descr="orchestrator.png"/>
          <p:cNvPicPr>
            <a:picLocks noChangeAspect="1"/>
          </p:cNvPicPr>
          <p:nvPr/>
        </p:nvPicPr>
        <p:blipFill>
          <a:blip r:embed="rId3"/>
          <a:stretch>
            <a:fillRect/>
          </a:stretch>
        </p:blipFill>
        <p:spPr>
          <a:xfrm>
            <a:off x="8732520" y="2282726"/>
            <a:ext cx="3001975" cy="1561027"/>
          </a:xfrm>
          <a:prstGeom prst="rect">
            <a:avLst/>
          </a:prstGeom>
        </p:spPr>
      </p:pic>
      <p:sp>
        <p:nvSpPr>
          <p:cNvPr id="9" name="TextBox 8"/>
          <p:cNvSpPr txBox="1"/>
          <p:nvPr/>
        </p:nvSpPr>
        <p:spPr>
          <a:xfrm>
            <a:off x="8732520" y="5074920"/>
            <a:ext cx="3001975" cy="50292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Pre-registered before scoring; same replay, costs and day-clustered bootstrap as above</a:t>
            </a:r>
          </a:p>
        </p:txBody>
      </p:sp>
      <p:sp>
        <p:nvSpPr>
          <p:cNvPr id="10" name="Rounded Rectangle 9"/>
          <p:cNvSpPr/>
          <p:nvPr/>
        </p:nvSpPr>
        <p:spPr>
          <a:xfrm>
            <a:off x="457200" y="5815584"/>
            <a:ext cx="11277295" cy="512064"/>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815584"/>
            <a:ext cx="11094415" cy="512064"/>
          </a:xfrm>
          <a:prstGeom prst="rect">
            <a:avLst/>
          </a:prstGeom>
          <a:noFill/>
        </p:spPr>
        <p:txBody>
          <a:bodyPr wrap="square" anchor="ctr" lIns="73152" rIns="73152" tIns="36576" bIns="36576">
            <a:spAutoFit/>
          </a:bodyPr>
          <a:lstStyle/>
          <a:p>
            <a:pPr algn="l">
              <a:spcAft>
                <a:spcPts val="0"/>
              </a:spcAft>
            </a:pPr>
            <a:r>
              <a:rPr sz="1400" b="0" i="0">
                <a:solidFill>
                  <a:srgbClr val="0F172A"/>
                </a:solidFill>
                <a:latin typeface="Arial"/>
              </a:rPr>
              <a:t>Every agentic upgrade, graded by the market, converges on the same answer: trade less. The market is hard to beat after fees, which is exactly why the product is education, not a trading bot.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Why an agentic framework, and who built which part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TextBox 6"/>
          <p:cNvSpPr txBox="1"/>
          <p:nvPr/>
        </p:nvSpPr>
        <p:spPr>
          <a:xfrm>
            <a:off x="457200" y="1143000"/>
            <a:ext cx="5760720" cy="4206240"/>
          </a:xfrm>
          <a:prstGeom prst="rect">
            <a:avLst/>
          </a:prstGeom>
          <a:noFill/>
        </p:spPr>
        <p:txBody>
          <a:bodyPr wrap="square" anchor="t" lIns="73152" rIns="73152" tIns="36576" bIns="36576">
            <a:spAutoFit/>
          </a:bodyPr>
          <a:lstStyle/>
          <a:p>
            <a:pPr algn="l">
              <a:spcAft>
                <a:spcPts val="400"/>
              </a:spcAft>
            </a:pPr>
            <a:r>
              <a:rPr sz="1500" b="1" i="0">
                <a:solidFill>
                  <a:srgbClr val="1E293B"/>
                </a:solidFill>
                <a:latin typeface="Arial"/>
              </a:rPr>
              <a:t>Why agentic: each box of slide 4 answers the problem</a:t>
            </a:r>
          </a:p>
          <a:p>
            <a:pPr algn="l" marL="292608" indent="-256032">
              <a:spcAft>
                <a:spcPts val="400"/>
              </a:spcAft>
              <a:buChar char="•"/>
            </a:pPr>
            <a:r>
              <a:rPr sz="1500" b="1" i="0">
                <a:solidFill>
                  <a:srgbClr val="0F172A"/>
                </a:solidFill>
                <a:latin typeface="Arial"/>
              </a:rPr>
              <a:t>When to act = trigger:</a:t>
            </a:r>
            <a:r>
              <a:rPr sz="1500" b="0" i="0">
                <a:solidFill>
                  <a:srgbClr val="0F172A"/>
                </a:solidFill>
                <a:latin typeface="Arial"/>
              </a:rPr>
              <a:t> news is asynchronous; 91% of the move before the inactive list, ~⅔ before the first report</a:t>
            </a:r>
          </a:p>
          <a:p>
            <a:pPr algn="l" marL="292608" indent="-256032">
              <a:spcAft>
                <a:spcPts val="400"/>
              </a:spcAft>
              <a:buChar char="•"/>
            </a:pPr>
            <a:r>
              <a:rPr sz="1500" b="1" i="0">
                <a:solidFill>
                  <a:srgbClr val="0F172A"/>
                </a:solidFill>
                <a:latin typeface="Arial"/>
              </a:rPr>
              <a:t>What to look at = as-of tools:</a:t>
            </a:r>
            <a:r>
              <a:rPr sz="1500" b="0" i="0">
                <a:solidFill>
                  <a:srgbClr val="0F172A"/>
                </a:solidFill>
                <a:latin typeface="Arial"/>
              </a:rPr>
              <a:t> prices, news, rotations, M4 / M6; no look-ahead</a:t>
            </a:r>
          </a:p>
          <a:p>
            <a:pPr algn="l" marL="292608" indent="-256032">
              <a:spcAft>
                <a:spcPts val="400"/>
              </a:spcAft>
              <a:buChar char="•"/>
            </a:pPr>
            <a:r>
              <a:rPr sz="1500" b="1" i="0">
                <a:solidFill>
                  <a:srgbClr val="0F172A"/>
                </a:solidFill>
                <a:latin typeface="Arial"/>
              </a:rPr>
              <a:t>Whether to trade = edge + sceptic:</a:t>
            </a:r>
            <a:r>
              <a:rPr sz="1500" b="0" i="0">
                <a:solidFill>
                  <a:srgbClr val="0F172A"/>
                </a:solidFill>
                <a:latin typeface="Arial"/>
              </a:rPr>
              <a:t> code checks, risk caps, kill switch; LLM can't override</a:t>
            </a:r>
          </a:p>
          <a:p>
            <a:pPr algn="l" marL="292608" indent="-256032">
              <a:spcAft>
                <a:spcPts val="400"/>
              </a:spcAft>
              <a:buChar char="•"/>
            </a:pPr>
            <a:r>
              <a:rPr sz="1500" b="1" i="0">
                <a:solidFill>
                  <a:srgbClr val="0F172A"/>
                </a:solidFill>
                <a:latin typeface="Arial"/>
              </a:rPr>
              <a:t>Learn loop:</a:t>
            </a:r>
            <a:r>
              <a:rPr sz="1500" b="0" i="0">
                <a:solidFill>
                  <a:srgbClr val="0F172A"/>
                </a:solidFill>
                <a:latin typeface="Arial"/>
              </a:rPr>
              <a:t> CLV → reviewer → held-out gate → rules; placebo-audited</a:t>
            </a:r>
          </a:p>
          <a:p>
            <a:pPr algn="l" marL="292608" indent="-256032">
              <a:spcAft>
                <a:spcPts val="400"/>
              </a:spcAft>
              <a:buChar char="•"/>
            </a:pPr>
            <a:r>
              <a:rPr sz="1500" b="1" i="0">
                <a:solidFill>
                  <a:srgbClr val="0F172A"/>
                </a:solidFill>
                <a:latin typeface="Arial"/>
              </a:rPr>
              <a:t>People:</a:t>
            </a:r>
            <a:r>
              <a:rPr sz="1500" b="0" i="0">
                <a:solidFill>
                  <a:srgbClr val="0F172A"/>
                </a:solidFill>
                <a:latin typeface="Arial"/>
              </a:rPr>
              <a:t> Coach and League teach with the same analysis</a:t>
            </a:r>
          </a:p>
        </p:txBody>
      </p:sp>
      <p:graphicFrame>
        <p:nvGraphicFramePr>
          <p:cNvPr id="8" name="Table 7"/>
          <p:cNvGraphicFramePr>
            <a:graphicFrameLocks noGrp="1"/>
          </p:cNvGraphicFramePr>
          <p:nvPr/>
        </p:nvGraphicFramePr>
        <p:xfrm>
          <a:off x="6400800" y="1143000"/>
          <a:ext cx="5333695" cy="3200400"/>
        </p:xfrm>
        <a:graphic>
          <a:graphicData uri="http://schemas.openxmlformats.org/drawingml/2006/table">
            <a:tbl>
              <a:tblPr firstRow="1" bandRow="1">
                <a:tableStyleId>{5C22544A-7EE6-4342-B048-85BDC9FD1C3A}</a:tableStyleId>
              </a:tblPr>
              <a:tblGrid>
                <a:gridCol w="2743200"/>
                <a:gridCol w="868680"/>
                <a:gridCol w="1721815"/>
              </a:tblGrid>
              <a:tr h="365760">
                <a:tc>
                  <a:txBody>
                    <a:bodyPr wrap="square"/>
                    <a:lstStyle/>
                    <a:p>
                      <a:pPr algn="l"/>
                      <a:r>
                        <a:rPr sz="1200" b="1" i="0">
                          <a:solidFill>
                            <a:srgbClr val="FFFFFF"/>
                          </a:solidFill>
                          <a:latin typeface="Arial"/>
                        </a:rPr>
                        <a:t>Work</a:t>
                      </a:r>
                    </a:p>
                  </a:txBody>
                  <a:tcPr marL="73152" marR="73152" marT="36576" marB="36576" anchor="ctr">
                    <a:solidFill>
                      <a:srgbClr val="1E293B"/>
                    </a:solidFill>
                  </a:tcPr>
                </a:tc>
                <a:tc>
                  <a:txBody>
                    <a:bodyPr wrap="square"/>
                    <a:lstStyle/>
                    <a:p>
                      <a:pPr algn="ctr"/>
                      <a:r>
                        <a:rPr sz="1200" b="1" i="0">
                          <a:solidFill>
                            <a:srgbClr val="FFFFFF"/>
                          </a:solidFill>
                          <a:latin typeface="Arial"/>
                        </a:rPr>
                        <a:t>PR</a:t>
                      </a:r>
                    </a:p>
                  </a:txBody>
                  <a:tcPr marL="73152" marR="73152" marT="36576" marB="36576" anchor="ctr">
                    <a:solidFill>
                      <a:srgbClr val="1E293B"/>
                    </a:solidFill>
                  </a:tcPr>
                </a:tc>
                <a:tc>
                  <a:txBody>
                    <a:bodyPr wrap="square"/>
                    <a:lstStyle/>
                    <a:p>
                      <a:pPr algn="l"/>
                      <a:r>
                        <a:rPr sz="1200" b="1" i="0">
                          <a:solidFill>
                            <a:srgbClr val="FFFFFF"/>
                          </a:solidFill>
                          <a:latin typeface="Arial"/>
                        </a:rPr>
                        <a:t>Who</a:t>
                      </a:r>
                    </a:p>
                  </a:txBody>
                  <a:tcPr marL="73152" marR="73152" marT="36576" marB="36576" anchor="ctr">
                    <a:solidFill>
                      <a:srgbClr val="1E293B"/>
                    </a:solidFill>
                  </a:tcPr>
                </a:tc>
              </a:tr>
              <a:tr h="566928">
                <a:tc>
                  <a:txBody>
                    <a:bodyPr wrap="square"/>
                    <a:lstStyle/>
                    <a:p>
                      <a:pPr algn="l"/>
                      <a:r>
                        <a:rPr sz="12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200" b="0" i="0">
                          <a:solidFill>
                            <a:srgbClr val="0F172A"/>
                          </a:solidFill>
                          <a:latin typeface="Arial"/>
                        </a:rPr>
                        <a:t>#7</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200" b="0" i="0">
                          <a:solidFill>
                            <a:srgbClr val="0F172A"/>
                          </a:solidFill>
                          <a:latin typeface="Arial"/>
                        </a:rPr>
                        <a:t>#8</a:t>
                      </a:r>
                    </a:p>
                  </a:txBody>
                  <a:tcPr marL="73152" marR="73152" marT="36576" marB="36576" anchor="ctr">
                    <a:solidFill>
                      <a:srgbClr val="FFFFFF"/>
                    </a:solidFill>
                  </a:tcPr>
                </a:tc>
                <a:tc>
                  <a:txBody>
                    <a:bodyPr wrap="square"/>
                    <a:lstStyle/>
                    <a:p>
                      <a:pPr algn="l"/>
                      <a:r>
                        <a:rPr sz="1200" b="0" i="0">
                          <a:solidFill>
                            <a:srgbClr val="0F172A"/>
                          </a:solidFill>
                          <a:latin typeface="Arial"/>
                        </a:rPr>
                        <a:t>Catharine Li</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200" b="0" i="0">
                          <a:solidFill>
                            <a:srgbClr val="0F172A"/>
                          </a:solidFill>
                          <a:latin typeface="Arial"/>
                        </a:rPr>
                        <a:t>#9</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200" b="0" i="0">
                          <a:solidFill>
                            <a:srgbClr val="0F172A"/>
                          </a:solidFill>
                          <a:latin typeface="Arial"/>
                        </a:rPr>
                        <a:t>#11, #12</a:t>
                      </a:r>
                    </a:p>
                  </a:txBody>
                  <a:tcPr marL="73152" marR="73152" marT="36576" marB="36576" anchor="ctr">
                    <a:solidFill>
                      <a:srgbClr val="FFFFFF"/>
                    </a:solidFill>
                  </a:tcPr>
                </a:tc>
                <a:tc>
                  <a:txBody>
                    <a:bodyPr wrap="square"/>
                    <a:lstStyle/>
                    <a:p>
                      <a:pPr algn="l"/>
                      <a:r>
                        <a:rPr sz="1200" b="0" i="0">
                          <a:solidFill>
                            <a:srgbClr val="0F172A"/>
                          </a:solidFill>
                          <a:latin typeface="Arial"/>
                        </a:rPr>
                        <a:t>shidafuyang-alt, hijojo</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200" b="0" i="0">
                          <a:solidFill>
                            <a:srgbClr val="0F172A"/>
                          </a:solidFill>
                          <a:latin typeface="Arial"/>
                        </a:rPr>
                        <a:t>branch</a:t>
                      </a:r>
                    </a:p>
                  </a:txBody>
                  <a:tcPr marL="73152" marR="73152" marT="36576" marB="36576" anchor="ctr">
                    <a:solidFill>
                      <a:srgbClr val="F1F5F9"/>
                    </a:solidFill>
                  </a:tcPr>
                </a:tc>
                <a:tc>
                  <a:txBody>
                    <a:bodyPr wrap="square"/>
                    <a:lstStyle/>
                    <a:p>
                      <a:pPr algn="l"/>
                      <a:r>
                        <a:rPr sz="1200" b="0" i="0">
                          <a:solidFill>
                            <a:srgbClr val="0F172A"/>
                          </a:solidFill>
                          <a:latin typeface="Arial"/>
                        </a:rPr>
                        <a:t>Michael Ngan</a:t>
                      </a:r>
                    </a:p>
                  </a:txBody>
                  <a:tcPr marL="73152" marR="73152" marT="36576" marB="36576" anchor="ctr">
                    <a:solidFill>
                      <a:srgbClr val="F1F5F9"/>
                    </a:solidFill>
                  </a:tcPr>
                </a:tc>
              </a:tr>
            </a:tbl>
          </a:graphicData>
        </a:graphic>
      </p:graphicFrame>
      <p:sp>
        <p:nvSpPr>
          <p:cNvPr id="9" name="Rounded Rectangle 8"/>
          <p:cNvSpPr/>
          <p:nvPr/>
        </p:nvSpPr>
        <p:spPr>
          <a:xfrm>
            <a:off x="457200" y="5257800"/>
            <a:ext cx="11277295" cy="9601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257800"/>
            <a:ext cx="11094415" cy="960120"/>
          </a:xfrm>
          <a:prstGeom prst="rect">
            <a:avLst/>
          </a:prstGeom>
          <a:noFill/>
        </p:spPr>
        <p:txBody>
          <a:bodyPr wrap="square" anchor="ctr" lIns="73152" rIns="73152" tIns="36576" bIns="36576">
            <a:spAutoFit/>
          </a:bodyPr>
          <a:lstStyle/>
          <a:p>
            <a:pPr algn="l">
              <a:spcAft>
                <a:spcPts val="0"/>
              </a:spcAft>
            </a:pPr>
            <a:r>
              <a:rPr sz="1700" b="0" i="0">
                <a:solidFill>
                  <a:srgbClr val="0F172A"/>
                </a:solidFill>
                <a:latin typeface="Arial"/>
              </a:rPr>
              <a:t>“A single classifier would do”? The model alone loses −$2,475 over 711 trades; the decision process around it adds +$2,450 [+$854, +$3,984], p = 0.002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
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Group 12. Our title is Market-Graded Learning, and it is also our thesis. We built an AI agent that trades NBA prediction markets, and we let the market's closing price grade every part of it: the models, the learned rules and the LLM. The finding is that only the parts that defer to the market survive. If a disciplined agent cannot beat the close, a consumer cannot either, so our product educates and protects instead of giving tips.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parts. First, consumers want to learn: since 2018, 38 US states have legalised sports betting, and the Lancet Public Health Commission estimates 46% of adults worldwide gambled last year. Second, the markets are structurally tilted, which is what we measured: about 5.0% cost per trade, 91% of the price move before the public news, and the market beats our model. Third, published research shows harm: about 80M adults with gambling disorder; online betting lowers credit scores by 2.75 points and raises bankruptcies by about 10%; each dollar of online betting cuts investment by about $0.99. References: Wardle et al., Lancet Public Health 2024; Hollenbeck, Larsen and Proserpio, SSRN 4903302; Baker et al., NBER WP 33108.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research question: can a consumer, even one armed with an AI agent and public news, beat the market? We built the strongest consumer we could: public news, trained models including a neural net trained on the market's own moves, a LangGraph agent with code risk limits and gated rule learning, and an LLM tool agent. A replay walks the season day by day, shows the agent only what was public, and fills every order at the recorded ask plus the Kalshi fee. The answer, tested with confidence intervals, is no: never trading wins.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the title means. Every component is a hypothesis that must pass an evidence gate on recorded prices, and the grader is the market's closing price. The raw win model fails: −$2,475 over the season, and recalibrating it does not help. The neural impact model fails: all 9 configurations are worse than predicting no move. What passes defers to the market: the market anchor, +$2,450 with p 0.002, and gated learning, which passes only by trading less. The newer agentic parts face the same gate; slide 11. So the finding is the product: if a disciplined agent cannot beat the close, a consumer cannot either. We say “we pass” as often as “we trade”.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is all public. From Kalshi: every NBA game-winner market for 2025-26, 2,632 markets on 1,316 games, 3,938,368 one-minute rows of bid, ask and volume, and settlements. From ESPN: three seasons of games, 85,422 box-score rows and 3,371 inactive-list entries, which are our news. Models train on games before 1 February; the agent develops on November to January; the test period is 1 February to 12 April, 501 games; the walk-forward retrains monthly; and the 87 play-off games are a holdout scored once. The replay shows the agent only what was public, counts each inactive list as news 30 minutes before tip, and fills at the recorded ask plus the Kalshi fee.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costs. One hour before tip a $20 order pays half the bid-ask spread plus the Kalshi fee: 1.92 cents per contract on average, 5.0% of the price, and 9–14% on cheap contracts. Our best agent would have made +$36 at the mid but lost −$32 after costs. Even very selective, 74 trades out of 771 decision points, only 27 (36%) beat or matched the closing price.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speed. On the 193 test games where the inactive list moved our win model by at least a point, 91% of the price move in the news direction happened before the inactive list, which is when a retail user reading it could act. We then matched the official NBA injury reports: about two-thirds of the move, 67% with a confidence interval of 47–85%, came before the first official report listing the player out, which itself comes a median of about 6 hours before the inactive list. Assuming no publication lag the share is 49%. Official reports only; beat reporters and social media can be earlier still.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expertise. On 501 test games our win model's Brier score one hour before tip is 0.186, against 0.164 for the market at the same moment; lower is better. When they disagree by more than five points, the market is right in both directions.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deep-learning component is M6. Its label is the market itself: the move of the home price from the decision time to tip-off, so every decision time is a training row. A 16-unit GRU reads the last six hours of the price in 15-minute steps; it is joined with 18 static features such as the anchor, the clock, M4's news shift and who is out, and an MLP outputs the 10th, 50th and 90th percentiles, trained with pinball loss. It cannot beat “the price won't move”: 0.867 against 0.833 cents. To check that this is not a tuning accident, we ran a pre-declared grid of 9 configurations, GRU sizes, history lengths, an MLP and a CNN, with 3 seeds each: every one is worse than zero move, all 18 of 18 confidence intervals above zero, and none ever predicts the 5.5¢ move needed to pay for a trade. Recalibrating the win model does not help either: Brier 0.183 raw, 0.185 Platt, 0.184 isotonic, against 0.164 for the market, because its miscalibration flips between early and late season.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Money over time, after fees; the dashed line at zero is never trading. The red raw model falls steadily, −$2,087 in the test period and −$2,475 over the season: that slope is costs. The agent without learning falls less; the full agent learned rules that mostly say do not trade, so it flattens near zero. Then the honest test: walk-forward over the whole season with the win model retrained monthly and day-clustered bootstrap intervals. Mean closing-line value is below zero for every setup. The full agent's −$25 is indistinguishable from never trading, p 0.53. The market anchor is real, +$2,450, p 0.002; learning only means trading less. On the play-off holdout the full agent made no trades.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then made the agent more agentic, and graded each upgrade the same way, pre-registered before scoring. An LLM tool agent chooses its own as-of tools, with code checking every number and a sceptic asking whether the edge is already priced in. We audited the rule gate against placebo rules, enforced a daily kill switch, tried fractional Kelly sizing, tested the Coach on simulated users, joined pregame, trader and coach under one orchestrator, and tried a learned trade-or-pass policy, a rule language for LLM-written rules, and episodic memory. Results so far: LLM tool agent + sceptic: Not scored (API quota); all 32 valid calls passed; Gate audit + placebo: Random rules pass as often (57% vs 57%); Kill switch: Never triggered (worst day −$54); Coach, simulated users: Users trade less, lose less CLV; per-trade CLV no better. 5 of 9 are still pending at build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product educates and protects instead of encouraging bets. Protect: the agent passes by default, about 90% of decision points, and says why; risk limits and banned words are code the LLM cannot override, and all 9 / 9 planted violations were blocked. Teach: the Coach explains a game with only what was public and shows the break-even after spread and fee. Practise: the League gives everyone the same 10 real past decisions and $1,000 of play money, and ranks on closing-line value, not profit. In our example league the raw-model bot is up +$15 with negative CLV, and the badge says costs, not skill.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 is split across the team. The pregame news loop polls several news sources before a game and turns them into fair odds, pull request 7. The player-feature experiment tested isolated player features and probability calibration, pull request 8. In-play news and odds updates are pull request 9. Live, read-only Polymarket prices are pull requests 11 and 12. The replay, the agent, the models M4 and M6, the evaluation, the Coach and the League are on our main branch. Each part had to face the same market grade.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demo, focused on protection. On the replayed night, watch the agent see the news, compare its estimate with the bid and ask, and usually decline with a reason. In the Coach, I'll make a paper call and compare it with the close. In the League tab I'll make one call on the shared slate, watch the closing line and result being revealed, and show the leaderboard ranked by closing-line value next to the house bots. Then a quick look at the learned rules and planted violations being blocked. If anything fails, we have a backup recording.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recommendations follow from the evidence. Before any order, show the all-in cost and the break-even probability. Warn by default when news is likely already priced in. Put education and play-money practice in front of the first trade, and treat betting harm as a public-health issue, as the Lancet Commission argues. Honest scope: unfair here means structural disadvantages, costs, speed and expertise, not manipulation or fraud, and we make no accusation against Kalshi. We designed the market anchor and the reviewer after seeing the first February-to-April results, so the walk-forward season and the play-off holdout are our headline tests. Thank you, we are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73152"/>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868680"/>
            <a:ext cx="10545775" cy="1097280"/>
          </a:xfrm>
          <a:prstGeom prst="rect">
            <a:avLst/>
          </a:prstGeom>
          <a:noFill/>
        </p:spPr>
        <p:txBody>
          <a:bodyPr wrap="square" anchor="t" lIns="73152" rIns="73152" tIns="36576" bIns="36576">
            <a:spAutoFit/>
          </a:bodyPr>
          <a:lstStyle/>
          <a:p>
            <a:pPr algn="l">
              <a:spcAft>
                <a:spcPts val="800"/>
              </a:spcAft>
            </a:pPr>
            <a:r>
              <a:rPr sz="4800" b="1" i="0">
                <a:solidFill>
                  <a:srgbClr val="FFFFFF"/>
                </a:solidFill>
                <a:latin typeface="Arial"/>
              </a:rPr>
              <a:t>Market-Graded Learning</a:t>
            </a:r>
          </a:p>
        </p:txBody>
      </p:sp>
      <p:sp>
        <p:nvSpPr>
          <p:cNvPr id="5" name="TextBox 4"/>
          <p:cNvSpPr txBox="1"/>
          <p:nvPr/>
        </p:nvSpPr>
        <p:spPr>
          <a:xfrm>
            <a:off x="822960" y="1965960"/>
            <a:ext cx="10545775" cy="2011680"/>
          </a:xfrm>
          <a:prstGeom prst="rect">
            <a:avLst/>
          </a:prstGeom>
          <a:noFill/>
        </p:spPr>
        <p:txBody>
          <a:bodyPr wrap="square" anchor="t" lIns="73152" rIns="73152" tIns="36576" bIns="36576">
            <a:spAutoFit/>
          </a:bodyPr>
          <a:lstStyle/>
          <a:p>
            <a:pPr algn="l">
              <a:spcAft>
                <a:spcPts val="800"/>
              </a:spcAft>
            </a:pPr>
            <a:r>
              <a:rPr sz="2400" b="0" i="0">
                <a:solidFill>
                  <a:srgbClr val="CBD5E1"/>
                </a:solidFill>
                <a:latin typeface="Arial"/>
              </a:rPr>
              <a:t>The market's closing price grades every part of our NBA trading agent. Only the parts that defer to the market survive, so a consumer betting against it is at a structural disadvantage.</a:t>
            </a:r>
          </a:p>
        </p:txBody>
      </p:sp>
      <p:sp>
        <p:nvSpPr>
          <p:cNvPr id="6" name="TextBox 5"/>
          <p:cNvSpPr txBox="1"/>
          <p:nvPr/>
        </p:nvSpPr>
        <p:spPr>
          <a:xfrm>
            <a:off x="822960" y="4434840"/>
            <a:ext cx="10545775" cy="1737360"/>
          </a:xfrm>
          <a:prstGeom prst="rect">
            <a:avLst/>
          </a:prstGeom>
          <a:noFill/>
        </p:spPr>
        <p:txBody>
          <a:bodyPr wrap="square" anchor="t" lIns="73152" rIns="73152" tIns="36576" bIns="36576">
            <a:spAutoFit/>
          </a:bodyPr>
          <a:lstStyle/>
          <a:p>
            <a:pPr algn="l">
              <a:spcAft>
                <a:spcPts val="800"/>
              </a:spcAft>
            </a:pPr>
            <a:r>
              <a:rPr sz="2000" b="0" i="0">
                <a:solidFill>
                  <a:srgbClr val="FFFFFF"/>
                </a:solidFill>
                <a:latin typeface="Arial"/>
              </a:rPr>
              <a:t>Market-Graded Learning for NBA Game-Impact Intelligence</a:t>
            </a:r>
          </a:p>
          <a:p>
            <a:pPr algn="l">
              <a:spcAft>
                <a:spcPts val="800"/>
              </a:spcAft>
            </a:pPr>
            <a:r>
              <a:rPr sz="2000" b="0" i="0">
                <a:solidFill>
                  <a:srgbClr val="FFFFFF"/>
                </a:solidFill>
                <a:latin typeface="Arial"/>
              </a:rPr>
              <a:t>DASC7606C (COMP7606) · Group 12 · Track 2: Agentic Framework Design</a:t>
            </a:r>
          </a:p>
          <a:p>
            <a:pPr algn="l">
              <a:spcAft>
                <a:spcPts val="800"/>
              </a:spcAft>
            </a:pPr>
            <a:r>
              <a:rPr sz="2000" b="0" i="0">
                <a:solidFill>
                  <a:srgbClr val="FFFFFF"/>
                </a:solidFill>
                <a:latin typeface="Arial"/>
              </a:rPr>
              <a:t>Presenter: Ngan Tsz Sui · Friday 9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77295" cy="685800"/>
          </a:xfrm>
          <a:prstGeom prst="rect">
            <a:avLst/>
          </a:prstGeom>
          <a:noFill/>
        </p:spPr>
        <p:txBody>
          <a:bodyPr wrap="square" anchor="ctr" lIns="73152" rIns="73152" tIns="36576" bIns="36576">
            <a:spAutoFit/>
          </a:bodyPr>
          <a:lstStyle/>
          <a:p>
            <a:pPr algn="l">
              <a:spcAft>
                <a:spcPts val="0"/>
              </a:spcAft>
            </a:pPr>
            <a:r>
              <a:rPr sz="3000" b="1" i="0">
                <a:solidFill>
                  <a:srgbClr val="FFFFFF"/>
                </a:solidFill>
                <a:latin typeface="Arial"/>
              </a:rPr>
              <a:t>The problem: three things consumers face</a:t>
            </a:r>
          </a:p>
        </p:txBody>
      </p:sp>
      <p:sp>
        <p:nvSpPr>
          <p:cNvPr id="5" name="TextBox 4"/>
          <p:cNvSpPr txBox="1"/>
          <p:nvPr/>
        </p:nvSpPr>
        <p:spPr>
          <a:xfrm>
            <a:off x="457200" y="6446520"/>
            <a:ext cx="9144000" cy="320040"/>
          </a:xfrm>
          <a:prstGeom prst="rect">
            <a:avLst/>
          </a:prstGeom>
          <a:noFill/>
        </p:spPr>
        <p:txBody>
          <a:bodyPr wrap="square" anchor="t" lIns="73152" rIns="73152" tIns="36576" bIns="36576">
            <a:spAutoFit/>
          </a:bodyPr>
          <a:lstStyle/>
          <a:p>
            <a:pPr algn="l">
              <a:spcAft>
                <a:spcPts val="0"/>
              </a:spcAft>
            </a:pPr>
            <a:r>
              <a:rPr sz="1100" b="0" i="0">
                <a:solidFill>
                  <a:srgbClr val="64748B"/>
                </a:solidFill>
                <a:latin typeface="Arial"/>
              </a:rPr>
              <a:t>DASC7606C Group 12 · Market-Graded Learning: the closing price grades every component</a:t>
            </a:r>
          </a:p>
        </p:txBody>
      </p:sp>
      <p:sp>
        <p:nvSpPr>
          <p:cNvPr id="6" name="TextBox 5"/>
          <p:cNvSpPr txBox="1"/>
          <p:nvPr/>
        </p:nvSpPr>
        <p:spPr>
          <a:xfrm>
            <a:off x="10820095" y="6446520"/>
            <a:ext cx="914400" cy="320040"/>
          </a:xfrm>
          <a:prstGeom prst="rect">
            <a:avLst/>
          </a:prstGeom>
          <a:noFill/>
        </p:spPr>
        <p:txBody>
          <a:bodyPr wrap="square" anchor="t" lIns="73152" rIns="73152" tIns="36576" bIns="36576">
            <a:spAutoFit/>
          </a:bodyPr>
          <a:lstStyle/>
          <a:p>
            <a:pPr algn="r">
              <a:spcAft>
                <a:spcPts val="0"/>
              </a:spcAft>
            </a:pPr>
            <a:r>
              <a:rPr sz="1100" b="0" i="0">
                <a:solidFill>
                  <a:srgbClr val="64748B"/>
                </a:solidFill>
                <a:latin typeface="Arial"/>
              </a:rPr>
              <a:t>2</a:t>
            </a:r>
          </a:p>
        </p:txBody>
      </p:sp>
      <p:sp>
        <p:nvSpPr>
          <p:cNvPr id="7" name="Rounded Rectangle 6"/>
          <p:cNvSpPr/>
          <p:nvPr/>
        </p:nvSpPr>
        <p:spPr>
          <a:xfrm>
            <a:off x="457200" y="1234439"/>
            <a:ext cx="3606698" cy="3246120"/>
          </a:xfrm>
          <a:prstGeom prst="roundRect">
            <a:avLst>
              <a:gd name="adj" fmla="val 6000"/>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34439"/>
            <a:ext cx="109728" cy="32461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307592"/>
            <a:ext cx="3332378" cy="457200"/>
          </a:xfrm>
          <a:prstGeom prst="rect">
            <a:avLst/>
          </a:prstGeom>
          <a:noFill/>
        </p:spPr>
        <p:txBody>
          <a:bodyPr wrap="square" anchor="t" lIns="73152" rIns="73152" tIns="36576" bIns="36576">
            <a:spAutoFit/>
          </a:bodyPr>
          <a:lstStyle/>
          <a:p>
            <a:pPr algn="l">
              <a:spcAft>
                <a:spcPts val="0"/>
              </a:spcAft>
            </a:pPr>
            <a:r>
              <a:rPr sz="2000" b="1" i="0">
                <a:solidFill>
                  <a:srgbClr val="2563EB"/>
                </a:solidFill>
                <a:latin typeface="Arial"/>
              </a:rPr>
              <a:t>1  People want to learn</a:t>
            </a:r>
          </a:p>
        </p:txBody>
      </p:sp>
      <p:sp>
        <p:nvSpPr>
          <p:cNvPr id="10" name="TextBox 9"/>
          <p:cNvSpPr txBox="1"/>
          <p:nvPr/>
        </p:nvSpPr>
        <p:spPr>
          <a:xfrm>
            <a:off x="640080" y="1764791"/>
            <a:ext cx="3332378" cy="2642615"/>
          </a:xfrm>
          <a:prstGeom prst="rect">
            <a:avLst/>
          </a:prstGeom>
          <a:noFill/>
        </p:spPr>
        <p:txBody>
          <a:bodyPr wrap="square" anchor="t" lIns="73152" rIns="73152" tIns="36576" bIns="36576">
            <a:spAutoFit/>
          </a:bodyPr>
          <a:lstStyle/>
          <a:p>
            <a:pPr algn="l" marL="292608" indent="-256032">
              <a:spcAft>
                <a:spcPts val="600"/>
              </a:spcAft>
              <a:buChar char="•"/>
            </a:pPr>
            <a:r>
              <a:rPr sz="1800" b="0" i="0">
                <a:solidFill>
                  <a:srgbClr val="0F172A"/>
                </a:solidFill>
                <a:latin typeface="Arial"/>
              </a:rPr>
              <a:t>Mainstream: legal in 38 US states since 2018 ¹</a:t>
            </a:r>
          </a:p>
          <a:p>
            <a:pPr algn="l" marL="292608" indent="-256032">
              <a:spcAft>
                <a:spcPts val="600"/>
              </a:spcAft>
              <a:buChar char="•"/>
            </a:pPr>
            <a:r>
              <a:rPr sz="1800" b="0" i="0">
                <a:solidFill>
                  <a:srgbClr val="0F172A"/>
                </a:solidFill>
                <a:latin typeface="Arial"/>
              </a:rPr>
              <a:t>46% of adults worldwide gambled last year ²</a:t>
            </a:r>
          </a:p>
          <a:p>
            <a:pPr algn="l" marL="292608" indent="-256032">
              <a:spcAft>
                <a:spcPts val="600"/>
              </a:spcAft>
              <a:buChar char="•"/>
            </a:pPr>
            <a:r>
              <a:rPr sz="1800" b="0" i="0">
                <a:solidFill>
                  <a:srgbClr val="0F172A"/>
                </a:solidFill>
                <a:latin typeface="Arial"/>
              </a:rPr>
              <a:t>Few understand prices, fees and spreads</a:t>
            </a:r>
          </a:p>
        </p:txBody>
      </p:sp>
      <p:sp>
        <p:nvSpPr>
          <p:cNvPr id="11" name="Rounded Rectangle 10"/>
          <p:cNvSpPr/>
          <p:nvPr/>
        </p:nvSpPr>
        <p:spPr>
          <a:xfrm>
            <a:off x="4292498" y="1234439"/>
            <a:ext cx="3606698" cy="3246120"/>
          </a:xfrm>
          <a:prstGeom prst="roundRect">
            <a:avLst>
              <a:gd name="adj" fmla="val 6000"/>
            </a:avLst>
          </a:prstGeom>
          <a:solidFill>
            <a:srgbClr val="FFFFFF"/>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2498" y="1234439"/>
            <a:ext cx="109728" cy="32461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75378" y="1307592"/>
            <a:ext cx="3332378" cy="457200"/>
          </a:xfrm>
          <a:prstGeom prst="rect">
            <a:avLst/>
          </a:prstGeom>
          <a:noFill/>
        </p:spPr>
        <p:txBody>
          <a:bodyPr wrap="square" anchor="t" lIns="73152" rIns="73152" tIns="36576" bIns="36576">
            <a:spAutoFit/>
          </a:bodyPr>
          <a:lstStyle/>
          <a:p>
            <a:pPr algn="l">
              <a:spcAft>
                <a:spcPts val="0"/>
              </a:spcAft>
            </a:pPr>
            <a:r>
              <a:rPr sz="2000" b="1" i="0">
                <a:solidFill>
                  <a:srgbClr val="EA580C"/>
                </a:solidFill>
                <a:latin typeface="Arial"/>
              </a:rPr>
              <a:t>2  Markets are tilted</a:t>
            </a:r>
          </a:p>
        </p:txBody>
      </p:sp>
      <p:sp>
        <p:nvSpPr>
          <p:cNvPr id="14" name="TextBox 13"/>
          <p:cNvSpPr txBox="1"/>
          <p:nvPr/>
        </p:nvSpPr>
        <p:spPr>
          <a:xfrm>
            <a:off x="4475378" y="1764791"/>
            <a:ext cx="3332378" cy="2642615"/>
          </a:xfrm>
          <a:prstGeom prst="rect">
            <a:avLst/>
          </a:prstGeom>
          <a:noFill/>
        </p:spPr>
        <p:txBody>
          <a:bodyPr wrap="square" anchor="t" lIns="73152" rIns="73152" tIns="36576" bIns="36576">
            <a:spAutoFit/>
          </a:bodyPr>
          <a:lstStyle/>
          <a:p>
            <a:pPr algn="l" marL="292608" indent="-256032">
              <a:spcAft>
                <a:spcPts val="600"/>
              </a:spcAft>
              <a:buChar char="•"/>
            </a:pPr>
            <a:r>
              <a:rPr sz="1800" b="0" i="0">
                <a:solidFill>
                  <a:srgbClr val="0F172A"/>
                </a:solidFill>
                <a:latin typeface="Arial"/>
              </a:rPr>
              <a:t>~5.0% cost on every trade</a:t>
            </a:r>
          </a:p>
          <a:p>
            <a:pPr algn="l" marL="292608" indent="-256032">
              <a:spcAft>
                <a:spcPts val="600"/>
              </a:spcAft>
              <a:buChar char="•"/>
            </a:pPr>
            <a:r>
              <a:rPr sz="1800" b="0" i="0">
                <a:solidFill>
                  <a:srgbClr val="0F172A"/>
                </a:solidFill>
                <a:latin typeface="Arial"/>
              </a:rPr>
              <a:t>91% of the price move comes before the public news</a:t>
            </a:r>
          </a:p>
          <a:p>
            <a:pPr algn="l" marL="292608" indent="-256032">
              <a:spcAft>
                <a:spcPts val="600"/>
              </a:spcAft>
              <a:buChar char="•"/>
            </a:pPr>
            <a:r>
              <a:rPr sz="1800" b="0" i="0">
                <a:solidFill>
                  <a:srgbClr val="0F172A"/>
                </a:solidFill>
                <a:latin typeface="Arial"/>
              </a:rPr>
              <a:t>The market beats our model; never trading wins</a:t>
            </a:r>
          </a:p>
        </p:txBody>
      </p:sp>
      <p:sp>
        <p:nvSpPr>
          <p:cNvPr id="15" name="Rounded Rectangle 14"/>
          <p:cNvSpPr/>
          <p:nvPr/>
        </p:nvSpPr>
        <p:spPr>
          <a:xfrm>
            <a:off x="8127796" y="1234439"/>
            <a:ext cx="3606698" cy="3246120"/>
          </a:xfrm>
          <a:prstGeom prst="roundRect">
            <a:avLst>
              <a:gd name="adj" fmla="val 6000"/>
            </a:avLst>
          </a:prstGeom>
          <a:solidFill>
            <a:srgbClr val="FFFFFF"/>
          </a:solidFill>
          <a:ln w="1587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27796" y="1234439"/>
            <a:ext cx="109728" cy="32461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10676" y="1307592"/>
            <a:ext cx="3332378" cy="457200"/>
          </a:xfrm>
          <a:prstGeom prst="rect">
            <a:avLst/>
          </a:prstGeom>
          <a:noFill/>
        </p:spPr>
        <p:txBody>
          <a:bodyPr wrap="square" anchor="t" lIns="73152" rIns="73152" tIns="36576" bIns="36576">
            <a:spAutoFit/>
          </a:bodyPr>
          <a:lstStyle/>
          <a:p>
            <a:pPr algn="l">
              <a:spcAft>
                <a:spcPts val="0"/>
              </a:spcAft>
            </a:pPr>
            <a:r>
              <a:rPr sz="2000" b="1" i="0">
                <a:solidFill>
                  <a:srgbClr val="DC2626"/>
                </a:solidFill>
                <a:latin typeface="Arial"/>
              </a:rPr>
              <a:t>3  Betting causes harm</a:t>
            </a:r>
          </a:p>
        </p:txBody>
      </p:sp>
      <p:sp>
        <p:nvSpPr>
          <p:cNvPr id="18" name="TextBox 17"/>
          <p:cNvSpPr txBox="1"/>
          <p:nvPr/>
        </p:nvSpPr>
        <p:spPr>
          <a:xfrm>
            <a:off x="8310676" y="1764791"/>
            <a:ext cx="3332378" cy="2642615"/>
          </a:xfrm>
          <a:prstGeom prst="rect">
            <a:avLst/>
          </a:prstGeom>
          <a:noFill/>
        </p:spPr>
        <p:txBody>
          <a:bodyPr wrap="square" anchor="t" lIns="73152" rIns="73152" tIns="36576" bIns="36576">
            <a:spAutoFit/>
          </a:bodyPr>
          <a:lstStyle/>
          <a:p>
            <a:pPr algn="l" marL="292608" indent="-256032">
              <a:spcAft>
                <a:spcPts val="600"/>
              </a:spcAft>
              <a:buChar char="•"/>
            </a:pPr>
            <a:r>
              <a:rPr sz="1800" b="0" i="0">
                <a:solidFill>
                  <a:srgbClr val="0F172A"/>
                </a:solidFill>
                <a:latin typeface="Arial"/>
              </a:rPr>
              <a:t>~80M adults with gambling disorder or problem gambling ²</a:t>
            </a:r>
          </a:p>
          <a:p>
            <a:pPr algn="l" marL="292608" indent="-256032">
              <a:spcAft>
                <a:spcPts val="600"/>
              </a:spcAft>
              <a:buChar char="•"/>
            </a:pPr>
            <a:r>
              <a:rPr sz="1800" b="0" i="0">
                <a:solidFill>
                  <a:srgbClr val="0F172A"/>
                </a:solidFill>
                <a:latin typeface="Arial"/>
              </a:rPr>
              <a:t>Online betting: credit scores −2.75 pts, bankruptcies +~10% ¹</a:t>
            </a:r>
          </a:p>
          <a:p>
            <a:pPr algn="l" marL="292608" indent="-256032">
              <a:spcAft>
                <a:spcPts val="600"/>
              </a:spcAft>
              <a:buChar char="•"/>
            </a:pPr>
            <a:r>
              <a:rPr sz="1800" b="0" i="0">
                <a:solidFill>
                  <a:srgbClr val="0F172A"/>
                </a:solidFill>
                <a:latin typeface="Arial"/>
              </a:rPr>
              <a:t>$1 of online betting cuts investment ~$0.99 ³</a:t>
            </a:r>
          </a:p>
        </p:txBody>
      </p:sp>
      <p:sp>
        <p:nvSpPr>
          <p:cNvPr id="19" name="TextBox 18"/>
          <p:cNvSpPr txBox="1"/>
          <p:nvPr/>
        </p:nvSpPr>
        <p:spPr>
          <a:xfrm>
            <a:off x="4292498" y="4526280"/>
            <a:ext cx="3606698" cy="411480"/>
          </a:xfrm>
          <a:prstGeom prst="rect">
            <a:avLst/>
          </a:prstGeom>
          <a:noFill/>
        </p:spPr>
        <p:txBody>
          <a:bodyPr wrap="square" anchor="t" lIns="73152" rIns="73152" tIns="36576" bIns="36576">
            <a:spAutoFit/>
          </a:bodyPr>
          <a:lstStyle/>
          <a:p>
            <a:pPr algn="ctr">
              <a:spcAft>
                <a:spcPts val="800"/>
              </a:spcAft>
            </a:pPr>
            <a:r>
              <a:rPr sz="1400" b="0" i="1">
                <a:solidFill>
                  <a:srgbClr val="EA580C"/>
                </a:solidFill>
                <a:latin typeface="Arial"/>
              </a:rPr>
              <a:t>Our measurements</a:t>
            </a:r>
          </a:p>
        </p:txBody>
      </p:sp>
      <p:sp>
        <p:nvSpPr>
          <p:cNvPr id="20" name="TextBox 19"/>
          <p:cNvSpPr txBox="1"/>
          <p:nvPr/>
        </p:nvSpPr>
        <p:spPr>
          <a:xfrm>
            <a:off x="8127796" y="4526280"/>
            <a:ext cx="3606698" cy="411480"/>
          </a:xfrm>
          <a:prstGeom prst="rect">
            <a:avLst/>
          </a:prstGeom>
          <a:noFill/>
        </p:spPr>
        <p:txBody>
          <a:bodyPr wrap="square" anchor="t" lIns="73152" rIns="73152" tIns="36576" bIns="36576">
            <a:spAutoFit/>
          </a:bodyPr>
          <a:lstStyle/>
          <a:p>
            <a:pPr algn="ctr">
              <a:spcAft>
                <a:spcPts val="800"/>
              </a:spcAft>
            </a:pPr>
            <a:r>
              <a:rPr sz="1400" b="0" i="1">
                <a:solidFill>
                  <a:srgbClr val="DC2626"/>
                </a:solidFill>
                <a:latin typeface="Arial"/>
              </a:rPr>
              <a:t>External research</a:t>
            </a:r>
          </a:p>
        </p:txBody>
      </p:sp>
      <p:sp>
        <p:nvSpPr>
          <p:cNvPr id="21" name="Rounded Rectangle 20"/>
          <p:cNvSpPr/>
          <p:nvPr/>
        </p:nvSpPr>
        <p:spPr>
          <a:xfrm>
            <a:off x="457200" y="5074920"/>
            <a:ext cx="11277295" cy="640080"/>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074920"/>
            <a:ext cx="11094415" cy="640080"/>
          </a:xfrm>
          <a:prstGeom prst="rect">
            <a:avLst/>
          </a:prstGeom>
          <a:noFill/>
        </p:spPr>
        <p:txBody>
          <a:bodyPr wrap="square" anchor="ctr" lIns="73152" rIns="73152" tIns="36576" bIns="36576">
            <a:spAutoFit/>
          </a:bodyPr>
          <a:lstStyle/>
          <a:p>
            <a:pPr algn="l">
              <a:spcAft>
                <a:spcPts val="0"/>
              </a:spcAft>
            </a:pPr>
            <a:r>
              <a:rPr sz="2200" b="0" i="0">
                <a:solidFill>
                  <a:srgbClr val="0F172A"/>
                </a:solidFill>
                <a:latin typeface="Arial"/>
              </a:rPr>
              <a:t>Consumers need education and protection, not betting tips</a:t>
            </a:r>
          </a:p>
        </p:txBody>
      </p:sp>
      <p:sp>
        <p:nvSpPr>
          <p:cNvPr id="23" name="TextBox 22"/>
          <p:cNvSpPr txBox="1"/>
          <p:nvPr/>
        </p:nvSpPr>
        <p:spPr>
          <a:xfrm>
            <a:off x="457200" y="5897880"/>
            <a:ext cx="11277295" cy="457200"/>
          </a:xfrm>
          <a:prstGeom prst="rect">
            <a:avLst/>
          </a:prstGeom>
          <a:noFill/>
        </p:spPr>
        <p:txBody>
          <a:bodyPr wrap="square" anchor="t" lIns="73152" rIns="73152" tIns="36576" bIns="36576">
            <a:spAutoFit/>
          </a:bodyPr>
          <a:lstStyle/>
          <a:p>
            <a:pPr algn="l">
              <a:spcAft>
                <a:spcPts val="800"/>
              </a:spcAft>
            </a:pPr>
            <a:r>
              <a:rPr sz="1300" b="0" i="0">
                <a:solidFill>
                  <a:srgbClr val="64748B"/>
                </a:solidFill>
                <a:latin typeface="Arial"/>
              </a:rPr>
              <a:t>¹ Hollenbeck, Larsen &amp; Proserpio 2024 (SSRN)   ² Lancet Public Health Commission on gambling 2024   ³ Baker et al. 2024 (NBER WP 33108)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77295" cy="685800"/>
          </a:xfrm>
          <a:prstGeom prst="rect">
            <a:avLst/>
          </a:prstGeom>
          <a:noFill/>
        </p:spPr>
        <p:txBody>
          <a:bodyPr wrap="square" anchor="ctr" lIns="73152" rIns="73152" tIns="36576" bIns="36576">
            <a:spAutoFit/>
          </a:bodyPr>
          <a:lstStyle/>
          <a:p>
            <a:pPr algn="l">
              <a:spcAft>
                <a:spcPts val="0"/>
              </a:spcAft>
            </a:pPr>
            <a:r>
              <a:rPr sz="3000" b="1" i="0">
                <a:solidFill>
                  <a:srgbClr val="FFFFFF"/>
                </a:solidFill>
                <a:latin typeface="Arial"/>
              </a:rPr>
              <a:t>Research question, and what we built to test it</a:t>
            </a:r>
          </a:p>
        </p:txBody>
      </p:sp>
      <p:sp>
        <p:nvSpPr>
          <p:cNvPr id="5" name="TextBox 4"/>
          <p:cNvSpPr txBox="1"/>
          <p:nvPr/>
        </p:nvSpPr>
        <p:spPr>
          <a:xfrm>
            <a:off x="457200" y="6446520"/>
            <a:ext cx="9144000" cy="320040"/>
          </a:xfrm>
          <a:prstGeom prst="rect">
            <a:avLst/>
          </a:prstGeom>
          <a:noFill/>
        </p:spPr>
        <p:txBody>
          <a:bodyPr wrap="square" anchor="t" lIns="73152" rIns="73152" tIns="36576" bIns="36576">
            <a:spAutoFit/>
          </a:bodyPr>
          <a:lstStyle/>
          <a:p>
            <a:pPr algn="l">
              <a:spcAft>
                <a:spcPts val="0"/>
              </a:spcAft>
            </a:pPr>
            <a:r>
              <a:rPr sz="1100" b="0" i="0">
                <a:solidFill>
                  <a:srgbClr val="64748B"/>
                </a:solidFill>
                <a:latin typeface="Arial"/>
              </a:rPr>
              <a:t>DASC7606C Group 12 · Market-Graded Learning: the closing price grades every component</a:t>
            </a:r>
          </a:p>
        </p:txBody>
      </p:sp>
      <p:sp>
        <p:nvSpPr>
          <p:cNvPr id="6" name="TextBox 5"/>
          <p:cNvSpPr txBox="1"/>
          <p:nvPr/>
        </p:nvSpPr>
        <p:spPr>
          <a:xfrm>
            <a:off x="10820095" y="6446520"/>
            <a:ext cx="914400" cy="320040"/>
          </a:xfrm>
          <a:prstGeom prst="rect">
            <a:avLst/>
          </a:prstGeom>
          <a:noFill/>
        </p:spPr>
        <p:txBody>
          <a:bodyPr wrap="square" anchor="t" lIns="73152" rIns="73152" tIns="36576" bIns="36576">
            <a:spAutoFit/>
          </a:bodyPr>
          <a:lstStyle/>
          <a:p>
            <a:pPr algn="r">
              <a:spcAft>
                <a:spcPts val="0"/>
              </a:spcAft>
            </a:pPr>
            <a:r>
              <a:rPr sz="1100" b="0" i="0">
                <a:solidFill>
                  <a:srgbClr val="64748B"/>
                </a:solidFill>
                <a:latin typeface="Arial"/>
              </a:rPr>
              <a:t>3</a:t>
            </a:r>
          </a:p>
        </p:txBody>
      </p:sp>
      <p:sp>
        <p:nvSpPr>
          <p:cNvPr id="7" name="Rounded Rectangle 6"/>
          <p:cNvSpPr/>
          <p:nvPr/>
        </p:nvSpPr>
        <p:spPr>
          <a:xfrm>
            <a:off x="457200" y="1188720"/>
            <a:ext cx="11277295" cy="868680"/>
          </a:xfrm>
          <a:prstGeom prst="roundRect">
            <a:avLst>
              <a:gd name="adj" fmla="val 12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188720"/>
            <a:ext cx="11094415" cy="868680"/>
          </a:xfrm>
          <a:prstGeom prst="rect">
            <a:avLst/>
          </a:prstGeom>
          <a:noFill/>
        </p:spPr>
        <p:txBody>
          <a:bodyPr wrap="square" anchor="ctr" lIns="73152" rIns="73152" tIns="36576" bIns="36576">
            <a:spAutoFit/>
          </a:bodyPr>
          <a:lstStyle/>
          <a:p>
            <a:pPr algn="l">
              <a:spcAft>
                <a:spcPts val="0"/>
              </a:spcAft>
            </a:pPr>
            <a:r>
              <a:rPr sz="2600" b="0" i="0">
                <a:solidFill>
                  <a:srgbClr val="1E293B"/>
                </a:solidFill>
                <a:latin typeface="Arial"/>
              </a:rPr>
              <a:t>Can a consumer, even one armed with an AI agent and public news, beat the market?</a:t>
            </a:r>
          </a:p>
        </p:txBody>
      </p:sp>
      <p:sp>
        <p:nvSpPr>
          <p:cNvPr id="9" name="TextBox 8"/>
          <p:cNvSpPr txBox="1"/>
          <p:nvPr/>
        </p:nvSpPr>
        <p:spPr>
          <a:xfrm>
            <a:off x="457200" y="2194560"/>
            <a:ext cx="5212080" cy="3017520"/>
          </a:xfrm>
          <a:prstGeom prst="rect">
            <a:avLst/>
          </a:prstGeom>
          <a:noFill/>
        </p:spPr>
        <p:txBody>
          <a:bodyPr wrap="square" anchor="t" lIns="73152" rIns="73152" tIns="36576" bIns="36576">
            <a:spAutoFit/>
          </a:bodyPr>
          <a:lstStyle/>
          <a:p>
            <a:pPr algn="l">
              <a:spcAft>
                <a:spcPts val="600"/>
              </a:spcAft>
            </a:pPr>
            <a:r>
              <a:rPr sz="1700" b="1" i="0">
                <a:solidFill>
                  <a:srgbClr val="1E293B"/>
                </a:solidFill>
                <a:latin typeface="Arial"/>
              </a:rPr>
              <a:t>We built the strongest consumer we could:</a:t>
            </a:r>
          </a:p>
          <a:p>
            <a:pPr algn="l" marL="292608" indent="-256032">
              <a:spcAft>
                <a:spcPts val="600"/>
              </a:spcAft>
              <a:buChar char="•"/>
            </a:pPr>
            <a:r>
              <a:rPr sz="1700" b="0" i="0">
                <a:solidFill>
                  <a:srgbClr val="0F172A"/>
                </a:solidFill>
                <a:latin typeface="Arial"/>
              </a:rPr>
              <a:t>Public news: ESPN inactive lists and box scores, 3 seasons</a:t>
            </a:r>
          </a:p>
          <a:p>
            <a:pPr algn="l" marL="292608" indent="-256032">
              <a:spcAft>
                <a:spcPts val="600"/>
              </a:spcAft>
              <a:buChar char="•"/>
            </a:pPr>
            <a:r>
              <a:rPr sz="1700" b="0" i="0">
                <a:solidFill>
                  <a:srgbClr val="0F172A"/>
                </a:solidFill>
                <a:latin typeface="Arial"/>
              </a:rPr>
              <a:t>Trained models, incl. a neural net trained on the market's own moves</a:t>
            </a:r>
          </a:p>
          <a:p>
            <a:pPr algn="l" marL="292608" indent="-256032">
              <a:spcAft>
                <a:spcPts val="600"/>
              </a:spcAft>
              <a:buChar char="•"/>
            </a:pPr>
            <a:r>
              <a:rPr sz="1700" b="0" i="0">
                <a:solidFill>
                  <a:srgbClr val="0F172A"/>
                </a:solidFill>
                <a:latin typeface="Arial"/>
              </a:rPr>
              <a:t>LangGraph agent; code risk limits; gated rule learning; LLM tools</a:t>
            </a:r>
          </a:p>
          <a:p>
            <a:pPr algn="l" marL="292608" indent="-256032">
              <a:spcAft>
                <a:spcPts val="600"/>
              </a:spcAft>
              <a:buChar char="•"/>
            </a:pPr>
            <a:r>
              <a:rPr sz="1700" b="0" i="0">
                <a:solidFill>
                  <a:srgbClr val="0F172A"/>
                </a:solidFill>
                <a:latin typeface="Arial"/>
              </a:rPr>
              <a:t>Graded on 1,316 Kalshi games (~3.9M price rows); every order pays the recorded ask + fee</a:t>
            </a:r>
          </a:p>
        </p:txBody>
      </p:sp>
      <p:pic>
        <p:nvPicPr>
          <p:cNvPr id="10" name="Picture 9" descr="product_workflow.png"/>
          <p:cNvPicPr>
            <a:picLocks noChangeAspect="1"/>
          </p:cNvPicPr>
          <p:nvPr/>
        </p:nvPicPr>
        <p:blipFill>
          <a:blip r:embed="rId3"/>
          <a:stretch>
            <a:fillRect/>
          </a:stretch>
        </p:blipFill>
        <p:spPr>
          <a:xfrm>
            <a:off x="5806440" y="2254293"/>
            <a:ext cx="5928055" cy="2898053"/>
          </a:xfrm>
          <a:prstGeom prst="rect">
            <a:avLst/>
          </a:prstGeom>
        </p:spPr>
      </p:pic>
      <p:sp>
        <p:nvSpPr>
          <p:cNvPr id="11" name="Rounded Rectangle 10"/>
          <p:cNvSpPr/>
          <p:nvPr/>
        </p:nvSpPr>
        <p:spPr>
          <a:xfrm>
            <a:off x="457200" y="5349240"/>
            <a:ext cx="11277295" cy="868680"/>
          </a:xfrm>
          <a:prstGeom prst="roundRect">
            <a:avLst>
              <a:gd name="adj" fmla="val 12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349240"/>
            <a:ext cx="10728655" cy="868680"/>
          </a:xfrm>
          <a:prstGeom prst="rect">
            <a:avLst/>
          </a:prstGeom>
          <a:noFill/>
        </p:spPr>
        <p:txBody>
          <a:bodyPr wrap="square" anchor="ctr" lIns="73152" rIns="73152" tIns="36576" bIns="36576">
            <a:spAutoFit/>
          </a:bodyPr>
          <a:lstStyle/>
          <a:p>
            <a:pPr algn="l">
              <a:spcAft>
                <a:spcPts val="0"/>
              </a:spcAft>
            </a:pPr>
            <a:r>
              <a:rPr sz="2100" b="1" i="0">
                <a:solidFill>
                  <a:srgbClr val="FFFFFF"/>
                </a:solidFill>
                <a:latin typeface="Arial"/>
              </a:rPr>
              <a:t>Answer: no.</a:t>
            </a:r>
            <a:r>
              <a:rPr sz="2100" b="0" i="0">
                <a:solidFill>
                  <a:srgbClr val="FFFFFF"/>
                </a:solidFill>
                <a:latin typeface="Arial"/>
              </a:rPr>
              <a:t> Tested with confidence intervals, never trading wins, so the product educates and protects instead.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77295" cy="685800"/>
          </a:xfrm>
          <a:prstGeom prst="rect">
            <a:avLst/>
          </a:prstGeom>
          <a:noFill/>
        </p:spPr>
        <p:txBody>
          <a:bodyPr wrap="square" anchor="ctr" lIns="73152" rIns="73152" tIns="36576" bIns="36576">
            <a:spAutoFit/>
          </a:bodyPr>
          <a:lstStyle/>
          <a:p>
            <a:pPr algn="l">
              <a:spcAft>
                <a:spcPts val="0"/>
              </a:spcAft>
            </a:pPr>
            <a:r>
              <a:rPr sz="3000" b="1" i="0">
                <a:solidFill>
                  <a:srgbClr val="FFFFFF"/>
                </a:solidFill>
                <a:latin typeface="Arial"/>
              </a:rPr>
              <a:t>Market-Graded Learning: the closing price is the grader</a:t>
            </a:r>
          </a:p>
        </p:txBody>
      </p:sp>
      <p:sp>
        <p:nvSpPr>
          <p:cNvPr id="5" name="TextBox 4"/>
          <p:cNvSpPr txBox="1"/>
          <p:nvPr/>
        </p:nvSpPr>
        <p:spPr>
          <a:xfrm>
            <a:off x="457200" y="6446520"/>
            <a:ext cx="9144000" cy="320040"/>
          </a:xfrm>
          <a:prstGeom prst="rect">
            <a:avLst/>
          </a:prstGeom>
          <a:noFill/>
        </p:spPr>
        <p:txBody>
          <a:bodyPr wrap="square" anchor="t" lIns="73152" rIns="73152" tIns="36576" bIns="36576">
            <a:spAutoFit/>
          </a:bodyPr>
          <a:lstStyle/>
          <a:p>
            <a:pPr algn="l">
              <a:spcAft>
                <a:spcPts val="0"/>
              </a:spcAft>
            </a:pPr>
            <a:r>
              <a:rPr sz="1100" b="0" i="0">
                <a:solidFill>
                  <a:srgbClr val="64748B"/>
                </a:solidFill>
                <a:latin typeface="Arial"/>
              </a:rPr>
              <a:t>DASC7606C Group 12 · Market-Graded Learning: the closing price grades every component</a:t>
            </a:r>
          </a:p>
        </p:txBody>
      </p:sp>
      <p:sp>
        <p:nvSpPr>
          <p:cNvPr id="6" name="TextBox 5"/>
          <p:cNvSpPr txBox="1"/>
          <p:nvPr/>
        </p:nvSpPr>
        <p:spPr>
          <a:xfrm>
            <a:off x="10820095" y="6446520"/>
            <a:ext cx="914400" cy="320040"/>
          </a:xfrm>
          <a:prstGeom prst="rect">
            <a:avLst/>
          </a:prstGeom>
          <a:noFill/>
        </p:spPr>
        <p:txBody>
          <a:bodyPr wrap="square" anchor="t" lIns="73152" rIns="73152" tIns="36576" bIns="36576">
            <a:spAutoFit/>
          </a:bodyPr>
          <a:lstStyle/>
          <a:p>
            <a:pPr algn="r">
              <a:spcAft>
                <a:spcPts val="0"/>
              </a:spcAft>
            </a:pPr>
            <a:r>
              <a:rPr sz="1100" b="0" i="0">
                <a:solidFill>
                  <a:srgbClr val="64748B"/>
                </a:solidFill>
                <a:latin typeface="Arial"/>
              </a:rPr>
              <a:t>4</a:t>
            </a:r>
          </a:p>
        </p:txBody>
      </p:sp>
      <p:graphicFrame>
        <p:nvGraphicFramePr>
          <p:cNvPr id="7" name="Table 6"/>
          <p:cNvGraphicFramePr>
            <a:graphicFrameLocks noGrp="1"/>
          </p:cNvGraphicFramePr>
          <p:nvPr/>
        </p:nvGraphicFramePr>
        <p:xfrm>
          <a:off x="457200" y="1188720"/>
          <a:ext cx="11277295" cy="3959352"/>
        </p:xfrm>
        <a:graphic>
          <a:graphicData uri="http://schemas.openxmlformats.org/drawingml/2006/table">
            <a:tbl>
              <a:tblPr firstRow="1" bandRow="1">
                <a:tableStyleId>{5C22544A-7EE6-4342-B048-85BDC9FD1C3A}</a:tableStyleId>
              </a:tblPr>
              <a:tblGrid>
                <a:gridCol w="3246120"/>
                <a:gridCol w="3703320"/>
                <a:gridCol w="4327855"/>
              </a:tblGrid>
              <a:tr h="438912">
                <a:tc>
                  <a:txBody>
                    <a:bodyPr wrap="square"/>
                    <a:lstStyle/>
                    <a:p>
                      <a:pPr algn="l"/>
                      <a:r>
                        <a:rPr sz="1600" b="1" i="0">
                          <a:solidFill>
                            <a:srgbClr val="FFFFFF"/>
                          </a:solidFill>
                          <a:latin typeface="Arial"/>
                        </a:rPr>
                        <a:t>Component</a:t>
                      </a:r>
                    </a:p>
                  </a:txBody>
                  <a:tcPr marL="73152" marR="73152" marT="36576" marB="36576" anchor="ctr">
                    <a:solidFill>
                      <a:srgbClr val="1E293B"/>
                    </a:solidFill>
                  </a:tcPr>
                </a:tc>
                <a:tc>
                  <a:txBody>
                    <a:bodyPr wrap="square"/>
                    <a:lstStyle/>
                    <a:p>
                      <a:pPr algn="l"/>
                      <a:r>
                        <a:rPr sz="1600" b="1" i="0">
                          <a:solidFill>
                            <a:srgbClr val="FFFFFF"/>
                          </a:solidFill>
                          <a:latin typeface="Arial"/>
                        </a:rPr>
                        <a:t>Market's test</a:t>
                      </a:r>
                    </a:p>
                  </a:txBody>
                  <a:tcPr marL="73152" marR="73152" marT="36576" marB="36576" anchor="ctr">
                    <a:solidFill>
                      <a:srgbClr val="1E293B"/>
                    </a:solidFill>
                  </a:tcPr>
                </a:tc>
                <a:tc>
                  <a:txBody>
                    <a:bodyPr wrap="square"/>
                    <a:lstStyle/>
                    <a:p>
                      <a:pPr algn="l"/>
                      <a:r>
                        <a:rPr sz="1600" b="1" i="0">
                          <a:solidFill>
                            <a:srgbClr val="FFFFFF"/>
                          </a:solidFill>
                          <a:latin typeface="Arial"/>
                        </a:rPr>
                        <a:t>Verdict</a:t>
                      </a:r>
                    </a:p>
                  </a:txBody>
                  <a:tcPr marL="73152" marR="73152" marT="36576" marB="36576" anchor="ctr">
                    <a:solidFill>
                      <a:srgbClr val="1E293B"/>
                    </a:solidFill>
                  </a:tcPr>
                </a:tc>
              </a:tr>
              <a:tr h="502920">
                <a:tc>
                  <a:txBody>
                    <a:bodyPr wrap="square"/>
                    <a:lstStyle/>
                    <a:p>
                      <a:pPr algn="l"/>
                      <a:r>
                        <a:rPr sz="1600" b="0" i="0">
                          <a:solidFill>
                            <a:srgbClr val="0F172A"/>
                          </a:solidFill>
                          <a:latin typeface="Arial"/>
                        </a:rPr>
                        <a:t>Raw win model (M4) trading</a:t>
                      </a:r>
                    </a:p>
                  </a:txBody>
                  <a:tcPr marL="73152" marR="73152" marT="36576" marB="36576" anchor="ctr">
                    <a:solidFill>
                      <a:srgbClr val="F1F5F9"/>
                    </a:solidFill>
                  </a:tcPr>
                </a:tc>
                <a:tc>
                  <a:txBody>
                    <a:bodyPr wrap="square"/>
                    <a:lstStyle/>
                    <a:p>
                      <a:pPr algn="l"/>
                      <a:r>
                        <a:rPr sz="1600" b="0" i="0">
                          <a:solidFill>
                            <a:srgbClr val="0F172A"/>
                          </a:solidFill>
                          <a:latin typeface="Arial"/>
                        </a:rPr>
                        <a:t>Beat never trading</a:t>
                      </a:r>
                    </a:p>
                  </a:txBody>
                  <a:tcPr marL="73152" marR="73152" marT="36576" marB="36576" anchor="ctr">
                    <a:solidFill>
                      <a:srgbClr val="F1F5F9"/>
                    </a:solidFill>
                  </a:tcPr>
                </a:tc>
                <a:tc>
                  <a:txBody>
                    <a:bodyPr wrap="square"/>
                    <a:lstStyle/>
                    <a:p>
                      <a:pPr algn="l"/>
                      <a:r>
                        <a:rPr sz="1600" b="1" i="0">
                          <a:solidFill>
                            <a:srgbClr val="0F172A"/>
                          </a:solidFill>
                          <a:latin typeface="Arial"/>
                        </a:rPr>
                        <a:t>Failed:</a:t>
                      </a:r>
                      <a:r>
                        <a:rPr sz="1600" b="0" i="0">
                          <a:solidFill>
                            <a:srgbClr val="0F172A"/>
                          </a:solidFill>
                          <a:latin typeface="Arial"/>
                        </a:rPr>
                        <a:t> −$2,475, CI below 0</a:t>
                      </a:r>
                    </a:p>
                  </a:txBody>
                  <a:tcPr marL="73152" marR="73152" marT="36576" marB="36576" anchor="ctr">
                    <a:solidFill>
                      <a:srgbClr val="F1F5F9"/>
                    </a:solidFill>
                  </a:tcPr>
                </a:tc>
              </a:tr>
              <a:tr h="502920">
                <a:tc>
                  <a:txBody>
                    <a:bodyPr wrap="square"/>
                    <a:lstStyle/>
                    <a:p>
                      <a:pPr algn="l"/>
                      <a:r>
                        <a:rPr sz="1600" b="0" i="0">
                          <a:solidFill>
                            <a:srgbClr val="0F172A"/>
                          </a:solidFill>
                          <a:latin typeface="Arial"/>
                        </a:rPr>
                        <a:t>Recalibrated M4</a:t>
                      </a:r>
                    </a:p>
                  </a:txBody>
                  <a:tcPr marL="73152" marR="73152" marT="36576" marB="36576" anchor="ctr">
                    <a:solidFill>
                      <a:srgbClr val="FFFFFF"/>
                    </a:solidFill>
                  </a:tcPr>
                </a:tc>
                <a:tc>
                  <a:txBody>
                    <a:bodyPr wrap="square"/>
                    <a:lstStyle/>
                    <a:p>
                      <a:pPr algn="l"/>
                      <a:r>
                        <a:rPr sz="1600" b="0" i="0">
                          <a:solidFill>
                            <a:srgbClr val="0F172A"/>
                          </a:solidFill>
                          <a:latin typeface="Arial"/>
                        </a:rPr>
                        <a:t>Beat the market's Brier score</a:t>
                      </a:r>
                    </a:p>
                  </a:txBody>
                  <a:tcPr marL="73152" marR="73152" marT="36576" marB="36576" anchor="ctr">
                    <a:solidFill>
                      <a:srgbClr val="FFFFFF"/>
                    </a:solidFill>
                  </a:tcPr>
                </a:tc>
                <a:tc>
                  <a:txBody>
                    <a:bodyPr wrap="square"/>
                    <a:lstStyle/>
                    <a:p>
                      <a:pPr algn="l"/>
                      <a:r>
                        <a:rPr sz="1600" b="1" i="0">
                          <a:solidFill>
                            <a:srgbClr val="0F172A"/>
                          </a:solidFill>
                          <a:latin typeface="Arial"/>
                        </a:rPr>
                        <a:t>Failed:</a:t>
                      </a:r>
                      <a:r>
                        <a:rPr sz="1600" b="0" i="0">
                          <a:solidFill>
                            <a:srgbClr val="0F172A"/>
                          </a:solidFill>
                          <a:latin typeface="Arial"/>
                        </a:rPr>
                        <a:t> 0.185 vs market 0.164</a:t>
                      </a:r>
                    </a:p>
                  </a:txBody>
                  <a:tcPr marL="73152" marR="73152" marT="36576" marB="36576" anchor="ctr">
                    <a:solidFill>
                      <a:srgbClr val="FFFFFF"/>
                    </a:solidFill>
                  </a:tcPr>
                </a:tc>
              </a:tr>
              <a:tr h="502920">
                <a:tc>
                  <a:txBody>
                    <a:bodyPr wrap="square"/>
                    <a:lstStyle/>
                    <a:p>
                      <a:pPr algn="l"/>
                      <a:r>
                        <a:rPr sz="1600" b="0" i="0">
                          <a:solidFill>
                            <a:srgbClr val="0F172A"/>
                          </a:solidFill>
                          <a:latin typeface="Arial"/>
                        </a:rPr>
                        <a:t>M6 neural impact model</a:t>
                      </a:r>
                    </a:p>
                  </a:txBody>
                  <a:tcPr marL="73152" marR="73152" marT="36576" marB="36576" anchor="ctr">
                    <a:solidFill>
                      <a:srgbClr val="F1F5F9"/>
                    </a:solidFill>
                  </a:tcPr>
                </a:tc>
                <a:tc>
                  <a:txBody>
                    <a:bodyPr wrap="square"/>
                    <a:lstStyle/>
                    <a:p>
                      <a:pPr algn="l"/>
                      <a:r>
                        <a:rPr sz="1600" b="0" i="0">
                          <a:solidFill>
                            <a:srgbClr val="0F172A"/>
                          </a:solidFill>
                          <a:latin typeface="Arial"/>
                        </a:rPr>
                        <a:t>Beat “the price won't move”</a:t>
                      </a:r>
                    </a:p>
                  </a:txBody>
                  <a:tcPr marL="73152" marR="73152" marT="36576" marB="36576" anchor="ctr">
                    <a:solidFill>
                      <a:srgbClr val="F1F5F9"/>
                    </a:solidFill>
                  </a:tcPr>
                </a:tc>
                <a:tc>
                  <a:txBody>
                    <a:bodyPr wrap="square"/>
                    <a:lstStyle/>
                    <a:p>
                      <a:pPr algn="l"/>
                      <a:r>
                        <a:rPr sz="1600" b="1" i="0">
                          <a:solidFill>
                            <a:srgbClr val="0F172A"/>
                          </a:solidFill>
                          <a:latin typeface="Arial"/>
                        </a:rPr>
                        <a:t>Failed:</a:t>
                      </a:r>
                      <a:r>
                        <a:rPr sz="1600" b="0" i="0">
                          <a:solidFill>
                            <a:srgbClr val="0F172A"/>
                          </a:solidFill>
                          <a:latin typeface="Arial"/>
                        </a:rPr>
                        <a:t> 9 of 9 configurations worse</a:t>
                      </a:r>
                    </a:p>
                  </a:txBody>
                  <a:tcPr marL="73152" marR="73152" marT="36576" marB="36576" anchor="ctr">
                    <a:solidFill>
                      <a:srgbClr val="F1F5F9"/>
                    </a:solidFill>
                  </a:tcPr>
                </a:tc>
              </a:tr>
              <a:tr h="502920">
                <a:tc>
                  <a:txBody>
                    <a:bodyPr wrap="square"/>
                    <a:lstStyle/>
                    <a:p>
                      <a:pPr algn="l"/>
                      <a:r>
                        <a:rPr sz="1600" b="0" i="0">
                          <a:solidFill>
                            <a:srgbClr val="0F172A"/>
                          </a:solidFill>
                          <a:latin typeface="Arial"/>
                        </a:rPr>
                        <a:t>Market anchor</a:t>
                      </a:r>
                    </a:p>
                  </a:txBody>
                  <a:tcPr marL="73152" marR="73152" marT="36576" marB="36576" anchor="ctr">
                    <a:solidFill>
                      <a:srgbClr val="DCFCE7"/>
                    </a:solidFill>
                  </a:tcPr>
                </a:tc>
                <a:tc>
                  <a:txBody>
                    <a:bodyPr wrap="square"/>
                    <a:lstStyle/>
                    <a:p>
                      <a:pPr algn="l"/>
                      <a:r>
                        <a:rPr sz="1600" b="0" i="0">
                          <a:solidFill>
                            <a:srgbClr val="0F172A"/>
                          </a:solidFill>
                          <a:latin typeface="Arial"/>
                        </a:rPr>
                        <a:t>Beat the raw model</a:t>
                      </a:r>
                    </a:p>
                  </a:txBody>
                  <a:tcPr marL="73152" marR="73152" marT="36576" marB="36576" anchor="ctr">
                    <a:solidFill>
                      <a:srgbClr val="DCFCE7"/>
                    </a:solidFill>
                  </a:tcPr>
                </a:tc>
                <a:tc>
                  <a:txBody>
                    <a:bodyPr wrap="square"/>
                    <a:lstStyle/>
                    <a:p>
                      <a:pPr algn="l"/>
                      <a:r>
                        <a:rPr sz="1600" b="1" i="0">
                          <a:solidFill>
                            <a:srgbClr val="0F172A"/>
                          </a:solidFill>
                          <a:latin typeface="Arial"/>
                        </a:rPr>
                        <a:t>Passed:</a:t>
                      </a:r>
                      <a:r>
                        <a:rPr sz="1600" b="0" i="0">
                          <a:solidFill>
                            <a:srgbClr val="0F172A"/>
                          </a:solidFill>
                          <a:latin typeface="Arial"/>
                        </a:rPr>
                        <a:t> +$2,450, p = 0.002</a:t>
                      </a:r>
                    </a:p>
                  </a:txBody>
                  <a:tcPr marL="73152" marR="73152" marT="36576" marB="36576" anchor="ctr">
                    <a:solidFill>
                      <a:srgbClr val="DCFCE7"/>
                    </a:solidFill>
                  </a:tcPr>
                </a:tc>
              </a:tr>
              <a:tr h="502920">
                <a:tc>
                  <a:txBody>
                    <a:bodyPr wrap="square"/>
                    <a:lstStyle/>
                    <a:p>
                      <a:pPr algn="l"/>
                      <a:r>
                        <a:rPr sz="1600" b="0" i="0">
                          <a:solidFill>
                            <a:srgbClr val="0F172A"/>
                          </a:solidFill>
                          <a:latin typeface="Arial"/>
                        </a:rPr>
                        <a:t>Gated rule learning</a:t>
                      </a:r>
                    </a:p>
                  </a:txBody>
                  <a:tcPr marL="73152" marR="73152" marT="36576" marB="36576" anchor="ctr">
                    <a:solidFill>
                      <a:srgbClr val="F1F5F9"/>
                    </a:solidFill>
                  </a:tcPr>
                </a:tc>
                <a:tc>
                  <a:txBody>
                    <a:bodyPr wrap="square"/>
                    <a:lstStyle/>
                    <a:p>
                      <a:pPr algn="l"/>
                      <a:r>
                        <a:rPr sz="1600" b="0" i="0">
                          <a:solidFill>
                            <a:srgbClr val="0F172A"/>
                          </a:solidFill>
                          <a:latin typeface="Arial"/>
                        </a:rPr>
                        <a:t>Beat no learning on CLV $</a:t>
                      </a:r>
                    </a:p>
                  </a:txBody>
                  <a:tcPr marL="73152" marR="73152" marT="36576" marB="36576" anchor="ctr">
                    <a:solidFill>
                      <a:srgbClr val="F1F5F9"/>
                    </a:solidFill>
                  </a:tcPr>
                </a:tc>
                <a:tc>
                  <a:txBody>
                    <a:bodyPr wrap="square"/>
                    <a:lstStyle/>
                    <a:p>
                      <a:pPr algn="l"/>
                      <a:r>
                        <a:rPr sz="1600" b="1" i="0">
                          <a:solidFill>
                            <a:srgbClr val="0F172A"/>
                          </a:solidFill>
                          <a:latin typeface="Arial"/>
                        </a:rPr>
                        <a:t>Passed (trades less):</a:t>
                      </a:r>
                      <a:r>
                        <a:rPr sz="1600" b="0" i="0">
                          <a:solidFill>
                            <a:srgbClr val="0F172A"/>
                          </a:solidFill>
                          <a:latin typeface="Arial"/>
                        </a:rPr>
                        <a:t> +$39 CLV, p = 0.001</a:t>
                      </a:r>
                    </a:p>
                  </a:txBody>
                  <a:tcPr marL="73152" marR="73152" marT="36576" marB="36576" anchor="ctr">
                    <a:solidFill>
                      <a:srgbClr val="F1F5F9"/>
                    </a:solidFill>
                  </a:tcPr>
                </a:tc>
              </a:tr>
              <a:tr h="502920">
                <a:tc>
                  <a:txBody>
                    <a:bodyPr wrap="square"/>
                    <a:lstStyle/>
                    <a:p>
                      <a:pPr algn="l"/>
                      <a:r>
                        <a:rPr sz="1600" b="0" i="0">
                          <a:solidFill>
                            <a:srgbClr val="0F172A"/>
                          </a:solidFill>
                          <a:latin typeface="Arial"/>
                        </a:rPr>
                        <a:t>LLM agent, Coach, policy …</a:t>
                      </a:r>
                    </a:p>
                  </a:txBody>
                  <a:tcPr marL="73152" marR="73152" marT="36576" marB="36576" anchor="ctr">
                    <a:solidFill>
                      <a:srgbClr val="FFFFFF"/>
                    </a:solidFill>
                  </a:tcPr>
                </a:tc>
                <a:tc>
                  <a:txBody>
                    <a:bodyPr wrap="square"/>
                    <a:lstStyle/>
                    <a:p>
                      <a:pPr algn="l"/>
                      <a:r>
                        <a:rPr sz="1600" b="0" i="0">
                          <a:solidFill>
                            <a:srgbClr val="0F172A"/>
                          </a:solidFill>
                          <a:latin typeface="Arial"/>
                        </a:rPr>
                        <a:t>Same gates (slide 11)</a:t>
                      </a:r>
                    </a:p>
                  </a:txBody>
                  <a:tcPr marL="73152" marR="73152" marT="36576" marB="36576" anchor="ctr">
                    <a:solidFill>
                      <a:srgbClr val="FFFFFF"/>
                    </a:solidFill>
                  </a:tcPr>
                </a:tc>
                <a:tc>
                  <a:txBody>
                    <a:bodyPr wrap="square"/>
                    <a:lstStyle/>
                    <a:p>
                      <a:pPr algn="l"/>
                      <a:r>
                        <a:rPr sz="1600" b="0" i="0">
                          <a:solidFill>
                            <a:srgbClr val="0F172A"/>
                          </a:solidFill>
                          <a:latin typeface="Arial"/>
                        </a:rPr>
                        <a:t>See agentic upgrades</a:t>
                      </a:r>
                    </a:p>
                  </a:txBody>
                  <a:tcPr marL="73152" marR="73152" marT="36576" marB="36576" anchor="ctr">
                    <a:solidFill>
                      <a:srgbClr val="FFFFFF"/>
                    </a:solidFill>
                  </a:tcPr>
                </a:tc>
              </a:tr>
              <a:tr h="502920">
                <a:tc>
                  <a:txBody>
                    <a:bodyPr wrap="square"/>
                    <a:lstStyle/>
                    <a:p>
                      <a:pPr algn="l"/>
                      <a:r>
                        <a:rPr sz="1600" b="0" i="0">
                          <a:solidFill>
                            <a:srgbClr val="0F172A"/>
                          </a:solidFill>
                          <a:latin typeface="Arial"/>
                        </a:rPr>
                        <a:t>A consumer</a:t>
                      </a:r>
                    </a:p>
                  </a:txBody>
                  <a:tcPr marL="73152" marR="73152" marT="36576" marB="36576" anchor="ctr">
                    <a:solidFill>
                      <a:srgbClr val="F1F5F9"/>
                    </a:solidFill>
                  </a:tcPr>
                </a:tc>
                <a:tc>
                  <a:txBody>
                    <a:bodyPr wrap="square"/>
                    <a:lstStyle/>
                    <a:p>
                      <a:pPr algn="l"/>
                      <a:r>
                        <a:rPr sz="1600" b="0" i="0">
                          <a:solidFill>
                            <a:srgbClr val="0F172A"/>
                          </a:solidFill>
                          <a:latin typeface="Arial"/>
                        </a:rPr>
                        <a:t>Beat ~1.92¢ cost; news 91% priced</a:t>
                      </a:r>
                    </a:p>
                  </a:txBody>
                  <a:tcPr marL="73152" marR="73152" marT="36576" marB="36576" anchor="ctr">
                    <a:solidFill>
                      <a:srgbClr val="F1F5F9"/>
                    </a:solidFill>
                  </a:tcPr>
                </a:tc>
                <a:tc>
                  <a:txBody>
                    <a:bodyPr wrap="square"/>
                    <a:lstStyle/>
                    <a:p>
                      <a:pPr algn="l"/>
                      <a:r>
                        <a:rPr sz="1600" b="1" i="0">
                          <a:solidFill>
                            <a:srgbClr val="0F172A"/>
                          </a:solidFill>
                          <a:latin typeface="Arial"/>
                        </a:rPr>
                        <a:t>Structurally hard</a:t>
                      </a:r>
                    </a:p>
                  </a:txBody>
                  <a:tcPr marL="73152" marR="73152" marT="36576" marB="36576" anchor="ctr">
                    <a:solidFill>
                      <a:srgbClr val="F1F5F9"/>
                    </a:solidFill>
                  </a:tcPr>
                </a:tc>
              </a:tr>
            </a:tbl>
          </a:graphicData>
        </a:graphic>
      </p:graphicFrame>
      <p:sp>
        <p:nvSpPr>
          <p:cNvPr id="8" name="Rounded Rectangle 7"/>
          <p:cNvSpPr/>
          <p:nvPr/>
        </p:nvSpPr>
        <p:spPr>
          <a:xfrm>
            <a:off x="457200" y="5440680"/>
            <a:ext cx="11277295" cy="777240"/>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5440680"/>
            <a:ext cx="11094415" cy="777240"/>
          </a:xfrm>
          <a:prstGeom prst="rect">
            <a:avLst/>
          </a:prstGeom>
          <a:noFill/>
        </p:spPr>
        <p:txBody>
          <a:bodyPr wrap="square" anchor="ctr" lIns="73152" rIns="73152" tIns="36576" bIns="36576">
            <a:spAutoFit/>
          </a:bodyPr>
          <a:lstStyle/>
          <a:p>
            <a:pPr algn="l">
              <a:spcAft>
                <a:spcPts val="0"/>
              </a:spcAft>
            </a:pPr>
            <a:r>
              <a:rPr sz="1900" b="0" i="0">
                <a:solidFill>
                  <a:srgbClr val="0F172A"/>
                </a:solidFill>
                <a:latin typeface="Arial"/>
              </a:rPr>
              <a:t>Only the components that defer to the market survive, so the product teaches, lets people practise and enforces limits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77295" cy="685800"/>
          </a:xfrm>
          <a:prstGeom prst="rect">
            <a:avLst/>
          </a:prstGeom>
          <a:noFill/>
        </p:spPr>
        <p:txBody>
          <a:bodyPr wrap="square" anchor="ctr" lIns="73152" rIns="73152" tIns="36576" bIns="36576">
            <a:spAutoFit/>
          </a:bodyPr>
          <a:lstStyle/>
          <a:p>
            <a:pPr algn="l">
              <a:spcAft>
                <a:spcPts val="0"/>
              </a:spcAft>
            </a:pPr>
            <a:r>
              <a:rPr sz="3000" b="1" i="0">
                <a:solidFill>
                  <a:srgbClr val="FFFFFF"/>
                </a:solidFill>
                <a:latin typeface="Arial"/>
              </a:rPr>
              <a:t>Data: five public sources, split in time, no look-ahead</a:t>
            </a:r>
          </a:p>
        </p:txBody>
      </p:sp>
      <p:sp>
        <p:nvSpPr>
          <p:cNvPr id="5" name="TextBox 4"/>
          <p:cNvSpPr txBox="1"/>
          <p:nvPr/>
        </p:nvSpPr>
        <p:spPr>
          <a:xfrm>
            <a:off x="457200" y="6446520"/>
            <a:ext cx="9144000" cy="320040"/>
          </a:xfrm>
          <a:prstGeom prst="rect">
            <a:avLst/>
          </a:prstGeom>
          <a:noFill/>
        </p:spPr>
        <p:txBody>
          <a:bodyPr wrap="square" anchor="t" lIns="73152" rIns="73152" tIns="36576" bIns="36576">
            <a:spAutoFit/>
          </a:bodyPr>
          <a:lstStyle/>
          <a:p>
            <a:pPr algn="l">
              <a:spcAft>
                <a:spcPts val="0"/>
              </a:spcAft>
            </a:pPr>
            <a:r>
              <a:rPr sz="1100" b="0" i="0">
                <a:solidFill>
                  <a:srgbClr val="64748B"/>
                </a:solidFill>
                <a:latin typeface="Arial"/>
              </a:rPr>
              <a:t>DASC7606C Group 12 · Market-Graded Learning: the closing price grades every component</a:t>
            </a:r>
          </a:p>
        </p:txBody>
      </p:sp>
      <p:sp>
        <p:nvSpPr>
          <p:cNvPr id="6" name="TextBox 5"/>
          <p:cNvSpPr txBox="1"/>
          <p:nvPr/>
        </p:nvSpPr>
        <p:spPr>
          <a:xfrm>
            <a:off x="10820095" y="6446520"/>
            <a:ext cx="914400" cy="320040"/>
          </a:xfrm>
          <a:prstGeom prst="rect">
            <a:avLst/>
          </a:prstGeom>
          <a:noFill/>
        </p:spPr>
        <p:txBody>
          <a:bodyPr wrap="square" anchor="t" lIns="73152" rIns="73152" tIns="36576" bIns="36576">
            <a:spAutoFit/>
          </a:bodyPr>
          <a:lstStyle/>
          <a:p>
            <a:pPr algn="r">
              <a:spcAft>
                <a:spcPts val="0"/>
              </a:spcAft>
            </a:pPr>
            <a:r>
              <a:rPr sz="1100" b="0" i="0">
                <a:solidFill>
                  <a:srgbClr val="64748B"/>
                </a:solidFill>
                <a:latin typeface="Arial"/>
              </a:rPr>
              <a:t>5</a:t>
            </a:r>
          </a:p>
        </p:txBody>
      </p:sp>
      <p:graphicFrame>
        <p:nvGraphicFramePr>
          <p:cNvPr id="7" name="Table 6"/>
          <p:cNvGraphicFramePr>
            <a:graphicFrameLocks noGrp="1"/>
          </p:cNvGraphicFramePr>
          <p:nvPr/>
        </p:nvGraphicFramePr>
        <p:xfrm>
          <a:off x="457200" y="1188720"/>
          <a:ext cx="11277295" cy="2697480"/>
        </p:xfrm>
        <a:graphic>
          <a:graphicData uri="http://schemas.openxmlformats.org/drawingml/2006/table">
            <a:tbl>
              <a:tblPr firstRow="1" bandRow="1">
                <a:tableStyleId>{5C22544A-7EE6-4342-B048-85BDC9FD1C3A}</a:tableStyleId>
              </a:tblPr>
              <a:tblGrid>
                <a:gridCol w="2834640"/>
                <a:gridCol w="3566160"/>
                <a:gridCol w="1645920"/>
                <a:gridCol w="3230575"/>
              </a:tblGrid>
              <a:tr h="411480">
                <a:tc>
                  <a:txBody>
                    <a:bodyPr wrap="square"/>
                    <a:lstStyle/>
                    <a:p>
                      <a:pPr algn="l"/>
                      <a:r>
                        <a:rPr sz="1500" b="1" i="0">
                          <a:solidFill>
                            <a:srgbClr val="FFFFFF"/>
                          </a:solidFill>
                          <a:latin typeface="Arial"/>
                        </a:rPr>
                        <a:t>Source</a:t>
                      </a:r>
                    </a:p>
                  </a:txBody>
                  <a:tcPr marL="73152" marR="73152" marT="36576" marB="36576" anchor="ctr">
                    <a:solidFill>
                      <a:srgbClr val="1E293B"/>
                    </a:solidFill>
                  </a:tcPr>
                </a:tc>
                <a:tc>
                  <a:txBody>
                    <a:bodyPr wrap="square"/>
                    <a:lstStyle/>
                    <a:p>
                      <a:pPr algn="l"/>
                      <a:r>
                        <a:rPr sz="1500" b="1" i="0">
                          <a:solidFill>
                            <a:srgbClr val="FFFFFF"/>
                          </a:solidFill>
                          <a:latin typeface="Arial"/>
                        </a:rPr>
                        <a:t>What it contains</a:t>
                      </a:r>
                    </a:p>
                  </a:txBody>
                  <a:tcPr marL="73152" marR="73152" marT="36576" marB="36576" anchor="ctr">
                    <a:solidFill>
                      <a:srgbClr val="1E293B"/>
                    </a:solidFill>
                  </a:tcPr>
                </a:tc>
                <a:tc>
                  <a:txBody>
                    <a:bodyPr wrap="square"/>
                    <a:lstStyle/>
                    <a:p>
                      <a:pPr algn="ctr"/>
                      <a:r>
                        <a:rPr sz="1500" b="1" i="0">
                          <a:solidFill>
                            <a:srgbClr val="FFFFFF"/>
                          </a:solidFill>
                          <a:latin typeface="Arial"/>
                        </a:rPr>
                        <a:t>Rows</a:t>
                      </a:r>
                    </a:p>
                  </a:txBody>
                  <a:tcPr marL="73152" marR="73152" marT="36576" marB="36576" anchor="ctr">
                    <a:solidFill>
                      <a:srgbClr val="1E293B"/>
                    </a:solidFill>
                  </a:tcPr>
                </a:tc>
                <a:tc>
                  <a:txBody>
                    <a:bodyPr wrap="square"/>
                    <a:lstStyle/>
                    <a:p>
                      <a:pPr algn="l"/>
                      <a:r>
                        <a:rPr sz="1500" b="1" i="0">
                          <a:solidFill>
                            <a:srgbClr val="FFFFFF"/>
                          </a:solidFill>
                          <a:latin typeface="Arial"/>
                        </a:rPr>
                        <a:t>Used for</a:t>
                      </a:r>
                    </a:p>
                  </a:txBody>
                  <a:tcPr marL="73152" marR="73152" marT="36576" marB="36576" anchor="ctr">
                    <a:solidFill>
                      <a:srgbClr val="1E293B"/>
                    </a:solidFill>
                  </a:tcPr>
                </a:tc>
              </a:tr>
              <a:tr h="457200">
                <a:tc>
                  <a:txBody>
                    <a:bodyPr wrap="square"/>
                    <a:lstStyle/>
                    <a:p>
                      <a:pPr algn="l"/>
                      <a:r>
                        <a:rPr sz="1500" b="0" i="0">
                          <a:solidFill>
                            <a:srgbClr val="0F172A"/>
                          </a:solidFill>
                          <a:latin typeface="Arial"/>
                        </a:rPr>
                        <a:t>Kalshi prices (KXNBAGAME)</a:t>
                      </a:r>
                    </a:p>
                  </a:txBody>
                  <a:tcPr marL="73152" marR="73152" marT="36576" marB="36576" anchor="ctr">
                    <a:solidFill>
                      <a:srgbClr val="F1F5F9"/>
                    </a:solidFill>
                  </a:tcPr>
                </a:tc>
                <a:tc>
                  <a:txBody>
                    <a:bodyPr wrap="square"/>
                    <a:lstStyle/>
                    <a:p>
                      <a:pPr algn="l"/>
                      <a:r>
                        <a:rPr sz="1500" b="0" i="0">
                          <a:solidFill>
                            <a:srgbClr val="0F172A"/>
                          </a:solidFill>
                          <a:latin typeface="Arial"/>
                        </a:rPr>
                        <a:t>1-minute bid, ask, volume</a:t>
                      </a:r>
                    </a:p>
                  </a:txBody>
                  <a:tcPr marL="73152" marR="73152" marT="36576" marB="36576" anchor="ctr">
                    <a:solidFill>
                      <a:srgbClr val="F1F5F9"/>
                    </a:solidFill>
                  </a:tcPr>
                </a:tc>
                <a:tc>
                  <a:txBody>
                    <a:bodyPr wrap="square"/>
                    <a:lstStyle/>
                    <a:p>
                      <a:pPr algn="ctr"/>
                      <a:r>
                        <a:rPr sz="1500" b="0" i="0">
                          <a:solidFill>
                            <a:srgbClr val="0F172A"/>
                          </a:solidFill>
                          <a:latin typeface="Arial"/>
                        </a:rPr>
                        <a:t>3,938,368</a:t>
                      </a:r>
                    </a:p>
                  </a:txBody>
                  <a:tcPr marL="73152" marR="73152" marT="36576" marB="36576" anchor="ctr">
                    <a:solidFill>
                      <a:srgbClr val="F1F5F9"/>
                    </a:solidFill>
                  </a:tcPr>
                </a:tc>
                <a:tc>
                  <a:txBody>
                    <a:bodyPr wrap="square"/>
                    <a:lstStyle/>
                    <a:p>
                      <a:pPr algn="l"/>
                      <a:r>
                        <a:rPr sz="1500" b="0" i="0">
                          <a:solidFill>
                            <a:srgbClr val="0F172A"/>
                          </a:solidFill>
                          <a:latin typeface="Arial"/>
                        </a:rPr>
                        <a:t>Fills, costs, CLV, anchor, M6</a:t>
                      </a:r>
                    </a:p>
                  </a:txBody>
                  <a:tcPr marL="73152" marR="73152" marT="36576" marB="36576" anchor="ctr">
                    <a:solidFill>
                      <a:srgbClr val="F1F5F9"/>
                    </a:solidFill>
                  </a:tcPr>
                </a:tc>
              </a:tr>
              <a:tr h="457200">
                <a:tc>
                  <a:txBody>
                    <a:bodyPr wrap="square"/>
                    <a:lstStyle/>
                    <a:p>
                      <a:pPr algn="l"/>
                      <a:r>
                        <a:rPr sz="1500" b="0" i="0">
                          <a:solidFill>
                            <a:srgbClr val="0F172A"/>
                          </a:solidFill>
                          <a:latin typeface="Arial"/>
                        </a:rPr>
                        <a:t>Kalshi markets, settlements</a:t>
                      </a:r>
                    </a:p>
                  </a:txBody>
                  <a:tcPr marL="73152" marR="73152" marT="36576" marB="36576" anchor="ctr">
                    <a:solidFill>
                      <a:srgbClr val="FFFFFF"/>
                    </a:solidFill>
                  </a:tcPr>
                </a:tc>
                <a:tc>
                  <a:txBody>
                    <a:bodyPr wrap="square"/>
                    <a:lstStyle/>
                    <a:p>
                      <a:pPr algn="l"/>
                      <a:r>
                        <a:rPr sz="1500" b="0" i="0">
                          <a:solidFill>
                            <a:srgbClr val="0F172A"/>
                          </a:solidFill>
                          <a:latin typeface="Arial"/>
                        </a:rPr>
                        <a:t>Market → game; yes / no result</a:t>
                      </a:r>
                    </a:p>
                  </a:txBody>
                  <a:tcPr marL="73152" marR="73152" marT="36576" marB="36576" anchor="ctr">
                    <a:solidFill>
                      <a:srgbClr val="FFFFFF"/>
                    </a:solidFill>
                  </a:tcPr>
                </a:tc>
                <a:tc>
                  <a:txBody>
                    <a:bodyPr wrap="square"/>
                    <a:lstStyle/>
                    <a:p>
                      <a:pPr algn="ctr"/>
                      <a:r>
                        <a:rPr sz="1500" b="0" i="0">
                          <a:solidFill>
                            <a:srgbClr val="0F172A"/>
                          </a:solidFill>
                          <a:latin typeface="Arial"/>
                        </a:rPr>
                        <a:t>2,632 / 2,634</a:t>
                      </a:r>
                    </a:p>
                  </a:txBody>
                  <a:tcPr marL="73152" marR="73152" marT="36576" marB="36576" anchor="ctr">
                    <a:solidFill>
                      <a:srgbClr val="FFFFFF"/>
                    </a:solidFill>
                  </a:tcPr>
                </a:tc>
                <a:tc>
                  <a:txBody>
                    <a:bodyPr wrap="square"/>
                    <a:lstStyle/>
                    <a:p>
                      <a:pPr algn="l"/>
                      <a:r>
                        <a:rPr sz="1500" b="0" i="0">
                          <a:solidFill>
                            <a:srgbClr val="0F172A"/>
                          </a:solidFill>
                          <a:latin typeface="Arial"/>
                        </a:rPr>
                        <a:t>Settling P&amp;L</a:t>
                      </a:r>
                    </a:p>
                  </a:txBody>
                  <a:tcPr marL="73152" marR="73152" marT="36576" marB="36576" anchor="ctr">
                    <a:solidFill>
                      <a:srgbClr val="FFFFFF"/>
                    </a:solidFill>
                  </a:tcPr>
                </a:tc>
              </a:tr>
              <a:tr h="457200">
                <a:tc>
                  <a:txBody>
                    <a:bodyPr wrap="square"/>
                    <a:lstStyle/>
                    <a:p>
                      <a:pPr algn="l"/>
                      <a:r>
                        <a:rPr sz="1500" b="0" i="0">
                          <a:solidFill>
                            <a:srgbClr val="0F172A"/>
                          </a:solidFill>
                          <a:latin typeface="Arial"/>
                        </a:rPr>
                        <a:t>ESPN games</a:t>
                      </a:r>
                    </a:p>
                  </a:txBody>
                  <a:tcPr marL="73152" marR="73152" marT="36576" marB="36576" anchor="ctr">
                    <a:solidFill>
                      <a:srgbClr val="F1F5F9"/>
                    </a:solidFill>
                  </a:tcPr>
                </a:tc>
                <a:tc>
                  <a:txBody>
                    <a:bodyPr wrap="square"/>
                    <a:lstStyle/>
                    <a:p>
                      <a:pPr algn="l"/>
                      <a:r>
                        <a:rPr sz="1500" b="0" i="0">
                          <a:solidFill>
                            <a:srgbClr val="0F172A"/>
                          </a:solidFill>
                          <a:latin typeface="Arial"/>
                        </a:rPr>
                        <a:t>Schedule, tip time, score, 3 seasons</a:t>
                      </a:r>
                    </a:p>
                  </a:txBody>
                  <a:tcPr marL="73152" marR="73152" marT="36576" marB="36576" anchor="ctr">
                    <a:solidFill>
                      <a:srgbClr val="F1F5F9"/>
                    </a:solidFill>
                  </a:tcPr>
                </a:tc>
                <a:tc>
                  <a:txBody>
                    <a:bodyPr wrap="square"/>
                    <a:lstStyle/>
                    <a:p>
                      <a:pPr algn="ctr"/>
                      <a:r>
                        <a:rPr sz="1500" b="0" i="0">
                          <a:solidFill>
                            <a:srgbClr val="0F172A"/>
                          </a:solidFill>
                          <a:latin typeface="Arial"/>
                        </a:rPr>
                        <a:t>3,962</a:t>
                      </a:r>
                    </a:p>
                  </a:txBody>
                  <a:tcPr marL="73152" marR="73152" marT="36576" marB="36576" anchor="ctr">
                    <a:solidFill>
                      <a:srgbClr val="F1F5F9"/>
                    </a:solidFill>
                  </a:tcPr>
                </a:tc>
                <a:tc>
                  <a:txBody>
                    <a:bodyPr wrap="square"/>
                    <a:lstStyle/>
                    <a:p>
                      <a:pPr algn="l"/>
                      <a:r>
                        <a:rPr sz="1500" b="0" i="0">
                          <a:solidFill>
                            <a:srgbClr val="0F172A"/>
                          </a:solidFill>
                          <a:latin typeface="Arial"/>
                        </a:rPr>
                        <a:t>Splits, M4 labels</a:t>
                      </a:r>
                    </a:p>
                  </a:txBody>
                  <a:tcPr marL="73152" marR="73152" marT="36576" marB="36576" anchor="ctr">
                    <a:solidFill>
                      <a:srgbClr val="F1F5F9"/>
                    </a:solidFill>
                  </a:tcPr>
                </a:tc>
              </a:tr>
              <a:tr h="457200">
                <a:tc>
                  <a:txBody>
                    <a:bodyPr wrap="square"/>
                    <a:lstStyle/>
                    <a:p>
                      <a:pPr algn="l"/>
                      <a:r>
                        <a:rPr sz="1500" b="0" i="0">
                          <a:solidFill>
                            <a:srgbClr val="0F172A"/>
                          </a:solidFill>
                          <a:latin typeface="Arial"/>
                        </a:rPr>
                        <a:t>ESPN box scores</a:t>
                      </a:r>
                    </a:p>
                  </a:txBody>
                  <a:tcPr marL="73152" marR="73152" marT="36576" marB="36576" anchor="ctr">
                    <a:solidFill>
                      <a:srgbClr val="FFFFFF"/>
                    </a:solidFill>
                  </a:tcPr>
                </a:tc>
                <a:tc>
                  <a:txBody>
                    <a:bodyPr wrap="square"/>
                    <a:lstStyle/>
                    <a:p>
                      <a:pPr algn="l"/>
                      <a:r>
                        <a:rPr sz="1500" b="0" i="0">
                          <a:solidFill>
                            <a:srgbClr val="0F172A"/>
                          </a:solidFill>
                          <a:latin typeface="Arial"/>
                        </a:rPr>
                        <a:t>Minutes, points, shots per player</a:t>
                      </a:r>
                    </a:p>
                  </a:txBody>
                  <a:tcPr marL="73152" marR="73152" marT="36576" marB="36576" anchor="ctr">
                    <a:solidFill>
                      <a:srgbClr val="FFFFFF"/>
                    </a:solidFill>
                  </a:tcPr>
                </a:tc>
                <a:tc>
                  <a:txBody>
                    <a:bodyPr wrap="square"/>
                    <a:lstStyle/>
                    <a:p>
                      <a:pPr algn="ctr"/>
                      <a:r>
                        <a:rPr sz="1500" b="0" i="0">
                          <a:solidFill>
                            <a:srgbClr val="0F172A"/>
                          </a:solidFill>
                          <a:latin typeface="Arial"/>
                        </a:rPr>
                        <a:t>85,422</a:t>
                      </a:r>
                    </a:p>
                  </a:txBody>
                  <a:tcPr marL="73152" marR="73152" marT="36576" marB="36576" anchor="ctr">
                    <a:solidFill>
                      <a:srgbClr val="FFFFFF"/>
                    </a:solidFill>
                  </a:tcPr>
                </a:tc>
                <a:tc>
                  <a:txBody>
                    <a:bodyPr wrap="square"/>
                    <a:lstStyle/>
                    <a:p>
                      <a:pPr algn="l"/>
                      <a:r>
                        <a:rPr sz="1500" b="0" i="0">
                          <a:solidFill>
                            <a:srgbClr val="0F172A"/>
                          </a:solidFill>
                          <a:latin typeface="Arial"/>
                        </a:rPr>
                        <a:t>M1–M4 features</a:t>
                      </a:r>
                    </a:p>
                  </a:txBody>
                  <a:tcPr marL="73152" marR="73152" marT="36576" marB="36576" anchor="ctr">
                    <a:solidFill>
                      <a:srgbClr val="FFFFFF"/>
                    </a:solidFill>
                  </a:tcPr>
                </a:tc>
              </a:tr>
              <a:tr h="457200">
                <a:tc>
                  <a:txBody>
                    <a:bodyPr wrap="square"/>
                    <a:lstStyle/>
                    <a:p>
                      <a:pPr algn="l"/>
                      <a:r>
                        <a:rPr sz="1500" b="0" i="0">
                          <a:solidFill>
                            <a:srgbClr val="0F172A"/>
                          </a:solidFill>
                          <a:latin typeface="Arial"/>
                        </a:rPr>
                        <a:t>ESPN inactive lists</a:t>
                      </a:r>
                    </a:p>
                  </a:txBody>
                  <a:tcPr marL="73152" marR="73152" marT="36576" marB="36576" anchor="ctr">
                    <a:solidFill>
                      <a:srgbClr val="F1F5F9"/>
                    </a:solidFill>
                  </a:tcPr>
                </a:tc>
                <a:tc>
                  <a:txBody>
                    <a:bodyPr wrap="square"/>
                    <a:lstStyle/>
                    <a:p>
                      <a:pPr algn="l"/>
                      <a:r>
                        <a:rPr sz="1500" b="0" i="0">
                          <a:solidFill>
                            <a:srgbClr val="0F172A"/>
                          </a:solidFill>
                          <a:latin typeface="Arial"/>
                        </a:rPr>
                        <a:t>Who is out and why (our news)</a:t>
                      </a:r>
                    </a:p>
                  </a:txBody>
                  <a:tcPr marL="73152" marR="73152" marT="36576" marB="36576" anchor="ctr">
                    <a:solidFill>
                      <a:srgbClr val="F1F5F9"/>
                    </a:solidFill>
                  </a:tcPr>
                </a:tc>
                <a:tc>
                  <a:txBody>
                    <a:bodyPr wrap="square"/>
                    <a:lstStyle/>
                    <a:p>
                      <a:pPr algn="ctr"/>
                      <a:r>
                        <a:rPr sz="1500" b="0" i="0">
                          <a:solidFill>
                            <a:srgbClr val="0F172A"/>
                          </a:solidFill>
                          <a:latin typeface="Arial"/>
                        </a:rPr>
                        <a:t>3,371</a:t>
                      </a:r>
                    </a:p>
                  </a:txBody>
                  <a:tcPr marL="73152" marR="73152" marT="36576" marB="36576" anchor="ctr">
                    <a:solidFill>
                      <a:srgbClr val="F1F5F9"/>
                    </a:solidFill>
                  </a:tcPr>
                </a:tc>
                <a:tc>
                  <a:txBody>
                    <a:bodyPr wrap="square"/>
                    <a:lstStyle/>
                    <a:p>
                      <a:pPr algn="l"/>
                      <a:r>
                        <a:rPr sz="1500" b="0" i="0">
                          <a:solidFill>
                            <a:srgbClr val="0F172A"/>
                          </a:solidFill>
                          <a:latin typeface="Arial"/>
                        </a:rPr>
                        <a:t>News trigger; M4 after news</a:t>
                      </a:r>
                    </a:p>
                  </a:txBody>
                  <a:tcPr marL="73152" marR="73152" marT="36576" marB="36576" anchor="ctr">
                    <a:solidFill>
                      <a:srgbClr val="F1F5F9"/>
                    </a:solidFill>
                  </a:tcPr>
                </a:tc>
              </a:tr>
            </a:tbl>
          </a:graphicData>
        </a:graphic>
      </p:graphicFrame>
      <p:sp>
        <p:nvSpPr>
          <p:cNvPr id="8" name="TextBox 7"/>
          <p:cNvSpPr txBox="1"/>
          <p:nvPr/>
        </p:nvSpPr>
        <p:spPr>
          <a:xfrm>
            <a:off x="457200" y="4069080"/>
            <a:ext cx="5501487" cy="2240280"/>
          </a:xfrm>
          <a:prstGeom prst="rect">
            <a:avLst/>
          </a:prstGeom>
          <a:noFill/>
        </p:spPr>
        <p:txBody>
          <a:bodyPr wrap="square" anchor="t" lIns="73152" rIns="73152" tIns="36576" bIns="36576">
            <a:spAutoFit/>
          </a:bodyPr>
          <a:lstStyle/>
          <a:p>
            <a:pPr algn="l">
              <a:spcAft>
                <a:spcPts val="300"/>
              </a:spcAft>
            </a:pPr>
            <a:r>
              <a:rPr sz="1600" b="1" i="0">
                <a:solidFill>
                  <a:srgbClr val="1E293B"/>
                </a:solidFill>
                <a:latin typeface="Arial"/>
              </a:rPr>
              <a:t>Time splits</a:t>
            </a:r>
          </a:p>
          <a:p>
            <a:pPr algn="l" marL="292608" indent="-256032">
              <a:spcAft>
                <a:spcPts val="300"/>
              </a:spcAft>
              <a:buChar char="•"/>
            </a:pPr>
            <a:r>
              <a:rPr sz="1600" b="0" i="0">
                <a:solidFill>
                  <a:srgbClr val="0F172A"/>
                </a:solidFill>
                <a:latin typeface="Arial"/>
              </a:rPr>
              <a:t>Models train before 1 Feb 2026; agent develops Nov–Jan</a:t>
            </a:r>
          </a:p>
          <a:p>
            <a:pPr algn="l" marL="292608" indent="-256032">
              <a:spcAft>
                <a:spcPts val="300"/>
              </a:spcAft>
              <a:buChar char="•"/>
            </a:pPr>
            <a:r>
              <a:rPr sz="1600" b="0" i="0">
                <a:solidFill>
                  <a:srgbClr val="0F172A"/>
                </a:solidFill>
                <a:latin typeface="Arial"/>
              </a:rPr>
              <a:t>Test 1 Feb – 12 Apr (501 games); walk-forward retrains monthly</a:t>
            </a:r>
          </a:p>
          <a:p>
            <a:pPr algn="l" marL="292608" indent="-256032">
              <a:spcAft>
                <a:spcPts val="300"/>
              </a:spcAft>
              <a:buChar char="•"/>
            </a:pPr>
            <a:r>
              <a:rPr sz="1600" b="0" i="0">
                <a:solidFill>
                  <a:srgbClr val="0F172A"/>
                </a:solidFill>
                <a:latin typeface="Arial"/>
              </a:rPr>
              <a:t>Play-offs (87 games): holdout scored once</a:t>
            </a:r>
          </a:p>
        </p:txBody>
      </p:sp>
      <p:sp>
        <p:nvSpPr>
          <p:cNvPr id="9" name="TextBox 8"/>
          <p:cNvSpPr txBox="1"/>
          <p:nvPr/>
        </p:nvSpPr>
        <p:spPr>
          <a:xfrm>
            <a:off x="6233007" y="4069080"/>
            <a:ext cx="5501487" cy="2240280"/>
          </a:xfrm>
          <a:prstGeom prst="rect">
            <a:avLst/>
          </a:prstGeom>
          <a:noFill/>
        </p:spPr>
        <p:txBody>
          <a:bodyPr wrap="square" anchor="t" lIns="73152" rIns="73152" tIns="36576" bIns="36576">
            <a:spAutoFit/>
          </a:bodyPr>
          <a:lstStyle/>
          <a:p>
            <a:pPr algn="l">
              <a:spcAft>
                <a:spcPts val="300"/>
              </a:spcAft>
            </a:pPr>
            <a:r>
              <a:rPr sz="1600" b="1" i="0">
                <a:solidFill>
                  <a:srgbClr val="DC2626"/>
                </a:solidFill>
                <a:latin typeface="Arial"/>
              </a:rPr>
              <a:t>No look-ahead, real costs</a:t>
            </a:r>
          </a:p>
          <a:p>
            <a:pPr algn="l" marL="292608" indent="-256032">
              <a:spcAft>
                <a:spcPts val="300"/>
              </a:spcAft>
              <a:buChar char="•"/>
            </a:pPr>
            <a:r>
              <a:rPr sz="1600" b="0" i="0">
                <a:solidFill>
                  <a:srgbClr val="0F172A"/>
                </a:solidFill>
                <a:latin typeface="Arial"/>
              </a:rPr>
              <a:t>Agent sees only what was published by then</a:t>
            </a:r>
          </a:p>
          <a:p>
            <a:pPr algn="l" marL="292608" indent="-256032">
              <a:spcAft>
                <a:spcPts val="300"/>
              </a:spcAft>
              <a:buChar char="•"/>
            </a:pPr>
            <a:r>
              <a:rPr sz="1600" b="0" i="0">
                <a:solidFill>
                  <a:srgbClr val="0F172A"/>
                </a:solidFill>
                <a:latin typeface="Arial"/>
              </a:rPr>
              <a:t>Inactive list = news at tip − 30 min (ends 7 May)</a:t>
            </a:r>
          </a:p>
          <a:p>
            <a:pPr algn="l" marL="292608" indent="-256032">
              <a:spcAft>
                <a:spcPts val="300"/>
              </a:spcAft>
              <a:buChar char="•"/>
            </a:pPr>
            <a:r>
              <a:rPr sz="1600" b="0" i="0">
                <a:solidFill>
                  <a:srgbClr val="0F172A"/>
                </a:solidFill>
                <a:latin typeface="Arial"/>
              </a:rPr>
              <a:t>Fill at ask + fee; quote ≤ 5 min old; ≤ 10% of volume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77295" cy="685800"/>
          </a:xfrm>
          <a:prstGeom prst="rect">
            <a:avLst/>
          </a:prstGeom>
          <a:noFill/>
        </p:spPr>
        <p:txBody>
          <a:bodyPr wrap="square" anchor="ctr" lIns="73152" rIns="73152" tIns="36576" bIns="36576">
            <a:spAutoFit/>
          </a:bodyPr>
          <a:lstStyle/>
          <a:p>
            <a:pPr algn="l">
              <a:spcAft>
                <a:spcPts val="0"/>
              </a:spcAft>
            </a:pPr>
            <a:r>
              <a:rPr sz="3000" b="1" i="0">
                <a:solidFill>
                  <a:srgbClr val="FFFFFF"/>
                </a:solidFill>
                <a:latin typeface="Arial"/>
              </a:rPr>
              <a:t>Evidence 1: costs set a hurdle before you start</a:t>
            </a:r>
          </a:p>
        </p:txBody>
      </p:sp>
      <p:sp>
        <p:nvSpPr>
          <p:cNvPr id="5" name="TextBox 4"/>
          <p:cNvSpPr txBox="1"/>
          <p:nvPr/>
        </p:nvSpPr>
        <p:spPr>
          <a:xfrm>
            <a:off x="457200" y="6446520"/>
            <a:ext cx="9144000" cy="320040"/>
          </a:xfrm>
          <a:prstGeom prst="rect">
            <a:avLst/>
          </a:prstGeom>
          <a:noFill/>
        </p:spPr>
        <p:txBody>
          <a:bodyPr wrap="square" anchor="t" lIns="73152" rIns="73152" tIns="36576" bIns="36576">
            <a:spAutoFit/>
          </a:bodyPr>
          <a:lstStyle/>
          <a:p>
            <a:pPr algn="l">
              <a:spcAft>
                <a:spcPts val="0"/>
              </a:spcAft>
            </a:pPr>
            <a:r>
              <a:rPr sz="1100" b="0" i="0">
                <a:solidFill>
                  <a:srgbClr val="64748B"/>
                </a:solidFill>
                <a:latin typeface="Arial"/>
              </a:rPr>
              <a:t>DASC7606C Group 12 · Market-Graded Learning: the closing price grades every component</a:t>
            </a:r>
          </a:p>
        </p:txBody>
      </p:sp>
      <p:sp>
        <p:nvSpPr>
          <p:cNvPr id="6" name="TextBox 5"/>
          <p:cNvSpPr txBox="1"/>
          <p:nvPr/>
        </p:nvSpPr>
        <p:spPr>
          <a:xfrm>
            <a:off x="10820095" y="6446520"/>
            <a:ext cx="914400" cy="320040"/>
          </a:xfrm>
          <a:prstGeom prst="rect">
            <a:avLst/>
          </a:prstGeom>
          <a:noFill/>
        </p:spPr>
        <p:txBody>
          <a:bodyPr wrap="square" anchor="t" lIns="73152" rIns="73152" tIns="36576" bIns="36576">
            <a:spAutoFit/>
          </a:bodyPr>
          <a:lstStyle/>
          <a:p>
            <a:pPr algn="r">
              <a:spcAft>
                <a:spcPts val="0"/>
              </a:spcAft>
            </a:pPr>
            <a:r>
              <a:rPr sz="1100" b="0" i="0">
                <a:solidFill>
                  <a:srgbClr val="64748B"/>
                </a:solidFill>
                <a:latin typeface="Arial"/>
              </a:rPr>
              <a:t>6</a:t>
            </a:r>
          </a:p>
        </p:txBody>
      </p:sp>
      <p:pic>
        <p:nvPicPr>
          <p:cNvPr id="7" name="Picture 6" descr="cost_burden.png"/>
          <p:cNvPicPr>
            <a:picLocks noChangeAspect="1"/>
          </p:cNvPicPr>
          <p:nvPr/>
        </p:nvPicPr>
        <p:blipFill>
          <a:blip r:embed="rId3"/>
          <a:stretch>
            <a:fillRect/>
          </a:stretch>
        </p:blipFill>
        <p:spPr>
          <a:xfrm>
            <a:off x="1352397" y="1097280"/>
            <a:ext cx="9486900" cy="3794760"/>
          </a:xfrm>
          <a:prstGeom prst="rect">
            <a:avLst/>
          </a:prstGeom>
        </p:spPr>
      </p:pic>
      <p:sp>
        <p:nvSpPr>
          <p:cNvPr id="8" name="TextBox 7"/>
          <p:cNvSpPr txBox="1"/>
          <p:nvPr/>
        </p:nvSpPr>
        <p:spPr>
          <a:xfrm>
            <a:off x="457200" y="4983480"/>
            <a:ext cx="5547207" cy="1371600"/>
          </a:xfrm>
          <a:prstGeom prst="rect">
            <a:avLst/>
          </a:prstGeom>
          <a:noFill/>
        </p:spPr>
        <p:txBody>
          <a:bodyPr wrap="square" anchor="t" lIns="73152" rIns="73152" tIns="36576" bIns="36576">
            <a:spAutoFit/>
          </a:bodyPr>
          <a:lstStyle/>
          <a:p>
            <a:pPr algn="l" marL="292608" indent="-256032">
              <a:spcAft>
                <a:spcPts val="400"/>
              </a:spcAft>
              <a:buChar char="•"/>
            </a:pPr>
            <a:r>
              <a:rPr sz="1800" b="1" i="0">
                <a:solidFill>
                  <a:srgbClr val="0F172A"/>
                </a:solidFill>
                <a:latin typeface="Arial"/>
              </a:rPr>
              <a:t>1.92¢ per contract</a:t>
            </a:r>
            <a:r>
              <a:rPr sz="1800" b="0" i="0">
                <a:solidFill>
                  <a:srgbClr val="0F172A"/>
                </a:solidFill>
                <a:latin typeface="Arial"/>
              </a:rPr>
              <a:t> = 5.0% of price; </a:t>
            </a:r>
            <a:r>
              <a:rPr sz="1800" b="1" i="0">
                <a:solidFill>
                  <a:srgbClr val="0F172A"/>
                </a:solidFill>
                <a:latin typeface="Arial"/>
              </a:rPr>
              <a:t>9–14%</a:t>
            </a:r>
            <a:r>
              <a:rPr sz="1800" b="0" i="0">
                <a:solidFill>
                  <a:srgbClr val="0F172A"/>
                </a:solidFill>
                <a:latin typeface="Arial"/>
              </a:rPr>
              <a:t> under 20¢</a:t>
            </a:r>
          </a:p>
          <a:p>
            <a:pPr algn="l" marL="292608" indent="-256032">
              <a:spcAft>
                <a:spcPts val="400"/>
              </a:spcAft>
              <a:buChar char="•"/>
            </a:pPr>
            <a:r>
              <a:rPr sz="1800" b="0" i="0">
                <a:solidFill>
                  <a:srgbClr val="0F172A"/>
                </a:solidFill>
                <a:latin typeface="Arial"/>
              </a:rPr>
              <a:t>Best agent, Feb–Apr: +$36 at mid → </a:t>
            </a:r>
            <a:r>
              <a:rPr sz="1800" b="1" i="0">
                <a:solidFill>
                  <a:srgbClr val="0F172A"/>
                </a:solidFill>
                <a:latin typeface="Arial"/>
              </a:rPr>
              <a:t>−$32</a:t>
            </a:r>
            <a:r>
              <a:rPr sz="1800" b="0" i="0">
                <a:solidFill>
                  <a:srgbClr val="0F172A"/>
                </a:solidFill>
                <a:latin typeface="Arial"/>
              </a:rPr>
              <a:t> after costs</a:t>
            </a:r>
          </a:p>
        </p:txBody>
      </p:sp>
      <p:sp>
        <p:nvSpPr>
          <p:cNvPr id="9" name="TextBox 8"/>
          <p:cNvSpPr txBox="1"/>
          <p:nvPr/>
        </p:nvSpPr>
        <p:spPr>
          <a:xfrm>
            <a:off x="6187287" y="4983480"/>
            <a:ext cx="5547207" cy="1371600"/>
          </a:xfrm>
          <a:prstGeom prst="rect">
            <a:avLst/>
          </a:prstGeom>
          <a:noFill/>
        </p:spPr>
        <p:txBody>
          <a:bodyPr wrap="square" anchor="t" lIns="73152" rIns="73152" tIns="36576" bIns="36576">
            <a:spAutoFit/>
          </a:bodyPr>
          <a:lstStyle/>
          <a:p>
            <a:pPr algn="l" marL="292608" indent="-256032">
              <a:spcAft>
                <a:spcPts val="400"/>
              </a:spcAft>
              <a:buChar char="•"/>
            </a:pPr>
            <a:r>
              <a:rPr sz="1800" b="0" i="0">
                <a:solidFill>
                  <a:srgbClr val="0F172A"/>
                </a:solidFill>
                <a:latin typeface="Arial"/>
              </a:rPr>
              <a:t>771 decision points → 153 with gap &gt; 4 pts → </a:t>
            </a:r>
            <a:r>
              <a:rPr sz="1800" b="1" i="0">
                <a:solidFill>
                  <a:srgbClr val="0F172A"/>
                </a:solidFill>
                <a:latin typeface="Arial"/>
              </a:rPr>
              <a:t>74 trades</a:t>
            </a:r>
          </a:p>
          <a:p>
            <a:pPr algn="l" marL="292608" indent="-256032">
              <a:spcAft>
                <a:spcPts val="400"/>
              </a:spcAft>
              <a:buChar char="•"/>
            </a:pPr>
            <a:r>
              <a:rPr sz="1800" b="0" i="0">
                <a:solidFill>
                  <a:srgbClr val="0F172A"/>
                </a:solidFill>
                <a:latin typeface="Arial"/>
              </a:rPr>
              <a:t>Only </a:t>
            </a:r>
            <a:r>
              <a:rPr sz="1800" b="1" i="0">
                <a:solidFill>
                  <a:srgbClr val="0F172A"/>
                </a:solidFill>
                <a:latin typeface="Arial"/>
              </a:rPr>
              <a:t>27 (36%)</a:t>
            </a:r>
            <a:r>
              <a:rPr sz="1800" b="0" i="0">
                <a:solidFill>
                  <a:srgbClr val="0F172A"/>
                </a:solidFill>
                <a:latin typeface="Arial"/>
              </a:rPr>
              <a:t> beat or matched the close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77295" cy="685800"/>
          </a:xfrm>
          <a:prstGeom prst="rect">
            <a:avLst/>
          </a:prstGeom>
          <a:noFill/>
        </p:spPr>
        <p:txBody>
          <a:bodyPr wrap="square" anchor="ctr" lIns="73152" rIns="73152" tIns="36576" bIns="36576">
            <a:spAutoFit/>
          </a:bodyPr>
          <a:lstStyle/>
          <a:p>
            <a:pPr algn="l">
              <a:spcAft>
                <a:spcPts val="0"/>
              </a:spcAft>
            </a:pPr>
            <a:r>
              <a:rPr sz="3000" b="1" i="0">
                <a:solidFill>
                  <a:srgbClr val="FFFFFF"/>
                </a:solidFill>
                <a:latin typeface="Arial"/>
              </a:rPr>
              <a:t>Evidence 2: the price moves before the news reaches you</a:t>
            </a:r>
          </a:p>
        </p:txBody>
      </p:sp>
      <p:sp>
        <p:nvSpPr>
          <p:cNvPr id="5" name="TextBox 4"/>
          <p:cNvSpPr txBox="1"/>
          <p:nvPr/>
        </p:nvSpPr>
        <p:spPr>
          <a:xfrm>
            <a:off x="457200" y="6446520"/>
            <a:ext cx="9144000" cy="320040"/>
          </a:xfrm>
          <a:prstGeom prst="rect">
            <a:avLst/>
          </a:prstGeom>
          <a:noFill/>
        </p:spPr>
        <p:txBody>
          <a:bodyPr wrap="square" anchor="t" lIns="73152" rIns="73152" tIns="36576" bIns="36576">
            <a:spAutoFit/>
          </a:bodyPr>
          <a:lstStyle/>
          <a:p>
            <a:pPr algn="l">
              <a:spcAft>
                <a:spcPts val="0"/>
              </a:spcAft>
            </a:pPr>
            <a:r>
              <a:rPr sz="1100" b="0" i="0">
                <a:solidFill>
                  <a:srgbClr val="64748B"/>
                </a:solidFill>
                <a:latin typeface="Arial"/>
              </a:rPr>
              <a:t>DASC7606C Group 12 · Market-Graded Learning: the closing price grades every component</a:t>
            </a:r>
          </a:p>
        </p:txBody>
      </p:sp>
      <p:sp>
        <p:nvSpPr>
          <p:cNvPr id="6" name="TextBox 5"/>
          <p:cNvSpPr txBox="1"/>
          <p:nvPr/>
        </p:nvSpPr>
        <p:spPr>
          <a:xfrm>
            <a:off x="10820095" y="6446520"/>
            <a:ext cx="914400" cy="320040"/>
          </a:xfrm>
          <a:prstGeom prst="rect">
            <a:avLst/>
          </a:prstGeom>
          <a:noFill/>
        </p:spPr>
        <p:txBody>
          <a:bodyPr wrap="square" anchor="t" lIns="73152" rIns="73152" tIns="36576" bIns="36576">
            <a:spAutoFit/>
          </a:bodyPr>
          <a:lstStyle/>
          <a:p>
            <a:pPr algn="r">
              <a:spcAft>
                <a:spcPts val="0"/>
              </a:spcAft>
            </a:pPr>
            <a:r>
              <a:rPr sz="1100" b="0" i="0">
                <a:solidFill>
                  <a:srgbClr val="64748B"/>
                </a:solidFill>
                <a:latin typeface="Arial"/>
              </a:rPr>
              <a:t>7</a:t>
            </a:r>
          </a:p>
        </p:txBody>
      </p:sp>
      <p:pic>
        <p:nvPicPr>
          <p:cNvPr id="7" name="Picture 6" descr="price_discovery.png"/>
          <p:cNvPicPr>
            <a:picLocks noChangeAspect="1"/>
          </p:cNvPicPr>
          <p:nvPr/>
        </p:nvPicPr>
        <p:blipFill>
          <a:blip r:embed="rId3"/>
          <a:stretch>
            <a:fillRect/>
          </a:stretch>
        </p:blipFill>
        <p:spPr>
          <a:xfrm>
            <a:off x="457200" y="1856232"/>
            <a:ext cx="5120640" cy="2048255"/>
          </a:xfrm>
          <a:prstGeom prst="rect">
            <a:avLst/>
          </a:prstGeom>
        </p:spPr>
      </p:pic>
      <p:pic>
        <p:nvPicPr>
          <p:cNvPr id="8" name="Picture 7" descr="injury_timing.png"/>
          <p:cNvPicPr>
            <a:picLocks noChangeAspect="1"/>
          </p:cNvPicPr>
          <p:nvPr/>
        </p:nvPicPr>
        <p:blipFill>
          <a:blip r:embed="rId4"/>
          <a:stretch>
            <a:fillRect/>
          </a:stretch>
        </p:blipFill>
        <p:spPr>
          <a:xfrm>
            <a:off x="5715000" y="1676460"/>
            <a:ext cx="6019495" cy="2407798"/>
          </a:xfrm>
          <a:prstGeom prst="rect">
            <a:avLst/>
          </a:prstGeom>
        </p:spPr>
      </p:pic>
      <p:sp>
        <p:nvSpPr>
          <p:cNvPr id="9" name="TextBox 8"/>
          <p:cNvSpPr txBox="1"/>
          <p:nvPr/>
        </p:nvSpPr>
        <p:spPr>
          <a:xfrm>
            <a:off x="457200" y="4754880"/>
            <a:ext cx="11277295" cy="1600200"/>
          </a:xfrm>
          <a:prstGeom prst="rect">
            <a:avLst/>
          </a:prstGeom>
          <a:noFill/>
        </p:spPr>
        <p:txBody>
          <a:bodyPr wrap="square" anchor="t" lIns="73152" rIns="73152" tIns="36576" bIns="36576">
            <a:spAutoFit/>
          </a:bodyPr>
          <a:lstStyle/>
          <a:p>
            <a:pPr algn="l" marL="292608" indent="-256032">
              <a:spcAft>
                <a:spcPts val="400"/>
              </a:spcAft>
              <a:buChar char="•"/>
            </a:pPr>
            <a:r>
              <a:rPr sz="1800" b="1" i="0">
                <a:solidFill>
                  <a:srgbClr val="0F172A"/>
                </a:solidFill>
                <a:latin typeface="Arial"/>
              </a:rPr>
              <a:t>91%</a:t>
            </a:r>
            <a:r>
              <a:rPr sz="1800" b="0" i="0">
                <a:solidFill>
                  <a:srgbClr val="0F172A"/>
                </a:solidFill>
                <a:latin typeface="Arial"/>
              </a:rPr>
              <a:t> of the move happens before the inactive list (+1.80 vs +0.18 pts, 193 test games)</a:t>
            </a:r>
          </a:p>
          <a:p>
            <a:pPr algn="l" marL="292608" indent="-256032">
              <a:spcAft>
                <a:spcPts val="400"/>
              </a:spcAft>
              <a:buChar char="•"/>
            </a:pPr>
            <a:r>
              <a:rPr sz="1800" b="0" i="0">
                <a:solidFill>
                  <a:srgbClr val="0F172A"/>
                </a:solidFill>
                <a:latin typeface="Arial"/>
              </a:rPr>
              <a:t>About </a:t>
            </a:r>
            <a:r>
              <a:rPr sz="1800" b="1" i="0">
                <a:solidFill>
                  <a:srgbClr val="0F172A"/>
                </a:solidFill>
                <a:latin typeface="Arial"/>
              </a:rPr>
              <a:t>two-thirds</a:t>
            </a:r>
            <a:r>
              <a:rPr sz="1800" b="0" i="0">
                <a:solidFill>
                  <a:srgbClr val="0F172A"/>
                </a:solidFill>
                <a:latin typeface="Arial"/>
              </a:rPr>
              <a:t> (67%, CI 47–85%) comes before the first official injury report, ~6 h earlier</a:t>
            </a:r>
          </a:p>
          <a:p>
            <a:pPr algn="l" marL="292608" indent="-256032">
              <a:spcAft>
                <a:spcPts val="400"/>
              </a:spcAft>
              <a:buChar char="•"/>
            </a:pPr>
            <a:r>
              <a:rPr sz="1500" b="0" i="0">
                <a:solidFill>
                  <a:srgbClr val="64748B"/>
                </a:solidFill>
                <a:latin typeface="Arial"/>
              </a:rPr>
              <a:t>49% if reports are public at their slot; official reports only, so news can be earlier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77295" cy="685800"/>
          </a:xfrm>
          <a:prstGeom prst="rect">
            <a:avLst/>
          </a:prstGeom>
          <a:noFill/>
        </p:spPr>
        <p:txBody>
          <a:bodyPr wrap="square" anchor="ctr" lIns="73152" rIns="73152" tIns="36576" bIns="36576">
            <a:spAutoFit/>
          </a:bodyPr>
          <a:lstStyle/>
          <a:p>
            <a:pPr algn="l">
              <a:spcAft>
                <a:spcPts val="0"/>
              </a:spcAft>
            </a:pPr>
            <a:r>
              <a:rPr sz="3000" b="1" i="0">
                <a:solidFill>
                  <a:srgbClr val="FFFFFF"/>
                </a:solidFill>
                <a:latin typeface="Arial"/>
              </a:rPr>
              <a:t>Evidence 3: the market beats our model</a:t>
            </a:r>
          </a:p>
        </p:txBody>
      </p:sp>
      <p:sp>
        <p:nvSpPr>
          <p:cNvPr id="5" name="TextBox 4"/>
          <p:cNvSpPr txBox="1"/>
          <p:nvPr/>
        </p:nvSpPr>
        <p:spPr>
          <a:xfrm>
            <a:off x="457200" y="6446520"/>
            <a:ext cx="9144000" cy="320040"/>
          </a:xfrm>
          <a:prstGeom prst="rect">
            <a:avLst/>
          </a:prstGeom>
          <a:noFill/>
        </p:spPr>
        <p:txBody>
          <a:bodyPr wrap="square" anchor="t" lIns="73152" rIns="73152" tIns="36576" bIns="36576">
            <a:spAutoFit/>
          </a:bodyPr>
          <a:lstStyle/>
          <a:p>
            <a:pPr algn="l">
              <a:spcAft>
                <a:spcPts val="0"/>
              </a:spcAft>
            </a:pPr>
            <a:r>
              <a:rPr sz="1100" b="0" i="0">
                <a:solidFill>
                  <a:srgbClr val="64748B"/>
                </a:solidFill>
                <a:latin typeface="Arial"/>
              </a:rPr>
              <a:t>DASC7606C Group 12 · Market-Graded Learning: the closing price grades every component</a:t>
            </a:r>
          </a:p>
        </p:txBody>
      </p:sp>
      <p:sp>
        <p:nvSpPr>
          <p:cNvPr id="6" name="TextBox 5"/>
          <p:cNvSpPr txBox="1"/>
          <p:nvPr/>
        </p:nvSpPr>
        <p:spPr>
          <a:xfrm>
            <a:off x="10820095" y="6446520"/>
            <a:ext cx="914400" cy="320040"/>
          </a:xfrm>
          <a:prstGeom prst="rect">
            <a:avLst/>
          </a:prstGeom>
          <a:noFill/>
        </p:spPr>
        <p:txBody>
          <a:bodyPr wrap="square" anchor="t" lIns="73152" rIns="73152" tIns="36576" bIns="36576">
            <a:spAutoFit/>
          </a:bodyPr>
          <a:lstStyle/>
          <a:p>
            <a:pPr algn="r">
              <a:spcAft>
                <a:spcPts val="0"/>
              </a:spcAft>
            </a:pPr>
            <a:r>
              <a:rPr sz="1100" b="0" i="0">
                <a:solidFill>
                  <a:srgbClr val="64748B"/>
                </a:solidFill>
                <a:latin typeface="Arial"/>
              </a:rPr>
              <a:t>8</a:t>
            </a:r>
          </a:p>
        </p:txBody>
      </p:sp>
      <p:pic>
        <p:nvPicPr>
          <p:cNvPr id="7" name="Picture 6" descr="m4_vs_market.png"/>
          <p:cNvPicPr>
            <a:picLocks noChangeAspect="1"/>
          </p:cNvPicPr>
          <p:nvPr/>
        </p:nvPicPr>
        <p:blipFill>
          <a:blip r:embed="rId3"/>
          <a:stretch>
            <a:fillRect/>
          </a:stretch>
        </p:blipFill>
        <p:spPr>
          <a:xfrm>
            <a:off x="457200" y="1209821"/>
            <a:ext cx="6949440" cy="5078436"/>
          </a:xfrm>
          <a:prstGeom prst="rect">
            <a:avLst/>
          </a:prstGeom>
        </p:spPr>
      </p:pic>
      <p:sp>
        <p:nvSpPr>
          <p:cNvPr id="8" name="TextBox 7"/>
          <p:cNvSpPr txBox="1"/>
          <p:nvPr/>
        </p:nvSpPr>
        <p:spPr>
          <a:xfrm>
            <a:off x="7589520" y="1280160"/>
            <a:ext cx="4144975" cy="5120640"/>
          </a:xfrm>
          <a:prstGeom prst="rect">
            <a:avLst/>
          </a:prstGeom>
          <a:noFill/>
        </p:spPr>
        <p:txBody>
          <a:bodyPr wrap="square" anchor="t" lIns="73152" rIns="73152" tIns="36576" bIns="36576">
            <a:spAutoFit/>
          </a:bodyPr>
          <a:lstStyle/>
          <a:p>
            <a:pPr algn="l" marL="292608" indent="-256032">
              <a:spcAft>
                <a:spcPts val="1000"/>
              </a:spcAft>
              <a:buChar char="•"/>
            </a:pPr>
            <a:r>
              <a:rPr sz="1900" b="0" i="0">
                <a:solidFill>
                  <a:srgbClr val="0F172A"/>
                </a:solidFill>
                <a:latin typeface="Arial"/>
              </a:rPr>
              <a:t>Brier, 501 test games, 1 h before tip: </a:t>
            </a:r>
            <a:r>
              <a:rPr sz="1900" b="1" i="0">
                <a:solidFill>
                  <a:srgbClr val="0F172A"/>
                </a:solidFill>
                <a:latin typeface="Arial"/>
              </a:rPr>
              <a:t>market 0.164</a:t>
            </a:r>
            <a:r>
              <a:rPr sz="1900" b="0" i="0">
                <a:solidFill>
                  <a:srgbClr val="0F172A"/>
                </a:solidFill>
                <a:latin typeface="Arial"/>
              </a:rPr>
              <a:t>, our model 0.186</a:t>
            </a:r>
          </a:p>
          <a:p>
            <a:pPr algn="l" marL="292608" indent="-256032">
              <a:spcAft>
                <a:spcPts val="1000"/>
              </a:spcAft>
              <a:buChar char="•"/>
            </a:pPr>
            <a:r>
              <a:rPr sz="1900" b="0" i="0">
                <a:solidFill>
                  <a:srgbClr val="0F172A"/>
                </a:solidFill>
                <a:latin typeface="Arial"/>
              </a:rPr>
              <a:t>Disagree by more than 5 pts, and the market is right:</a:t>
            </a:r>
          </a:p>
          <a:p>
            <a:pPr algn="l" marL="612647" indent="-256032">
              <a:spcAft>
                <a:spcPts val="1000"/>
              </a:spcAft>
              <a:buChar char="–"/>
            </a:pPr>
            <a:r>
              <a:rPr sz="1700" b="0" i="0">
                <a:solidFill>
                  <a:srgbClr val="0F172A"/>
                </a:solidFill>
                <a:latin typeface="Arial"/>
              </a:rPr>
              <a:t>model higher on home: model 48%, market 35%, actual 34%</a:t>
            </a:r>
          </a:p>
          <a:p>
            <a:pPr algn="l" marL="612647" indent="-256032">
              <a:spcAft>
                <a:spcPts val="1000"/>
              </a:spcAft>
              <a:buChar char="–"/>
            </a:pPr>
            <a:r>
              <a:rPr sz="1700" b="0" i="0">
                <a:solidFill>
                  <a:srgbClr val="0F172A"/>
                </a:solidFill>
                <a:latin typeface="Arial"/>
              </a:rPr>
              <a:t>model lower on home: model 61%, market 73%, actual 77%</a:t>
            </a:r>
          </a:p>
          <a:p>
            <a:pPr algn="l" marL="292608" indent="-256032">
              <a:spcAft>
                <a:spcPts val="1000"/>
              </a:spcAft>
              <a:buChar char="•"/>
            </a:pPr>
            <a:r>
              <a:rPr sz="1600" b="0" i="0">
                <a:solidFill>
                  <a:srgbClr val="64748B"/>
                </a:solidFill>
                <a:latin typeface="Arial"/>
              </a:rPr>
              <a:t>With the inactive list: model 0.183 vs market at tip 0.163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77295" cy="685800"/>
          </a:xfrm>
          <a:prstGeom prst="rect">
            <a:avLst/>
          </a:prstGeom>
          <a:noFill/>
        </p:spPr>
        <p:txBody>
          <a:bodyPr wrap="square" anchor="ctr" lIns="73152" rIns="73152" tIns="36576" bIns="36576">
            <a:spAutoFit/>
          </a:bodyPr>
          <a:lstStyle/>
          <a:p>
            <a:pPr algn="l">
              <a:spcAft>
                <a:spcPts val="0"/>
              </a:spcAft>
            </a:pPr>
            <a:r>
              <a:rPr sz="3000" b="1" i="0">
                <a:solidFill>
                  <a:srgbClr val="FFFFFF"/>
                </a:solidFill>
                <a:latin typeface="Arial"/>
              </a:rPr>
              <a:t>Deep learning: a GRU trained on the market's own moves</a:t>
            </a:r>
          </a:p>
        </p:txBody>
      </p:sp>
      <p:sp>
        <p:nvSpPr>
          <p:cNvPr id="5" name="TextBox 4"/>
          <p:cNvSpPr txBox="1"/>
          <p:nvPr/>
        </p:nvSpPr>
        <p:spPr>
          <a:xfrm>
            <a:off x="457200" y="6446520"/>
            <a:ext cx="9144000" cy="320040"/>
          </a:xfrm>
          <a:prstGeom prst="rect">
            <a:avLst/>
          </a:prstGeom>
          <a:noFill/>
        </p:spPr>
        <p:txBody>
          <a:bodyPr wrap="square" anchor="t" lIns="73152" rIns="73152" tIns="36576" bIns="36576">
            <a:spAutoFit/>
          </a:bodyPr>
          <a:lstStyle/>
          <a:p>
            <a:pPr algn="l">
              <a:spcAft>
                <a:spcPts val="0"/>
              </a:spcAft>
            </a:pPr>
            <a:r>
              <a:rPr sz="1100" b="0" i="0">
                <a:solidFill>
                  <a:srgbClr val="64748B"/>
                </a:solidFill>
                <a:latin typeface="Arial"/>
              </a:rPr>
              <a:t>DASC7606C Group 12 · Market-Graded Learning: the closing price grades every component</a:t>
            </a:r>
          </a:p>
        </p:txBody>
      </p:sp>
      <p:sp>
        <p:nvSpPr>
          <p:cNvPr id="6" name="TextBox 5"/>
          <p:cNvSpPr txBox="1"/>
          <p:nvPr/>
        </p:nvSpPr>
        <p:spPr>
          <a:xfrm>
            <a:off x="10820095" y="6446520"/>
            <a:ext cx="914400" cy="320040"/>
          </a:xfrm>
          <a:prstGeom prst="rect">
            <a:avLst/>
          </a:prstGeom>
          <a:noFill/>
        </p:spPr>
        <p:txBody>
          <a:bodyPr wrap="square" anchor="t" lIns="73152" rIns="73152" tIns="36576" bIns="36576">
            <a:spAutoFit/>
          </a:bodyPr>
          <a:lstStyle/>
          <a:p>
            <a:pPr algn="r">
              <a:spcAft>
                <a:spcPts val="0"/>
              </a:spcAft>
            </a:pPr>
            <a:r>
              <a:rPr sz="1100" b="0" i="0">
                <a:solidFill>
                  <a:srgbClr val="64748B"/>
                </a:solidFill>
                <a:latin typeface="Arial"/>
              </a:rPr>
              <a:t>9</a:t>
            </a:r>
          </a:p>
        </p:txBody>
      </p:sp>
      <p:sp>
        <p:nvSpPr>
          <p:cNvPr id="7" name="TextBox 6"/>
          <p:cNvSpPr txBox="1"/>
          <p:nvPr/>
        </p:nvSpPr>
        <p:spPr>
          <a:xfrm>
            <a:off x="457200" y="1143000"/>
            <a:ext cx="4572000" cy="4114800"/>
          </a:xfrm>
          <a:prstGeom prst="rect">
            <a:avLst/>
          </a:prstGeom>
          <a:noFill/>
        </p:spPr>
        <p:txBody>
          <a:bodyPr wrap="square" anchor="t" lIns="73152" rIns="73152" tIns="36576" bIns="36576">
            <a:spAutoFit/>
          </a:bodyPr>
          <a:lstStyle/>
          <a:p>
            <a:pPr algn="l">
              <a:spcAft>
                <a:spcPts val="400"/>
              </a:spcAft>
            </a:pPr>
            <a:r>
              <a:rPr sz="1600" b="1" i="0">
                <a:solidFill>
                  <a:srgbClr val="1E293B"/>
                </a:solidFill>
                <a:latin typeface="Arial"/>
              </a:rPr>
              <a:t>M6 design</a:t>
            </a:r>
          </a:p>
          <a:p>
            <a:pPr algn="l" marL="292608" indent="-256032">
              <a:spcAft>
                <a:spcPts val="400"/>
              </a:spcAft>
              <a:buChar char="•"/>
            </a:pPr>
            <a:r>
              <a:rPr sz="1600" b="0" i="0">
                <a:solidFill>
                  <a:srgbClr val="0F172A"/>
                </a:solidFill>
                <a:latin typeface="Arial"/>
              </a:rPr>
              <a:t>Label = price move to tip (the market grades it)</a:t>
            </a:r>
          </a:p>
          <a:p>
            <a:pPr algn="l" marL="292608" indent="-256032">
              <a:spcAft>
                <a:spcPts val="400"/>
              </a:spcAft>
              <a:buChar char="•"/>
            </a:pPr>
            <a:r>
              <a:rPr sz="1600" b="0" i="0">
                <a:solidFill>
                  <a:srgbClr val="0F172A"/>
                </a:solidFill>
                <a:latin typeface="Arial"/>
              </a:rPr>
              <a:t>GRU-16 over 6 h of prices, 15-min steps</a:t>
            </a:r>
          </a:p>
          <a:p>
            <a:pPr algn="l" marL="292608" indent="-256032">
              <a:spcAft>
                <a:spcPts val="400"/>
              </a:spcAft>
              <a:buChar char="•"/>
            </a:pPr>
            <a:r>
              <a:rPr sz="1600" b="0" i="0">
                <a:solidFill>
                  <a:srgbClr val="0F172A"/>
                </a:solidFill>
                <a:latin typeface="Arial"/>
              </a:rPr>
              <a:t>+ 18 static features → MLP → 10 / 50 / 90th percentiles</a:t>
            </a:r>
          </a:p>
          <a:p>
            <a:pPr algn="l" marL="292608" indent="-256032">
              <a:spcAft>
                <a:spcPts val="400"/>
              </a:spcAft>
              <a:buChar char="•"/>
            </a:pPr>
            <a:r>
              <a:rPr sz="1600" b="0" i="0">
                <a:solidFill>
                  <a:srgbClr val="0F172A"/>
                </a:solidFill>
                <a:latin typeface="Arial"/>
              </a:rPr>
              <a:t>Pinball loss, early stopping; leak-tested</a:t>
            </a:r>
          </a:p>
          <a:p>
            <a:pPr algn="l">
              <a:spcAft>
                <a:spcPts val="400"/>
              </a:spcAft>
            </a:pPr>
            <a:r>
              <a:rPr sz="1600" b="1" i="0">
                <a:solidFill>
                  <a:srgbClr val="DC2626"/>
                </a:solidFill>
                <a:latin typeface="Arial"/>
              </a:rPr>
              <a:t>Result</a:t>
            </a:r>
          </a:p>
          <a:p>
            <a:pPr algn="l" marL="292608" indent="-256032">
              <a:spcAft>
                <a:spcPts val="400"/>
              </a:spcAft>
              <a:buChar char="•"/>
            </a:pPr>
            <a:r>
              <a:rPr sz="1600" b="0" i="0">
                <a:solidFill>
                  <a:srgbClr val="0F172A"/>
                </a:solidFill>
                <a:latin typeface="Arial"/>
              </a:rPr>
              <a:t>MAE </a:t>
            </a:r>
            <a:r>
              <a:rPr sz="1600" b="1" i="0">
                <a:solidFill>
                  <a:srgbClr val="0F172A"/>
                </a:solidFill>
                <a:latin typeface="Arial"/>
              </a:rPr>
              <a:t>0.867¢</a:t>
            </a:r>
            <a:r>
              <a:rPr sz="1600" b="0" i="0">
                <a:solidFill>
                  <a:srgbClr val="0F172A"/>
                </a:solidFill>
                <a:latin typeface="Arial"/>
              </a:rPr>
              <a:t> vs zero move </a:t>
            </a:r>
            <a:r>
              <a:rPr sz="1600" b="1" i="0">
                <a:solidFill>
                  <a:srgbClr val="0F172A"/>
                </a:solidFill>
                <a:latin typeface="Arial"/>
              </a:rPr>
              <a:t>0.833¢</a:t>
            </a:r>
            <a:r>
              <a:rPr sz="1600" b="0" i="0">
                <a:solidFill>
                  <a:srgbClr val="0F172A"/>
                </a:solidFill>
                <a:latin typeface="Arial"/>
              </a:rPr>
              <a:t>; agent makes 0 trades</a:t>
            </a:r>
          </a:p>
        </p:txBody>
      </p:sp>
      <p:pic>
        <p:nvPicPr>
          <p:cNvPr id="8" name="Picture 7" descr="m6_robustness.png"/>
          <p:cNvPicPr>
            <a:picLocks noChangeAspect="1"/>
          </p:cNvPicPr>
          <p:nvPr/>
        </p:nvPicPr>
        <p:blipFill>
          <a:blip r:embed="rId3"/>
          <a:stretch>
            <a:fillRect/>
          </a:stretch>
        </p:blipFill>
        <p:spPr>
          <a:xfrm>
            <a:off x="5120640" y="1206550"/>
            <a:ext cx="6613855" cy="2204618"/>
          </a:xfrm>
          <a:prstGeom prst="rect">
            <a:avLst/>
          </a:prstGeom>
        </p:spPr>
      </p:pic>
      <p:pic>
        <p:nvPicPr>
          <p:cNvPr id="9" name="Picture 8" descr="m6_vs_baselines.png"/>
          <p:cNvPicPr>
            <a:picLocks noChangeAspect="1"/>
          </p:cNvPicPr>
          <p:nvPr/>
        </p:nvPicPr>
        <p:blipFill>
          <a:blip r:embed="rId4"/>
          <a:stretch>
            <a:fillRect/>
          </a:stretch>
        </p:blipFill>
        <p:spPr>
          <a:xfrm>
            <a:off x="5445828" y="3520439"/>
            <a:ext cx="5963478" cy="1828800"/>
          </a:xfrm>
          <a:prstGeom prst="rect">
            <a:avLst/>
          </a:prstGeom>
        </p:spPr>
      </p:pic>
      <p:sp>
        <p:nvSpPr>
          <p:cNvPr id="10" name="TextBox 9"/>
          <p:cNvSpPr txBox="1"/>
          <p:nvPr/>
        </p:nvSpPr>
        <p:spPr>
          <a:xfrm>
            <a:off x="457200" y="5212080"/>
            <a:ext cx="11277295" cy="566928"/>
          </a:xfrm>
          <a:prstGeom prst="rect">
            <a:avLst/>
          </a:prstGeom>
          <a:noFill/>
        </p:spPr>
        <p:txBody>
          <a:bodyPr wrap="square" anchor="t" lIns="73152" rIns="73152" tIns="36576" bIns="36576">
            <a:spAutoFit/>
          </a:bodyPr>
          <a:lstStyle/>
          <a:p>
            <a:pPr algn="l">
              <a:spcAft>
                <a:spcPts val="0"/>
              </a:spcAft>
            </a:pPr>
            <a:r>
              <a:rPr sz="1600" b="1" i="0">
                <a:solidFill>
                  <a:srgbClr val="0F172A"/>
                </a:solidFill>
                <a:latin typeface="Arial"/>
              </a:rPr>
              <a:t>Robustness:</a:t>
            </a:r>
            <a:r>
              <a:rPr sz="1600" b="0" i="0">
                <a:solidFill>
                  <a:srgbClr val="0F172A"/>
                </a:solidFill>
                <a:latin typeface="Arial"/>
              </a:rPr>
              <a:t> 9 configurations × 3 seeds, all worse than zero move (best +0.017¢); none predicts the 5.5¢ needed to trade</a:t>
            </a:r>
          </a:p>
        </p:txBody>
      </p:sp>
      <p:sp>
        <p:nvSpPr>
          <p:cNvPr id="11" name="TextBox 10"/>
          <p:cNvSpPr txBox="1"/>
          <p:nvPr/>
        </p:nvSpPr>
        <p:spPr>
          <a:xfrm>
            <a:off x="457200" y="5788152"/>
            <a:ext cx="11277295" cy="566928"/>
          </a:xfrm>
          <a:prstGeom prst="rect">
            <a:avLst/>
          </a:prstGeom>
          <a:noFill/>
        </p:spPr>
        <p:txBody>
          <a:bodyPr wrap="square" anchor="t" lIns="73152" rIns="73152" tIns="36576" bIns="36576">
            <a:spAutoFit/>
          </a:bodyPr>
          <a:lstStyle/>
          <a:p>
            <a:pPr algn="l">
              <a:spcAft>
                <a:spcPts val="0"/>
              </a:spcAft>
            </a:pPr>
            <a:r>
              <a:rPr sz="1600" b="1" i="0">
                <a:solidFill>
                  <a:srgbClr val="0F172A"/>
                </a:solidFill>
                <a:latin typeface="Arial"/>
              </a:rPr>
              <a:t>M4 recalibration:</a:t>
            </a:r>
            <a:r>
              <a:rPr sz="1600" b="0" i="0">
                <a:solidFill>
                  <a:srgbClr val="0F172A"/>
                </a:solidFill>
                <a:latin typeface="Arial"/>
              </a:rPr>
              <a:t> Brier 0.183 raw, 0.185 Platt, 0.184 isotonic vs market 0.164; miscalibration changes with season phase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77295" cy="685800"/>
          </a:xfrm>
          <a:prstGeom prst="rect">
            <a:avLst/>
          </a:prstGeom>
          <a:noFill/>
        </p:spPr>
        <p:txBody>
          <a:bodyPr wrap="square" anchor="ctr" lIns="73152" rIns="73152" tIns="36576" bIns="36576">
            <a:spAutoFit/>
          </a:bodyPr>
          <a:lstStyle/>
          <a:p>
            <a:pPr algn="l">
              <a:spcAft>
                <a:spcPts val="0"/>
              </a:spcAft>
            </a:pPr>
            <a:r>
              <a:rPr sz="3000" b="1" i="0">
                <a:solidFill>
                  <a:srgbClr val="FFFFFF"/>
                </a:solidFill>
                <a:latin typeface="Arial"/>
              </a:rPr>
              <a:t>Evidence 4: every line drifts down; never trading wins</a:t>
            </a:r>
          </a:p>
        </p:txBody>
      </p:sp>
      <p:sp>
        <p:nvSpPr>
          <p:cNvPr id="5" name="TextBox 4"/>
          <p:cNvSpPr txBox="1"/>
          <p:nvPr/>
        </p:nvSpPr>
        <p:spPr>
          <a:xfrm>
            <a:off x="457200" y="6446520"/>
            <a:ext cx="9144000" cy="320040"/>
          </a:xfrm>
          <a:prstGeom prst="rect">
            <a:avLst/>
          </a:prstGeom>
          <a:noFill/>
        </p:spPr>
        <p:txBody>
          <a:bodyPr wrap="square" anchor="t" lIns="73152" rIns="73152" tIns="36576" bIns="36576">
            <a:spAutoFit/>
          </a:bodyPr>
          <a:lstStyle/>
          <a:p>
            <a:pPr algn="l">
              <a:spcAft>
                <a:spcPts val="0"/>
              </a:spcAft>
            </a:pPr>
            <a:r>
              <a:rPr sz="1100" b="0" i="0">
                <a:solidFill>
                  <a:srgbClr val="64748B"/>
                </a:solidFill>
                <a:latin typeface="Arial"/>
              </a:rPr>
              <a:t>DASC7606C Group 12 · Market-Graded Learning: the closing price grades every component</a:t>
            </a:r>
          </a:p>
        </p:txBody>
      </p:sp>
      <p:sp>
        <p:nvSpPr>
          <p:cNvPr id="6" name="TextBox 5"/>
          <p:cNvSpPr txBox="1"/>
          <p:nvPr/>
        </p:nvSpPr>
        <p:spPr>
          <a:xfrm>
            <a:off x="10820095" y="6446520"/>
            <a:ext cx="914400" cy="320040"/>
          </a:xfrm>
          <a:prstGeom prst="rect">
            <a:avLst/>
          </a:prstGeom>
          <a:noFill/>
        </p:spPr>
        <p:txBody>
          <a:bodyPr wrap="square" anchor="t" lIns="73152" rIns="73152" tIns="36576" bIns="36576">
            <a:spAutoFit/>
          </a:bodyPr>
          <a:lstStyle/>
          <a:p>
            <a:pPr algn="r">
              <a:spcAft>
                <a:spcPts val="0"/>
              </a:spcAft>
            </a:pPr>
            <a:r>
              <a:rPr sz="1100" b="0" i="0">
                <a:solidFill>
                  <a:srgbClr val="64748B"/>
                </a:solidFill>
                <a:latin typeface="Arial"/>
              </a:rPr>
              <a:t>10</a:t>
            </a:r>
          </a:p>
        </p:txBody>
      </p:sp>
      <p:pic>
        <p:nvPicPr>
          <p:cNvPr id="7" name="Picture 6" descr="cumulative_pnl.png"/>
          <p:cNvPicPr>
            <a:picLocks noChangeAspect="1"/>
          </p:cNvPicPr>
          <p:nvPr/>
        </p:nvPicPr>
        <p:blipFill>
          <a:blip r:embed="rId3"/>
          <a:stretch>
            <a:fillRect/>
          </a:stretch>
        </p:blipFill>
        <p:spPr>
          <a:xfrm>
            <a:off x="2381097" y="1097280"/>
            <a:ext cx="7429500" cy="3200400"/>
          </a:xfrm>
          <a:prstGeom prst="rect">
            <a:avLst/>
          </a:prstGeom>
        </p:spPr>
      </p:pic>
      <p:graphicFrame>
        <p:nvGraphicFramePr>
          <p:cNvPr id="8" name="Table 7"/>
          <p:cNvGraphicFramePr>
            <a:graphicFrameLocks noGrp="1"/>
          </p:cNvGraphicFramePr>
          <p:nvPr/>
        </p:nvGraphicFramePr>
        <p:xfrm>
          <a:off x="457200" y="4389120"/>
          <a:ext cx="6400800" cy="1755648"/>
        </p:xfrm>
        <a:graphic>
          <a:graphicData uri="http://schemas.openxmlformats.org/drawingml/2006/table">
            <a:tbl>
              <a:tblPr firstRow="1" bandRow="1">
                <a:tableStyleId>{5C22544A-7EE6-4342-B048-85BDC9FD1C3A}</a:tableStyleId>
              </a:tblPr>
              <a:tblGrid>
                <a:gridCol w="2926080"/>
                <a:gridCol w="868680"/>
                <a:gridCol w="2606040"/>
              </a:tblGrid>
              <a:tr h="365760">
                <a:tc>
                  <a:txBody>
                    <a:bodyPr wrap="square"/>
                    <a:lstStyle/>
                    <a:p>
                      <a:pPr algn="l"/>
                      <a:r>
                        <a:rPr sz="1400" b="1" i="0">
                          <a:solidFill>
                            <a:srgbClr val="FFFFFF"/>
                          </a:solidFill>
                          <a:latin typeface="Arial"/>
                        </a:rPr>
                        <a:t>Walk-forward, Nov – 12 Apr</a:t>
                      </a:r>
                    </a:p>
                  </a:txBody>
                  <a:tcPr marL="73152" marR="73152" marT="36576" marB="36576" anchor="ctr">
                    <a:solidFill>
                      <a:srgbClr val="1E293B"/>
                    </a:solidFill>
                  </a:tcPr>
                </a:tc>
                <a:tc>
                  <a:txBody>
                    <a:bodyPr wrap="square"/>
                    <a:lstStyle/>
                    <a:p>
                      <a:pPr algn="ctr"/>
                      <a:r>
                        <a:rPr sz="1400" b="1" i="0">
                          <a:solidFill>
                            <a:srgbClr val="FFFFFF"/>
                          </a:solidFill>
                          <a:latin typeface="Arial"/>
                        </a:rPr>
                        <a:t>Trades</a:t>
                      </a:r>
                    </a:p>
                  </a:txBody>
                  <a:tcPr marL="73152" marR="73152" marT="36576" marB="36576" anchor="ctr">
                    <a:solidFill>
                      <a:srgbClr val="1E293B"/>
                    </a:solidFill>
                  </a:tcPr>
                </a:tc>
                <a:tc>
                  <a:txBody>
                    <a:bodyPr wrap="square"/>
                    <a:lstStyle/>
                    <a:p>
                      <a:pPr algn="ctr"/>
                      <a:r>
                        <a:rPr sz="1400" b="1" i="0">
                          <a:solidFill>
                            <a:srgbClr val="FFFFFF"/>
                          </a:solidFill>
                          <a:latin typeface="Arial"/>
                        </a:rPr>
                        <a:t>P&amp;L after fees [95% CI]</a:t>
                      </a:r>
                    </a:p>
                  </a:txBody>
                  <a:tcPr marL="73152" marR="73152" marT="36576" marB="36576" anchor="ctr">
                    <a:solidFill>
                      <a:srgbClr val="1E293B"/>
                    </a:solidFill>
                  </a:tcPr>
                </a:tc>
              </a:tr>
              <a:tr h="347472">
                <a:tc>
                  <a:txBody>
                    <a:bodyPr wrap="square"/>
                    <a:lstStyle/>
                    <a:p>
                      <a:pPr algn="l"/>
                      <a:r>
                        <a:rPr sz="1400" b="1" i="0">
                          <a:solidFill>
                            <a:srgbClr val="0F172A"/>
                          </a:solidFill>
                          <a:latin typeface="Arial"/>
                        </a:rPr>
                        <a:t>Never trade</a:t>
                      </a:r>
                    </a:p>
                  </a:txBody>
                  <a:tcPr marL="73152" marR="73152" marT="36576" marB="36576" anchor="ctr">
                    <a:solidFill>
                      <a:srgbClr val="DCFCE7"/>
                    </a:solidFill>
                  </a:tcPr>
                </a:tc>
                <a:tc>
                  <a:txBody>
                    <a:bodyPr wrap="square"/>
                    <a:lstStyle/>
                    <a:p>
                      <a:pPr algn="ctr"/>
                      <a:r>
                        <a:rPr sz="1400" b="0" i="0">
                          <a:solidFill>
                            <a:srgbClr val="0F172A"/>
                          </a:solidFill>
                          <a:latin typeface="Arial"/>
                        </a:rPr>
                        <a:t>0</a:t>
                      </a:r>
                    </a:p>
                  </a:txBody>
                  <a:tcPr marL="73152" marR="73152" marT="36576" marB="36576" anchor="ctr">
                    <a:solidFill>
                      <a:srgbClr val="DCFCE7"/>
                    </a:solidFill>
                  </a:tcPr>
                </a:tc>
                <a:tc>
                  <a:txBody>
                    <a:bodyPr wrap="square"/>
                    <a:lstStyle/>
                    <a:p>
                      <a:pPr algn="ctr"/>
                      <a:r>
                        <a:rPr sz="1400" b="1" i="0">
                          <a:solidFill>
                            <a:srgbClr val="0F172A"/>
                          </a:solidFill>
                          <a:latin typeface="Arial"/>
                        </a:rPr>
                        <a:t>$0</a:t>
                      </a:r>
                    </a:p>
                  </a:txBody>
                  <a:tcPr marL="73152" marR="73152" marT="36576" marB="36576" anchor="ctr">
                    <a:solidFill>
                      <a:srgbClr val="DCFCE7"/>
                    </a:solidFill>
                  </a:tcPr>
                </a:tc>
              </a:tr>
              <a:tr h="347472">
                <a:tc>
                  <a:txBody>
                    <a:bodyPr wrap="square"/>
                    <a:lstStyle/>
                    <a:p>
                      <a:pPr algn="l"/>
                      <a:r>
                        <a:rPr sz="1400" b="0" i="0">
                          <a:solidFill>
                            <a:srgbClr val="0F172A"/>
                          </a:solidFill>
                          <a:latin typeface="Arial"/>
                        </a:rPr>
                        <a:t>Full agent: anchor + learning</a:t>
                      </a:r>
                    </a:p>
                  </a:txBody>
                  <a:tcPr marL="73152" marR="73152" marT="36576" marB="36576" anchor="ctr">
                    <a:solidFill>
                      <a:srgbClr val="FFFFFF"/>
                    </a:solidFill>
                  </a:tcPr>
                </a:tc>
                <a:tc>
                  <a:txBody>
                    <a:bodyPr wrap="square"/>
                    <a:lstStyle/>
                    <a:p>
                      <a:pPr algn="ctr"/>
                      <a:r>
                        <a:rPr sz="1400" b="0" i="0">
                          <a:solidFill>
                            <a:srgbClr val="0F172A"/>
                          </a:solidFill>
                          <a:latin typeface="Arial"/>
                        </a:rPr>
                        <a:t>157</a:t>
                      </a:r>
                    </a:p>
                  </a:txBody>
                  <a:tcPr marL="73152" marR="73152" marT="36576" marB="36576" anchor="ctr">
                    <a:solidFill>
                      <a:srgbClr val="FFFFFF"/>
                    </a:solidFill>
                  </a:tcPr>
                </a:tc>
                <a:tc>
                  <a:txBody>
                    <a:bodyPr wrap="square"/>
                    <a:lstStyle/>
                    <a:p>
                      <a:pPr algn="ctr"/>
                      <a:r>
                        <a:rPr sz="1400" b="0" i="0">
                          <a:solidFill>
                            <a:srgbClr val="0F172A"/>
                          </a:solidFill>
                          <a:latin typeface="Arial"/>
                        </a:rPr>
                        <a:t>−$25 [−$569 to +$564]</a:t>
                      </a:r>
                    </a:p>
                  </a:txBody>
                  <a:tcPr marL="73152" marR="73152" marT="36576" marB="36576" anchor="ctr">
                    <a:solidFill>
                      <a:srgbClr val="FFFFFF"/>
                    </a:solidFill>
                  </a:tcPr>
                </a:tc>
              </a:tr>
              <a:tr h="347472">
                <a:tc>
                  <a:txBody>
                    <a:bodyPr wrap="square"/>
                    <a:lstStyle/>
                    <a:p>
                      <a:pPr algn="l"/>
                      <a:r>
                        <a:rPr sz="1400" b="0" i="0">
                          <a:solidFill>
                            <a:srgbClr val="0F172A"/>
                          </a:solidFill>
                          <a:latin typeface="Arial"/>
                        </a:rPr>
                        <a:t>Anchor, no learning</a:t>
                      </a:r>
                    </a:p>
                  </a:txBody>
                  <a:tcPr marL="73152" marR="73152" marT="36576" marB="36576" anchor="ctr">
                    <a:solidFill>
                      <a:srgbClr val="F1F5F9"/>
                    </a:solidFill>
                  </a:tcPr>
                </a:tc>
                <a:tc>
                  <a:txBody>
                    <a:bodyPr wrap="square"/>
                    <a:lstStyle/>
                    <a:p>
                      <a:pPr algn="ctr"/>
                      <a:r>
                        <a:rPr sz="1400" b="0" i="0">
                          <a:solidFill>
                            <a:srgbClr val="0F172A"/>
                          </a:solidFill>
                          <a:latin typeface="Arial"/>
                        </a:rPr>
                        <a:t>276</a:t>
                      </a:r>
                    </a:p>
                  </a:txBody>
                  <a:tcPr marL="73152" marR="73152" marT="36576" marB="36576" anchor="ctr">
                    <a:solidFill>
                      <a:srgbClr val="F1F5F9"/>
                    </a:solidFill>
                  </a:tcPr>
                </a:tc>
                <a:tc>
                  <a:txBody>
                    <a:bodyPr wrap="square"/>
                    <a:lstStyle/>
                    <a:p>
                      <a:pPr algn="ctr"/>
                      <a:r>
                        <a:rPr sz="1400" b="0" i="0">
                          <a:solidFill>
                            <a:srgbClr val="0F172A"/>
                          </a:solidFill>
                          <a:latin typeface="Arial"/>
                        </a:rPr>
                        <a:t>−$407 [−$1,324 to +$553]</a:t>
                      </a:r>
                    </a:p>
                  </a:txBody>
                  <a:tcPr marL="73152" marR="73152" marT="36576" marB="36576" anchor="ctr">
                    <a:solidFill>
                      <a:srgbClr val="F1F5F9"/>
                    </a:solidFill>
                  </a:tcPr>
                </a:tc>
              </a:tr>
              <a:tr h="347472">
                <a:tc>
                  <a:txBody>
                    <a:bodyPr wrap="square"/>
                    <a:lstStyle/>
                    <a:p>
                      <a:pPr algn="l"/>
                      <a:r>
                        <a:rPr sz="1400" b="0" i="0">
                          <a:solidFill>
                            <a:srgbClr val="0F172A"/>
                          </a:solidFill>
                          <a:latin typeface="Arial"/>
                        </a:rPr>
                        <a:t>Raw model</a:t>
                      </a:r>
                    </a:p>
                  </a:txBody>
                  <a:tcPr marL="73152" marR="73152" marT="36576" marB="36576" anchor="ctr">
                    <a:solidFill>
                      <a:srgbClr val="FFFFFF"/>
                    </a:solidFill>
                  </a:tcPr>
                </a:tc>
                <a:tc>
                  <a:txBody>
                    <a:bodyPr wrap="square"/>
                    <a:lstStyle/>
                    <a:p>
                      <a:pPr algn="ctr"/>
                      <a:r>
                        <a:rPr sz="1400" b="0" i="0">
                          <a:solidFill>
                            <a:srgbClr val="0F172A"/>
                          </a:solidFill>
                          <a:latin typeface="Arial"/>
                        </a:rPr>
                        <a:t>711</a:t>
                      </a:r>
                    </a:p>
                  </a:txBody>
                  <a:tcPr marL="73152" marR="73152" marT="36576" marB="36576" anchor="ctr">
                    <a:solidFill>
                      <a:srgbClr val="FFFFFF"/>
                    </a:solidFill>
                  </a:tcPr>
                </a:tc>
                <a:tc>
                  <a:txBody>
                    <a:bodyPr wrap="square"/>
                    <a:lstStyle/>
                    <a:p>
                      <a:pPr algn="ctr"/>
                      <a:r>
                        <a:rPr sz="1400" b="0" i="0">
                          <a:solidFill>
                            <a:srgbClr val="0F172A"/>
                          </a:solidFill>
                          <a:latin typeface="Arial"/>
                        </a:rPr>
                        <a:t>−$2,475 [−$3,995 to −$845]</a:t>
                      </a:r>
                    </a:p>
                  </a:txBody>
                  <a:tcPr marL="73152" marR="73152" marT="36576" marB="36576" anchor="ctr">
                    <a:solidFill>
                      <a:srgbClr val="FFFFFF"/>
                    </a:solidFill>
                  </a:tcPr>
                </a:tc>
              </a:tr>
            </a:tbl>
          </a:graphicData>
        </a:graphic>
      </p:graphicFrame>
      <p:sp>
        <p:nvSpPr>
          <p:cNvPr id="9" name="TextBox 8"/>
          <p:cNvSpPr txBox="1"/>
          <p:nvPr/>
        </p:nvSpPr>
        <p:spPr>
          <a:xfrm>
            <a:off x="7040880" y="4343400"/>
            <a:ext cx="4693615" cy="2011680"/>
          </a:xfrm>
          <a:prstGeom prst="rect">
            <a:avLst/>
          </a:prstGeom>
          <a:noFill/>
        </p:spPr>
        <p:txBody>
          <a:bodyPr wrap="square" anchor="t" lIns="73152" rIns="73152" tIns="36576" bIns="36576">
            <a:spAutoFit/>
          </a:bodyPr>
          <a:lstStyle/>
          <a:p>
            <a:pPr algn="l" marL="292608" indent="-256032">
              <a:spcAft>
                <a:spcPts val="400"/>
              </a:spcAft>
              <a:buChar char="•"/>
            </a:pPr>
            <a:r>
              <a:rPr sz="1600" b="0" i="0">
                <a:solidFill>
                  <a:srgbClr val="0F172A"/>
                </a:solidFill>
                <a:latin typeface="Arial"/>
              </a:rPr>
              <a:t>Mean CLV &lt; 0 for every setup; </a:t>
            </a:r>
            <a:r>
              <a:rPr sz="1600" b="1" i="0">
                <a:solidFill>
                  <a:srgbClr val="0F172A"/>
                </a:solidFill>
                <a:latin typeface="Arial"/>
              </a:rPr>
              <a:t>every CI below zero</a:t>
            </a:r>
          </a:p>
          <a:p>
            <a:pPr algn="l" marL="292608" indent="-256032">
              <a:spcAft>
                <a:spcPts val="400"/>
              </a:spcAft>
              <a:buChar char="•"/>
            </a:pPr>
            <a:r>
              <a:rPr sz="1600" b="0" i="0">
                <a:solidFill>
                  <a:srgbClr val="0F172A"/>
                </a:solidFill>
                <a:latin typeface="Arial"/>
              </a:rPr>
              <a:t>Anchor is real: +$2,450 (p = 0.002); learning = trading less (p = 0.13)</a:t>
            </a:r>
          </a:p>
          <a:p>
            <a:pPr algn="l" marL="292608" indent="-256032">
              <a:spcAft>
                <a:spcPts val="400"/>
              </a:spcAft>
              <a:buChar char="•"/>
            </a:pPr>
            <a:r>
              <a:rPr sz="1600" b="0" i="0">
                <a:solidFill>
                  <a:srgbClr val="0F172A"/>
                </a:solidFill>
                <a:latin typeface="Arial"/>
              </a:rPr>
              <a:t>Play-off holdout: full agent 0 trades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77295" cy="685800"/>
          </a:xfrm>
          <a:prstGeom prst="rect">
            <a:avLst/>
          </a:prstGeom>
          <a:noFill/>
        </p:spPr>
        <p:txBody>
          <a:bodyPr wrap="square" anchor="ctr" lIns="73152" rIns="73152" tIns="36576" bIns="36576">
            <a:spAutoFit/>
          </a:bodyPr>
          <a:lstStyle/>
          <a:p>
            <a:pPr algn="l">
              <a:spcAft>
                <a:spcPts val="0"/>
              </a:spcAft>
            </a:pPr>
            <a:r>
              <a:rPr sz="3000" b="1" i="0">
                <a:solidFill>
                  <a:srgbClr val="FFFFFF"/>
                </a:solidFill>
                <a:latin typeface="Arial"/>
              </a:rPr>
              <a:t>Agentic upgrades: the same market grade</a:t>
            </a:r>
          </a:p>
        </p:txBody>
      </p:sp>
      <p:sp>
        <p:nvSpPr>
          <p:cNvPr id="5" name="TextBox 4"/>
          <p:cNvSpPr txBox="1"/>
          <p:nvPr/>
        </p:nvSpPr>
        <p:spPr>
          <a:xfrm>
            <a:off x="457200" y="6446520"/>
            <a:ext cx="9144000" cy="320040"/>
          </a:xfrm>
          <a:prstGeom prst="rect">
            <a:avLst/>
          </a:prstGeom>
          <a:noFill/>
        </p:spPr>
        <p:txBody>
          <a:bodyPr wrap="square" anchor="t" lIns="73152" rIns="73152" tIns="36576" bIns="36576">
            <a:spAutoFit/>
          </a:bodyPr>
          <a:lstStyle/>
          <a:p>
            <a:pPr algn="l">
              <a:spcAft>
                <a:spcPts val="0"/>
              </a:spcAft>
            </a:pPr>
            <a:r>
              <a:rPr sz="1100" b="0" i="0">
                <a:solidFill>
                  <a:srgbClr val="64748B"/>
                </a:solidFill>
                <a:latin typeface="Arial"/>
              </a:rPr>
              <a:t>DASC7606C Group 12 · Market-Graded Learning: the closing price grades every component</a:t>
            </a:r>
          </a:p>
        </p:txBody>
      </p:sp>
      <p:sp>
        <p:nvSpPr>
          <p:cNvPr id="6" name="TextBox 5"/>
          <p:cNvSpPr txBox="1"/>
          <p:nvPr/>
        </p:nvSpPr>
        <p:spPr>
          <a:xfrm>
            <a:off x="10820095" y="6446520"/>
            <a:ext cx="914400" cy="320040"/>
          </a:xfrm>
          <a:prstGeom prst="rect">
            <a:avLst/>
          </a:prstGeom>
          <a:noFill/>
        </p:spPr>
        <p:txBody>
          <a:bodyPr wrap="square" anchor="t" lIns="73152" rIns="73152" tIns="36576" bIns="36576">
            <a:spAutoFit/>
          </a:bodyPr>
          <a:lstStyle/>
          <a:p>
            <a:pPr algn="r">
              <a:spcAft>
                <a:spcPts val="0"/>
              </a:spcAft>
            </a:pPr>
            <a:r>
              <a:rPr sz="1100" b="0" i="0">
                <a:solidFill>
                  <a:srgbClr val="64748B"/>
                </a:solidFill>
                <a:latin typeface="Arial"/>
              </a:rPr>
              <a:t>11</a:t>
            </a:r>
          </a:p>
        </p:txBody>
      </p:sp>
      <p:graphicFrame>
        <p:nvGraphicFramePr>
          <p:cNvPr id="7" name="Table 6"/>
          <p:cNvGraphicFramePr>
            <a:graphicFrameLocks noGrp="1"/>
          </p:cNvGraphicFramePr>
          <p:nvPr/>
        </p:nvGraphicFramePr>
        <p:xfrm>
          <a:off x="457200" y="1143000"/>
          <a:ext cx="7818120" cy="4892040"/>
        </p:xfrm>
        <a:graphic>
          <a:graphicData uri="http://schemas.openxmlformats.org/drawingml/2006/table">
            <a:tbl>
              <a:tblPr firstRow="1" bandRow="1">
                <a:tableStyleId>{5C22544A-7EE6-4342-B048-85BDC9FD1C3A}</a:tableStyleId>
              </a:tblPr>
              <a:tblGrid>
                <a:gridCol w="2148840"/>
                <a:gridCol w="3429000"/>
                <a:gridCol w="2240280"/>
              </a:tblGrid>
              <a:tr h="365760">
                <a:tc>
                  <a:txBody>
                    <a:bodyPr wrap="square"/>
                    <a:lstStyle/>
                    <a:p>
                      <a:pPr algn="l"/>
                      <a:r>
                        <a:rPr sz="1200" b="1" i="0">
                          <a:solidFill>
                            <a:srgbClr val="FFFFFF"/>
                          </a:solidFill>
                          <a:latin typeface="Arial"/>
                        </a:rPr>
                        <a:t>Upgrade</a:t>
                      </a:r>
                    </a:p>
                  </a:txBody>
                  <a:tcPr marL="73152" marR="73152" marT="36576" marB="36576" anchor="ctr">
                    <a:solidFill>
                      <a:srgbClr val="1E293B"/>
                    </a:solidFill>
                  </a:tcPr>
                </a:tc>
                <a:tc>
                  <a:txBody>
                    <a:bodyPr wrap="square"/>
                    <a:lstStyle/>
                    <a:p>
                      <a:pPr algn="l"/>
                      <a:r>
                        <a:rPr sz="1200" b="1" i="0">
                          <a:solidFill>
                            <a:srgbClr val="FFFFFF"/>
                          </a:solidFill>
                          <a:latin typeface="Arial"/>
                        </a:rPr>
                        <a:t>What it is</a:t>
                      </a:r>
                    </a:p>
                  </a:txBody>
                  <a:tcPr marL="73152" marR="73152" marT="36576" marB="36576" anchor="ctr">
                    <a:solidFill>
                      <a:srgbClr val="1E293B"/>
                    </a:solidFill>
                  </a:tcPr>
                </a:tc>
                <a:tc>
                  <a:txBody>
                    <a:bodyPr wrap="square"/>
                    <a:lstStyle/>
                    <a:p>
                      <a:pPr algn="l"/>
                      <a:r>
                        <a:rPr sz="1200" b="1" i="0">
                          <a:solidFill>
                            <a:srgbClr val="FFFFFF"/>
                          </a:solidFill>
                          <a:latin typeface="Arial"/>
                        </a:rPr>
                        <a:t>Result</a:t>
                      </a:r>
                    </a:p>
                  </a:txBody>
                  <a:tcPr marL="73152" marR="73152" marT="36576" marB="36576" anchor="ctr">
                    <a:solidFill>
                      <a:srgbClr val="1E293B"/>
                    </a:solidFill>
                  </a:tcPr>
                </a:tc>
              </a:tr>
              <a:tr h="502920">
                <a:tc>
                  <a:txBody>
                    <a:bodyPr wrap="square"/>
                    <a:lstStyle/>
                    <a:p>
                      <a:pPr algn="l"/>
                      <a:r>
                        <a:rPr sz="1200" b="1" i="0">
                          <a:solidFill>
                            <a:srgbClr val="0F172A"/>
                          </a:solidFill>
                          <a:latin typeface="Arial"/>
                        </a:rPr>
                        <a:t>LLM tool agent + sceptic</a:t>
                      </a:r>
                    </a:p>
                  </a:txBody>
                  <a:tcPr marL="73152" marR="73152" marT="36576" marB="36576" anchor="ctr">
                    <a:solidFill>
                      <a:srgbClr val="F1F5F9"/>
                    </a:solidFill>
                  </a:tcPr>
                </a:tc>
                <a:tc>
                  <a:txBody>
                    <a:bodyPr wrap="square"/>
                    <a:lstStyle/>
                    <a:p>
                      <a:pPr algn="l"/>
                      <a:r>
                        <a:rPr sz="1200" b="0" i="0">
                          <a:solidFill>
                            <a:srgbClr val="0F172A"/>
                          </a:solidFill>
                          <a:latin typeface="Arial"/>
                        </a:rPr>
                        <a:t>LLM picks as-of tools; code checks every number; a sceptic asks “already priced in?”</a:t>
                      </a:r>
                    </a:p>
                  </a:txBody>
                  <a:tcPr marL="73152" marR="73152" marT="36576" marB="36576" anchor="ctr">
                    <a:solidFill>
                      <a:srgbClr val="F1F5F9"/>
                    </a:solidFill>
                  </a:tcPr>
                </a:tc>
                <a:tc>
                  <a:txBody>
                    <a:bodyPr wrap="square"/>
                    <a:lstStyle/>
                    <a:p>
                      <a:pPr algn="l"/>
                      <a:r>
                        <a:rPr sz="1200" b="0" i="0">
                          <a:solidFill>
                            <a:srgbClr val="0F172A"/>
                          </a:solidFill>
                          <a:latin typeface="Arial"/>
                        </a:rPr>
                        <a:t>Not scored (API quota); all 32 valid calls passed</a:t>
                      </a:r>
                    </a:p>
                  </a:txBody>
                  <a:tcPr marL="73152" marR="73152" marT="36576" marB="36576" anchor="ctr">
                    <a:solidFill>
                      <a:srgbClr val="F1F5F9"/>
                    </a:solidFill>
                  </a:tcPr>
                </a:tc>
              </a:tr>
              <a:tr h="502920">
                <a:tc>
                  <a:txBody>
                    <a:bodyPr wrap="square"/>
                    <a:lstStyle/>
                    <a:p>
                      <a:pPr algn="l"/>
                      <a:r>
                        <a:rPr sz="1200" b="1" i="0">
                          <a:solidFill>
                            <a:srgbClr val="0F172A"/>
                          </a:solidFill>
                          <a:latin typeface="Arial"/>
                        </a:rPr>
                        <a:t>Gate audit + placebo</a:t>
                      </a:r>
                    </a:p>
                  </a:txBody>
                  <a:tcPr marL="73152" marR="73152" marT="36576" marB="36576" anchor="ctr">
                    <a:solidFill>
                      <a:srgbClr val="FFFFFF"/>
                    </a:solidFill>
                  </a:tcPr>
                </a:tc>
                <a:tc>
                  <a:txBody>
                    <a:bodyPr wrap="square"/>
                    <a:lstStyle/>
                    <a:p>
                      <a:pPr algn="l"/>
                      <a:r>
                        <a:rPr sz="1200" b="0" i="0">
                          <a:solidFill>
                            <a:srgbClr val="0F172A"/>
                          </a:solidFill>
                          <a:latin typeface="Arial"/>
                        </a:rPr>
                        <a:t>Rule gate on held-out days; reviewer vs random rules</a:t>
                      </a:r>
                    </a:p>
                  </a:txBody>
                  <a:tcPr marL="73152" marR="73152" marT="36576" marB="36576" anchor="ctr">
                    <a:solidFill>
                      <a:srgbClr val="FFFFFF"/>
                    </a:solidFill>
                  </a:tcPr>
                </a:tc>
                <a:tc>
                  <a:txBody>
                    <a:bodyPr wrap="square"/>
                    <a:lstStyle/>
                    <a:p>
                      <a:pPr algn="l"/>
                      <a:r>
                        <a:rPr sz="1200" b="0" i="0">
                          <a:solidFill>
                            <a:srgbClr val="0F172A"/>
                          </a:solidFill>
                          <a:latin typeface="Arial"/>
                        </a:rPr>
                        <a:t>Random rules pass as often (57% vs 57%)</a:t>
                      </a:r>
                    </a:p>
                  </a:txBody>
                  <a:tcPr marL="73152" marR="73152" marT="36576" marB="36576" anchor="ctr">
                    <a:solidFill>
                      <a:srgbClr val="FFFFFF"/>
                    </a:solidFill>
                  </a:tcPr>
                </a:tc>
              </a:tr>
              <a:tr h="502920">
                <a:tc>
                  <a:txBody>
                    <a:bodyPr wrap="square"/>
                    <a:lstStyle/>
                    <a:p>
                      <a:pPr algn="l"/>
                      <a:r>
                        <a:rPr sz="1200" b="1" i="0">
                          <a:solidFill>
                            <a:srgbClr val="0F172A"/>
                          </a:solidFill>
                          <a:latin typeface="Arial"/>
                        </a:rPr>
                        <a:t>Kill switch</a:t>
                      </a:r>
                    </a:p>
                  </a:txBody>
                  <a:tcPr marL="73152" marR="73152" marT="36576" marB="36576" anchor="ctr">
                    <a:solidFill>
                      <a:srgbClr val="F1F5F9"/>
                    </a:solidFill>
                  </a:tcPr>
                </a:tc>
                <a:tc>
                  <a:txBody>
                    <a:bodyPr wrap="square"/>
                    <a:lstStyle/>
                    <a:p>
                      <a:pPr algn="l"/>
                      <a:r>
                        <a:rPr sz="1200" b="0" i="0">
                          <a:solidFill>
                            <a:srgbClr val="0F172A"/>
                          </a:solidFill>
                          <a:latin typeface="Arial"/>
                        </a:rPr>
                        <a:t>$100 daily realised-loss stop, enforced in the replay</a:t>
                      </a:r>
                    </a:p>
                  </a:txBody>
                  <a:tcPr marL="73152" marR="73152" marT="36576" marB="36576" anchor="ctr">
                    <a:solidFill>
                      <a:srgbClr val="F1F5F9"/>
                    </a:solidFill>
                  </a:tcPr>
                </a:tc>
                <a:tc>
                  <a:txBody>
                    <a:bodyPr wrap="square"/>
                    <a:lstStyle/>
                    <a:p>
                      <a:pPr algn="l"/>
                      <a:r>
                        <a:rPr sz="1200" b="0" i="0">
                          <a:solidFill>
                            <a:srgbClr val="0F172A"/>
                          </a:solidFill>
                          <a:latin typeface="Arial"/>
                        </a:rPr>
                        <a:t>Never triggered (worst day −$54)</a:t>
                      </a:r>
                    </a:p>
                  </a:txBody>
                  <a:tcPr marL="73152" marR="73152" marT="36576" marB="36576" anchor="ctr">
                    <a:solidFill>
                      <a:srgbClr val="F1F5F9"/>
                    </a:solidFill>
                  </a:tcPr>
                </a:tc>
              </a:tr>
              <a:tr h="502920">
                <a:tc>
                  <a:txBody>
                    <a:bodyPr wrap="square"/>
                    <a:lstStyle/>
                    <a:p>
                      <a:pPr algn="l"/>
                      <a:r>
                        <a:rPr sz="1200" b="1" i="0">
                          <a:solidFill>
                            <a:srgbClr val="0F172A"/>
                          </a:solidFill>
                          <a:latin typeface="Arial"/>
                        </a:rPr>
                        <a:t>Fractional Kelly</a:t>
                      </a:r>
                    </a:p>
                  </a:txBody>
                  <a:tcPr marL="73152" marR="73152" marT="36576" marB="36576" anchor="ctr">
                    <a:solidFill>
                      <a:srgbClr val="FFFFFF"/>
                    </a:solidFill>
                  </a:tcPr>
                </a:tc>
                <a:tc>
                  <a:txBody>
                    <a:bodyPr wrap="square"/>
                    <a:lstStyle/>
                    <a:p>
                      <a:pPr algn="l"/>
                      <a:r>
                        <a:rPr sz="1200" b="0" i="0">
                          <a:solidFill>
                            <a:srgbClr val="0F172A"/>
                          </a:solidFill>
                          <a:latin typeface="Arial"/>
                        </a:rPr>
                        <a:t>¼-Kelly sizing, fee in the formula, vs flat $20</a:t>
                      </a:r>
                    </a:p>
                  </a:txBody>
                  <a:tcPr marL="73152" marR="73152" marT="36576" marB="36576" anchor="ctr">
                    <a:solidFill>
                      <a:srgbClr val="FFFFFF"/>
                    </a:solidFill>
                  </a:tcPr>
                </a:tc>
                <a:tc>
                  <a:txBody>
                    <a:bodyPr wrap="square"/>
                    <a:lstStyle/>
                    <a:p>
                      <a:pPr algn="l"/>
                      <a:r>
                        <a:rPr sz="1200" b="0" i="1">
                          <a:solidFill>
                            <a:srgbClr val="64748B"/>
                          </a:solidFill>
                          <a:latin typeface="Arial"/>
                        </a:rPr>
                        <a:t>pending</a:t>
                      </a:r>
                    </a:p>
                  </a:txBody>
                  <a:tcPr marL="73152" marR="73152" marT="36576" marB="36576" anchor="ctr">
                    <a:solidFill>
                      <a:srgbClr val="FFFFFF"/>
                    </a:solidFill>
                  </a:tcPr>
                </a:tc>
              </a:tr>
              <a:tr h="502920">
                <a:tc>
                  <a:txBody>
                    <a:bodyPr wrap="square"/>
                    <a:lstStyle/>
                    <a:p>
                      <a:pPr algn="l"/>
                      <a:r>
                        <a:rPr sz="1200" b="1" i="0">
                          <a:solidFill>
                            <a:srgbClr val="0F172A"/>
                          </a:solidFill>
                          <a:latin typeface="Arial"/>
                        </a:rPr>
                        <a:t>Coach, simulated users</a:t>
                      </a:r>
                    </a:p>
                  </a:txBody>
                  <a:tcPr marL="73152" marR="73152" marT="36576" marB="36576" anchor="ctr">
                    <a:solidFill>
                      <a:srgbClr val="F1F5F9"/>
                    </a:solidFill>
                  </a:tcPr>
                </a:tc>
                <a:tc>
                  <a:txBody>
                    <a:bodyPr wrap="square"/>
                    <a:lstStyle/>
                    <a:p>
                      <a:pPr algn="l"/>
                      <a:r>
                        <a:rPr sz="1200" b="0" i="0">
                          <a:solidFill>
                            <a:srgbClr val="0F172A"/>
                          </a:solidFill>
                          <a:latin typeface="Arial"/>
                        </a:rPr>
                        <a:t>Biased personas play League slates with and without Coach nudges</a:t>
                      </a:r>
                    </a:p>
                  </a:txBody>
                  <a:tcPr marL="73152" marR="73152" marT="36576" marB="36576" anchor="ctr">
                    <a:solidFill>
                      <a:srgbClr val="F1F5F9"/>
                    </a:solidFill>
                  </a:tcPr>
                </a:tc>
                <a:tc>
                  <a:txBody>
                    <a:bodyPr wrap="square"/>
                    <a:lstStyle/>
                    <a:p>
                      <a:pPr algn="l"/>
                      <a:r>
                        <a:rPr sz="1200" b="0" i="0">
                          <a:solidFill>
                            <a:srgbClr val="0F172A"/>
                          </a:solidFill>
                          <a:latin typeface="Arial"/>
                        </a:rPr>
                        <a:t>Users trade less, lose less CLV; per-trade CLV no better</a:t>
                      </a:r>
                    </a:p>
                  </a:txBody>
                  <a:tcPr marL="73152" marR="73152" marT="36576" marB="36576" anchor="ctr">
                    <a:solidFill>
                      <a:srgbClr val="F1F5F9"/>
                    </a:solidFill>
                  </a:tcPr>
                </a:tc>
              </a:tr>
              <a:tr h="502920">
                <a:tc>
                  <a:txBody>
                    <a:bodyPr wrap="square"/>
                    <a:lstStyle/>
                    <a:p>
                      <a:pPr algn="l"/>
                      <a:r>
                        <a:rPr sz="1200" b="1" i="0">
                          <a:solidFill>
                            <a:srgbClr val="0F172A"/>
                          </a:solidFill>
                          <a:latin typeface="Arial"/>
                        </a:rPr>
                        <a:t>Orchestrator</a:t>
                      </a:r>
                    </a:p>
                  </a:txBody>
                  <a:tcPr marL="73152" marR="73152" marT="36576" marB="36576" anchor="ctr">
                    <a:solidFill>
                      <a:srgbClr val="FFFFFF"/>
                    </a:solidFill>
                  </a:tcPr>
                </a:tc>
                <a:tc>
                  <a:txBody>
                    <a:bodyPr wrap="square"/>
                    <a:lstStyle/>
                    <a:p>
                      <a:pPr algn="l"/>
                      <a:r>
                        <a:rPr sz="1200" b="0" i="0">
                          <a:solidFill>
                            <a:srgbClr val="0F172A"/>
                          </a:solidFill>
                          <a:latin typeface="Arial"/>
                        </a:rPr>
                        <a:t>Supervisor graph: pregame → trader → coach → briefs for one night</a:t>
                      </a:r>
                    </a:p>
                  </a:txBody>
                  <a:tcPr marL="73152" marR="73152" marT="36576" marB="36576" anchor="ctr">
                    <a:solidFill>
                      <a:srgbClr val="FFFFFF"/>
                    </a:solidFill>
                  </a:tcPr>
                </a:tc>
                <a:tc>
                  <a:txBody>
                    <a:bodyPr wrap="square"/>
                    <a:lstStyle/>
                    <a:p>
                      <a:pPr algn="l"/>
                      <a:r>
                        <a:rPr sz="1200" b="0" i="1">
                          <a:solidFill>
                            <a:srgbClr val="64748B"/>
                          </a:solidFill>
                          <a:latin typeface="Arial"/>
                        </a:rPr>
                        <a:t>pending</a:t>
                      </a:r>
                    </a:p>
                  </a:txBody>
                  <a:tcPr marL="73152" marR="73152" marT="36576" marB="36576" anchor="ctr">
                    <a:solidFill>
                      <a:srgbClr val="FFFFFF"/>
                    </a:solidFill>
                  </a:tcPr>
                </a:tc>
              </a:tr>
              <a:tr h="502920">
                <a:tc>
                  <a:txBody>
                    <a:bodyPr wrap="square"/>
                    <a:lstStyle/>
                    <a:p>
                      <a:pPr algn="l"/>
                      <a:r>
                        <a:rPr sz="1200" b="1" i="0">
                          <a:solidFill>
                            <a:srgbClr val="0F172A"/>
                          </a:solidFill>
                          <a:latin typeface="Arial"/>
                        </a:rPr>
                        <a:t>Learned policy</a:t>
                      </a:r>
                    </a:p>
                  </a:txBody>
                  <a:tcPr marL="73152" marR="73152" marT="36576" marB="36576" anchor="ctr">
                    <a:solidFill>
                      <a:srgbClr val="F1F5F9"/>
                    </a:solidFill>
                  </a:tcPr>
                </a:tc>
                <a:tc>
                  <a:txBody>
                    <a:bodyPr wrap="square"/>
                    <a:lstStyle/>
                    <a:p>
                      <a:pPr algn="l"/>
                      <a:r>
                        <a:rPr sz="1200" b="0" i="0">
                          <a:solidFill>
                            <a:srgbClr val="0F172A"/>
                          </a:solidFill>
                          <a:latin typeface="Arial"/>
                        </a:rPr>
                        <a:t>Trade / pass classifier on as-of features, chosen on Nov–Jan only</a:t>
                      </a:r>
                    </a:p>
                  </a:txBody>
                  <a:tcPr marL="73152" marR="73152" marT="36576" marB="36576" anchor="ctr">
                    <a:solidFill>
                      <a:srgbClr val="F1F5F9"/>
                    </a:solidFill>
                  </a:tcPr>
                </a:tc>
                <a:tc>
                  <a:txBody>
                    <a:bodyPr wrap="square"/>
                    <a:lstStyle/>
                    <a:p>
                      <a:pPr algn="l"/>
                      <a:r>
                        <a:rPr sz="1200" b="0" i="1">
                          <a:solidFill>
                            <a:srgbClr val="64748B"/>
                          </a:solidFill>
                          <a:latin typeface="Arial"/>
                        </a:rPr>
                        <a:t>pending</a:t>
                      </a:r>
                    </a:p>
                  </a:txBody>
                  <a:tcPr marL="73152" marR="73152" marT="36576" marB="36576" anchor="ctr">
                    <a:solidFill>
                      <a:srgbClr val="F1F5F9"/>
                    </a:solidFill>
                  </a:tcPr>
                </a:tc>
              </a:tr>
              <a:tr h="502920">
                <a:tc>
                  <a:txBody>
                    <a:bodyPr wrap="square"/>
                    <a:lstStyle/>
                    <a:p>
                      <a:pPr algn="l"/>
                      <a:r>
                        <a:rPr sz="1200" b="1" i="0">
                          <a:solidFill>
                            <a:srgbClr val="0F172A"/>
                          </a:solidFill>
                          <a:latin typeface="Arial"/>
                        </a:rPr>
                        <a:t>Rule DSL</a:t>
                      </a:r>
                    </a:p>
                  </a:txBody>
                  <a:tcPr marL="73152" marR="73152" marT="36576" marB="36576" anchor="ctr">
                    <a:solidFill>
                      <a:srgbClr val="FFFFFF"/>
                    </a:solidFill>
                  </a:tcPr>
                </a:tc>
                <a:tc>
                  <a:txBody>
                    <a:bodyPr wrap="square"/>
                    <a:lstStyle/>
                    <a:p>
                      <a:pPr algn="l"/>
                      <a:r>
                        <a:rPr sz="1200" b="0" i="0">
                          <a:solidFill>
                            <a:srgbClr val="0F172A"/>
                          </a:solidFill>
                          <a:latin typeface="Arial"/>
                        </a:rPr>
                        <a:t>LLM writes free-form rules, compiled to a safe DSL, still gated</a:t>
                      </a:r>
                    </a:p>
                  </a:txBody>
                  <a:tcPr marL="73152" marR="73152" marT="36576" marB="36576" anchor="ctr">
                    <a:solidFill>
                      <a:srgbClr val="FFFFFF"/>
                    </a:solidFill>
                  </a:tcPr>
                </a:tc>
                <a:tc>
                  <a:txBody>
                    <a:bodyPr wrap="square"/>
                    <a:lstStyle/>
                    <a:p>
                      <a:pPr algn="l"/>
                      <a:r>
                        <a:rPr sz="1200" b="0" i="1">
                          <a:solidFill>
                            <a:srgbClr val="64748B"/>
                          </a:solidFill>
                          <a:latin typeface="Arial"/>
                        </a:rPr>
                        <a:t>pending</a:t>
                      </a:r>
                    </a:p>
                  </a:txBody>
                  <a:tcPr marL="73152" marR="73152" marT="36576" marB="36576" anchor="ctr">
                    <a:solidFill>
                      <a:srgbClr val="FFFFFF"/>
                    </a:solidFill>
                  </a:tcPr>
                </a:tc>
              </a:tr>
              <a:tr h="502920">
                <a:tc>
                  <a:txBody>
                    <a:bodyPr wrap="square"/>
                    <a:lstStyle/>
                    <a:p>
                      <a:pPr algn="l"/>
                      <a:r>
                        <a:rPr sz="1200" b="1" i="0">
                          <a:solidFill>
                            <a:srgbClr val="0F172A"/>
                          </a:solidFill>
                          <a:latin typeface="Arial"/>
                        </a:rPr>
                        <a:t>Episodic memory</a:t>
                      </a:r>
                    </a:p>
                  </a:txBody>
                  <a:tcPr marL="73152" marR="73152" marT="36576" marB="36576" anchor="ctr">
                    <a:solidFill>
                      <a:srgbClr val="F1F5F9"/>
                    </a:solidFill>
                  </a:tcPr>
                </a:tc>
                <a:tc>
                  <a:txBody>
                    <a:bodyPr wrap="square"/>
                    <a:lstStyle/>
                    <a:p>
                      <a:pPr algn="l"/>
                      <a:r>
                        <a:rPr sz="1200" b="0" i="0">
                          <a:solidFill>
                            <a:srgbClr val="0F172A"/>
                          </a:solidFill>
                          <a:latin typeface="Arial"/>
                        </a:rPr>
                        <a:t>Retrieve similar past situations and their outcomes</a:t>
                      </a:r>
                    </a:p>
                  </a:txBody>
                  <a:tcPr marL="73152" marR="73152" marT="36576" marB="36576" anchor="ctr">
                    <a:solidFill>
                      <a:srgbClr val="F1F5F9"/>
                    </a:solidFill>
                  </a:tcPr>
                </a:tc>
                <a:tc>
                  <a:txBody>
                    <a:bodyPr wrap="square"/>
                    <a:lstStyle/>
                    <a:p>
                      <a:pPr algn="l"/>
                      <a:r>
                        <a:rPr sz="1200" b="0" i="1">
                          <a:solidFill>
                            <a:srgbClr val="64748B"/>
                          </a:solidFill>
                          <a:latin typeface="Arial"/>
                        </a:rPr>
                        <a:t>pending</a:t>
                      </a:r>
                    </a:p>
                  </a:txBody>
                  <a:tcPr marL="73152" marR="73152" marT="36576" marB="36576" anchor="ctr">
                    <a:solidFill>
                      <a:srgbClr val="F1F5F9"/>
                    </a:solidFill>
                  </a:tcPr>
                </a:tc>
              </a:tr>
            </a:tbl>
          </a:graphicData>
        </a:graphic>
      </p:graphicFrame>
      <p:pic>
        <p:nvPicPr>
          <p:cNvPr id="8" name="Picture 7" descr="orchestrator.png"/>
          <p:cNvPicPr>
            <a:picLocks noChangeAspect="1"/>
          </p:cNvPicPr>
          <p:nvPr/>
        </p:nvPicPr>
        <p:blipFill>
          <a:blip r:embed="rId3"/>
          <a:stretch>
            <a:fillRect/>
          </a:stretch>
        </p:blipFill>
        <p:spPr>
          <a:xfrm>
            <a:off x="8412480" y="2702436"/>
            <a:ext cx="3322015" cy="1727447"/>
          </a:xfrm>
          <a:prstGeom prst="rect">
            <a:avLst/>
          </a:prstGeom>
        </p:spPr>
      </p:pic>
      <p:sp>
        <p:nvSpPr>
          <p:cNvPr id="9" name="TextBox 8"/>
          <p:cNvSpPr txBox="1"/>
          <p:nvPr/>
        </p:nvSpPr>
        <p:spPr>
          <a:xfrm>
            <a:off x="457200" y="6080760"/>
            <a:ext cx="11277295" cy="274320"/>
          </a:xfrm>
          <a:prstGeom prst="rect">
            <a:avLst/>
          </a:prstGeom>
          <a:noFill/>
        </p:spPr>
        <p:txBody>
          <a:bodyPr wrap="square" anchor="t" lIns="73152" rIns="73152" tIns="36576" bIns="36576">
            <a:spAutoFit/>
          </a:bodyPr>
          <a:lstStyle/>
          <a:p>
            <a:pPr algn="l">
              <a:spcAft>
                <a:spcPts val="0"/>
              </a:spcAft>
            </a:pPr>
            <a:r>
              <a:rPr sz="1200" b="0" i="0">
                <a:solidFill>
                  <a:srgbClr val="64748B"/>
                </a:solidFill>
                <a:latin typeface="Arial"/>
              </a:rPr>
              <a:t>Pre-registered before scoring (docs/preregistration_*.md); same replay, costs and bootstrap as above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77295" cy="685800"/>
          </a:xfrm>
          <a:prstGeom prst="rect">
            <a:avLst/>
          </a:prstGeom>
          <a:noFill/>
        </p:spPr>
        <p:txBody>
          <a:bodyPr wrap="square" anchor="ctr" lIns="73152" rIns="73152" tIns="36576" bIns="36576">
            <a:spAutoFit/>
          </a:bodyPr>
          <a:lstStyle/>
          <a:p>
            <a:pPr algn="l">
              <a:spcAft>
                <a:spcPts val="0"/>
              </a:spcAft>
            </a:pPr>
            <a:r>
              <a:rPr sz="3000" b="1" i="0">
                <a:solidFill>
                  <a:srgbClr val="FFFFFF"/>
                </a:solidFill>
                <a:latin typeface="Arial"/>
              </a:rPr>
              <a:t>Our product: protect, teach, practise</a:t>
            </a:r>
          </a:p>
        </p:txBody>
      </p:sp>
      <p:sp>
        <p:nvSpPr>
          <p:cNvPr id="5" name="TextBox 4"/>
          <p:cNvSpPr txBox="1"/>
          <p:nvPr/>
        </p:nvSpPr>
        <p:spPr>
          <a:xfrm>
            <a:off x="457200" y="6446520"/>
            <a:ext cx="9144000" cy="320040"/>
          </a:xfrm>
          <a:prstGeom prst="rect">
            <a:avLst/>
          </a:prstGeom>
          <a:noFill/>
        </p:spPr>
        <p:txBody>
          <a:bodyPr wrap="square" anchor="t" lIns="73152" rIns="73152" tIns="36576" bIns="36576">
            <a:spAutoFit/>
          </a:bodyPr>
          <a:lstStyle/>
          <a:p>
            <a:pPr algn="l">
              <a:spcAft>
                <a:spcPts val="0"/>
              </a:spcAft>
            </a:pPr>
            <a:r>
              <a:rPr sz="1100" b="0" i="0">
                <a:solidFill>
                  <a:srgbClr val="64748B"/>
                </a:solidFill>
                <a:latin typeface="Arial"/>
              </a:rPr>
              <a:t>DASC7606C Group 12 · Market-Graded Learning: the closing price grades every component</a:t>
            </a:r>
          </a:p>
        </p:txBody>
      </p:sp>
      <p:sp>
        <p:nvSpPr>
          <p:cNvPr id="6" name="TextBox 5"/>
          <p:cNvSpPr txBox="1"/>
          <p:nvPr/>
        </p:nvSpPr>
        <p:spPr>
          <a:xfrm>
            <a:off x="10820095" y="6446520"/>
            <a:ext cx="914400" cy="320040"/>
          </a:xfrm>
          <a:prstGeom prst="rect">
            <a:avLst/>
          </a:prstGeom>
          <a:noFill/>
        </p:spPr>
        <p:txBody>
          <a:bodyPr wrap="square" anchor="t" lIns="73152" rIns="73152" tIns="36576" bIns="36576">
            <a:spAutoFit/>
          </a:bodyPr>
          <a:lstStyle/>
          <a:p>
            <a:pPr algn="r">
              <a:spcAft>
                <a:spcPts val="0"/>
              </a:spcAft>
            </a:pPr>
            <a:r>
              <a:rPr sz="1100" b="0" i="0">
                <a:solidFill>
                  <a:srgbClr val="64748B"/>
                </a:solidFill>
                <a:latin typeface="Arial"/>
              </a:rPr>
              <a:t>12</a:t>
            </a:r>
          </a:p>
        </p:txBody>
      </p:sp>
      <p:sp>
        <p:nvSpPr>
          <p:cNvPr id="7" name="Rounded Rectangle 6"/>
          <p:cNvSpPr/>
          <p:nvPr/>
        </p:nvSpPr>
        <p:spPr>
          <a:xfrm>
            <a:off x="457200" y="1234439"/>
            <a:ext cx="3606698" cy="3291840"/>
          </a:xfrm>
          <a:prstGeom prst="roundRect">
            <a:avLst>
              <a:gd name="adj" fmla="val 6000"/>
            </a:avLst>
          </a:prstGeom>
          <a:solidFill>
            <a:srgbClr val="FFFFFF"/>
          </a:solidFill>
          <a:ln w="1587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34439"/>
            <a:ext cx="109728" cy="329184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307592"/>
            <a:ext cx="3332378" cy="457200"/>
          </a:xfrm>
          <a:prstGeom prst="rect">
            <a:avLst/>
          </a:prstGeom>
          <a:noFill/>
        </p:spPr>
        <p:txBody>
          <a:bodyPr wrap="square" anchor="t" lIns="73152" rIns="73152" tIns="36576" bIns="36576">
            <a:spAutoFit/>
          </a:bodyPr>
          <a:lstStyle/>
          <a:p>
            <a:pPr algn="l">
              <a:spcAft>
                <a:spcPts val="0"/>
              </a:spcAft>
            </a:pPr>
            <a:r>
              <a:rPr sz="1800" b="1" i="0">
                <a:solidFill>
                  <a:srgbClr val="1E293B"/>
                </a:solidFill>
                <a:latin typeface="Arial"/>
              </a:rPr>
              <a:t>Protect: the agent</a:t>
            </a:r>
          </a:p>
        </p:txBody>
      </p:sp>
      <p:sp>
        <p:nvSpPr>
          <p:cNvPr id="10" name="TextBox 9"/>
          <p:cNvSpPr txBox="1"/>
          <p:nvPr/>
        </p:nvSpPr>
        <p:spPr>
          <a:xfrm>
            <a:off x="640080" y="1764791"/>
            <a:ext cx="3332378" cy="2688336"/>
          </a:xfrm>
          <a:prstGeom prst="rect">
            <a:avLst/>
          </a:prstGeom>
          <a:noFill/>
        </p:spPr>
        <p:txBody>
          <a:bodyPr wrap="square" anchor="t" lIns="73152" rIns="73152" tIns="36576" bIns="36576">
            <a:spAutoFit/>
          </a:bodyPr>
          <a:lstStyle/>
          <a:p>
            <a:pPr algn="l" marL="292608" indent="-256032">
              <a:spcAft>
                <a:spcPts val="600"/>
              </a:spcAft>
              <a:buChar char="•"/>
            </a:pPr>
            <a:r>
              <a:rPr sz="1600" b="1" i="0">
                <a:solidFill>
                  <a:srgbClr val="0F172A"/>
                </a:solidFill>
                <a:latin typeface="Arial"/>
              </a:rPr>
              <a:t>Passes by default:</a:t>
            </a:r>
            <a:r>
              <a:rPr sz="1600" b="0" i="0">
                <a:solidFill>
                  <a:srgbClr val="0F172A"/>
                </a:solidFill>
                <a:latin typeface="Arial"/>
              </a:rPr>
              <a:t> 90% of decision points</a:t>
            </a:r>
          </a:p>
          <a:p>
            <a:pPr algn="l" marL="292608" indent="-256032">
              <a:spcAft>
                <a:spcPts val="600"/>
              </a:spcAft>
              <a:buChar char="•"/>
            </a:pPr>
            <a:r>
              <a:rPr sz="1600" b="0" i="0">
                <a:solidFill>
                  <a:srgbClr val="0F172A"/>
                </a:solidFill>
                <a:latin typeface="Arial"/>
              </a:rPr>
              <a:t>Says why there is no order</a:t>
            </a:r>
          </a:p>
          <a:p>
            <a:pPr algn="l" marL="292608" indent="-256032">
              <a:spcAft>
                <a:spcPts val="600"/>
              </a:spcAft>
              <a:buChar char="•"/>
            </a:pPr>
            <a:r>
              <a:rPr sz="1600" b="0" i="0">
                <a:solidFill>
                  <a:srgbClr val="0F172A"/>
                </a:solidFill>
                <a:latin typeface="Arial"/>
              </a:rPr>
              <a:t>Code limits: $50 / order, $100 / game, $300 / day</a:t>
            </a:r>
          </a:p>
          <a:p>
            <a:pPr algn="l" marL="292608" indent="-256032">
              <a:spcAft>
                <a:spcPts val="600"/>
              </a:spcAft>
              <a:buChar char="•"/>
            </a:pPr>
            <a:r>
              <a:rPr sz="1600" b="0" i="0">
                <a:solidFill>
                  <a:srgbClr val="0F172A"/>
                </a:solidFill>
                <a:latin typeface="Arial"/>
              </a:rPr>
              <a:t>Bans “lock”, “guaranteed”; </a:t>
            </a:r>
            <a:r>
              <a:rPr sz="1600" b="1" i="0">
                <a:solidFill>
                  <a:srgbClr val="0F172A"/>
                </a:solidFill>
                <a:latin typeface="Arial"/>
              </a:rPr>
              <a:t>9 / 9</a:t>
            </a:r>
            <a:r>
              <a:rPr sz="1600" b="0" i="0">
                <a:solidFill>
                  <a:srgbClr val="0F172A"/>
                </a:solidFill>
                <a:latin typeface="Arial"/>
              </a:rPr>
              <a:t> planted violations blocked</a:t>
            </a:r>
          </a:p>
        </p:txBody>
      </p:sp>
      <p:sp>
        <p:nvSpPr>
          <p:cNvPr id="11" name="Rounded Rectangle 10"/>
          <p:cNvSpPr/>
          <p:nvPr/>
        </p:nvSpPr>
        <p:spPr>
          <a:xfrm>
            <a:off x="4292498" y="1234439"/>
            <a:ext cx="3606698" cy="3291840"/>
          </a:xfrm>
          <a:prstGeom prst="roundRect">
            <a:avLst>
              <a:gd name="adj" fmla="val 6000"/>
            </a:avLst>
          </a:prstGeom>
          <a:solidFill>
            <a:srgbClr val="FFFFFF"/>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2498" y="1234439"/>
            <a:ext cx="109728" cy="32918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75378" y="1307592"/>
            <a:ext cx="3332378" cy="457200"/>
          </a:xfrm>
          <a:prstGeom prst="rect">
            <a:avLst/>
          </a:prstGeom>
          <a:noFill/>
        </p:spPr>
        <p:txBody>
          <a:bodyPr wrap="square" anchor="t" lIns="73152" rIns="73152" tIns="36576" bIns="36576">
            <a:spAutoFit/>
          </a:bodyPr>
          <a:lstStyle/>
          <a:p>
            <a:pPr algn="l">
              <a:spcAft>
                <a:spcPts val="0"/>
              </a:spcAft>
            </a:pPr>
            <a:r>
              <a:rPr sz="1800" b="1" i="0">
                <a:solidFill>
                  <a:srgbClr val="EA580C"/>
                </a:solidFill>
                <a:latin typeface="Arial"/>
              </a:rPr>
              <a:t>Teach: the Coach</a:t>
            </a:r>
          </a:p>
        </p:txBody>
      </p:sp>
      <p:sp>
        <p:nvSpPr>
          <p:cNvPr id="14" name="TextBox 13"/>
          <p:cNvSpPr txBox="1"/>
          <p:nvPr/>
        </p:nvSpPr>
        <p:spPr>
          <a:xfrm>
            <a:off x="4475378" y="1764791"/>
            <a:ext cx="3332378" cy="2688336"/>
          </a:xfrm>
          <a:prstGeom prst="rect">
            <a:avLst/>
          </a:prstGeom>
          <a:noFill/>
        </p:spPr>
        <p:txBody>
          <a:bodyPr wrap="square" anchor="t" lIns="73152" rIns="73152" tIns="36576" bIns="36576">
            <a:spAutoFit/>
          </a:bodyPr>
          <a:lstStyle/>
          <a:p>
            <a:pPr algn="l" marL="292608" indent="-256032">
              <a:spcAft>
                <a:spcPts val="600"/>
              </a:spcAft>
              <a:buChar char="•"/>
            </a:pPr>
            <a:r>
              <a:rPr sz="1600" b="0" i="0">
                <a:solidFill>
                  <a:srgbClr val="0F172A"/>
                </a:solidFill>
                <a:latin typeface="Arial"/>
              </a:rPr>
              <a:t>Only what was public at that moment</a:t>
            </a:r>
          </a:p>
          <a:p>
            <a:pPr algn="l" marL="292608" indent="-256032">
              <a:spcAft>
                <a:spcPts val="600"/>
              </a:spcAft>
              <a:buChar char="•"/>
            </a:pPr>
            <a:r>
              <a:rPr sz="1600" b="0" i="0">
                <a:solidFill>
                  <a:srgbClr val="0F172A"/>
                </a:solidFill>
                <a:latin typeface="Arial"/>
              </a:rPr>
              <a:t>Break-even after spread + fee</a:t>
            </a:r>
          </a:p>
          <a:p>
            <a:pPr algn="l" marL="292608" indent="-256032">
              <a:spcAft>
                <a:spcPts val="600"/>
              </a:spcAft>
              <a:buChar char="•"/>
            </a:pPr>
            <a:r>
              <a:rPr sz="1600" b="0" i="0">
                <a:solidFill>
                  <a:srgbClr val="0F172A"/>
                </a:solidFill>
                <a:latin typeface="Arial"/>
              </a:rPr>
              <a:t>Lessons: priced in, long shots, closing line</a:t>
            </a:r>
          </a:p>
          <a:p>
            <a:pPr algn="l" marL="292608" indent="-256032">
              <a:spcAft>
                <a:spcPts val="600"/>
              </a:spcAft>
              <a:buChar char="•"/>
            </a:pPr>
            <a:r>
              <a:rPr sz="1600" b="0" i="0">
                <a:solidFill>
                  <a:srgbClr val="0F172A"/>
                </a:solidFill>
                <a:latin typeface="Arial"/>
              </a:rPr>
              <a:t>Paper call, then the close and the agent's choice</a:t>
            </a:r>
          </a:p>
        </p:txBody>
      </p:sp>
      <p:sp>
        <p:nvSpPr>
          <p:cNvPr id="15" name="Rounded Rectangle 14"/>
          <p:cNvSpPr/>
          <p:nvPr/>
        </p:nvSpPr>
        <p:spPr>
          <a:xfrm>
            <a:off x="8127796" y="1234439"/>
            <a:ext cx="3606698" cy="3291840"/>
          </a:xfrm>
          <a:prstGeom prst="roundRect">
            <a:avLst>
              <a:gd name="adj" fmla="val 6000"/>
            </a:avLst>
          </a:prstGeom>
          <a:solidFill>
            <a:srgbClr val="FFFFFF"/>
          </a:solid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27796" y="1234439"/>
            <a:ext cx="109728" cy="329184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10676" y="1307592"/>
            <a:ext cx="3332378" cy="457200"/>
          </a:xfrm>
          <a:prstGeom prst="rect">
            <a:avLst/>
          </a:prstGeom>
          <a:noFill/>
        </p:spPr>
        <p:txBody>
          <a:bodyPr wrap="square" anchor="t" lIns="73152" rIns="73152" tIns="36576" bIns="36576">
            <a:spAutoFit/>
          </a:bodyPr>
          <a:lstStyle/>
          <a:p>
            <a:pPr algn="l">
              <a:spcAft>
                <a:spcPts val="0"/>
              </a:spcAft>
            </a:pPr>
            <a:r>
              <a:rPr sz="1800" b="1" i="0">
                <a:solidFill>
                  <a:srgbClr val="16A34A"/>
                </a:solidFill>
                <a:latin typeface="Arial"/>
              </a:rPr>
              <a:t>Practise: the League</a:t>
            </a:r>
          </a:p>
        </p:txBody>
      </p:sp>
      <p:sp>
        <p:nvSpPr>
          <p:cNvPr id="18" name="TextBox 17"/>
          <p:cNvSpPr txBox="1"/>
          <p:nvPr/>
        </p:nvSpPr>
        <p:spPr>
          <a:xfrm>
            <a:off x="8310676" y="1764791"/>
            <a:ext cx="3332378" cy="2688336"/>
          </a:xfrm>
          <a:prstGeom prst="rect">
            <a:avLst/>
          </a:prstGeom>
          <a:noFill/>
        </p:spPr>
        <p:txBody>
          <a:bodyPr wrap="square" anchor="t" lIns="73152" rIns="73152" tIns="36576" bIns="36576">
            <a:spAutoFit/>
          </a:bodyPr>
          <a:lstStyle/>
          <a:p>
            <a:pPr algn="l" marL="292608" indent="-256032">
              <a:spcAft>
                <a:spcPts val="600"/>
              </a:spcAft>
              <a:buChar char="•"/>
            </a:pPr>
            <a:r>
              <a:rPr sz="1600" b="0" i="0">
                <a:solidFill>
                  <a:srgbClr val="0F172A"/>
                </a:solidFill>
                <a:latin typeface="Arial"/>
              </a:rPr>
              <a:t>Same 10 real decisions, $1,000 play money</a:t>
            </a:r>
          </a:p>
          <a:p>
            <a:pPr algn="l" marL="292608" indent="-256032">
              <a:spcAft>
                <a:spcPts val="600"/>
              </a:spcAft>
              <a:buChar char="•"/>
            </a:pPr>
            <a:r>
              <a:rPr sz="1600" b="0" i="0">
                <a:solidFill>
                  <a:srgbClr val="0F172A"/>
                </a:solidFill>
                <a:latin typeface="Arial"/>
              </a:rPr>
              <a:t>Fills at ask + fee, like the agent</a:t>
            </a:r>
          </a:p>
          <a:p>
            <a:pPr algn="l" marL="292608" indent="-256032">
              <a:spcAft>
                <a:spcPts val="600"/>
              </a:spcAft>
              <a:buChar char="•"/>
            </a:pPr>
            <a:r>
              <a:rPr sz="1600" b="1" i="0">
                <a:solidFill>
                  <a:srgbClr val="0F172A"/>
                </a:solidFill>
                <a:latin typeface="Arial"/>
              </a:rPr>
              <a:t>Ranked by CLV</a:t>
            </a:r>
            <a:r>
              <a:rPr sz="1600" b="0" i="0">
                <a:solidFill>
                  <a:srgbClr val="0F172A"/>
                </a:solidFill>
                <a:latin typeface="Arial"/>
              </a:rPr>
              <a:t>, not profit (≥ 5 trades)</a:t>
            </a:r>
          </a:p>
          <a:p>
            <a:pPr algn="l" marL="292608" indent="-256032">
              <a:spcAft>
                <a:spcPts val="600"/>
              </a:spcAft>
              <a:buChar char="•"/>
            </a:pPr>
            <a:r>
              <a:rPr sz="1600" b="0" i="0">
                <a:solidFill>
                  <a:srgbClr val="0F172A"/>
                </a:solidFill>
                <a:latin typeface="Arial"/>
              </a:rPr>
              <a:t>Raw-model bot +$15 with CLV −0.63¢: “costs”</a:t>
            </a:r>
          </a:p>
        </p:txBody>
      </p:sp>
      <p:pic>
        <p:nvPicPr>
          <p:cNvPr id="19" name="Picture 18" descr="league_reveal.png"/>
          <p:cNvPicPr>
            <a:picLocks noChangeAspect="1"/>
          </p:cNvPicPr>
          <p:nvPr/>
        </p:nvPicPr>
        <p:blipFill>
          <a:blip r:embed="rId3"/>
          <a:stretch>
            <a:fillRect/>
          </a:stretch>
        </p:blipFill>
        <p:spPr>
          <a:xfrm>
            <a:off x="3249693" y="4663440"/>
            <a:ext cx="5692308" cy="868680"/>
          </a:xfrm>
          <a:prstGeom prst="rect">
            <a:avLst/>
          </a:prstGeom>
        </p:spPr>
      </p:pic>
      <p:sp>
        <p:nvSpPr>
          <p:cNvPr id="20" name="Rounded Rectangle 19"/>
          <p:cNvSpPr/>
          <p:nvPr/>
        </p:nvSpPr>
        <p:spPr>
          <a:xfrm>
            <a:off x="457200" y="5669280"/>
            <a:ext cx="11277295" cy="594360"/>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669280"/>
            <a:ext cx="11094415" cy="594360"/>
          </a:xfrm>
          <a:prstGeom prst="rect">
            <a:avLst/>
          </a:prstGeom>
          <a:noFill/>
        </p:spPr>
        <p:txBody>
          <a:bodyPr wrap="square" anchor="ctr" lIns="73152" rIns="73152" tIns="36576" bIns="36576">
            <a:spAutoFit/>
          </a:bodyPr>
          <a:lstStyle/>
          <a:p>
            <a:pPr algn="l">
              <a:spcAft>
                <a:spcPts val="0"/>
              </a:spcAft>
            </a:pPr>
            <a:r>
              <a:rPr sz="1800" b="0" i="0">
                <a:solidFill>
                  <a:srgbClr val="0F172A"/>
                </a:solidFill>
                <a:latin typeface="Arial"/>
              </a:rPr>
              <a:t>Educational, paper money only · only information public at that moment · no promise words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77295" cy="685800"/>
          </a:xfrm>
          <a:prstGeom prst="rect">
            <a:avLst/>
          </a:prstGeom>
          <a:noFill/>
        </p:spPr>
        <p:txBody>
          <a:bodyPr wrap="square" anchor="ctr" lIns="73152" rIns="73152" tIns="36576" bIns="36576">
            <a:spAutoFit/>
          </a:bodyPr>
          <a:lstStyle/>
          <a:p>
            <a:pPr algn="l">
              <a:spcAft>
                <a:spcPts val="0"/>
              </a:spcAft>
            </a:pPr>
            <a:r>
              <a:rPr sz="3000" b="1" i="0">
                <a:solidFill>
                  <a:srgbClr val="FFFFFF"/>
                </a:solidFill>
                <a:latin typeface="Arial"/>
              </a:rPr>
              <a:t>Team contributions</a:t>
            </a:r>
          </a:p>
        </p:txBody>
      </p:sp>
      <p:sp>
        <p:nvSpPr>
          <p:cNvPr id="5" name="TextBox 4"/>
          <p:cNvSpPr txBox="1"/>
          <p:nvPr/>
        </p:nvSpPr>
        <p:spPr>
          <a:xfrm>
            <a:off x="457200" y="6446520"/>
            <a:ext cx="9144000" cy="320040"/>
          </a:xfrm>
          <a:prstGeom prst="rect">
            <a:avLst/>
          </a:prstGeom>
          <a:noFill/>
        </p:spPr>
        <p:txBody>
          <a:bodyPr wrap="square" anchor="t" lIns="73152" rIns="73152" tIns="36576" bIns="36576">
            <a:spAutoFit/>
          </a:bodyPr>
          <a:lstStyle/>
          <a:p>
            <a:pPr algn="l">
              <a:spcAft>
                <a:spcPts val="0"/>
              </a:spcAft>
            </a:pPr>
            <a:r>
              <a:rPr sz="1100" b="0" i="0">
                <a:solidFill>
                  <a:srgbClr val="64748B"/>
                </a:solidFill>
                <a:latin typeface="Arial"/>
              </a:rPr>
              <a:t>DASC7606C Group 12 · Market-Graded Learning: the closing price grades every component</a:t>
            </a:r>
          </a:p>
        </p:txBody>
      </p:sp>
      <p:sp>
        <p:nvSpPr>
          <p:cNvPr id="6" name="TextBox 5"/>
          <p:cNvSpPr txBox="1"/>
          <p:nvPr/>
        </p:nvSpPr>
        <p:spPr>
          <a:xfrm>
            <a:off x="10820095" y="6446520"/>
            <a:ext cx="914400" cy="320040"/>
          </a:xfrm>
          <a:prstGeom prst="rect">
            <a:avLst/>
          </a:prstGeom>
          <a:noFill/>
        </p:spPr>
        <p:txBody>
          <a:bodyPr wrap="square" anchor="t" lIns="73152" rIns="73152" tIns="36576" bIns="36576">
            <a:spAutoFit/>
          </a:bodyPr>
          <a:lstStyle/>
          <a:p>
            <a:pPr algn="r">
              <a:spcAft>
                <a:spcPts val="0"/>
              </a:spcAft>
            </a:pPr>
            <a:r>
              <a:rPr sz="1100" b="0" i="0">
                <a:solidFill>
                  <a:srgbClr val="64748B"/>
                </a:solidFill>
                <a:latin typeface="Arial"/>
              </a:rPr>
              <a:t>13</a:t>
            </a:r>
          </a:p>
        </p:txBody>
      </p:sp>
      <p:graphicFrame>
        <p:nvGraphicFramePr>
          <p:cNvPr id="7" name="Table 6"/>
          <p:cNvGraphicFramePr>
            <a:graphicFrameLocks noGrp="1"/>
          </p:cNvGraphicFramePr>
          <p:nvPr/>
        </p:nvGraphicFramePr>
        <p:xfrm>
          <a:off x="457200" y="1234439"/>
          <a:ext cx="11277295" cy="3730752"/>
        </p:xfrm>
        <a:graphic>
          <a:graphicData uri="http://schemas.openxmlformats.org/drawingml/2006/table">
            <a:tbl>
              <a:tblPr firstRow="1" bandRow="1">
                <a:tableStyleId>{5C22544A-7EE6-4342-B048-85BDC9FD1C3A}</a:tableStyleId>
              </a:tblPr>
              <a:tblGrid>
                <a:gridCol w="3017520"/>
                <a:gridCol w="1097280"/>
                <a:gridCol w="2560320"/>
                <a:gridCol w="4602175"/>
              </a:tblGrid>
              <a:tr h="438912">
                <a:tc>
                  <a:txBody>
                    <a:bodyPr wrap="square"/>
                    <a:lstStyle/>
                    <a:p>
                      <a:pPr algn="l"/>
                      <a:r>
                        <a:rPr sz="1600" b="1" i="0">
                          <a:solidFill>
                            <a:srgbClr val="FFFFFF"/>
                          </a:solidFill>
                          <a:latin typeface="Arial"/>
                        </a:rPr>
                        <a:t>Work</a:t>
                      </a:r>
                    </a:p>
                  </a:txBody>
                  <a:tcPr marL="73152" marR="73152" marT="36576" marB="36576" anchor="ctr">
                    <a:solidFill>
                      <a:srgbClr val="1E293B"/>
                    </a:solidFill>
                  </a:tcPr>
                </a:tc>
                <a:tc>
                  <a:txBody>
                    <a:bodyPr wrap="square"/>
                    <a:lstStyle/>
                    <a:p>
                      <a:pPr algn="ctr"/>
                      <a:r>
                        <a:rPr sz="1600" b="1" i="0">
                          <a:solidFill>
                            <a:srgbClr val="FFFFFF"/>
                          </a:solidFill>
                          <a:latin typeface="Arial"/>
                        </a:rPr>
                        <a:t>PR</a:t>
                      </a:r>
                    </a:p>
                  </a:txBody>
                  <a:tcPr marL="73152" marR="73152" marT="36576" marB="36576" anchor="ctr">
                    <a:solidFill>
                      <a:srgbClr val="1E293B"/>
                    </a:solidFill>
                  </a:tcPr>
                </a:tc>
                <a:tc>
                  <a:txBody>
                    <a:bodyPr wrap="square"/>
                    <a:lstStyle/>
                    <a:p>
                      <a:pPr algn="l"/>
                      <a:r>
                        <a:rPr sz="1600" b="1" i="0">
                          <a:solidFill>
                            <a:srgbClr val="FFFFFF"/>
                          </a:solidFill>
                          <a:latin typeface="Arial"/>
                        </a:rPr>
                        <a:t>Who</a:t>
                      </a:r>
                    </a:p>
                  </a:txBody>
                  <a:tcPr marL="73152" marR="73152" marT="36576" marB="36576" anchor="ctr">
                    <a:solidFill>
                      <a:srgbClr val="1E293B"/>
                    </a:solidFill>
                  </a:tcPr>
                </a:tc>
                <a:tc>
                  <a:txBody>
                    <a:bodyPr wrap="square"/>
                    <a:lstStyle/>
                    <a:p>
                      <a:pPr algn="l"/>
                      <a:r>
                        <a:rPr sz="1600" b="1" i="0">
                          <a:solidFill>
                            <a:srgbClr val="FFFFFF"/>
                          </a:solidFill>
                          <a:latin typeface="Arial"/>
                        </a:rPr>
                        <a:t>What it adds</a:t>
                      </a:r>
                    </a:p>
                  </a:txBody>
                  <a:tcPr marL="73152" marR="73152" marT="36576" marB="36576" anchor="ctr">
                    <a:solidFill>
                      <a:srgbClr val="1E293B"/>
                    </a:solidFill>
                  </a:tcPr>
                </a:tc>
              </a:tr>
              <a:tr h="658368">
                <a:tc>
                  <a:txBody>
                    <a:bodyPr wrap="square"/>
                    <a:lstStyle/>
                    <a:p>
                      <a:pPr algn="l"/>
                      <a:r>
                        <a:rPr sz="1600" b="0" i="0">
                          <a:solidFill>
                            <a:srgbClr val="0F172A"/>
                          </a:solidFill>
                          <a:latin typeface="Arial"/>
                        </a:rPr>
                        <a:t>Pregame news and fair-odds loop</a:t>
                      </a:r>
                    </a:p>
                  </a:txBody>
                  <a:tcPr marL="73152" marR="73152" marT="36576" marB="36576" anchor="ctr">
                    <a:solidFill>
                      <a:srgbClr val="F1F5F9"/>
                    </a:solidFill>
                  </a:tcPr>
                </a:tc>
                <a:tc>
                  <a:txBody>
                    <a:bodyPr wrap="square"/>
                    <a:lstStyle/>
                    <a:p>
                      <a:pPr algn="ctr"/>
                      <a:r>
                        <a:rPr sz="1600" b="0" i="0">
                          <a:solidFill>
                            <a:srgbClr val="0F172A"/>
                          </a:solidFill>
                          <a:latin typeface="Arial"/>
                        </a:rPr>
                        <a:t>#7</a:t>
                      </a:r>
                    </a:p>
                  </a:txBody>
                  <a:tcPr marL="73152" marR="73152" marT="36576" marB="36576" anchor="ctr">
                    <a:solidFill>
                      <a:srgbClr val="F1F5F9"/>
                    </a:solidFill>
                  </a:tcPr>
                </a:tc>
                <a:tc>
                  <a:txBody>
                    <a:bodyPr wrap="square"/>
                    <a:lstStyle/>
                    <a:p>
                      <a:pPr algn="l"/>
                      <a:r>
                        <a:rPr sz="1600" b="0" i="0">
                          <a:solidFill>
                            <a:srgbClr val="0F172A"/>
                          </a:solidFill>
                          <a:latin typeface="Arial"/>
                        </a:rPr>
                        <a:t>codingMiiichael</a:t>
                      </a:r>
                    </a:p>
                  </a:txBody>
                  <a:tcPr marL="73152" marR="73152" marT="36576" marB="36576" anchor="ctr">
                    <a:solidFill>
                      <a:srgbClr val="F1F5F9"/>
                    </a:solidFill>
                  </a:tcPr>
                </a:tc>
                <a:tc>
                  <a:txBody>
                    <a:bodyPr wrap="square"/>
                    <a:lstStyle/>
                    <a:p>
                      <a:pPr algn="l"/>
                      <a:r>
                        <a:rPr sz="1600" b="0" i="0">
                          <a:solidFill>
                            <a:srgbClr val="0F172A"/>
                          </a:solidFill>
                          <a:latin typeface="Arial"/>
                        </a:rPr>
                        <a:t>Multi-source news polling → fair odds</a:t>
                      </a:r>
                    </a:p>
                  </a:txBody>
                  <a:tcPr marL="73152" marR="73152" marT="36576" marB="36576" anchor="ctr">
                    <a:solidFill>
                      <a:srgbClr val="F1F5F9"/>
                    </a:solidFill>
                  </a:tcPr>
                </a:tc>
              </a:tr>
              <a:tr h="658368">
                <a:tc>
                  <a:txBody>
                    <a:bodyPr wrap="square"/>
                    <a:lstStyle/>
                    <a:p>
                      <a:pPr algn="l"/>
                      <a:r>
                        <a:rPr sz="1600" b="0" i="0">
                          <a:solidFill>
                            <a:srgbClr val="0F172A"/>
                          </a:solidFill>
                          <a:latin typeface="Arial"/>
                        </a:rPr>
                        <a:t>Player-feature experiment</a:t>
                      </a:r>
                    </a:p>
                  </a:txBody>
                  <a:tcPr marL="73152" marR="73152" marT="36576" marB="36576" anchor="ctr">
                    <a:solidFill>
                      <a:srgbClr val="FFFFFF"/>
                    </a:solidFill>
                  </a:tcPr>
                </a:tc>
                <a:tc>
                  <a:txBody>
                    <a:bodyPr wrap="square"/>
                    <a:lstStyle/>
                    <a:p>
                      <a:pPr algn="ctr"/>
                      <a:r>
                        <a:rPr sz="1600" b="0" i="0">
                          <a:solidFill>
                            <a:srgbClr val="0F172A"/>
                          </a:solidFill>
                          <a:latin typeface="Arial"/>
                        </a:rPr>
                        <a:t>#8</a:t>
                      </a:r>
                    </a:p>
                  </a:txBody>
                  <a:tcPr marL="73152" marR="73152" marT="36576" marB="36576" anchor="ctr">
                    <a:solidFill>
                      <a:srgbClr val="FFFFFF"/>
                    </a:solidFill>
                  </a:tcPr>
                </a:tc>
                <a:tc>
                  <a:txBody>
                    <a:bodyPr wrap="square"/>
                    <a:lstStyle/>
                    <a:p>
                      <a:pPr algn="l"/>
                      <a:r>
                        <a:rPr sz="1600" b="0" i="0">
                          <a:solidFill>
                            <a:srgbClr val="0F172A"/>
                          </a:solidFill>
                          <a:latin typeface="Arial"/>
                        </a:rPr>
                        <a:t>Catharine Li</a:t>
                      </a:r>
                    </a:p>
                  </a:txBody>
                  <a:tcPr marL="73152" marR="73152" marT="36576" marB="36576" anchor="ctr">
                    <a:solidFill>
                      <a:srgbClr val="FFFFFF"/>
                    </a:solidFill>
                  </a:tcPr>
                </a:tc>
                <a:tc>
                  <a:txBody>
                    <a:bodyPr wrap="square"/>
                    <a:lstStyle/>
                    <a:p>
                      <a:pPr algn="l"/>
                      <a:r>
                        <a:rPr sz="1600" b="0" i="0">
                          <a:solidFill>
                            <a:srgbClr val="0F172A"/>
                          </a:solidFill>
                          <a:latin typeface="Arial"/>
                        </a:rPr>
                        <a:t>Isolated player features + probability calibration</a:t>
                      </a:r>
                    </a:p>
                  </a:txBody>
                  <a:tcPr marL="73152" marR="73152" marT="36576" marB="36576" anchor="ctr">
                    <a:solidFill>
                      <a:srgbClr val="FFFFFF"/>
                    </a:solidFill>
                  </a:tcPr>
                </a:tc>
              </a:tr>
              <a:tr h="658368">
                <a:tc>
                  <a:txBody>
                    <a:bodyPr wrap="square"/>
                    <a:lstStyle/>
                    <a:p>
                      <a:pPr algn="l"/>
                      <a:r>
                        <a:rPr sz="1600" b="0" i="0">
                          <a:solidFill>
                            <a:srgbClr val="0F172A"/>
                          </a:solidFill>
                          <a:latin typeface="Arial"/>
                        </a:rPr>
                        <a:t>In-play news and odds</a:t>
                      </a:r>
                    </a:p>
                  </a:txBody>
                  <a:tcPr marL="73152" marR="73152" marT="36576" marB="36576" anchor="ctr">
                    <a:solidFill>
                      <a:srgbClr val="F1F5F9"/>
                    </a:solidFill>
                  </a:tcPr>
                </a:tc>
                <a:tc>
                  <a:txBody>
                    <a:bodyPr wrap="square"/>
                    <a:lstStyle/>
                    <a:p>
                      <a:pPr algn="ctr"/>
                      <a:r>
                        <a:rPr sz="1600" b="0" i="0">
                          <a:solidFill>
                            <a:srgbClr val="0F172A"/>
                          </a:solidFill>
                          <a:latin typeface="Arial"/>
                        </a:rPr>
                        <a:t>#9</a:t>
                      </a:r>
                    </a:p>
                  </a:txBody>
                  <a:tcPr marL="73152" marR="73152" marT="36576" marB="36576" anchor="ctr">
                    <a:solidFill>
                      <a:srgbClr val="F1F5F9"/>
                    </a:solidFill>
                  </a:tcPr>
                </a:tc>
                <a:tc>
                  <a:txBody>
                    <a:bodyPr wrap="square"/>
                    <a:lstStyle/>
                    <a:p>
                      <a:pPr algn="l"/>
                      <a:r>
                        <a:rPr sz="1600" b="0" i="0">
                          <a:solidFill>
                            <a:srgbClr val="0F172A"/>
                          </a:solidFill>
                          <a:latin typeface="Arial"/>
                        </a:rPr>
                        <a:t>codingMiiichael</a:t>
                      </a:r>
                    </a:p>
                  </a:txBody>
                  <a:tcPr marL="73152" marR="73152" marT="36576" marB="36576" anchor="ctr">
                    <a:solidFill>
                      <a:srgbClr val="F1F5F9"/>
                    </a:solidFill>
                  </a:tcPr>
                </a:tc>
                <a:tc>
                  <a:txBody>
                    <a:bodyPr wrap="square"/>
                    <a:lstStyle/>
                    <a:p>
                      <a:pPr algn="l"/>
                      <a:r>
                        <a:rPr sz="1600" b="0" i="0">
                          <a:solidFill>
                            <a:srgbClr val="0F172A"/>
                          </a:solidFill>
                          <a:latin typeface="Arial"/>
                        </a:rPr>
                        <a:t>Independent in-play updates (synthetic scenarios)</a:t>
                      </a:r>
                    </a:p>
                  </a:txBody>
                  <a:tcPr marL="73152" marR="73152" marT="36576" marB="36576" anchor="ctr">
                    <a:solidFill>
                      <a:srgbClr val="F1F5F9"/>
                    </a:solidFill>
                  </a:tcPr>
                </a:tc>
              </a:tr>
              <a:tr h="658368">
                <a:tc>
                  <a:txBody>
                    <a:bodyPr wrap="square"/>
                    <a:lstStyle/>
                    <a:p>
                      <a:pPr algn="l"/>
                      <a:r>
                        <a:rPr sz="1600" b="0" i="0">
                          <a:solidFill>
                            <a:srgbClr val="0F172A"/>
                          </a:solidFill>
                          <a:latin typeface="Arial"/>
                        </a:rPr>
                        <a:t>Live Polymarket markets</a:t>
                      </a:r>
                    </a:p>
                  </a:txBody>
                  <a:tcPr marL="73152" marR="73152" marT="36576" marB="36576" anchor="ctr">
                    <a:solidFill>
                      <a:srgbClr val="FFFFFF"/>
                    </a:solidFill>
                  </a:tcPr>
                </a:tc>
                <a:tc>
                  <a:txBody>
                    <a:bodyPr wrap="square"/>
                    <a:lstStyle/>
                    <a:p>
                      <a:pPr algn="ctr"/>
                      <a:r>
                        <a:rPr sz="1600" b="0" i="0">
                          <a:solidFill>
                            <a:srgbClr val="0F172A"/>
                          </a:solidFill>
                          <a:latin typeface="Arial"/>
                        </a:rPr>
                        <a:t>#11, #12</a:t>
                      </a:r>
                    </a:p>
                  </a:txBody>
                  <a:tcPr marL="73152" marR="73152" marT="36576" marB="36576" anchor="ctr">
                    <a:solidFill>
                      <a:srgbClr val="FFFFFF"/>
                    </a:solidFill>
                  </a:tcPr>
                </a:tc>
                <a:tc>
                  <a:txBody>
                    <a:bodyPr wrap="square"/>
                    <a:lstStyle/>
                    <a:p>
                      <a:pPr algn="l"/>
                      <a:r>
                        <a:rPr sz="1600" b="0" i="0">
                          <a:solidFill>
                            <a:srgbClr val="0F172A"/>
                          </a:solidFill>
                          <a:latin typeface="Arial"/>
                        </a:rPr>
                        <a:t>shidafuyang-alt, hijojo</a:t>
                      </a:r>
                    </a:p>
                  </a:txBody>
                  <a:tcPr marL="73152" marR="73152" marT="36576" marB="36576" anchor="ctr">
                    <a:solidFill>
                      <a:srgbClr val="FFFFFF"/>
                    </a:solidFill>
                  </a:tcPr>
                </a:tc>
                <a:tc>
                  <a:txBody>
                    <a:bodyPr wrap="square"/>
                    <a:lstStyle/>
                    <a:p>
                      <a:pPr algn="l"/>
                      <a:r>
                        <a:rPr sz="1600" b="0" i="0">
                          <a:solidFill>
                            <a:srgbClr val="0F172A"/>
                          </a:solidFill>
                          <a:latin typeface="Arial"/>
                        </a:rPr>
                        <a:t>Read-only live prices and page</a:t>
                      </a:r>
                    </a:p>
                  </a:txBody>
                  <a:tcPr marL="73152" marR="73152" marT="36576" marB="36576" anchor="ctr">
                    <a:solidFill>
                      <a:srgbClr val="FFFFFF"/>
                    </a:solidFill>
                  </a:tcPr>
                </a:tc>
              </a:tr>
              <a:tr h="658368">
                <a:tc>
                  <a:txBody>
                    <a:bodyPr wrap="square"/>
                    <a:lstStyle/>
                    <a:p>
                      <a:pPr algn="l"/>
                      <a:r>
                        <a:rPr sz="1600" b="0" i="0">
                          <a:solidFill>
                            <a:srgbClr val="0F172A"/>
                          </a:solidFill>
                          <a:latin typeface="Arial"/>
                        </a:rPr>
                        <a:t>Replay, agent and evaluation</a:t>
                      </a:r>
                    </a:p>
                  </a:txBody>
                  <a:tcPr marL="73152" marR="73152" marT="36576" marB="36576" anchor="ctr">
                    <a:solidFill>
                      <a:srgbClr val="F1F5F9"/>
                    </a:solidFill>
                  </a:tcPr>
                </a:tc>
                <a:tc>
                  <a:txBody>
                    <a:bodyPr wrap="square"/>
                    <a:lstStyle/>
                    <a:p>
                      <a:pPr algn="ctr"/>
                      <a:r>
                        <a:rPr sz="1600" b="0" i="0">
                          <a:solidFill>
                            <a:srgbClr val="0F172A"/>
                          </a:solidFill>
                          <a:latin typeface="Arial"/>
                        </a:rPr>
                        <a:t>branch</a:t>
                      </a:r>
                    </a:p>
                  </a:txBody>
                  <a:tcPr marL="73152" marR="73152" marT="36576" marB="36576" anchor="ctr">
                    <a:solidFill>
                      <a:srgbClr val="F1F5F9"/>
                    </a:solidFill>
                  </a:tcPr>
                </a:tc>
                <a:tc>
                  <a:txBody>
                    <a:bodyPr wrap="square"/>
                    <a:lstStyle/>
                    <a:p>
                      <a:pPr algn="l"/>
                      <a:r>
                        <a:rPr sz="1600" b="0" i="0">
                          <a:solidFill>
                            <a:srgbClr val="0F172A"/>
                          </a:solidFill>
                          <a:latin typeface="Arial"/>
                        </a:rPr>
                        <a:t>Michael Ngan</a:t>
                      </a:r>
                    </a:p>
                  </a:txBody>
                  <a:tcPr marL="73152" marR="73152" marT="36576" marB="36576" anchor="ctr">
                    <a:solidFill>
                      <a:srgbClr val="F1F5F9"/>
                    </a:solidFill>
                  </a:tcPr>
                </a:tc>
                <a:tc>
                  <a:txBody>
                    <a:bodyPr wrap="square"/>
                    <a:lstStyle/>
                    <a:p>
                      <a:pPr algn="l"/>
                      <a:r>
                        <a:rPr sz="1600" b="0" i="0">
                          <a:solidFill>
                            <a:srgbClr val="0F172A"/>
                          </a:solidFill>
                          <a:latin typeface="Arial"/>
                        </a:rPr>
                        <a:t>As-of replay, M4 / M6, LangGraph agent, gate, walk-forward, Coach, League</a:t>
                      </a:r>
                    </a:p>
                  </a:txBody>
                  <a:tcPr marL="73152" marR="73152" marT="36576" marB="36576" anchor="ctr">
                    <a:solidFill>
                      <a:srgbClr val="F1F5F9"/>
                    </a:solidFill>
                  </a:tcPr>
                </a:tc>
              </a:tr>
            </a:tbl>
          </a:graphicData>
        </a:graphic>
      </p:graphicFrame>
      <p:sp>
        <p:nvSpPr>
          <p:cNvPr id="8" name="Rounded Rectangle 7"/>
          <p:cNvSpPr/>
          <p:nvPr/>
        </p:nvSpPr>
        <p:spPr>
          <a:xfrm>
            <a:off x="457200" y="5440680"/>
            <a:ext cx="11277295" cy="685800"/>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5440680"/>
            <a:ext cx="11094415" cy="685800"/>
          </a:xfrm>
          <a:prstGeom prst="rect">
            <a:avLst/>
          </a:prstGeom>
          <a:noFill/>
        </p:spPr>
        <p:txBody>
          <a:bodyPr wrap="square" anchor="ctr" lIns="73152" rIns="73152" tIns="36576" bIns="36576">
            <a:spAutoFit/>
          </a:bodyPr>
          <a:lstStyle/>
          <a:p>
            <a:pPr algn="l">
              <a:spcAft>
                <a:spcPts val="0"/>
              </a:spcAft>
            </a:pPr>
            <a:r>
              <a:rPr sz="1900" b="0" i="0">
                <a:solidFill>
                  <a:srgbClr val="0F172A"/>
                </a:solidFill>
                <a:latin typeface="Arial"/>
              </a:rPr>
              <a:t>Every part is graded the same way: by the market's closing price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77295" cy="685800"/>
          </a:xfrm>
          <a:prstGeom prst="rect">
            <a:avLst/>
          </a:prstGeom>
          <a:noFill/>
        </p:spPr>
        <p:txBody>
          <a:bodyPr wrap="square" anchor="ctr" lIns="73152" rIns="73152" tIns="36576" bIns="36576">
            <a:spAutoFit/>
          </a:bodyPr>
          <a:lstStyle/>
          <a:p>
            <a:pPr algn="l">
              <a:spcAft>
                <a:spcPts val="0"/>
              </a:spcAft>
            </a:pPr>
            <a:r>
              <a:rPr sz="3000" b="1" i="0">
                <a:solidFill>
                  <a:srgbClr val="FFFFFF"/>
                </a:solidFill>
                <a:latin typeface="Arial"/>
              </a:rPr>
              <a:t>Live demo: streamlit run app.py</a:t>
            </a:r>
          </a:p>
        </p:txBody>
      </p:sp>
      <p:sp>
        <p:nvSpPr>
          <p:cNvPr id="5" name="TextBox 4"/>
          <p:cNvSpPr txBox="1"/>
          <p:nvPr/>
        </p:nvSpPr>
        <p:spPr>
          <a:xfrm>
            <a:off x="457200" y="6446520"/>
            <a:ext cx="9144000" cy="320040"/>
          </a:xfrm>
          <a:prstGeom prst="rect">
            <a:avLst/>
          </a:prstGeom>
          <a:noFill/>
        </p:spPr>
        <p:txBody>
          <a:bodyPr wrap="square" anchor="t" lIns="73152" rIns="73152" tIns="36576" bIns="36576">
            <a:spAutoFit/>
          </a:bodyPr>
          <a:lstStyle/>
          <a:p>
            <a:pPr algn="l">
              <a:spcAft>
                <a:spcPts val="0"/>
              </a:spcAft>
            </a:pPr>
            <a:r>
              <a:rPr sz="1100" b="0" i="0">
                <a:solidFill>
                  <a:srgbClr val="64748B"/>
                </a:solidFill>
                <a:latin typeface="Arial"/>
              </a:rPr>
              <a:t>DASC7606C Group 12 · Market-Graded Learning: the closing price grades every component</a:t>
            </a:r>
          </a:p>
        </p:txBody>
      </p:sp>
      <p:sp>
        <p:nvSpPr>
          <p:cNvPr id="6" name="TextBox 5"/>
          <p:cNvSpPr txBox="1"/>
          <p:nvPr/>
        </p:nvSpPr>
        <p:spPr>
          <a:xfrm>
            <a:off x="10820095" y="6446520"/>
            <a:ext cx="914400" cy="320040"/>
          </a:xfrm>
          <a:prstGeom prst="rect">
            <a:avLst/>
          </a:prstGeom>
          <a:noFill/>
        </p:spPr>
        <p:txBody>
          <a:bodyPr wrap="square" anchor="t" lIns="73152" rIns="73152" tIns="36576" bIns="36576">
            <a:spAutoFit/>
          </a:bodyPr>
          <a:lstStyle/>
          <a:p>
            <a:pPr algn="r">
              <a:spcAft>
                <a:spcPts val="0"/>
              </a:spcAft>
            </a:pPr>
            <a:r>
              <a:rPr sz="1100" b="0" i="0">
                <a:solidFill>
                  <a:srgbClr val="64748B"/>
                </a:solidFill>
                <a:latin typeface="Arial"/>
              </a:rPr>
              <a:t>14</a:t>
            </a:r>
          </a:p>
        </p:txBody>
      </p:sp>
      <p:graphicFrame>
        <p:nvGraphicFramePr>
          <p:cNvPr id="7" name="Table 6"/>
          <p:cNvGraphicFramePr>
            <a:graphicFrameLocks noGrp="1"/>
          </p:cNvGraphicFramePr>
          <p:nvPr/>
        </p:nvGraphicFramePr>
        <p:xfrm>
          <a:off x="457200" y="1234439"/>
          <a:ext cx="11277295" cy="3840480"/>
        </p:xfrm>
        <a:graphic>
          <a:graphicData uri="http://schemas.openxmlformats.org/drawingml/2006/table">
            <a:tbl>
              <a:tblPr firstRow="1" bandRow="1">
                <a:tableStyleId>{5C22544A-7EE6-4342-B048-85BDC9FD1C3A}</a:tableStyleId>
              </a:tblPr>
              <a:tblGrid>
                <a:gridCol w="2377440"/>
                <a:gridCol w="8899855"/>
              </a:tblGrid>
              <a:tr h="640080">
                <a:tc>
                  <a:txBody>
                    <a:bodyPr wrap="square"/>
                    <a:lstStyle/>
                    <a:p>
                      <a:pPr algn="l"/>
                      <a:r>
                        <a:rPr sz="1800" b="1" i="0">
                          <a:solidFill>
                            <a:srgbClr val="FFFFFF"/>
                          </a:solidFill>
                          <a:latin typeface="Arial"/>
                        </a:rPr>
                        <a:t>Tab</a:t>
                      </a:r>
                    </a:p>
                  </a:txBody>
                  <a:tcPr marL="73152" marR="73152" marT="36576" marB="36576" anchor="ctr">
                    <a:solidFill>
                      <a:srgbClr val="1E293B"/>
                    </a:solidFill>
                  </a:tcPr>
                </a:tc>
                <a:tc>
                  <a:txBody>
                    <a:bodyPr wrap="square"/>
                    <a:lstStyle/>
                    <a:p>
                      <a:pPr algn="l"/>
                      <a:r>
                        <a:rPr sz="1800" b="1" i="0">
                          <a:solidFill>
                            <a:srgbClr val="FFFFFF"/>
                          </a:solidFill>
                          <a:latin typeface="Arial"/>
                        </a:rPr>
                        <a:t>What to watch</a:t>
                      </a:r>
                    </a:p>
                  </a:txBody>
                  <a:tcPr marL="73152" marR="73152" marT="36576" marB="36576" anchor="ctr">
                    <a:solidFill>
                      <a:srgbClr val="1E293B"/>
                    </a:solidFill>
                  </a:tcPr>
                </a:tc>
              </a:tr>
              <a:tr h="640080">
                <a:tc>
                  <a:txBody>
                    <a:bodyPr wrap="square"/>
                    <a:lstStyle/>
                    <a:p>
                      <a:pPr algn="l"/>
                      <a:r>
                        <a:rPr sz="1800" b="0" i="0">
                          <a:solidFill>
                            <a:srgbClr val="0F172A"/>
                          </a:solidFill>
                          <a:latin typeface="Arial"/>
                        </a:rPr>
                        <a:t>Replayed night</a:t>
                      </a:r>
                    </a:p>
                  </a:txBody>
                  <a:tcPr marL="73152" marR="73152" marT="36576" marB="36576" anchor="ctr">
                    <a:solidFill>
                      <a:srgbClr val="F1F5F9"/>
                    </a:solidFill>
                  </a:tcPr>
                </a:tc>
                <a:tc>
                  <a:txBody>
                    <a:bodyPr wrap="square"/>
                    <a:lstStyle/>
                    <a:p>
                      <a:pPr algn="l"/>
                      <a:r>
                        <a:rPr sz="1800" b="0" i="0">
                          <a:solidFill>
                            <a:srgbClr val="0F172A"/>
                          </a:solidFill>
                          <a:latin typeface="Arial"/>
                        </a:rPr>
                        <a:t>News → estimate vs bid-ask → usually no order, with the reason</a:t>
                      </a:r>
                    </a:p>
                  </a:txBody>
                  <a:tcPr marL="73152" marR="73152" marT="36576" marB="36576" anchor="ctr">
                    <a:solidFill>
                      <a:srgbClr val="F1F5F9"/>
                    </a:solidFill>
                  </a:tcPr>
                </a:tc>
              </a:tr>
              <a:tr h="640080">
                <a:tc>
                  <a:txBody>
                    <a:bodyPr wrap="square"/>
                    <a:lstStyle/>
                    <a:p>
                      <a:pPr algn="l"/>
                      <a:r>
                        <a:rPr sz="1800" b="0" i="0">
                          <a:solidFill>
                            <a:srgbClr val="0F172A"/>
                          </a:solidFill>
                          <a:latin typeface="Arial"/>
                        </a:rPr>
                        <a:t>Coach</a:t>
                      </a:r>
                    </a:p>
                  </a:txBody>
                  <a:tcPr marL="73152" marR="73152" marT="36576" marB="36576" anchor="ctr">
                    <a:solidFill>
                      <a:srgbClr val="FFFFFF"/>
                    </a:solidFill>
                  </a:tcPr>
                </a:tc>
                <a:tc>
                  <a:txBody>
                    <a:bodyPr wrap="square"/>
                    <a:lstStyle/>
                    <a:p>
                      <a:pPr algn="l"/>
                      <a:r>
                        <a:rPr sz="1800" b="0" i="0">
                          <a:solidFill>
                            <a:srgbClr val="0F172A"/>
                          </a:solidFill>
                          <a:latin typeface="Arial"/>
                        </a:rPr>
                        <a:t>Break-even after spread + fee; paper call vs the close and the agent</a:t>
                      </a:r>
                    </a:p>
                  </a:txBody>
                  <a:tcPr marL="73152" marR="73152" marT="36576" marB="36576" anchor="ctr">
                    <a:solidFill>
                      <a:srgbClr val="FFFFFF"/>
                    </a:solidFill>
                  </a:tcPr>
                </a:tc>
              </a:tr>
              <a:tr h="640080">
                <a:tc>
                  <a:txBody>
                    <a:bodyPr wrap="square"/>
                    <a:lstStyle/>
                    <a:p>
                      <a:pPr algn="l"/>
                      <a:r>
                        <a:rPr sz="1800" b="0" i="0">
                          <a:solidFill>
                            <a:srgbClr val="0F172A"/>
                          </a:solidFill>
                          <a:latin typeface="Arial"/>
                        </a:rPr>
                        <a:t>League</a:t>
                      </a:r>
                    </a:p>
                  </a:txBody>
                  <a:tcPr marL="73152" marR="73152" marT="36576" marB="36576" anchor="ctr">
                    <a:solidFill>
                      <a:srgbClr val="F1F5F9"/>
                    </a:solidFill>
                  </a:tcPr>
                </a:tc>
                <a:tc>
                  <a:txBody>
                    <a:bodyPr wrap="square"/>
                    <a:lstStyle/>
                    <a:p>
                      <a:pPr algn="l"/>
                      <a:r>
                        <a:rPr sz="1800" b="0" i="0">
                          <a:solidFill>
                            <a:srgbClr val="0F172A"/>
                          </a:solidFill>
                          <a:latin typeface="Arial"/>
                        </a:rPr>
                        <a:t>One call on the shared slate → close revealed → ranked by CLV next to the house bots</a:t>
                      </a:r>
                    </a:p>
                  </a:txBody>
                  <a:tcPr marL="73152" marR="73152" marT="36576" marB="36576" anchor="ctr">
                    <a:solidFill>
                      <a:srgbClr val="F1F5F9"/>
                    </a:solidFill>
                  </a:tcPr>
                </a:tc>
              </a:tr>
              <a:tr h="640080">
                <a:tc>
                  <a:txBody>
                    <a:bodyPr wrap="square"/>
                    <a:lstStyle/>
                    <a:p>
                      <a:pPr algn="l"/>
                      <a:r>
                        <a:rPr sz="1800" b="0" i="0">
                          <a:solidFill>
                            <a:srgbClr val="0F172A"/>
                          </a:solidFill>
                          <a:latin typeface="Arial"/>
                        </a:rPr>
                        <a:t>Learning</a:t>
                      </a:r>
                    </a:p>
                  </a:txBody>
                  <a:tcPr marL="73152" marR="73152" marT="36576" marB="36576" anchor="ctr">
                    <a:solidFill>
                      <a:srgbClr val="FFFFFF"/>
                    </a:solidFill>
                  </a:tcPr>
                </a:tc>
                <a:tc>
                  <a:txBody>
                    <a:bodyPr wrap="square"/>
                    <a:lstStyle/>
                    <a:p>
                      <a:pPr algn="l"/>
                      <a:r>
                        <a:rPr sz="1800" b="0" i="0">
                          <a:solidFill>
                            <a:srgbClr val="0F172A"/>
                          </a:solidFill>
                          <a:latin typeface="Arial"/>
                        </a:rPr>
                        <a:t>Gate keeps protective rules (skip long shots, skip chasing)</a:t>
                      </a:r>
                    </a:p>
                  </a:txBody>
                  <a:tcPr marL="73152" marR="73152" marT="36576" marB="36576" anchor="ctr">
                    <a:solidFill>
                      <a:srgbClr val="FFFFFF"/>
                    </a:solidFill>
                  </a:tcPr>
                </a:tc>
              </a:tr>
              <a:tr h="640080">
                <a:tc>
                  <a:txBody>
                    <a:bodyPr wrap="square"/>
                    <a:lstStyle/>
                    <a:p>
                      <a:pPr algn="l"/>
                      <a:r>
                        <a:rPr sz="1800" b="0" i="0">
                          <a:solidFill>
                            <a:srgbClr val="0F172A"/>
                          </a:solidFill>
                          <a:latin typeface="Arial"/>
                        </a:rPr>
                        <a:t>Safety</a:t>
                      </a:r>
                    </a:p>
                  </a:txBody>
                  <a:tcPr marL="73152" marR="73152" marT="36576" marB="36576" anchor="ctr">
                    <a:solidFill>
                      <a:srgbClr val="F1F5F9"/>
                    </a:solidFill>
                  </a:tcPr>
                </a:tc>
                <a:tc>
                  <a:txBody>
                    <a:bodyPr wrap="square"/>
                    <a:lstStyle/>
                    <a:p>
                      <a:pPr algn="l"/>
                      <a:r>
                        <a:rPr sz="1800" b="0" i="0">
                          <a:solidFill>
                            <a:srgbClr val="0F172A"/>
                          </a:solidFill>
                          <a:latin typeface="Arial"/>
                        </a:rPr>
                        <a:t>Planted violations blocked (9 / 9)</a:t>
                      </a:r>
                    </a:p>
                  </a:txBody>
                  <a:tcPr marL="73152" marR="73152" marT="36576" marB="36576" anchor="ctr">
                    <a:solidFill>
                      <a:srgbClr val="F1F5F9"/>
                    </a:solidFill>
                  </a:tcPr>
                </a:tc>
              </a:tr>
            </a:tbl>
          </a:graphicData>
        </a:graphic>
      </p:graphicFrame>
      <p:sp>
        <p:nvSpPr>
          <p:cNvPr id="8" name="Rounded Rectangle 7"/>
          <p:cNvSpPr/>
          <p:nvPr/>
        </p:nvSpPr>
        <p:spPr>
          <a:xfrm>
            <a:off x="457200" y="5669280"/>
            <a:ext cx="11277295" cy="548640"/>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5669280"/>
            <a:ext cx="11094415" cy="548640"/>
          </a:xfrm>
          <a:prstGeom prst="rect">
            <a:avLst/>
          </a:prstGeom>
          <a:noFill/>
        </p:spPr>
        <p:txBody>
          <a:bodyPr wrap="square" anchor="ctr" lIns="73152" rIns="73152" tIns="36576" bIns="36576">
            <a:spAutoFit/>
          </a:bodyPr>
          <a:lstStyle/>
          <a:p>
            <a:pPr algn="l">
              <a:spcAft>
                <a:spcPts val="0"/>
              </a:spcAft>
            </a:pPr>
            <a:r>
              <a:rPr sz="1800" b="0" i="0">
                <a:solidFill>
                  <a:srgbClr val="0F172A"/>
                </a:solidFill>
                <a:latin typeface="Arial"/>
              </a:rPr>
              <a:t>Backup: recorded run of the same demo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77295" cy="685800"/>
          </a:xfrm>
          <a:prstGeom prst="rect">
            <a:avLst/>
          </a:prstGeom>
          <a:noFill/>
        </p:spPr>
        <p:txBody>
          <a:bodyPr wrap="square" anchor="ctr" lIns="73152" rIns="73152" tIns="36576" bIns="36576">
            <a:spAutoFit/>
          </a:bodyPr>
          <a:lstStyle/>
          <a:p>
            <a:pPr algn="l">
              <a:spcAft>
                <a:spcPts val="0"/>
              </a:spcAft>
            </a:pPr>
            <a:r>
              <a:rPr sz="3000" b="1" i="0">
                <a:solidFill>
                  <a:srgbClr val="FFFFFF"/>
                </a:solidFill>
                <a:latin typeface="Arial"/>
              </a:rPr>
              <a:t>Recommendations, honest scope and Q&amp;A</a:t>
            </a:r>
          </a:p>
        </p:txBody>
      </p:sp>
      <p:sp>
        <p:nvSpPr>
          <p:cNvPr id="5" name="TextBox 4"/>
          <p:cNvSpPr txBox="1"/>
          <p:nvPr/>
        </p:nvSpPr>
        <p:spPr>
          <a:xfrm>
            <a:off x="457200" y="6446520"/>
            <a:ext cx="9144000" cy="320040"/>
          </a:xfrm>
          <a:prstGeom prst="rect">
            <a:avLst/>
          </a:prstGeom>
          <a:noFill/>
        </p:spPr>
        <p:txBody>
          <a:bodyPr wrap="square" anchor="t" lIns="73152" rIns="73152" tIns="36576" bIns="36576">
            <a:spAutoFit/>
          </a:bodyPr>
          <a:lstStyle/>
          <a:p>
            <a:pPr algn="l">
              <a:spcAft>
                <a:spcPts val="0"/>
              </a:spcAft>
            </a:pPr>
            <a:r>
              <a:rPr sz="1100" b="0" i="0">
                <a:solidFill>
                  <a:srgbClr val="64748B"/>
                </a:solidFill>
                <a:latin typeface="Arial"/>
              </a:rPr>
              <a:t>DASC7606C Group 12 · Market-Graded Learning: the closing price grades every component</a:t>
            </a:r>
          </a:p>
        </p:txBody>
      </p:sp>
      <p:sp>
        <p:nvSpPr>
          <p:cNvPr id="6" name="TextBox 5"/>
          <p:cNvSpPr txBox="1"/>
          <p:nvPr/>
        </p:nvSpPr>
        <p:spPr>
          <a:xfrm>
            <a:off x="10820095" y="6446520"/>
            <a:ext cx="914400" cy="320040"/>
          </a:xfrm>
          <a:prstGeom prst="rect">
            <a:avLst/>
          </a:prstGeom>
          <a:noFill/>
        </p:spPr>
        <p:txBody>
          <a:bodyPr wrap="square" anchor="t" lIns="73152" rIns="73152" tIns="36576" bIns="36576">
            <a:spAutoFit/>
          </a:bodyPr>
          <a:lstStyle/>
          <a:p>
            <a:pPr algn="r">
              <a:spcAft>
                <a:spcPts val="0"/>
              </a:spcAft>
            </a:pPr>
            <a:r>
              <a:rPr sz="1100" b="0" i="0">
                <a:solidFill>
                  <a:srgbClr val="64748B"/>
                </a:solidFill>
                <a:latin typeface="Arial"/>
              </a:rPr>
              <a:t>15</a:t>
            </a:r>
          </a:p>
        </p:txBody>
      </p:sp>
      <p:sp>
        <p:nvSpPr>
          <p:cNvPr id="7" name="Rounded Rectangle 6"/>
          <p:cNvSpPr/>
          <p:nvPr/>
        </p:nvSpPr>
        <p:spPr>
          <a:xfrm>
            <a:off x="457200" y="1234439"/>
            <a:ext cx="5852160" cy="3566160"/>
          </a:xfrm>
          <a:prstGeom prst="roundRect">
            <a:avLst>
              <a:gd name="adj" fmla="val 6000"/>
            </a:avLst>
          </a:prstGeom>
          <a:solidFill>
            <a:srgbClr val="FFFFFF"/>
          </a:solidFill>
          <a:ln w="1587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34439"/>
            <a:ext cx="109728" cy="356616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307592"/>
            <a:ext cx="5577840" cy="457200"/>
          </a:xfrm>
          <a:prstGeom prst="rect">
            <a:avLst/>
          </a:prstGeom>
          <a:noFill/>
        </p:spPr>
        <p:txBody>
          <a:bodyPr wrap="square" anchor="t" lIns="73152" rIns="73152" tIns="36576" bIns="36576">
            <a:spAutoFit/>
          </a:bodyPr>
          <a:lstStyle/>
          <a:p>
            <a:pPr algn="l">
              <a:spcAft>
                <a:spcPts val="0"/>
              </a:spcAft>
            </a:pPr>
            <a:r>
              <a:rPr sz="1900" b="1" i="0">
                <a:solidFill>
                  <a:srgbClr val="1E293B"/>
                </a:solidFill>
                <a:latin typeface="Arial"/>
              </a:rPr>
              <a:t>For products and policy</a:t>
            </a:r>
          </a:p>
        </p:txBody>
      </p:sp>
      <p:sp>
        <p:nvSpPr>
          <p:cNvPr id="10" name="TextBox 9"/>
          <p:cNvSpPr txBox="1"/>
          <p:nvPr/>
        </p:nvSpPr>
        <p:spPr>
          <a:xfrm>
            <a:off x="640080" y="1764791"/>
            <a:ext cx="5577840" cy="2962656"/>
          </a:xfrm>
          <a:prstGeom prst="rect">
            <a:avLst/>
          </a:prstGeom>
          <a:noFill/>
        </p:spPr>
        <p:txBody>
          <a:bodyPr wrap="square" anchor="t" lIns="73152" rIns="73152" tIns="36576" bIns="36576">
            <a:spAutoFit/>
          </a:bodyPr>
          <a:lstStyle/>
          <a:p>
            <a:pPr algn="l" marL="292608" indent="-256032">
              <a:spcAft>
                <a:spcPts val="600"/>
              </a:spcAft>
              <a:buChar char="•"/>
            </a:pPr>
            <a:r>
              <a:rPr sz="1700" b="0" i="0">
                <a:solidFill>
                  <a:srgbClr val="0F172A"/>
                </a:solidFill>
                <a:latin typeface="Arial"/>
              </a:rPr>
              <a:t>Show the all-in cost and break-even before every order</a:t>
            </a:r>
          </a:p>
          <a:p>
            <a:pPr algn="l" marL="292608" indent="-256032">
              <a:spcAft>
                <a:spcPts val="600"/>
              </a:spcAft>
              <a:buChar char="•"/>
            </a:pPr>
            <a:r>
              <a:rPr sz="1700" b="0" i="0">
                <a:solidFill>
                  <a:srgbClr val="0F172A"/>
                </a:solidFill>
                <a:latin typeface="Arial"/>
              </a:rPr>
              <a:t>Default warning: “this news is likely priced in”</a:t>
            </a:r>
          </a:p>
          <a:p>
            <a:pPr algn="l" marL="292608" indent="-256032">
              <a:spcAft>
                <a:spcPts val="600"/>
              </a:spcAft>
              <a:buChar char="•"/>
            </a:pPr>
            <a:r>
              <a:rPr sz="1700" b="0" i="0">
                <a:solidFill>
                  <a:srgbClr val="0F172A"/>
                </a:solidFill>
                <a:latin typeface="Arial"/>
              </a:rPr>
              <a:t>Education and play-money practice before the first trade</a:t>
            </a:r>
          </a:p>
          <a:p>
            <a:pPr algn="l" marL="292608" indent="-256032">
              <a:spcAft>
                <a:spcPts val="600"/>
              </a:spcAft>
              <a:buChar char="•"/>
            </a:pPr>
            <a:r>
              <a:rPr sz="1700" b="0" i="0">
                <a:solidFill>
                  <a:srgbClr val="0F172A"/>
                </a:solidFill>
                <a:latin typeface="Arial"/>
              </a:rPr>
              <a:t>Treat betting harm as a public-health issue (Lancet)</a:t>
            </a:r>
          </a:p>
        </p:txBody>
      </p:sp>
      <p:sp>
        <p:nvSpPr>
          <p:cNvPr id="11" name="Rounded Rectangle 10"/>
          <p:cNvSpPr/>
          <p:nvPr/>
        </p:nvSpPr>
        <p:spPr>
          <a:xfrm>
            <a:off x="6583680" y="1234439"/>
            <a:ext cx="5150815" cy="3566160"/>
          </a:xfrm>
          <a:prstGeom prst="roundRect">
            <a:avLst>
              <a:gd name="adj" fmla="val 6000"/>
            </a:avLst>
          </a:prstGeom>
          <a:solidFill>
            <a:srgbClr val="FFFFFF"/>
          </a:solidFill>
          <a:ln w="1587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0" y="1234439"/>
            <a:ext cx="109728" cy="356616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0" y="1307592"/>
            <a:ext cx="4876495" cy="457200"/>
          </a:xfrm>
          <a:prstGeom prst="rect">
            <a:avLst/>
          </a:prstGeom>
          <a:noFill/>
        </p:spPr>
        <p:txBody>
          <a:bodyPr wrap="square" anchor="t" lIns="73152" rIns="73152" tIns="36576" bIns="36576">
            <a:spAutoFit/>
          </a:bodyPr>
          <a:lstStyle/>
          <a:p>
            <a:pPr algn="l">
              <a:spcAft>
                <a:spcPts val="0"/>
              </a:spcAft>
            </a:pPr>
            <a:r>
              <a:rPr sz="1800" b="1" i="0">
                <a:solidFill>
                  <a:srgbClr val="DC2626"/>
                </a:solidFill>
                <a:latin typeface="Arial"/>
              </a:rPr>
              <a:t>Honest scope</a:t>
            </a:r>
          </a:p>
        </p:txBody>
      </p:sp>
      <p:sp>
        <p:nvSpPr>
          <p:cNvPr id="14" name="TextBox 13"/>
          <p:cNvSpPr txBox="1"/>
          <p:nvPr/>
        </p:nvSpPr>
        <p:spPr>
          <a:xfrm>
            <a:off x="6766560" y="1764791"/>
            <a:ext cx="4876495" cy="2962656"/>
          </a:xfrm>
          <a:prstGeom prst="rect">
            <a:avLst/>
          </a:prstGeom>
          <a:noFill/>
        </p:spPr>
        <p:txBody>
          <a:bodyPr wrap="square" anchor="t" lIns="73152" rIns="73152" tIns="36576" bIns="36576">
            <a:spAutoFit/>
          </a:bodyPr>
          <a:lstStyle/>
          <a:p>
            <a:pPr algn="l" marL="292608" indent="-256032">
              <a:spcAft>
                <a:spcPts val="600"/>
              </a:spcAft>
              <a:buChar char="•"/>
            </a:pPr>
            <a:r>
              <a:rPr sz="1600" b="0" i="0">
                <a:solidFill>
                  <a:srgbClr val="0F172A"/>
                </a:solidFill>
                <a:latin typeface="Arial"/>
              </a:rPr>
              <a:t>“Unfair” = costs, speed, expertise; </a:t>
            </a:r>
            <a:r>
              <a:rPr sz="1600" b="1" i="0">
                <a:solidFill>
                  <a:srgbClr val="0F172A"/>
                </a:solidFill>
                <a:latin typeface="Arial"/>
              </a:rPr>
              <a:t>not</a:t>
            </a:r>
            <a:r>
              <a:rPr sz="1600" b="0" i="0">
                <a:solidFill>
                  <a:srgbClr val="0F172A"/>
                </a:solidFill>
                <a:latin typeface="Arial"/>
              </a:rPr>
              <a:t> fraud; no accusation against Kalshi</a:t>
            </a:r>
          </a:p>
          <a:p>
            <a:pPr algn="l" marL="292608" indent="-256032">
              <a:spcAft>
                <a:spcPts val="600"/>
              </a:spcAft>
              <a:buChar char="•"/>
            </a:pPr>
            <a:r>
              <a:rPr sz="1600" b="0" i="0">
                <a:solidFill>
                  <a:srgbClr val="0F172A"/>
                </a:solidFill>
                <a:latin typeface="Arial"/>
              </a:rPr>
              <a:t>Anchor and reviewer designed after seeing Feb–Apr; walk-forward and play-offs are the honest tests</a:t>
            </a:r>
          </a:p>
          <a:p>
            <a:pPr algn="l" marL="292608" indent="-256032">
              <a:spcAft>
                <a:spcPts val="600"/>
              </a:spcAft>
              <a:buChar char="•"/>
            </a:pPr>
            <a:r>
              <a:rPr sz="1600" b="0" i="0">
                <a:solidFill>
                  <a:srgbClr val="0F172A"/>
                </a:solidFill>
                <a:latin typeface="Arial"/>
              </a:rPr>
              <a:t>One season, inactive lists as our news; paper money</a:t>
            </a:r>
          </a:p>
        </p:txBody>
      </p:sp>
      <p:sp>
        <p:nvSpPr>
          <p:cNvPr id="15" name="TextBox 14"/>
          <p:cNvSpPr txBox="1"/>
          <p:nvPr/>
        </p:nvSpPr>
        <p:spPr>
          <a:xfrm>
            <a:off x="457200" y="4983480"/>
            <a:ext cx="11277295" cy="1188720"/>
          </a:xfrm>
          <a:prstGeom prst="rect">
            <a:avLst/>
          </a:prstGeom>
          <a:noFill/>
        </p:spPr>
        <p:txBody>
          <a:bodyPr wrap="square" anchor="ctr" lIns="73152" rIns="73152" tIns="36576" bIns="36576">
            <a:spAutoFit/>
          </a:bodyPr>
          <a:lstStyle/>
          <a:p>
            <a:pPr algn="ctr">
              <a:spcAft>
                <a:spcPts val="0"/>
              </a:spcAft>
            </a:pPr>
            <a:r>
              <a:rPr sz="4000" b="1" i="0">
                <a:solidFill>
                  <a:srgbClr val="1E293B"/>
                </a:solidFill>
                <a:latin typeface="Arial"/>
              </a:rPr>
              <a:t>Thank you.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
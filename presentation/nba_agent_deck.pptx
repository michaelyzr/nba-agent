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Group 12. Our project starts from a consumer problem: sports betting and prediction markets are now everywhere, people want to understand them, the markets are structurally tilted against them, and betting harms well-being. We built an AI agent to test how tilted the game is, and turned what we learned into a product that educates and protects.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parts. First, consumers want to learn: since a 2018 US Supreme Court ruling, 38 US states have legalised sports betting, and the Lancet Public Health Commission estimates 46% of adults worldwide gambled in the past year, yet few users understand how prices, fees and spreads work. Second, the markets are structurally unfair, which is what we measured: about 5.0% cost per trade, 91% of the price move before the public news, the market beats our model, and never trading wins. Third, external research shows betting harms well-being: the Commission estimates 80M adults have gambling disorder or problem gambling; Hollenbeck, Larsen and Proserpio find legal online betting lowers credit scores by 2.75 points and raises bankruptcies by about 10%; Baker and co-authors find each dollar of online betting cuts investment by about $0.99. References: Wardle H. et al., The Lancet Public Health Commission on gambling, Lancet Public Health 2024; 9: e950–94. Hollenbeck B., Larsen P., Proserpio D., The Financial Consequences of Legalized Sports Gambling, SSRN 4903302, 2024, revised 2025. Baker S.R., Balthrop J., Johnson M.J., Kotter J.D., Pisciotta K., Gambling Away Stability: Sports Betting's Impact on Vulnerable Households, NBER Working Paper 33108, 2024.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our research question: can a consumer, even one armed with an AI agent and public news, beat the market? We built the strongest consumer we could: public news, trained models including a neural net trained on the market's own moves, an LLM-capable agent loop, risk limits and rules learned through a backtest gate, graded on a full season of real Kalshi prices. The answer, tested with confidence intervals, is no: never trading wins. So the product's job is to educate and protect.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Briefly, the system. Public data on the left; models trained once; a replay that walks the season day by day and only shows the agent what was public at that moment; then the agent and its outputs. Because the replay uses recorded prices, every trade pays the real ask and the real Kalshi fee, which is what lets us measure what a consumer would actually face.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costs. One hour before tip a $20 order pays half the bid-ask spread plus the Kalshi fee. On average that is 1.92 cents per contract, 5.0% of the price, and 9–14% on cheap contracts. You must beat the price by that much just to break even. On the right, our best agent would have made +$36 at the mid but lost −$32 after costs. Even being very selective, 74 trades out of 771 decision points, only 27 (36%) beat or matched the closing price.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speed. On the 193 test games where the inactive list changed our win model by at least a point, the price had already moved 1.80 points in the news direction before the list was public, and only 0.18 after. About 91% of the move happened before a retail user reading the list could act.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expertise. On 501 test games our win model's Brier score one hour before tip is 0.186, against 0.164 for the market at the same moment; lower is better. When they disagree by more than five points, the market is right in both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we trained M6, a neural network whose only job is to predict how the price moves between our decision time and tip-off, using the market's own past reactions. It cannot beat the simplest guess, that the price will not move: 0.867 cents average error against 0.833, and R squared about zero on both test and holdout. After the inactive list the price moves only about 2.5% of what our win model implies. The M6 agent therefore makes no trades; forced to trade, it loses −$652. The price already contains the public information; what is left for the consumer is the cost.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money over time, after fees, one line per strategy; the dashed black line at zero is never trading. Left is the February-to-April test period, right the walk-forward season. Read it like this. The red raw model, which trades whenever its estimate differs from the price, falls steadily: −$2,087 on 366 trades in the test period, −$2,475 over the season. That steady slope is costs: every trade pays the spread and the fee, and there is no edge to pay them back. Orange, the agent without learning, trades less and falls less, −$247. Blue, the full agent, learned rules that mostly say do not trade, so its line flattens near zero, −$32, after dipping to −$131. The M6 agent made no trades, so it sits on zero. Learning does not find profit; it flattens the line by trading less. The dotted lines are closing-line value: below zero for everyone, so the agent paid worse than the closing price. No strategy ends above never trading; the next slide tests whether the gaps are more than luck.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the honest test. We re-ran the whole season walk-forward, retraining the win model every month, with day-clustered bootstrap confidence intervals. Mean closing-line value is below zero for every setup, and every interval lies entirely below zero. The full agent's −$25 is indistinguishable from never trading, p 0.53; the raw model loses −$2,475. The market anchor is a real improvement, +$2,450 with p 0.002, but learning only means trading less. On the play-off holdout the full agent made no trades at all.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back to the problem: the product educates and protects instead of encouraging bets. The agent passes by default: it declined about 90% of decision points, and on the play-off holdout it did not trade at all. Retail briefs show the bid and ask next to our estimate, and when there is no order they say why. The Coach shows the full break-even after spread and fee. Risk limits and banned words are code the LLM cannot override; all 9 / 9 planted violations were blocked. Even the learned rules ended up protective.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Coach turns this evidence into lessons. At a chosen moment it explains the game using only what was public and shows the break-even after spread and fee. Lesson cards appear when relevant: price is a probability, costs move your break-even, news may be priced in, long shots look cheap. Users make a paper call and see the close and what the agent did. Paper money only.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be precise: unfair here means structural disadvantages, namely costs, speed and expertise. It does not mean manipulation or fraud, and we make no accusation against Kalshi. One disclosure: we designed the market anchor and the reviewer after seeing the first February-to-April results, so that window is not a clean holdout. That is why the walk-forward season and the untouched play-off holdout are our headline tests. Other caveats: one season, game-winner markets only, a proxy news timestamp, and long-shot bias was not clearly supported in our data. The well-being numbers on the problem slide are published research, not our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demo, focused on protection. On the replayed night, watch the agent see the news, compare its estimate with the bid and ask, and usually decline with a reason. In the Coach, I'll make a paper call and compare it with the close. Then a quick look at the learned rules and planted violations being blocked. If anything fails, we have a backup recording.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recommendations follow from the evidence. Before any order, show the all-in cost and the break-even probability, not just the price. Warn by default when news is likely already priced in. Put education, like our Coach, in front of the first trade, with sensible default limits, and, as the Lancet Commission argues, treat betting harm as a public-health issue. For our own work: enforce a daily-loss stop, use timestamped injury reports, and extend to player-prop markets.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60520"/>
            <a:ext cx="12191695" cy="73152"/>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005840"/>
            <a:ext cx="10545775" cy="1828800"/>
          </a:xfrm>
          <a:prstGeom prst="rect">
            <a:avLst/>
          </a:prstGeom>
          <a:noFill/>
        </p:spPr>
        <p:txBody>
          <a:bodyPr wrap="square" anchor="t" lIns="73152" rIns="73152" tIns="36576" bIns="36576">
            <a:spAutoFit/>
          </a:bodyPr>
          <a:lstStyle/>
          <a:p>
            <a:pPr algn="l">
              <a:spcAft>
                <a:spcPts val="800"/>
              </a:spcAft>
            </a:pPr>
            <a:r>
              <a:rPr sz="4400" b="1" i="0">
                <a:solidFill>
                  <a:srgbClr val="FFFFFF"/>
                </a:solidFill>
                <a:latin typeface="Arial"/>
              </a:rPr>
              <a:t>Betting markets are tilted against consumers</a:t>
            </a:r>
          </a:p>
        </p:txBody>
      </p:sp>
      <p:sp>
        <p:nvSpPr>
          <p:cNvPr id="5" name="TextBox 4"/>
          <p:cNvSpPr txBox="1"/>
          <p:nvPr/>
        </p:nvSpPr>
        <p:spPr>
          <a:xfrm>
            <a:off x="822960" y="2834640"/>
            <a:ext cx="10545775" cy="1188720"/>
          </a:xfrm>
          <a:prstGeom prst="rect">
            <a:avLst/>
          </a:prstGeom>
          <a:noFill/>
        </p:spPr>
        <p:txBody>
          <a:bodyPr wrap="square" anchor="t" lIns="73152" rIns="73152" tIns="36576" bIns="36576">
            <a:spAutoFit/>
          </a:bodyPr>
          <a:lstStyle/>
          <a:p>
            <a:pPr algn="l">
              <a:spcAft>
                <a:spcPts val="800"/>
              </a:spcAft>
            </a:pPr>
            <a:r>
              <a:rPr sz="2400" b="0" i="0">
                <a:solidFill>
                  <a:srgbClr val="CBD5E1"/>
                </a:solidFill>
                <a:latin typeface="Arial"/>
              </a:rPr>
              <a:t>An AI agent that tests it on a full NBA season, and a product that teaches it</a:t>
            </a:r>
          </a:p>
        </p:txBody>
      </p:sp>
      <p:sp>
        <p:nvSpPr>
          <p:cNvPr id="6" name="TextBox 5"/>
          <p:cNvSpPr txBox="1"/>
          <p:nvPr/>
        </p:nvSpPr>
        <p:spPr>
          <a:xfrm>
            <a:off x="822960" y="4434840"/>
            <a:ext cx="10545775" cy="1737360"/>
          </a:xfrm>
          <a:prstGeom prst="rect">
            <a:avLst/>
          </a:prstGeom>
          <a:noFill/>
        </p:spPr>
        <p:txBody>
          <a:bodyPr wrap="square" anchor="t" lIns="73152" rIns="73152" tIns="36576" bIns="36576">
            <a:spAutoFit/>
          </a:bodyPr>
          <a:lstStyle/>
          <a:p>
            <a:pPr algn="l">
              <a:spcAft>
                <a:spcPts val="800"/>
              </a:spcAft>
            </a:pPr>
            <a:r>
              <a:rPr sz="2000" b="0" i="0">
                <a:solidFill>
                  <a:srgbClr val="FFFFFF"/>
                </a:solidFill>
                <a:latin typeface="Arial"/>
              </a:rPr>
              <a:t>Market-Graded Learning for NBA Game-Impact Intelligence</a:t>
            </a:r>
          </a:p>
          <a:p>
            <a:pPr algn="l">
              <a:spcAft>
                <a:spcPts val="800"/>
              </a:spcAft>
            </a:pPr>
            <a:r>
              <a:rPr sz="2000" b="0" i="0">
                <a:solidFill>
                  <a:srgbClr val="FFFFFF"/>
                </a:solidFill>
                <a:latin typeface="Arial"/>
              </a:rPr>
              <a:t>DASC7606C (COMP7606) · Group 12 · Track 2: Agentic Framework Design</a:t>
            </a:r>
          </a:p>
          <a:p>
            <a:pPr algn="l">
              <a:spcAft>
                <a:spcPts val="800"/>
              </a:spcAft>
            </a:pPr>
            <a:r>
              <a:rPr sz="2000" b="0" i="0">
                <a:solidFill>
                  <a:srgbClr val="FFFFFF"/>
                </a:solidFill>
                <a:latin typeface="Arial"/>
              </a:rPr>
              <a:t>Presenter: Ngan Tsz Sui · Friday 9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The problem: three things consumers face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2</a:t>
            </a:r>
          </a:p>
        </p:txBody>
      </p:sp>
      <p:sp>
        <p:nvSpPr>
          <p:cNvPr id="7" name="Rounded Rectangle 6"/>
          <p:cNvSpPr/>
          <p:nvPr/>
        </p:nvSpPr>
        <p:spPr>
          <a:xfrm>
            <a:off x="457200" y="1234439"/>
            <a:ext cx="3606698" cy="3246120"/>
          </a:xfrm>
          <a:prstGeom prst="roundRect">
            <a:avLst>
              <a:gd name="adj" fmla="val 6000"/>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2461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3332378" cy="457200"/>
          </a:xfrm>
          <a:prstGeom prst="rect">
            <a:avLst/>
          </a:prstGeom>
          <a:noFill/>
        </p:spPr>
        <p:txBody>
          <a:bodyPr wrap="square" anchor="t" lIns="73152" rIns="73152" tIns="36576" bIns="36576">
            <a:spAutoFit/>
          </a:bodyPr>
          <a:lstStyle/>
          <a:p>
            <a:pPr algn="l">
              <a:spcAft>
                <a:spcPts val="0"/>
              </a:spcAft>
            </a:pPr>
            <a:r>
              <a:rPr sz="2000" b="1" i="0">
                <a:solidFill>
                  <a:srgbClr val="2563EB"/>
                </a:solidFill>
                <a:latin typeface="Arial"/>
              </a:rPr>
              <a:t>1  People want to learn</a:t>
            </a:r>
          </a:p>
        </p:txBody>
      </p:sp>
      <p:sp>
        <p:nvSpPr>
          <p:cNvPr id="10" name="TextBox 9"/>
          <p:cNvSpPr txBox="1"/>
          <p:nvPr/>
        </p:nvSpPr>
        <p:spPr>
          <a:xfrm>
            <a:off x="640080" y="1764791"/>
            <a:ext cx="3332378" cy="26426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Mainstream: legal in 38 US states since 2018 ¹</a:t>
            </a:r>
          </a:p>
          <a:p>
            <a:pPr algn="l" marL="292608" indent="-256032">
              <a:spcAft>
                <a:spcPts val="600"/>
              </a:spcAft>
              <a:buChar char="•"/>
            </a:pPr>
            <a:r>
              <a:rPr sz="1800" b="0" i="0">
                <a:solidFill>
                  <a:srgbClr val="0F172A"/>
                </a:solidFill>
                <a:latin typeface="Arial"/>
              </a:rPr>
              <a:t>46% of adults worldwide gambled last year ²</a:t>
            </a:r>
          </a:p>
          <a:p>
            <a:pPr algn="l" marL="292608" indent="-256032">
              <a:spcAft>
                <a:spcPts val="600"/>
              </a:spcAft>
              <a:buChar char="•"/>
            </a:pPr>
            <a:r>
              <a:rPr sz="1800" b="0" i="0">
                <a:solidFill>
                  <a:srgbClr val="0F172A"/>
                </a:solidFill>
                <a:latin typeface="Arial"/>
              </a:rPr>
              <a:t>Few understand prices, fees and spreads</a:t>
            </a:r>
          </a:p>
        </p:txBody>
      </p:sp>
      <p:sp>
        <p:nvSpPr>
          <p:cNvPr id="11" name="Rounded Rectangle 10"/>
          <p:cNvSpPr/>
          <p:nvPr/>
        </p:nvSpPr>
        <p:spPr>
          <a:xfrm>
            <a:off x="4292498" y="1234439"/>
            <a:ext cx="3606698" cy="324612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2498" y="1234439"/>
            <a:ext cx="109728" cy="32461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75378" y="1307592"/>
            <a:ext cx="3332378" cy="457200"/>
          </a:xfrm>
          <a:prstGeom prst="rect">
            <a:avLst/>
          </a:prstGeom>
          <a:noFill/>
        </p:spPr>
        <p:txBody>
          <a:bodyPr wrap="square" anchor="t" lIns="73152" rIns="73152" tIns="36576" bIns="36576">
            <a:spAutoFit/>
          </a:bodyPr>
          <a:lstStyle/>
          <a:p>
            <a:pPr algn="l">
              <a:spcAft>
                <a:spcPts val="0"/>
              </a:spcAft>
            </a:pPr>
            <a:r>
              <a:rPr sz="2000" b="1" i="0">
                <a:solidFill>
                  <a:srgbClr val="EA580C"/>
                </a:solidFill>
                <a:latin typeface="Arial"/>
              </a:rPr>
              <a:t>2  Markets are tilted</a:t>
            </a:r>
          </a:p>
        </p:txBody>
      </p:sp>
      <p:sp>
        <p:nvSpPr>
          <p:cNvPr id="14" name="TextBox 13"/>
          <p:cNvSpPr txBox="1"/>
          <p:nvPr/>
        </p:nvSpPr>
        <p:spPr>
          <a:xfrm>
            <a:off x="4475378" y="1764791"/>
            <a:ext cx="3332378" cy="26426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~5.0% cost on every trade</a:t>
            </a:r>
          </a:p>
          <a:p>
            <a:pPr algn="l" marL="292608" indent="-256032">
              <a:spcAft>
                <a:spcPts val="600"/>
              </a:spcAft>
              <a:buChar char="•"/>
            </a:pPr>
            <a:r>
              <a:rPr sz="1800" b="0" i="0">
                <a:solidFill>
                  <a:srgbClr val="0F172A"/>
                </a:solidFill>
                <a:latin typeface="Arial"/>
              </a:rPr>
              <a:t>91% of the price move comes before the public news</a:t>
            </a:r>
          </a:p>
          <a:p>
            <a:pPr algn="l" marL="292608" indent="-256032">
              <a:spcAft>
                <a:spcPts val="600"/>
              </a:spcAft>
              <a:buChar char="•"/>
            </a:pPr>
            <a:r>
              <a:rPr sz="1800" b="0" i="0">
                <a:solidFill>
                  <a:srgbClr val="0F172A"/>
                </a:solidFill>
                <a:latin typeface="Arial"/>
              </a:rPr>
              <a:t>The market beats our model; never trading wins</a:t>
            </a:r>
          </a:p>
        </p:txBody>
      </p:sp>
      <p:sp>
        <p:nvSpPr>
          <p:cNvPr id="15" name="Rounded Rectangle 14"/>
          <p:cNvSpPr/>
          <p:nvPr/>
        </p:nvSpPr>
        <p:spPr>
          <a:xfrm>
            <a:off x="8127796" y="1234439"/>
            <a:ext cx="3606698" cy="3246120"/>
          </a:xfrm>
          <a:prstGeom prst="roundRect">
            <a:avLst>
              <a:gd name="adj" fmla="val 6000"/>
            </a:avLst>
          </a:prstGeom>
          <a:solidFill>
            <a:srgbClr val="FFFFFF"/>
          </a:solidFill>
          <a:ln w="1587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27796" y="1234439"/>
            <a:ext cx="109728" cy="32461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10676" y="1307592"/>
            <a:ext cx="3332378" cy="457200"/>
          </a:xfrm>
          <a:prstGeom prst="rect">
            <a:avLst/>
          </a:prstGeom>
          <a:noFill/>
        </p:spPr>
        <p:txBody>
          <a:bodyPr wrap="square" anchor="t" lIns="73152" rIns="73152" tIns="36576" bIns="36576">
            <a:spAutoFit/>
          </a:bodyPr>
          <a:lstStyle/>
          <a:p>
            <a:pPr algn="l">
              <a:spcAft>
                <a:spcPts val="0"/>
              </a:spcAft>
            </a:pPr>
            <a:r>
              <a:rPr sz="2000" b="1" i="0">
                <a:solidFill>
                  <a:srgbClr val="DC2626"/>
                </a:solidFill>
                <a:latin typeface="Arial"/>
              </a:rPr>
              <a:t>3  Betting causes harm</a:t>
            </a:r>
          </a:p>
        </p:txBody>
      </p:sp>
      <p:sp>
        <p:nvSpPr>
          <p:cNvPr id="18" name="TextBox 17"/>
          <p:cNvSpPr txBox="1"/>
          <p:nvPr/>
        </p:nvSpPr>
        <p:spPr>
          <a:xfrm>
            <a:off x="8310676" y="1764791"/>
            <a:ext cx="3332378" cy="26426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~80M adults with gambling disorder or problem gambling ²</a:t>
            </a:r>
          </a:p>
          <a:p>
            <a:pPr algn="l" marL="292608" indent="-256032">
              <a:spcAft>
                <a:spcPts val="600"/>
              </a:spcAft>
              <a:buChar char="•"/>
            </a:pPr>
            <a:r>
              <a:rPr sz="1800" b="0" i="0">
                <a:solidFill>
                  <a:srgbClr val="0F172A"/>
                </a:solidFill>
                <a:latin typeface="Arial"/>
              </a:rPr>
              <a:t>Online betting: credit scores −2.75 pts, bankruptcies +~10% ¹</a:t>
            </a:r>
          </a:p>
          <a:p>
            <a:pPr algn="l" marL="292608" indent="-256032">
              <a:spcAft>
                <a:spcPts val="600"/>
              </a:spcAft>
              <a:buChar char="•"/>
            </a:pPr>
            <a:r>
              <a:rPr sz="1800" b="0" i="0">
                <a:solidFill>
                  <a:srgbClr val="0F172A"/>
                </a:solidFill>
                <a:latin typeface="Arial"/>
              </a:rPr>
              <a:t>$1 of online betting cuts investment ~$0.99 ³</a:t>
            </a:r>
          </a:p>
        </p:txBody>
      </p:sp>
      <p:sp>
        <p:nvSpPr>
          <p:cNvPr id="19" name="TextBox 18"/>
          <p:cNvSpPr txBox="1"/>
          <p:nvPr/>
        </p:nvSpPr>
        <p:spPr>
          <a:xfrm>
            <a:off x="4292498" y="4526280"/>
            <a:ext cx="3606698" cy="411480"/>
          </a:xfrm>
          <a:prstGeom prst="rect">
            <a:avLst/>
          </a:prstGeom>
          <a:noFill/>
        </p:spPr>
        <p:txBody>
          <a:bodyPr wrap="square" anchor="t" lIns="73152" rIns="73152" tIns="36576" bIns="36576">
            <a:spAutoFit/>
          </a:bodyPr>
          <a:lstStyle/>
          <a:p>
            <a:pPr algn="ctr">
              <a:spcAft>
                <a:spcPts val="800"/>
              </a:spcAft>
            </a:pPr>
            <a:r>
              <a:rPr sz="1400" b="0" i="1">
                <a:solidFill>
                  <a:srgbClr val="EA580C"/>
                </a:solidFill>
                <a:latin typeface="Arial"/>
              </a:rPr>
              <a:t>Our measurements</a:t>
            </a:r>
          </a:p>
        </p:txBody>
      </p:sp>
      <p:sp>
        <p:nvSpPr>
          <p:cNvPr id="20" name="TextBox 19"/>
          <p:cNvSpPr txBox="1"/>
          <p:nvPr/>
        </p:nvSpPr>
        <p:spPr>
          <a:xfrm>
            <a:off x="8127796" y="4526280"/>
            <a:ext cx="3606698" cy="411480"/>
          </a:xfrm>
          <a:prstGeom prst="rect">
            <a:avLst/>
          </a:prstGeom>
          <a:noFill/>
        </p:spPr>
        <p:txBody>
          <a:bodyPr wrap="square" anchor="t" lIns="73152" rIns="73152" tIns="36576" bIns="36576">
            <a:spAutoFit/>
          </a:bodyPr>
          <a:lstStyle/>
          <a:p>
            <a:pPr algn="ctr">
              <a:spcAft>
                <a:spcPts val="800"/>
              </a:spcAft>
            </a:pPr>
            <a:r>
              <a:rPr sz="1400" b="0" i="1">
                <a:solidFill>
                  <a:srgbClr val="DC2626"/>
                </a:solidFill>
                <a:latin typeface="Arial"/>
              </a:rPr>
              <a:t>External research</a:t>
            </a:r>
          </a:p>
        </p:txBody>
      </p:sp>
      <p:sp>
        <p:nvSpPr>
          <p:cNvPr id="21" name="Rounded Rectangle 20"/>
          <p:cNvSpPr/>
          <p:nvPr/>
        </p:nvSpPr>
        <p:spPr>
          <a:xfrm>
            <a:off x="457200" y="5074920"/>
            <a:ext cx="11277295" cy="64008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074920"/>
            <a:ext cx="11094415" cy="640080"/>
          </a:xfrm>
          <a:prstGeom prst="rect">
            <a:avLst/>
          </a:prstGeom>
          <a:noFill/>
        </p:spPr>
        <p:txBody>
          <a:bodyPr wrap="square" anchor="ctr" lIns="73152" rIns="73152" tIns="36576" bIns="36576">
            <a:spAutoFit/>
          </a:bodyPr>
          <a:lstStyle/>
          <a:p>
            <a:pPr algn="l">
              <a:spcAft>
                <a:spcPts val="0"/>
              </a:spcAft>
            </a:pPr>
            <a:r>
              <a:rPr sz="2200" b="0" i="0">
                <a:solidFill>
                  <a:srgbClr val="0F172A"/>
                </a:solidFill>
                <a:latin typeface="Arial"/>
              </a:rPr>
              <a:t>Consumers need education and protection, not betting tips</a:t>
            </a:r>
          </a:p>
        </p:txBody>
      </p:sp>
      <p:sp>
        <p:nvSpPr>
          <p:cNvPr id="23" name="TextBox 22"/>
          <p:cNvSpPr txBox="1"/>
          <p:nvPr/>
        </p:nvSpPr>
        <p:spPr>
          <a:xfrm>
            <a:off x="457200" y="5897880"/>
            <a:ext cx="11277295" cy="457200"/>
          </a:xfrm>
          <a:prstGeom prst="rect">
            <a:avLst/>
          </a:prstGeom>
          <a:noFill/>
        </p:spPr>
        <p:txBody>
          <a:bodyPr wrap="square" anchor="t" lIns="73152" rIns="73152" tIns="36576" bIns="36576">
            <a:spAutoFit/>
          </a:bodyPr>
          <a:lstStyle/>
          <a:p>
            <a:pPr algn="l">
              <a:spcAft>
                <a:spcPts val="800"/>
              </a:spcAft>
            </a:pPr>
            <a:r>
              <a:rPr sz="1300" b="0" i="0">
                <a:solidFill>
                  <a:srgbClr val="64748B"/>
                </a:solidFill>
                <a:latin typeface="Arial"/>
              </a:rPr>
              <a:t>¹ Hollenbeck, Larsen &amp; Proserpio 2024 (SSRN)   ² Lancet Public Health Commission on gambling 2024   ³ Baker et al. 2024 (NBER WP 33108)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Research question</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3</a:t>
            </a:r>
          </a:p>
        </p:txBody>
      </p:sp>
      <p:sp>
        <p:nvSpPr>
          <p:cNvPr id="7" name="Rounded Rectangle 6"/>
          <p:cNvSpPr/>
          <p:nvPr/>
        </p:nvSpPr>
        <p:spPr>
          <a:xfrm>
            <a:off x="457200" y="1234439"/>
            <a:ext cx="11277295" cy="1051560"/>
          </a:xfrm>
          <a:prstGeom prst="roundRect">
            <a:avLst>
              <a:gd name="adj" fmla="val 12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234439"/>
            <a:ext cx="11094415" cy="1051560"/>
          </a:xfrm>
          <a:prstGeom prst="rect">
            <a:avLst/>
          </a:prstGeom>
          <a:noFill/>
        </p:spPr>
        <p:txBody>
          <a:bodyPr wrap="square" anchor="ctr" lIns="73152" rIns="73152" tIns="36576" bIns="36576">
            <a:spAutoFit/>
          </a:bodyPr>
          <a:lstStyle/>
          <a:p>
            <a:pPr algn="l">
              <a:spcAft>
                <a:spcPts val="0"/>
              </a:spcAft>
            </a:pPr>
            <a:r>
              <a:rPr sz="2800" b="0" i="0">
                <a:solidFill>
                  <a:srgbClr val="1E293B"/>
                </a:solidFill>
                <a:latin typeface="Arial"/>
              </a:rPr>
              <a:t>Can a consumer, even one armed with an AI agent and public news, beat the market?</a:t>
            </a:r>
          </a:p>
        </p:txBody>
      </p:sp>
      <p:sp>
        <p:nvSpPr>
          <p:cNvPr id="9" name="TextBox 8"/>
          <p:cNvSpPr txBox="1"/>
          <p:nvPr/>
        </p:nvSpPr>
        <p:spPr>
          <a:xfrm>
            <a:off x="457200" y="2514600"/>
            <a:ext cx="6309360" cy="3840480"/>
          </a:xfrm>
          <a:prstGeom prst="rect">
            <a:avLst/>
          </a:prstGeom>
          <a:noFill/>
        </p:spPr>
        <p:txBody>
          <a:bodyPr wrap="square" anchor="t" lIns="73152" rIns="73152" tIns="36576" bIns="36576">
            <a:spAutoFit/>
          </a:bodyPr>
          <a:lstStyle/>
          <a:p>
            <a:pPr algn="l">
              <a:spcAft>
                <a:spcPts val="800"/>
              </a:spcAft>
            </a:pPr>
            <a:r>
              <a:rPr sz="1900" b="1" i="0">
                <a:solidFill>
                  <a:srgbClr val="1E293B"/>
                </a:solidFill>
                <a:latin typeface="Arial"/>
              </a:rPr>
              <a:t>We built the strongest consumer we could:</a:t>
            </a:r>
          </a:p>
          <a:p>
            <a:pPr algn="l" marL="292608" indent="-256032">
              <a:spcAft>
                <a:spcPts val="800"/>
              </a:spcAft>
              <a:buChar char="•"/>
            </a:pPr>
            <a:r>
              <a:rPr sz="1900" b="0" i="0">
                <a:solidFill>
                  <a:srgbClr val="0F172A"/>
                </a:solidFill>
                <a:latin typeface="Arial"/>
              </a:rPr>
              <a:t>Public news: ESPN inactive lists and box scores, 3 seasons</a:t>
            </a:r>
          </a:p>
          <a:p>
            <a:pPr algn="l" marL="292608" indent="-256032">
              <a:spcAft>
                <a:spcPts val="800"/>
              </a:spcAft>
              <a:buChar char="•"/>
            </a:pPr>
            <a:r>
              <a:rPr sz="1900" b="0" i="0">
                <a:solidFill>
                  <a:srgbClr val="0F172A"/>
                </a:solidFill>
                <a:latin typeface="Arial"/>
              </a:rPr>
              <a:t>Trained models, incl. a neural net trained on the market's own moves</a:t>
            </a:r>
          </a:p>
          <a:p>
            <a:pPr algn="l" marL="292608" indent="-256032">
              <a:spcAft>
                <a:spcPts val="800"/>
              </a:spcAft>
              <a:buChar char="•"/>
            </a:pPr>
            <a:r>
              <a:rPr sz="1900" b="0" i="0">
                <a:solidFill>
                  <a:srgbClr val="0F172A"/>
                </a:solidFill>
                <a:latin typeface="Arial"/>
              </a:rPr>
              <a:t>LLM-capable LangGraph agent; code risk limits; gated rule learning</a:t>
            </a:r>
          </a:p>
          <a:p>
            <a:pPr algn="l" marL="292608" indent="-256032">
              <a:spcAft>
                <a:spcPts val="800"/>
              </a:spcAft>
              <a:buChar char="•"/>
            </a:pPr>
            <a:r>
              <a:rPr sz="1900" b="0" i="0">
                <a:solidFill>
                  <a:srgbClr val="0F172A"/>
                </a:solidFill>
                <a:latin typeface="Arial"/>
              </a:rPr>
              <a:t>Graded on 1,316 Kalshi games (~3.9M price rows), 2025-26</a:t>
            </a:r>
          </a:p>
        </p:txBody>
      </p:sp>
      <p:sp>
        <p:nvSpPr>
          <p:cNvPr id="10" name="Rounded Rectangle 9"/>
          <p:cNvSpPr/>
          <p:nvPr/>
        </p:nvSpPr>
        <p:spPr>
          <a:xfrm>
            <a:off x="7086600" y="2560320"/>
            <a:ext cx="4647895" cy="274320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60920" y="2697480"/>
            <a:ext cx="4099255" cy="2514600"/>
          </a:xfrm>
          <a:prstGeom prst="rect">
            <a:avLst/>
          </a:prstGeom>
          <a:noFill/>
        </p:spPr>
        <p:txBody>
          <a:bodyPr wrap="square" anchor="t" lIns="73152" rIns="73152" tIns="36576" bIns="36576">
            <a:spAutoFit/>
          </a:bodyPr>
          <a:lstStyle/>
          <a:p>
            <a:pPr algn="l">
              <a:spcAft>
                <a:spcPts val="1400"/>
              </a:spcAft>
            </a:pPr>
            <a:r>
              <a:rPr sz="2200" b="1" i="0">
                <a:solidFill>
                  <a:srgbClr val="FDBA74"/>
                </a:solidFill>
                <a:latin typeface="Arial"/>
              </a:rPr>
              <a:t>Answer: no</a:t>
            </a:r>
          </a:p>
          <a:p>
            <a:pPr algn="l">
              <a:spcAft>
                <a:spcPts val="1400"/>
              </a:spcAft>
            </a:pPr>
            <a:r>
              <a:rPr sz="2200" b="0" i="0">
                <a:solidFill>
                  <a:srgbClr val="FFFFFF"/>
                </a:solidFill>
                <a:latin typeface="Arial"/>
              </a:rPr>
              <a:t>Tested with confidence intervals, never trading wins.</a:t>
            </a:r>
          </a:p>
          <a:p>
            <a:pPr algn="l">
              <a:spcAft>
                <a:spcPts val="1400"/>
              </a:spcAft>
            </a:pPr>
            <a:r>
              <a:rPr sz="2200" b="0" i="0">
                <a:solidFill>
                  <a:srgbClr val="FFFFFF"/>
                </a:solidFill>
                <a:latin typeface="Arial"/>
              </a:rPr>
              <a:t>So the product educates and protects instead.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What we built: a market-graded agent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4</a:t>
            </a:r>
          </a:p>
        </p:txBody>
      </p:sp>
      <p:pic>
        <p:nvPicPr>
          <p:cNvPr id="7" name="Picture 6" descr="product_workflow.png"/>
          <p:cNvPicPr>
            <a:picLocks noChangeAspect="1"/>
          </p:cNvPicPr>
          <p:nvPr/>
        </p:nvPicPr>
        <p:blipFill>
          <a:blip r:embed="rId3"/>
          <a:stretch>
            <a:fillRect/>
          </a:stretch>
        </p:blipFill>
        <p:spPr>
          <a:xfrm>
            <a:off x="1513288" y="1097280"/>
            <a:ext cx="9165119" cy="4480560"/>
          </a:xfrm>
          <a:prstGeom prst="rect">
            <a:avLst/>
          </a:prstGeom>
        </p:spPr>
      </p:pic>
      <p:sp>
        <p:nvSpPr>
          <p:cNvPr id="8" name="TextBox 7"/>
          <p:cNvSpPr txBox="1"/>
          <p:nvPr/>
        </p:nvSpPr>
        <p:spPr>
          <a:xfrm>
            <a:off x="457200" y="5623560"/>
            <a:ext cx="11277295" cy="731520"/>
          </a:xfrm>
          <a:prstGeom prst="rect">
            <a:avLst/>
          </a:prstGeom>
          <a:noFill/>
        </p:spPr>
        <p:txBody>
          <a:bodyPr wrap="square" anchor="t" lIns="73152" rIns="73152" tIns="36576" bIns="36576">
            <a:spAutoFit/>
          </a:bodyPr>
          <a:lstStyle/>
          <a:p>
            <a:pPr algn="ctr">
              <a:spcAft>
                <a:spcPts val="800"/>
              </a:spcAft>
            </a:pPr>
            <a:r>
              <a:rPr sz="1800" b="0" i="0">
                <a:solidFill>
                  <a:srgbClr val="0F172A"/>
                </a:solidFill>
                <a:latin typeface="Arial"/>
              </a:rPr>
              <a:t>Every simulated order pays the recorded ask plus the Kalshi fee, so we measure what a consumer would face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1: costs set a hurdle before you start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5</a:t>
            </a:r>
          </a:p>
        </p:txBody>
      </p:sp>
      <p:pic>
        <p:nvPicPr>
          <p:cNvPr id="7" name="Picture 6" descr="cost_burden.png"/>
          <p:cNvPicPr>
            <a:picLocks noChangeAspect="1"/>
          </p:cNvPicPr>
          <p:nvPr/>
        </p:nvPicPr>
        <p:blipFill>
          <a:blip r:embed="rId3"/>
          <a:stretch>
            <a:fillRect/>
          </a:stretch>
        </p:blipFill>
        <p:spPr>
          <a:xfrm>
            <a:off x="1352397" y="1097280"/>
            <a:ext cx="9486900" cy="3794760"/>
          </a:xfrm>
          <a:prstGeom prst="rect">
            <a:avLst/>
          </a:prstGeom>
        </p:spPr>
      </p:pic>
      <p:sp>
        <p:nvSpPr>
          <p:cNvPr id="8" name="TextBox 7"/>
          <p:cNvSpPr txBox="1"/>
          <p:nvPr/>
        </p:nvSpPr>
        <p:spPr>
          <a:xfrm>
            <a:off x="457200" y="4983480"/>
            <a:ext cx="5547207" cy="1371600"/>
          </a:xfrm>
          <a:prstGeom prst="rect">
            <a:avLst/>
          </a:prstGeom>
          <a:noFill/>
        </p:spPr>
        <p:txBody>
          <a:bodyPr wrap="square" anchor="t" lIns="73152" rIns="73152" tIns="36576" bIns="36576">
            <a:spAutoFit/>
          </a:bodyPr>
          <a:lstStyle/>
          <a:p>
            <a:pPr algn="l" marL="292608" indent="-256032">
              <a:spcAft>
                <a:spcPts val="400"/>
              </a:spcAft>
              <a:buChar char="•"/>
            </a:pPr>
            <a:r>
              <a:rPr sz="1800" b="1" i="0">
                <a:solidFill>
                  <a:srgbClr val="0F172A"/>
                </a:solidFill>
                <a:latin typeface="Arial"/>
              </a:rPr>
              <a:t>1.92¢ per contract</a:t>
            </a:r>
            <a:r>
              <a:rPr sz="1800" b="0" i="0">
                <a:solidFill>
                  <a:srgbClr val="0F172A"/>
                </a:solidFill>
                <a:latin typeface="Arial"/>
              </a:rPr>
              <a:t> = 5.0% of price; </a:t>
            </a:r>
            <a:r>
              <a:rPr sz="1800" b="1" i="0">
                <a:solidFill>
                  <a:srgbClr val="0F172A"/>
                </a:solidFill>
                <a:latin typeface="Arial"/>
              </a:rPr>
              <a:t>9–14%</a:t>
            </a:r>
            <a:r>
              <a:rPr sz="1800" b="0" i="0">
                <a:solidFill>
                  <a:srgbClr val="0F172A"/>
                </a:solidFill>
                <a:latin typeface="Arial"/>
              </a:rPr>
              <a:t> under 20¢</a:t>
            </a:r>
          </a:p>
          <a:p>
            <a:pPr algn="l" marL="292608" indent="-256032">
              <a:spcAft>
                <a:spcPts val="400"/>
              </a:spcAft>
              <a:buChar char="•"/>
            </a:pPr>
            <a:r>
              <a:rPr sz="1800" b="0" i="0">
                <a:solidFill>
                  <a:srgbClr val="0F172A"/>
                </a:solidFill>
                <a:latin typeface="Arial"/>
              </a:rPr>
              <a:t>Best agent, Feb–Apr: +$36 at mid → </a:t>
            </a:r>
            <a:r>
              <a:rPr sz="1800" b="1" i="0">
                <a:solidFill>
                  <a:srgbClr val="0F172A"/>
                </a:solidFill>
                <a:latin typeface="Arial"/>
              </a:rPr>
              <a:t>−$32</a:t>
            </a:r>
            <a:r>
              <a:rPr sz="1800" b="0" i="0">
                <a:solidFill>
                  <a:srgbClr val="0F172A"/>
                </a:solidFill>
                <a:latin typeface="Arial"/>
              </a:rPr>
              <a:t> after costs</a:t>
            </a:r>
          </a:p>
        </p:txBody>
      </p:sp>
      <p:sp>
        <p:nvSpPr>
          <p:cNvPr id="9" name="TextBox 8"/>
          <p:cNvSpPr txBox="1"/>
          <p:nvPr/>
        </p:nvSpPr>
        <p:spPr>
          <a:xfrm>
            <a:off x="6187287" y="4983480"/>
            <a:ext cx="5547207" cy="1371600"/>
          </a:xfrm>
          <a:prstGeom prst="rect">
            <a:avLst/>
          </a:prstGeom>
          <a:noFill/>
        </p:spPr>
        <p:txBody>
          <a:bodyPr wrap="square" anchor="t" lIns="73152" rIns="73152" tIns="36576" bIns="36576">
            <a:spAutoFit/>
          </a:bodyPr>
          <a:lstStyle/>
          <a:p>
            <a:pPr algn="l" marL="292608" indent="-256032">
              <a:spcAft>
                <a:spcPts val="400"/>
              </a:spcAft>
              <a:buChar char="•"/>
            </a:pPr>
            <a:r>
              <a:rPr sz="1800" b="0" i="0">
                <a:solidFill>
                  <a:srgbClr val="0F172A"/>
                </a:solidFill>
                <a:latin typeface="Arial"/>
              </a:rPr>
              <a:t>771 decision points → 153 with gap &gt; 4 pts → </a:t>
            </a:r>
            <a:r>
              <a:rPr sz="1800" b="1" i="0">
                <a:solidFill>
                  <a:srgbClr val="0F172A"/>
                </a:solidFill>
                <a:latin typeface="Arial"/>
              </a:rPr>
              <a:t>74 trades</a:t>
            </a:r>
          </a:p>
          <a:p>
            <a:pPr algn="l" marL="292608" indent="-256032">
              <a:spcAft>
                <a:spcPts val="400"/>
              </a:spcAft>
              <a:buChar char="•"/>
            </a:pPr>
            <a:r>
              <a:rPr sz="1800" b="0" i="0">
                <a:solidFill>
                  <a:srgbClr val="0F172A"/>
                </a:solidFill>
                <a:latin typeface="Arial"/>
              </a:rPr>
              <a:t>Only </a:t>
            </a:r>
            <a:r>
              <a:rPr sz="1800" b="1" i="0">
                <a:solidFill>
                  <a:srgbClr val="0F172A"/>
                </a:solidFill>
                <a:latin typeface="Arial"/>
              </a:rPr>
              <a:t>27 (36%)</a:t>
            </a:r>
            <a:r>
              <a:rPr sz="1800" b="0" i="0">
                <a:solidFill>
                  <a:srgbClr val="0F172A"/>
                </a:solidFill>
                <a:latin typeface="Arial"/>
              </a:rPr>
              <a:t> beat or matched the close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2: the price moves before the news reaches you</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6</a:t>
            </a:r>
          </a:p>
        </p:txBody>
      </p:sp>
      <p:pic>
        <p:nvPicPr>
          <p:cNvPr id="7" name="Picture 6" descr="price_discovery.png"/>
          <p:cNvPicPr>
            <a:picLocks noChangeAspect="1"/>
          </p:cNvPicPr>
          <p:nvPr/>
        </p:nvPicPr>
        <p:blipFill>
          <a:blip r:embed="rId3"/>
          <a:stretch>
            <a:fillRect/>
          </a:stretch>
        </p:blipFill>
        <p:spPr>
          <a:xfrm>
            <a:off x="895197" y="1097280"/>
            <a:ext cx="10401299" cy="4160520"/>
          </a:xfrm>
          <a:prstGeom prst="rect">
            <a:avLst/>
          </a:prstGeom>
        </p:spPr>
      </p:pic>
      <p:sp>
        <p:nvSpPr>
          <p:cNvPr id="8" name="TextBox 7"/>
          <p:cNvSpPr txBox="1"/>
          <p:nvPr/>
        </p:nvSpPr>
        <p:spPr>
          <a:xfrm>
            <a:off x="457200" y="5349240"/>
            <a:ext cx="11277295" cy="1005840"/>
          </a:xfrm>
          <a:prstGeom prst="rect">
            <a:avLst/>
          </a:prstGeom>
          <a:noFill/>
        </p:spPr>
        <p:txBody>
          <a:bodyPr wrap="square" anchor="t" lIns="73152" rIns="73152" tIns="36576" bIns="36576">
            <a:spAutoFit/>
          </a:bodyPr>
          <a:lstStyle/>
          <a:p>
            <a:pPr algn="l" marL="292608" indent="-256032">
              <a:spcAft>
                <a:spcPts val="400"/>
              </a:spcAft>
              <a:buChar char="•"/>
            </a:pPr>
            <a:r>
              <a:rPr sz="1800" b="1" i="0">
                <a:solidFill>
                  <a:srgbClr val="0F172A"/>
                </a:solidFill>
                <a:latin typeface="Arial"/>
              </a:rPr>
              <a:t>91%</a:t>
            </a:r>
            <a:r>
              <a:rPr sz="1800" b="0" i="0">
                <a:solidFill>
                  <a:srgbClr val="0F172A"/>
                </a:solidFill>
                <a:latin typeface="Arial"/>
              </a:rPr>
              <a:t> of the news-direction move was already in the price when the list was public (+1.80 vs +0.18 pts, 193 test games)</a:t>
            </a:r>
          </a:p>
          <a:p>
            <a:pPr algn="l" marL="292608" indent="-256032">
              <a:spcAft>
                <a:spcPts val="400"/>
              </a:spcAft>
              <a:buChar char="•"/>
            </a:pPr>
            <a:r>
              <a:rPr sz="1800" b="0" i="0">
                <a:solidFill>
                  <a:srgbClr val="0F172A"/>
                </a:solidFill>
                <a:latin typeface="Arial"/>
              </a:rPr>
              <a:t>List stamped tip − 30 min: our proxy for when a retail user sees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3: the market beats our model</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7</a:t>
            </a:r>
          </a:p>
        </p:txBody>
      </p:sp>
      <p:pic>
        <p:nvPicPr>
          <p:cNvPr id="7" name="Picture 6" descr="m4_vs_market.png"/>
          <p:cNvPicPr>
            <a:picLocks noChangeAspect="1"/>
          </p:cNvPicPr>
          <p:nvPr/>
        </p:nvPicPr>
        <p:blipFill>
          <a:blip r:embed="rId3"/>
          <a:stretch>
            <a:fillRect/>
          </a:stretch>
        </p:blipFill>
        <p:spPr>
          <a:xfrm>
            <a:off x="457200" y="1209821"/>
            <a:ext cx="6949440" cy="5078436"/>
          </a:xfrm>
          <a:prstGeom prst="rect">
            <a:avLst/>
          </a:prstGeom>
        </p:spPr>
      </p:pic>
      <p:sp>
        <p:nvSpPr>
          <p:cNvPr id="8" name="TextBox 7"/>
          <p:cNvSpPr txBox="1"/>
          <p:nvPr/>
        </p:nvSpPr>
        <p:spPr>
          <a:xfrm>
            <a:off x="7589520" y="1280160"/>
            <a:ext cx="4144975" cy="5120640"/>
          </a:xfrm>
          <a:prstGeom prst="rect">
            <a:avLst/>
          </a:prstGeom>
          <a:noFill/>
        </p:spPr>
        <p:txBody>
          <a:bodyPr wrap="square" anchor="t" lIns="73152" rIns="73152" tIns="36576" bIns="36576">
            <a:spAutoFit/>
          </a:bodyPr>
          <a:lstStyle/>
          <a:p>
            <a:pPr algn="l" marL="292608" indent="-256032">
              <a:spcAft>
                <a:spcPts val="1000"/>
              </a:spcAft>
              <a:buChar char="•"/>
            </a:pPr>
            <a:r>
              <a:rPr sz="1900" b="0" i="0">
                <a:solidFill>
                  <a:srgbClr val="0F172A"/>
                </a:solidFill>
                <a:latin typeface="Arial"/>
              </a:rPr>
              <a:t>Brier, 501 test games, 1 h before tip: </a:t>
            </a:r>
            <a:r>
              <a:rPr sz="1900" b="1" i="0">
                <a:solidFill>
                  <a:srgbClr val="0F172A"/>
                </a:solidFill>
                <a:latin typeface="Arial"/>
              </a:rPr>
              <a:t>market 0.164</a:t>
            </a:r>
            <a:r>
              <a:rPr sz="1900" b="0" i="0">
                <a:solidFill>
                  <a:srgbClr val="0F172A"/>
                </a:solidFill>
                <a:latin typeface="Arial"/>
              </a:rPr>
              <a:t>, our model 0.186</a:t>
            </a:r>
          </a:p>
          <a:p>
            <a:pPr algn="l" marL="292608" indent="-256032">
              <a:spcAft>
                <a:spcPts val="1000"/>
              </a:spcAft>
              <a:buChar char="•"/>
            </a:pPr>
            <a:r>
              <a:rPr sz="1900" b="0" i="0">
                <a:solidFill>
                  <a:srgbClr val="0F172A"/>
                </a:solidFill>
                <a:latin typeface="Arial"/>
              </a:rPr>
              <a:t>Disagree by more than 5 pts, and the market is right:</a:t>
            </a:r>
          </a:p>
          <a:p>
            <a:pPr algn="l" marL="612647" indent="-256032">
              <a:spcAft>
                <a:spcPts val="1000"/>
              </a:spcAft>
              <a:buChar char="–"/>
            </a:pPr>
            <a:r>
              <a:rPr sz="1700" b="0" i="0">
                <a:solidFill>
                  <a:srgbClr val="0F172A"/>
                </a:solidFill>
                <a:latin typeface="Arial"/>
              </a:rPr>
              <a:t>model higher on home: model 48%, market 35%, actual 34%</a:t>
            </a:r>
          </a:p>
          <a:p>
            <a:pPr algn="l" marL="612647" indent="-256032">
              <a:spcAft>
                <a:spcPts val="1000"/>
              </a:spcAft>
              <a:buChar char="–"/>
            </a:pPr>
            <a:r>
              <a:rPr sz="1700" b="0" i="0">
                <a:solidFill>
                  <a:srgbClr val="0F172A"/>
                </a:solidFill>
                <a:latin typeface="Arial"/>
              </a:rPr>
              <a:t>model lower on home: model 61%, market 73%, actual 77%</a:t>
            </a:r>
          </a:p>
          <a:p>
            <a:pPr algn="l" marL="292608" indent="-256032">
              <a:spcAft>
                <a:spcPts val="1000"/>
              </a:spcAft>
              <a:buChar char="•"/>
            </a:pPr>
            <a:r>
              <a:rPr sz="1600" b="0" i="0">
                <a:solidFill>
                  <a:srgbClr val="64748B"/>
                </a:solidFill>
                <a:latin typeface="Arial"/>
              </a:rPr>
              <a:t>With the inactive list: model 0.183 vs market at tip 0.163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4: even a market-trained neural net finds nothing</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8</a:t>
            </a:r>
          </a:p>
        </p:txBody>
      </p:sp>
      <p:pic>
        <p:nvPicPr>
          <p:cNvPr id="7" name="Picture 6" descr="m6_vs_baselines.png"/>
          <p:cNvPicPr>
            <a:picLocks noChangeAspect="1"/>
          </p:cNvPicPr>
          <p:nvPr/>
        </p:nvPicPr>
        <p:blipFill>
          <a:blip r:embed="rId3"/>
          <a:stretch>
            <a:fillRect/>
          </a:stretch>
        </p:blipFill>
        <p:spPr>
          <a:xfrm>
            <a:off x="579630" y="1097280"/>
            <a:ext cx="11032434" cy="3383280"/>
          </a:xfrm>
          <a:prstGeom prst="rect">
            <a:avLst/>
          </a:prstGeom>
        </p:spPr>
      </p:pic>
      <p:sp>
        <p:nvSpPr>
          <p:cNvPr id="8" name="TextBox 7"/>
          <p:cNvSpPr txBox="1"/>
          <p:nvPr/>
        </p:nvSpPr>
        <p:spPr>
          <a:xfrm>
            <a:off x="457200" y="4526280"/>
            <a:ext cx="11277295" cy="1298448"/>
          </a:xfrm>
          <a:prstGeom prst="rect">
            <a:avLst/>
          </a:prstGeom>
          <a:noFill/>
        </p:spPr>
        <p:txBody>
          <a:bodyPr wrap="square" anchor="t" lIns="73152" rIns="73152" tIns="36576" bIns="36576">
            <a:spAutoFit/>
          </a:bodyPr>
          <a:lstStyle/>
          <a:p>
            <a:pPr algn="l" marL="292608" indent="-256032">
              <a:spcAft>
                <a:spcPts val="400"/>
              </a:spcAft>
              <a:buChar char="•"/>
            </a:pPr>
            <a:r>
              <a:rPr sz="1800" b="0" i="0">
                <a:solidFill>
                  <a:srgbClr val="0F172A"/>
                </a:solidFill>
                <a:latin typeface="Arial"/>
              </a:rPr>
              <a:t>Average error on 771 test decision times: </a:t>
            </a:r>
            <a:r>
              <a:rPr sz="1800" b="1" i="0">
                <a:solidFill>
                  <a:srgbClr val="0F172A"/>
                </a:solidFill>
                <a:latin typeface="Arial"/>
              </a:rPr>
              <a:t>M6 0.867¢</a:t>
            </a:r>
            <a:r>
              <a:rPr sz="1800" b="0" i="0">
                <a:solidFill>
                  <a:srgbClr val="0F172A"/>
                </a:solidFill>
                <a:latin typeface="Arial"/>
              </a:rPr>
              <a:t> vs “price won't move” </a:t>
            </a:r>
            <a:r>
              <a:rPr sz="1800" b="1" i="0">
                <a:solidFill>
                  <a:srgbClr val="0F172A"/>
                </a:solidFill>
                <a:latin typeface="Arial"/>
              </a:rPr>
              <a:t>0.833¢</a:t>
            </a:r>
            <a:r>
              <a:rPr sz="1800" b="0" i="0">
                <a:solidFill>
                  <a:srgbClr val="0F172A"/>
                </a:solidFill>
                <a:latin typeface="Arial"/>
              </a:rPr>
              <a:t>; R² ≈ 0 on test and holdout</a:t>
            </a:r>
          </a:p>
          <a:p>
            <a:pPr algn="l" marL="292608" indent="-256032">
              <a:spcAft>
                <a:spcPts val="400"/>
              </a:spcAft>
              <a:buChar char="•"/>
            </a:pPr>
            <a:r>
              <a:rPr sz="1800" b="0" i="0">
                <a:solidFill>
                  <a:srgbClr val="0F172A"/>
                </a:solidFill>
                <a:latin typeface="Arial"/>
              </a:rPr>
              <a:t>After the list, the price moves ~2.5% of the model's implied shift (coefficient 0.025); M6 agent: 0 trades. Forced: 501 trades, −$652</a:t>
            </a:r>
          </a:p>
        </p:txBody>
      </p:sp>
      <p:sp>
        <p:nvSpPr>
          <p:cNvPr id="9" name="Rounded Rectangle 8"/>
          <p:cNvSpPr/>
          <p:nvPr/>
        </p:nvSpPr>
        <p:spPr>
          <a:xfrm>
            <a:off x="457200" y="5870448"/>
            <a:ext cx="11277295" cy="45720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5870448"/>
            <a:ext cx="11094415" cy="45720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The price already contains the public information; the consumer is left paying costs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5: money over time, every line drifts down</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9</a:t>
            </a:r>
          </a:p>
        </p:txBody>
      </p:sp>
      <p:pic>
        <p:nvPicPr>
          <p:cNvPr id="7" name="Picture 6" descr="cumulative_pnl.png"/>
          <p:cNvPicPr>
            <a:picLocks noChangeAspect="1"/>
          </p:cNvPicPr>
          <p:nvPr/>
        </p:nvPicPr>
        <p:blipFill>
          <a:blip r:embed="rId3"/>
          <a:stretch>
            <a:fillRect/>
          </a:stretch>
        </p:blipFill>
        <p:spPr>
          <a:xfrm>
            <a:off x="1213604" y="1097280"/>
            <a:ext cx="9764485" cy="4206240"/>
          </a:xfrm>
          <a:prstGeom prst="rect">
            <a:avLst/>
          </a:prstGeom>
        </p:spPr>
      </p:pic>
      <p:sp>
        <p:nvSpPr>
          <p:cNvPr id="8" name="TextBox 7"/>
          <p:cNvSpPr txBox="1"/>
          <p:nvPr/>
        </p:nvSpPr>
        <p:spPr>
          <a:xfrm>
            <a:off x="457200" y="5394960"/>
            <a:ext cx="11277295" cy="960120"/>
          </a:xfrm>
          <a:prstGeom prst="rect">
            <a:avLst/>
          </a:prstGeom>
          <a:noFill/>
        </p:spPr>
        <p:txBody>
          <a:bodyPr wrap="square" anchor="t" lIns="73152" rIns="73152" tIns="36576" bIns="36576">
            <a:spAutoFit/>
          </a:bodyPr>
          <a:lstStyle/>
          <a:p>
            <a:pPr algn="l" marL="292608" indent="-256032">
              <a:spcAft>
                <a:spcPts val="400"/>
              </a:spcAft>
              <a:buChar char="•"/>
            </a:pPr>
            <a:r>
              <a:rPr sz="1800" b="0" i="0">
                <a:solidFill>
                  <a:srgbClr val="0F172A"/>
                </a:solidFill>
                <a:latin typeface="Arial"/>
              </a:rPr>
              <a:t>Raw model falls steadily (−$2,087 test, −$2,475 season): the slope is costs</a:t>
            </a:r>
          </a:p>
          <a:p>
            <a:pPr algn="l" marL="292608" indent="-256032">
              <a:spcAft>
                <a:spcPts val="400"/>
              </a:spcAft>
              <a:buChar char="•"/>
            </a:pPr>
            <a:r>
              <a:rPr sz="1800" b="0" i="0">
                <a:solidFill>
                  <a:srgbClr val="0F172A"/>
                </a:solidFill>
                <a:latin typeface="Arial"/>
              </a:rPr>
              <a:t>Learning flattens the line by trading less: full agent −$32 test, −$25 season; M6: 0 trades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6: tested with CIs, never trading wins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10</a:t>
            </a:r>
          </a:p>
        </p:txBody>
      </p:sp>
      <p:pic>
        <p:nvPicPr>
          <p:cNvPr id="7" name="Picture 6" descr="walkforward.png"/>
          <p:cNvPicPr>
            <a:picLocks noChangeAspect="1"/>
          </p:cNvPicPr>
          <p:nvPr/>
        </p:nvPicPr>
        <p:blipFill>
          <a:blip r:embed="rId3"/>
          <a:stretch>
            <a:fillRect/>
          </a:stretch>
        </p:blipFill>
        <p:spPr>
          <a:xfrm>
            <a:off x="457200" y="1188719"/>
            <a:ext cx="5943600" cy="3429000"/>
          </a:xfrm>
          <a:prstGeom prst="rect">
            <a:avLst/>
          </a:prstGeom>
        </p:spPr>
      </p:pic>
      <p:graphicFrame>
        <p:nvGraphicFramePr>
          <p:cNvPr id="8" name="Table 7"/>
          <p:cNvGraphicFramePr>
            <a:graphicFrameLocks noGrp="1"/>
          </p:cNvGraphicFramePr>
          <p:nvPr/>
        </p:nvGraphicFramePr>
        <p:xfrm>
          <a:off x="6537960" y="1188720"/>
          <a:ext cx="5193791" cy="2871216"/>
        </p:xfrm>
        <a:graphic>
          <a:graphicData uri="http://schemas.openxmlformats.org/drawingml/2006/table">
            <a:tbl>
              <a:tblPr firstRow="1" bandRow="1">
                <a:tableStyleId>{5C22544A-7EE6-4342-B048-85BDC9FD1C3A}</a:tableStyleId>
              </a:tblPr>
              <a:tblGrid>
                <a:gridCol w="1874519"/>
                <a:gridCol w="868680"/>
                <a:gridCol w="2450592"/>
              </a:tblGrid>
              <a:tr h="457200">
                <a:tc>
                  <a:txBody>
                    <a:bodyPr wrap="square"/>
                    <a:lstStyle/>
                    <a:p>
                      <a:pPr algn="l"/>
                      <a:r>
                        <a:rPr sz="1600" b="1" i="0">
                          <a:solidFill>
                            <a:srgbClr val="FFFFFF"/>
                          </a:solidFill>
                          <a:latin typeface="Arial"/>
                        </a:rPr>
                        <a:t>Nov – 12 Apr</a:t>
                      </a:r>
                    </a:p>
                  </a:txBody>
                  <a:tcPr marL="73152" marR="73152" marT="36576" marB="36576" anchor="ctr">
                    <a:solidFill>
                      <a:srgbClr val="1E293B"/>
                    </a:solidFill>
                  </a:tcPr>
                </a:tc>
                <a:tc>
                  <a:txBody>
                    <a:bodyPr wrap="square"/>
                    <a:lstStyle/>
                    <a:p>
                      <a:pPr algn="ctr"/>
                      <a:r>
                        <a:rPr sz="1600" b="1" i="0">
                          <a:solidFill>
                            <a:srgbClr val="FFFFFF"/>
                          </a:solidFill>
                          <a:latin typeface="Arial"/>
                        </a:rPr>
                        <a:t>Trades</a:t>
                      </a:r>
                    </a:p>
                  </a:txBody>
                  <a:tcPr marL="73152" marR="73152" marT="36576" marB="36576" anchor="ctr">
                    <a:solidFill>
                      <a:srgbClr val="1E293B"/>
                    </a:solidFill>
                  </a:tcPr>
                </a:tc>
                <a:tc>
                  <a:txBody>
                    <a:bodyPr wrap="square"/>
                    <a:lstStyle/>
                    <a:p>
                      <a:pPr algn="ctr"/>
                      <a:r>
                        <a:rPr sz="1600" b="1" i="0">
                          <a:solidFill>
                            <a:srgbClr val="FFFFFF"/>
                          </a:solidFill>
                          <a:latin typeface="Arial"/>
                        </a:rPr>
                        <a:t>P&amp;L [95% CI]</a:t>
                      </a:r>
                    </a:p>
                  </a:txBody>
                  <a:tcPr marL="73152" marR="73152" marT="36576" marB="36576" anchor="ctr">
                    <a:solidFill>
                      <a:srgbClr val="1E293B"/>
                    </a:solidFill>
                  </a:tcPr>
                </a:tc>
              </a:tr>
              <a:tr h="603504">
                <a:tc>
                  <a:txBody>
                    <a:bodyPr wrap="square"/>
                    <a:lstStyle/>
                    <a:p>
                      <a:pPr algn="l"/>
                      <a:r>
                        <a:rPr sz="1600" b="1" i="0">
                          <a:solidFill>
                            <a:srgbClr val="0F172A"/>
                          </a:solidFill>
                          <a:latin typeface="Arial"/>
                        </a:rPr>
                        <a:t>Never trade</a:t>
                      </a:r>
                    </a:p>
                  </a:txBody>
                  <a:tcPr marL="73152" marR="73152" marT="36576" marB="36576" anchor="ctr">
                    <a:solidFill>
                      <a:srgbClr val="DCFCE7"/>
                    </a:solidFill>
                  </a:tcPr>
                </a:tc>
                <a:tc>
                  <a:txBody>
                    <a:bodyPr wrap="square"/>
                    <a:lstStyle/>
                    <a:p>
                      <a:pPr algn="ctr"/>
                      <a:r>
                        <a:rPr sz="1600" b="0" i="0">
                          <a:solidFill>
                            <a:srgbClr val="0F172A"/>
                          </a:solidFill>
                          <a:latin typeface="Arial"/>
                        </a:rPr>
                        <a:t>0</a:t>
                      </a:r>
                    </a:p>
                  </a:txBody>
                  <a:tcPr marL="73152" marR="73152" marT="36576" marB="36576" anchor="ctr">
                    <a:solidFill>
                      <a:srgbClr val="DCFCE7"/>
                    </a:solidFill>
                  </a:tcPr>
                </a:tc>
                <a:tc>
                  <a:txBody>
                    <a:bodyPr wrap="square"/>
                    <a:lstStyle/>
                    <a:p>
                      <a:pPr algn="ctr"/>
                      <a:r>
                        <a:rPr sz="1600" b="1" i="0">
                          <a:solidFill>
                            <a:srgbClr val="0F172A"/>
                          </a:solidFill>
                          <a:latin typeface="Arial"/>
                        </a:rPr>
                        <a:t>$0</a:t>
                      </a:r>
                    </a:p>
                  </a:txBody>
                  <a:tcPr marL="73152" marR="73152" marT="36576" marB="36576" anchor="ctr">
                    <a:solidFill>
                      <a:srgbClr val="DCFCE7"/>
                    </a:solidFill>
                  </a:tcPr>
                </a:tc>
              </a:tr>
              <a:tr h="603504">
                <a:tc>
                  <a:txBody>
                    <a:bodyPr wrap="square"/>
                    <a:lstStyle/>
                    <a:p>
                      <a:pPr algn="l"/>
                      <a:r>
                        <a:rPr sz="1600" b="0" i="0">
                          <a:solidFill>
                            <a:srgbClr val="0F172A"/>
                          </a:solidFill>
                          <a:latin typeface="Arial"/>
                        </a:rPr>
                        <a:t>Full agent</a:t>
                      </a:r>
                    </a:p>
                  </a:txBody>
                  <a:tcPr marL="73152" marR="73152" marT="36576" marB="36576" anchor="ctr">
                    <a:solidFill>
                      <a:srgbClr val="FFFFFF"/>
                    </a:solidFill>
                  </a:tcPr>
                </a:tc>
                <a:tc>
                  <a:txBody>
                    <a:bodyPr wrap="square"/>
                    <a:lstStyle/>
                    <a:p>
                      <a:pPr algn="ctr"/>
                      <a:r>
                        <a:rPr sz="1600" b="0" i="0">
                          <a:solidFill>
                            <a:srgbClr val="0F172A"/>
                          </a:solidFill>
                          <a:latin typeface="Arial"/>
                        </a:rPr>
                        <a:t>157</a:t>
                      </a:r>
                    </a:p>
                  </a:txBody>
                  <a:tcPr marL="73152" marR="73152" marT="36576" marB="36576" anchor="ctr">
                    <a:solidFill>
                      <a:srgbClr val="FFFFFF"/>
                    </a:solidFill>
                  </a:tcPr>
                </a:tc>
                <a:tc>
                  <a:txBody>
                    <a:bodyPr wrap="square"/>
                    <a:lstStyle/>
                    <a:p>
                      <a:pPr algn="ctr"/>
                      <a:r>
                        <a:rPr sz="1600" b="0" i="0">
                          <a:solidFill>
                            <a:srgbClr val="0F172A"/>
                          </a:solidFill>
                          <a:latin typeface="Arial"/>
                        </a:rPr>
                        <a:t>−$25 [−$569 to +$564]</a:t>
                      </a:r>
                    </a:p>
                  </a:txBody>
                  <a:tcPr marL="73152" marR="73152" marT="36576" marB="36576" anchor="ctr">
                    <a:solidFill>
                      <a:srgbClr val="FFFFFF"/>
                    </a:solidFill>
                  </a:tcPr>
                </a:tc>
              </a:tr>
              <a:tr h="603504">
                <a:tc>
                  <a:txBody>
                    <a:bodyPr wrap="square"/>
                    <a:lstStyle/>
                    <a:p>
                      <a:pPr algn="l"/>
                      <a:r>
                        <a:rPr sz="1600" b="0" i="0">
                          <a:solidFill>
                            <a:srgbClr val="0F172A"/>
                          </a:solidFill>
                          <a:latin typeface="Arial"/>
                        </a:rPr>
                        <a:t>No learning</a:t>
                      </a:r>
                    </a:p>
                  </a:txBody>
                  <a:tcPr marL="73152" marR="73152" marT="36576" marB="36576" anchor="ctr">
                    <a:solidFill>
                      <a:srgbClr val="F1F5F9"/>
                    </a:solidFill>
                  </a:tcPr>
                </a:tc>
                <a:tc>
                  <a:txBody>
                    <a:bodyPr wrap="square"/>
                    <a:lstStyle/>
                    <a:p>
                      <a:pPr algn="ctr"/>
                      <a:r>
                        <a:rPr sz="1600" b="0" i="0">
                          <a:solidFill>
                            <a:srgbClr val="0F172A"/>
                          </a:solidFill>
                          <a:latin typeface="Arial"/>
                        </a:rPr>
                        <a:t>276</a:t>
                      </a:r>
                    </a:p>
                  </a:txBody>
                  <a:tcPr marL="73152" marR="73152" marT="36576" marB="36576" anchor="ctr">
                    <a:solidFill>
                      <a:srgbClr val="F1F5F9"/>
                    </a:solidFill>
                  </a:tcPr>
                </a:tc>
                <a:tc>
                  <a:txBody>
                    <a:bodyPr wrap="square"/>
                    <a:lstStyle/>
                    <a:p>
                      <a:pPr algn="ctr"/>
                      <a:r>
                        <a:rPr sz="1600" b="0" i="0">
                          <a:solidFill>
                            <a:srgbClr val="0F172A"/>
                          </a:solidFill>
                          <a:latin typeface="Arial"/>
                        </a:rPr>
                        <a:t>−$407 [−$1,324 to +$553]</a:t>
                      </a:r>
                    </a:p>
                  </a:txBody>
                  <a:tcPr marL="73152" marR="73152" marT="36576" marB="36576" anchor="ctr">
                    <a:solidFill>
                      <a:srgbClr val="F1F5F9"/>
                    </a:solidFill>
                  </a:tcPr>
                </a:tc>
              </a:tr>
              <a:tr h="603504">
                <a:tc>
                  <a:txBody>
                    <a:bodyPr wrap="square"/>
                    <a:lstStyle/>
                    <a:p>
                      <a:pPr algn="l"/>
                      <a:r>
                        <a:rPr sz="1600" b="0" i="0">
                          <a:solidFill>
                            <a:srgbClr val="0F172A"/>
                          </a:solidFill>
                          <a:latin typeface="Arial"/>
                        </a:rPr>
                        <a:t>Raw model</a:t>
                      </a:r>
                    </a:p>
                  </a:txBody>
                  <a:tcPr marL="73152" marR="73152" marT="36576" marB="36576" anchor="ctr">
                    <a:solidFill>
                      <a:srgbClr val="FFFFFF"/>
                    </a:solidFill>
                  </a:tcPr>
                </a:tc>
                <a:tc>
                  <a:txBody>
                    <a:bodyPr wrap="square"/>
                    <a:lstStyle/>
                    <a:p>
                      <a:pPr algn="ctr"/>
                      <a:r>
                        <a:rPr sz="1600" b="0" i="0">
                          <a:solidFill>
                            <a:srgbClr val="0F172A"/>
                          </a:solidFill>
                          <a:latin typeface="Arial"/>
                        </a:rPr>
                        <a:t>711</a:t>
                      </a:r>
                    </a:p>
                  </a:txBody>
                  <a:tcPr marL="73152" marR="73152" marT="36576" marB="36576" anchor="ctr">
                    <a:solidFill>
                      <a:srgbClr val="FFFFFF"/>
                    </a:solidFill>
                  </a:tcPr>
                </a:tc>
                <a:tc>
                  <a:txBody>
                    <a:bodyPr wrap="square"/>
                    <a:lstStyle/>
                    <a:p>
                      <a:pPr algn="ctr"/>
                      <a:r>
                        <a:rPr sz="1600" b="0" i="0">
                          <a:solidFill>
                            <a:srgbClr val="0F172A"/>
                          </a:solidFill>
                          <a:latin typeface="Arial"/>
                        </a:rPr>
                        <a:t>−$2,475 [−$3,995 to −$845]</a:t>
                      </a:r>
                    </a:p>
                  </a:txBody>
                  <a:tcPr marL="73152" marR="73152" marT="36576" marB="36576" anchor="ctr">
                    <a:solidFill>
                      <a:srgbClr val="FFFFFF"/>
                    </a:solidFill>
                  </a:tcPr>
                </a:tc>
              </a:tr>
            </a:tbl>
          </a:graphicData>
        </a:graphic>
      </p:graphicFrame>
      <p:sp>
        <p:nvSpPr>
          <p:cNvPr id="9" name="TextBox 8"/>
          <p:cNvSpPr txBox="1"/>
          <p:nvPr/>
        </p:nvSpPr>
        <p:spPr>
          <a:xfrm>
            <a:off x="6537960" y="4114800"/>
            <a:ext cx="5196535" cy="640080"/>
          </a:xfrm>
          <a:prstGeom prst="rect">
            <a:avLst/>
          </a:prstGeom>
          <a:noFill/>
        </p:spPr>
        <p:txBody>
          <a:bodyPr wrap="square" anchor="t" lIns="73152" rIns="73152" tIns="36576" bIns="36576">
            <a:spAutoFit/>
          </a:bodyPr>
          <a:lstStyle/>
          <a:p>
            <a:pPr algn="l">
              <a:spcAft>
                <a:spcPts val="800"/>
              </a:spcAft>
            </a:pPr>
            <a:r>
              <a:rPr sz="1400" b="0" i="0">
                <a:solidFill>
                  <a:srgbClr val="64748B"/>
                </a:solidFill>
                <a:latin typeface="Arial"/>
              </a:rPr>
              <a:t>Day-clustered bootstrap; M4 retrained monthly. Chart totals include play-offs, the table does not</a:t>
            </a:r>
          </a:p>
        </p:txBody>
      </p:sp>
      <p:sp>
        <p:nvSpPr>
          <p:cNvPr id="10" name="TextBox 9"/>
          <p:cNvSpPr txBox="1"/>
          <p:nvPr/>
        </p:nvSpPr>
        <p:spPr>
          <a:xfrm>
            <a:off x="457200" y="4663440"/>
            <a:ext cx="11277295" cy="1691640"/>
          </a:xfrm>
          <a:prstGeom prst="rect">
            <a:avLst/>
          </a:prstGeom>
          <a:noFill/>
        </p:spPr>
        <p:txBody>
          <a:bodyPr wrap="square" anchor="t" lIns="73152" rIns="73152" tIns="36576" bIns="36576">
            <a:spAutoFit/>
          </a:bodyPr>
          <a:lstStyle/>
          <a:p>
            <a:pPr algn="l" marL="292608" indent="-256032">
              <a:spcAft>
                <a:spcPts val="400"/>
              </a:spcAft>
              <a:buChar char="•"/>
            </a:pPr>
            <a:r>
              <a:rPr sz="1800" b="0" i="0">
                <a:solidFill>
                  <a:srgbClr val="0F172A"/>
                </a:solidFill>
                <a:latin typeface="Arial"/>
              </a:rPr>
              <a:t>Mean CLV &lt; 0 for every setup; </a:t>
            </a:r>
            <a:r>
              <a:rPr sz="1800" b="1" i="0">
                <a:solidFill>
                  <a:srgbClr val="0F172A"/>
                </a:solidFill>
                <a:latin typeface="Arial"/>
              </a:rPr>
              <a:t>every 95% CI entirely below zero</a:t>
            </a:r>
          </a:p>
          <a:p>
            <a:pPr algn="l" marL="292608" indent="-256032">
              <a:spcAft>
                <a:spcPts val="400"/>
              </a:spcAft>
              <a:buChar char="•"/>
            </a:pPr>
            <a:r>
              <a:rPr sz="1800" b="0" i="0">
                <a:solidFill>
                  <a:srgbClr val="0F172A"/>
                </a:solidFill>
                <a:latin typeface="Arial"/>
              </a:rPr>
              <a:t>Market anchor is real: +$2,450 vs raw model (p = 0.002); learning = trading less (p = 0.13)</a:t>
            </a:r>
          </a:p>
          <a:p>
            <a:pPr algn="l" marL="292608" indent="-256032">
              <a:spcAft>
                <a:spcPts val="400"/>
              </a:spcAft>
              <a:buChar char="•"/>
            </a:pPr>
            <a:r>
              <a:rPr sz="1800" b="0" i="0">
                <a:solidFill>
                  <a:srgbClr val="0F172A"/>
                </a:solidFill>
                <a:latin typeface="Arial"/>
              </a:rPr>
              <a:t>Play-off holdout (87 games): full agent 0 trades; no learning 6 trades, −$74; raw model +$450 with negative CLV (luck)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Our product: educate and protect the consumer</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11</a:t>
            </a:r>
          </a:p>
        </p:txBody>
      </p:sp>
      <p:pic>
        <p:nvPicPr>
          <p:cNvPr id="7" name="Picture 6" descr="agent_workflow.png"/>
          <p:cNvPicPr>
            <a:picLocks noChangeAspect="1"/>
          </p:cNvPicPr>
          <p:nvPr/>
        </p:nvPicPr>
        <p:blipFill>
          <a:blip r:embed="rId3"/>
          <a:stretch>
            <a:fillRect/>
          </a:stretch>
        </p:blipFill>
        <p:spPr>
          <a:xfrm>
            <a:off x="457200" y="1853719"/>
            <a:ext cx="6766560" cy="3744920"/>
          </a:xfrm>
          <a:prstGeom prst="rect">
            <a:avLst/>
          </a:prstGeom>
        </p:spPr>
      </p:pic>
      <p:sp>
        <p:nvSpPr>
          <p:cNvPr id="8" name="TextBox 7"/>
          <p:cNvSpPr txBox="1"/>
          <p:nvPr/>
        </p:nvSpPr>
        <p:spPr>
          <a:xfrm>
            <a:off x="7406640" y="1234439"/>
            <a:ext cx="4327855" cy="5120640"/>
          </a:xfrm>
          <a:prstGeom prst="rect">
            <a:avLst/>
          </a:prstGeom>
          <a:noFill/>
        </p:spPr>
        <p:txBody>
          <a:bodyPr wrap="square" anchor="t" lIns="73152" rIns="73152" tIns="36576" bIns="36576">
            <a:spAutoFit/>
          </a:bodyPr>
          <a:lstStyle/>
          <a:p>
            <a:pPr algn="l" marL="292608" indent="-256032">
              <a:spcAft>
                <a:spcPts val="800"/>
              </a:spcAft>
              <a:buChar char="•"/>
            </a:pPr>
            <a:r>
              <a:rPr sz="1800" b="1" i="0">
                <a:solidFill>
                  <a:srgbClr val="0F172A"/>
                </a:solidFill>
                <a:latin typeface="Arial"/>
              </a:rPr>
              <a:t>Pass by default:</a:t>
            </a:r>
            <a:r>
              <a:rPr sz="1800" b="0" i="0">
                <a:solidFill>
                  <a:srgbClr val="0F172A"/>
                </a:solidFill>
                <a:latin typeface="Arial"/>
              </a:rPr>
              <a:t> 90% of decision points → no trade</a:t>
            </a:r>
          </a:p>
          <a:p>
            <a:pPr algn="l" marL="292608" indent="-256032">
              <a:spcAft>
                <a:spcPts val="800"/>
              </a:spcAft>
              <a:buChar char="•"/>
            </a:pPr>
            <a:r>
              <a:rPr sz="1800" b="1" i="0">
                <a:solidFill>
                  <a:srgbClr val="0F172A"/>
                </a:solidFill>
                <a:latin typeface="Arial"/>
              </a:rPr>
              <a:t>No-order reason:</a:t>
            </a:r>
            <a:r>
              <a:rPr sz="1800" b="0" i="0">
                <a:solidFill>
                  <a:srgbClr val="0F172A"/>
                </a:solidFill>
                <a:latin typeface="Arial"/>
              </a:rPr>
              <a:t> “gap after fees too small or the price already moved”</a:t>
            </a:r>
          </a:p>
          <a:p>
            <a:pPr algn="l" marL="292608" indent="-256032">
              <a:spcAft>
                <a:spcPts val="800"/>
              </a:spcAft>
              <a:buChar char="•"/>
            </a:pPr>
            <a:r>
              <a:rPr sz="1800" b="1" i="0">
                <a:solidFill>
                  <a:srgbClr val="0F172A"/>
                </a:solidFill>
                <a:latin typeface="Arial"/>
              </a:rPr>
              <a:t>Costs shown:</a:t>
            </a:r>
            <a:r>
              <a:rPr sz="1800" b="0" i="0">
                <a:solidFill>
                  <a:srgbClr val="0F172A"/>
                </a:solidFill>
                <a:latin typeface="Arial"/>
              </a:rPr>
              <a:t> bid-ask in briefs; Coach shows break-even after spread + fee</a:t>
            </a:r>
          </a:p>
          <a:p>
            <a:pPr algn="l" marL="292608" indent="-256032">
              <a:spcAft>
                <a:spcPts val="800"/>
              </a:spcAft>
              <a:buChar char="•"/>
            </a:pPr>
            <a:r>
              <a:rPr sz="1800" b="1" i="0">
                <a:solidFill>
                  <a:srgbClr val="0F172A"/>
                </a:solidFill>
                <a:latin typeface="Arial"/>
              </a:rPr>
              <a:t>Code limits:</a:t>
            </a:r>
            <a:r>
              <a:rPr sz="1800" b="0" i="0">
                <a:solidFill>
                  <a:srgbClr val="0F172A"/>
                </a:solidFill>
                <a:latin typeface="Arial"/>
              </a:rPr>
              <a:t> $50 / order, $100 / game, $300 / day; bans “lock”, “guaranteed”, “risk-free”</a:t>
            </a:r>
          </a:p>
          <a:p>
            <a:pPr algn="l" marL="292608" indent="-256032">
              <a:spcAft>
                <a:spcPts val="800"/>
              </a:spcAft>
              <a:buChar char="•"/>
            </a:pPr>
            <a:r>
              <a:rPr sz="1800" b="1" i="0">
                <a:solidFill>
                  <a:srgbClr val="0F172A"/>
                </a:solidFill>
                <a:latin typeface="Arial"/>
              </a:rPr>
              <a:t>9 / 9</a:t>
            </a:r>
            <a:r>
              <a:rPr sz="1800" b="0" i="0">
                <a:solidFill>
                  <a:srgbClr val="0F172A"/>
                </a:solidFill>
                <a:latin typeface="Arial"/>
              </a:rPr>
              <a:t> planted violations blocked</a:t>
            </a:r>
          </a:p>
          <a:p>
            <a:pPr algn="l" marL="292608" indent="-256032">
              <a:spcAft>
                <a:spcPts val="800"/>
              </a:spcAft>
              <a:buChar char="•"/>
            </a:pPr>
            <a:r>
              <a:rPr sz="1800" b="1" i="0">
                <a:solidFill>
                  <a:srgbClr val="0F172A"/>
                </a:solidFill>
                <a:latin typeface="Arial"/>
              </a:rPr>
              <a:t>Learned rules:</a:t>
            </a:r>
            <a:r>
              <a:rPr sz="1800" b="0" i="0">
                <a:solidFill>
                  <a:srgbClr val="0F172A"/>
                </a:solidFill>
                <a:latin typeface="Arial"/>
              </a:rPr>
              <a:t> skip ≤ 35¢; skip after a 2¢ move against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Coach: teach why most bets don't clear costs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12</a:t>
            </a:r>
          </a:p>
        </p:txBody>
      </p:sp>
      <p:sp>
        <p:nvSpPr>
          <p:cNvPr id="7" name="Rounded Rectangle 6"/>
          <p:cNvSpPr/>
          <p:nvPr/>
        </p:nvSpPr>
        <p:spPr>
          <a:xfrm>
            <a:off x="457200" y="1234439"/>
            <a:ext cx="5501487" cy="2057400"/>
          </a:xfrm>
          <a:prstGeom prst="roundRect">
            <a:avLst>
              <a:gd name="adj" fmla="val 6000"/>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20574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5227167" cy="457200"/>
          </a:xfrm>
          <a:prstGeom prst="rect">
            <a:avLst/>
          </a:prstGeom>
          <a:noFill/>
        </p:spPr>
        <p:txBody>
          <a:bodyPr wrap="square" anchor="t" lIns="73152" rIns="73152" tIns="36576" bIns="36576">
            <a:spAutoFit/>
          </a:bodyPr>
          <a:lstStyle/>
          <a:p>
            <a:pPr algn="l">
              <a:spcAft>
                <a:spcPts val="0"/>
              </a:spcAft>
            </a:pPr>
            <a:r>
              <a:rPr sz="2000" b="1" i="0">
                <a:solidFill>
                  <a:srgbClr val="2563EB"/>
                </a:solidFill>
                <a:latin typeface="Arial"/>
              </a:rPr>
              <a:t>1  What's going on</a:t>
            </a:r>
          </a:p>
        </p:txBody>
      </p:sp>
      <p:sp>
        <p:nvSpPr>
          <p:cNvPr id="10" name="TextBox 9"/>
          <p:cNvSpPr txBox="1"/>
          <p:nvPr/>
        </p:nvSpPr>
        <p:spPr>
          <a:xfrm>
            <a:off x="640080" y="1764791"/>
            <a:ext cx="5227167" cy="145389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News so far; model before / after the news</a:t>
            </a:r>
          </a:p>
          <a:p>
            <a:pPr algn="l" marL="292608" indent="-256032">
              <a:spcAft>
                <a:spcPts val="600"/>
              </a:spcAft>
              <a:buChar char="•"/>
            </a:pPr>
            <a:r>
              <a:rPr sz="1800" b="0" i="0">
                <a:solidFill>
                  <a:srgbClr val="0F172A"/>
                </a:solidFill>
                <a:latin typeface="Arial"/>
              </a:rPr>
              <a:t>Market now vs 24 h ago; break-even after spread + fee</a:t>
            </a:r>
          </a:p>
        </p:txBody>
      </p:sp>
      <p:sp>
        <p:nvSpPr>
          <p:cNvPr id="11" name="Rounded Rectangle 10"/>
          <p:cNvSpPr/>
          <p:nvPr/>
        </p:nvSpPr>
        <p:spPr>
          <a:xfrm>
            <a:off x="6233007" y="1234439"/>
            <a:ext cx="5501487" cy="205740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1234439"/>
            <a:ext cx="109728" cy="20574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5887" y="1307592"/>
            <a:ext cx="5227167" cy="457200"/>
          </a:xfrm>
          <a:prstGeom prst="rect">
            <a:avLst/>
          </a:prstGeom>
          <a:noFill/>
        </p:spPr>
        <p:txBody>
          <a:bodyPr wrap="square" anchor="t" lIns="73152" rIns="73152" tIns="36576" bIns="36576">
            <a:spAutoFit/>
          </a:bodyPr>
          <a:lstStyle/>
          <a:p>
            <a:pPr algn="l">
              <a:spcAft>
                <a:spcPts val="0"/>
              </a:spcAft>
            </a:pPr>
            <a:r>
              <a:rPr sz="2000" b="1" i="0">
                <a:solidFill>
                  <a:srgbClr val="EA580C"/>
                </a:solidFill>
                <a:latin typeface="Arial"/>
              </a:rPr>
              <a:t>2  Lessons, when relevant</a:t>
            </a:r>
          </a:p>
        </p:txBody>
      </p:sp>
      <p:sp>
        <p:nvSpPr>
          <p:cNvPr id="14" name="TextBox 13"/>
          <p:cNvSpPr txBox="1"/>
          <p:nvPr/>
        </p:nvSpPr>
        <p:spPr>
          <a:xfrm>
            <a:off x="6415887" y="1764791"/>
            <a:ext cx="5227167" cy="145389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Price = probability · costs move break-even</a:t>
            </a:r>
          </a:p>
          <a:p>
            <a:pPr algn="l" marL="292608" indent="-256032">
              <a:spcAft>
                <a:spcPts val="600"/>
              </a:spcAft>
              <a:buChar char="•"/>
            </a:pPr>
            <a:r>
              <a:rPr sz="1800" b="0" i="0">
                <a:solidFill>
                  <a:srgbClr val="0F172A"/>
                </a:solidFill>
                <a:latin typeface="Arial"/>
              </a:rPr>
              <a:t>Priced in / chasing · long shots · closing line · passing</a:t>
            </a:r>
          </a:p>
        </p:txBody>
      </p:sp>
      <p:sp>
        <p:nvSpPr>
          <p:cNvPr id="15" name="Rounded Rectangle 14"/>
          <p:cNvSpPr/>
          <p:nvPr/>
        </p:nvSpPr>
        <p:spPr>
          <a:xfrm>
            <a:off x="457200" y="3474720"/>
            <a:ext cx="5501487" cy="2057400"/>
          </a:xfrm>
          <a:prstGeom prst="roundRect">
            <a:avLst>
              <a:gd name="adj" fmla="val 6000"/>
            </a:avLst>
          </a:prstGeom>
          <a:solidFill>
            <a:srgbClr val="FFFFFF"/>
          </a:solidFill>
          <a:ln w="15875">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3474720"/>
            <a:ext cx="109728" cy="205740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547872"/>
            <a:ext cx="5227167" cy="457200"/>
          </a:xfrm>
          <a:prstGeom prst="rect">
            <a:avLst/>
          </a:prstGeom>
          <a:noFill/>
        </p:spPr>
        <p:txBody>
          <a:bodyPr wrap="square" anchor="t" lIns="73152" rIns="73152" tIns="36576" bIns="36576">
            <a:spAutoFit/>
          </a:bodyPr>
          <a:lstStyle/>
          <a:p>
            <a:pPr algn="l">
              <a:spcAft>
                <a:spcPts val="0"/>
              </a:spcAft>
            </a:pPr>
            <a:r>
              <a:rPr sz="2000" b="1" i="0">
                <a:solidFill>
                  <a:srgbClr val="16A34A"/>
                </a:solidFill>
                <a:latin typeface="Arial"/>
              </a:rPr>
              <a:t>3  Your paper call</a:t>
            </a:r>
          </a:p>
        </p:txBody>
      </p:sp>
      <p:sp>
        <p:nvSpPr>
          <p:cNvPr id="18" name="TextBox 17"/>
          <p:cNvSpPr txBox="1"/>
          <p:nvPr/>
        </p:nvSpPr>
        <p:spPr>
          <a:xfrm>
            <a:off x="640080" y="4005072"/>
            <a:ext cx="5227167" cy="145389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Back a team or pass</a:t>
            </a:r>
          </a:p>
          <a:p>
            <a:pPr algn="l" marL="292608" indent="-256032">
              <a:spcAft>
                <a:spcPts val="600"/>
              </a:spcAft>
              <a:buChar char="•"/>
            </a:pPr>
            <a:r>
              <a:rPr sz="1800" b="0" i="0">
                <a:solidFill>
                  <a:srgbClr val="0F172A"/>
                </a:solidFill>
                <a:latin typeface="Arial"/>
              </a:rPr>
              <a:t>Then: close, CLV, result, and what the agent did</a:t>
            </a:r>
          </a:p>
        </p:txBody>
      </p:sp>
      <p:sp>
        <p:nvSpPr>
          <p:cNvPr id="19" name="Rounded Rectangle 18"/>
          <p:cNvSpPr/>
          <p:nvPr/>
        </p:nvSpPr>
        <p:spPr>
          <a:xfrm>
            <a:off x="6233007" y="3474720"/>
            <a:ext cx="5501487" cy="205740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3474720"/>
            <a:ext cx="109728" cy="20574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5887" y="3547872"/>
            <a:ext cx="5227167" cy="457200"/>
          </a:xfrm>
          <a:prstGeom prst="rect">
            <a:avLst/>
          </a:prstGeom>
          <a:noFill/>
        </p:spPr>
        <p:txBody>
          <a:bodyPr wrap="square" anchor="t" lIns="73152" rIns="73152" tIns="36576" bIns="36576">
            <a:spAutoFit/>
          </a:bodyPr>
          <a:lstStyle/>
          <a:p>
            <a:pPr algn="l">
              <a:spcAft>
                <a:spcPts val="0"/>
              </a:spcAft>
            </a:pPr>
            <a:r>
              <a:rPr sz="2000" b="1" i="0">
                <a:solidFill>
                  <a:srgbClr val="1E293B"/>
                </a:solidFill>
                <a:latin typeface="Arial"/>
              </a:rPr>
              <a:t>4  Habit feedback</a:t>
            </a:r>
          </a:p>
        </p:txBody>
      </p:sp>
      <p:sp>
        <p:nvSpPr>
          <p:cNvPr id="22" name="TextBox 21"/>
          <p:cNvSpPr txBox="1"/>
          <p:nvPr/>
        </p:nvSpPr>
        <p:spPr>
          <a:xfrm>
            <a:off x="6415887" y="4005072"/>
            <a:ext cx="5227167" cy="145389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Paying above the close, long shots, chasing</a:t>
            </a:r>
          </a:p>
          <a:p>
            <a:pPr algn="l" marL="292608" indent="-256032">
              <a:spcAft>
                <a:spcPts val="600"/>
              </a:spcAft>
              <a:buChar char="•"/>
            </a:pPr>
            <a:r>
              <a:rPr sz="1800" b="0" i="0">
                <a:solidFill>
                  <a:srgbClr val="0F172A"/>
                </a:solidFill>
                <a:latin typeface="Arial"/>
              </a:rPr>
              <a:t>Small samples are mostly luck</a:t>
            </a:r>
          </a:p>
        </p:txBody>
      </p:sp>
      <p:sp>
        <p:nvSpPr>
          <p:cNvPr id="23" name="Rounded Rectangle 22"/>
          <p:cNvSpPr/>
          <p:nvPr/>
        </p:nvSpPr>
        <p:spPr>
          <a:xfrm>
            <a:off x="457200" y="5760720"/>
            <a:ext cx="11277295" cy="5029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5760720"/>
            <a:ext cx="11094415" cy="50292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Educational, paper money only · only information public at that moment · no promise words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Honest scope: what “unfair” means here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13</a:t>
            </a:r>
          </a:p>
        </p:txBody>
      </p:sp>
      <p:sp>
        <p:nvSpPr>
          <p:cNvPr id="7" name="Rounded Rectangle 6"/>
          <p:cNvSpPr/>
          <p:nvPr/>
        </p:nvSpPr>
        <p:spPr>
          <a:xfrm>
            <a:off x="457200" y="1234439"/>
            <a:ext cx="5120640" cy="507492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5074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4846320" cy="457200"/>
          </a:xfrm>
          <a:prstGeom prst="rect">
            <a:avLst/>
          </a:prstGeom>
          <a:noFill/>
        </p:spPr>
        <p:txBody>
          <a:bodyPr wrap="square" anchor="t" lIns="73152" rIns="73152" tIns="36576" bIns="36576">
            <a:spAutoFit/>
          </a:bodyPr>
          <a:lstStyle/>
          <a:p>
            <a:pPr algn="l">
              <a:spcAft>
                <a:spcPts val="0"/>
              </a:spcAft>
            </a:pPr>
            <a:r>
              <a:rPr sz="2000" b="1" i="0">
                <a:solidFill>
                  <a:srgbClr val="1E293B"/>
                </a:solidFill>
                <a:latin typeface="Arial"/>
              </a:rPr>
              <a:t>What we claim</a:t>
            </a:r>
          </a:p>
        </p:txBody>
      </p:sp>
      <p:sp>
        <p:nvSpPr>
          <p:cNvPr id="10" name="TextBox 9"/>
          <p:cNvSpPr txBox="1"/>
          <p:nvPr/>
        </p:nvSpPr>
        <p:spPr>
          <a:xfrm>
            <a:off x="640080" y="1764791"/>
            <a:ext cx="4846320" cy="4471416"/>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Structural disadvantages: costs, speed, expertise</a:t>
            </a:r>
          </a:p>
          <a:p>
            <a:pPr algn="l" marL="292608" indent="-256032">
              <a:spcAft>
                <a:spcPts val="600"/>
              </a:spcAft>
              <a:buChar char="•"/>
            </a:pPr>
            <a:r>
              <a:rPr sz="1800" b="1" i="0">
                <a:solidFill>
                  <a:srgbClr val="0F172A"/>
                </a:solidFill>
                <a:latin typeface="Arial"/>
              </a:rPr>
              <a:t>Not</a:t>
            </a:r>
            <a:r>
              <a:rPr sz="1800" b="0" i="0">
                <a:solidFill>
                  <a:srgbClr val="0F172A"/>
                </a:solidFill>
                <a:latin typeface="Arial"/>
              </a:rPr>
              <a:t> manipulation or fraud</a:t>
            </a:r>
          </a:p>
          <a:p>
            <a:pPr algn="l" marL="292608" indent="-256032">
              <a:spcAft>
                <a:spcPts val="600"/>
              </a:spcAft>
              <a:buChar char="•"/>
            </a:pPr>
            <a:r>
              <a:rPr sz="1800" b="1" i="0">
                <a:solidFill>
                  <a:srgbClr val="0F172A"/>
                </a:solidFill>
                <a:latin typeface="Arial"/>
              </a:rPr>
              <a:t>No</a:t>
            </a:r>
            <a:r>
              <a:rPr sz="1800" b="0" i="0">
                <a:solidFill>
                  <a:srgbClr val="0F172A"/>
                </a:solidFill>
                <a:latin typeface="Arial"/>
              </a:rPr>
              <a:t> accusation against Kalshi or any venue</a:t>
            </a:r>
          </a:p>
          <a:p>
            <a:pPr algn="l" marL="292608" indent="-256032">
              <a:spcAft>
                <a:spcPts val="600"/>
              </a:spcAft>
              <a:buChar char="•"/>
            </a:pPr>
            <a:r>
              <a:rPr sz="1800" b="0" i="0">
                <a:solidFill>
                  <a:srgbClr val="0F172A"/>
                </a:solidFill>
                <a:latin typeface="Arial"/>
              </a:rPr>
              <a:t>Paper money; public data only</a:t>
            </a:r>
          </a:p>
        </p:txBody>
      </p:sp>
      <p:sp>
        <p:nvSpPr>
          <p:cNvPr id="11" name="Rounded Rectangle 10"/>
          <p:cNvSpPr/>
          <p:nvPr/>
        </p:nvSpPr>
        <p:spPr>
          <a:xfrm>
            <a:off x="5852160" y="1234439"/>
            <a:ext cx="5882335" cy="5074920"/>
          </a:xfrm>
          <a:prstGeom prst="roundRect">
            <a:avLst>
              <a:gd name="adj" fmla="val 6000"/>
            </a:avLst>
          </a:prstGeom>
          <a:solidFill>
            <a:srgbClr val="FFFFFF"/>
          </a:solidFill>
          <a:ln w="1587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852160" y="1234439"/>
            <a:ext cx="109728" cy="50749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35040" y="1307592"/>
            <a:ext cx="5608015" cy="457200"/>
          </a:xfrm>
          <a:prstGeom prst="rect">
            <a:avLst/>
          </a:prstGeom>
          <a:noFill/>
        </p:spPr>
        <p:txBody>
          <a:bodyPr wrap="square" anchor="t" lIns="73152" rIns="73152" tIns="36576" bIns="36576">
            <a:spAutoFit/>
          </a:bodyPr>
          <a:lstStyle/>
          <a:p>
            <a:pPr algn="l">
              <a:spcAft>
                <a:spcPts val="0"/>
              </a:spcAft>
            </a:pPr>
            <a:r>
              <a:rPr sz="2000" b="1" i="0">
                <a:solidFill>
                  <a:srgbClr val="DC2626"/>
                </a:solidFill>
                <a:latin typeface="Arial"/>
              </a:rPr>
              <a:t>Caveats and disclosure</a:t>
            </a:r>
          </a:p>
        </p:txBody>
      </p:sp>
      <p:sp>
        <p:nvSpPr>
          <p:cNvPr id="14" name="TextBox 13"/>
          <p:cNvSpPr txBox="1"/>
          <p:nvPr/>
        </p:nvSpPr>
        <p:spPr>
          <a:xfrm>
            <a:off x="6035040" y="1764791"/>
            <a:ext cx="5608015" cy="4471416"/>
          </a:xfrm>
          <a:prstGeom prst="rect">
            <a:avLst/>
          </a:prstGeom>
          <a:noFill/>
        </p:spPr>
        <p:txBody>
          <a:bodyPr wrap="square" anchor="t" lIns="73152" rIns="73152" tIns="36576" bIns="36576">
            <a:spAutoFit/>
          </a:bodyPr>
          <a:lstStyle/>
          <a:p>
            <a:pPr algn="l" marL="292608" indent="-256032">
              <a:spcAft>
                <a:spcPts val="600"/>
              </a:spcAft>
              <a:buChar char="•"/>
            </a:pPr>
            <a:r>
              <a:rPr sz="1800" b="1" i="0">
                <a:solidFill>
                  <a:srgbClr val="0F172A"/>
                </a:solidFill>
                <a:latin typeface="Arial"/>
              </a:rPr>
              <a:t>Disclosure:</a:t>
            </a:r>
            <a:r>
              <a:rPr sz="1800" b="0" i="0">
                <a:solidFill>
                  <a:srgbClr val="0F172A"/>
                </a:solidFill>
                <a:latin typeface="Arial"/>
              </a:rPr>
              <a:t> anchor and reviewer designed after seeing Feb–Apr results, so that window is not a clean holdout; walk-forward and play-off holdout are the honest checks</a:t>
            </a:r>
          </a:p>
          <a:p>
            <a:pPr algn="l" marL="292608" indent="-256032">
              <a:spcAft>
                <a:spcPts val="600"/>
              </a:spcAft>
              <a:buChar char="•"/>
            </a:pPr>
            <a:r>
              <a:rPr sz="1800" b="0" i="0">
                <a:solidFill>
                  <a:srgbClr val="0F172A"/>
                </a:solidFill>
                <a:latin typeface="Arial"/>
              </a:rPr>
              <a:t>One season (1,316 games), game-winner markets only</a:t>
            </a:r>
          </a:p>
          <a:p>
            <a:pPr algn="l" marL="292608" indent="-256032">
              <a:spcAft>
                <a:spcPts val="600"/>
              </a:spcAft>
              <a:buChar char="•"/>
            </a:pPr>
            <a:r>
              <a:rPr sz="1800" b="0" i="0">
                <a:solidFill>
                  <a:srgbClr val="0F172A"/>
                </a:solidFill>
                <a:latin typeface="Arial"/>
              </a:rPr>
              <a:t>News stamped tip − 30 min (proxy; real reports come earlier)</a:t>
            </a:r>
          </a:p>
          <a:p>
            <a:pPr algn="l" marL="292608" indent="-256032">
              <a:spcAft>
                <a:spcPts val="600"/>
              </a:spcAft>
              <a:buChar char="•"/>
            </a:pPr>
            <a:r>
              <a:rPr sz="1800" b="0" i="0">
                <a:solidFill>
                  <a:srgbClr val="0F172A"/>
                </a:solidFill>
                <a:latin typeface="Arial"/>
              </a:rPr>
              <a:t>Costs for a $20 order at tip − 60 min; long-shot bias not clearly supported</a:t>
            </a:r>
          </a:p>
          <a:p>
            <a:pPr algn="l" marL="292608" indent="-256032">
              <a:spcAft>
                <a:spcPts val="600"/>
              </a:spcAft>
              <a:buChar char="•"/>
            </a:pPr>
            <a:r>
              <a:rPr sz="1800" b="0" i="0">
                <a:solidFill>
                  <a:srgbClr val="0F172A"/>
                </a:solidFill>
                <a:latin typeface="Arial"/>
              </a:rPr>
              <a:t>Well-being figures are published research, not 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Live demo: streamlit run app.py</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14</a:t>
            </a:r>
          </a:p>
        </p:txBody>
      </p:sp>
      <p:graphicFrame>
        <p:nvGraphicFramePr>
          <p:cNvPr id="7" name="Table 6"/>
          <p:cNvGraphicFramePr>
            <a:graphicFrameLocks noGrp="1"/>
          </p:cNvGraphicFramePr>
          <p:nvPr/>
        </p:nvGraphicFramePr>
        <p:xfrm>
          <a:off x="457200" y="1234439"/>
          <a:ext cx="11277295" cy="4224528"/>
        </p:xfrm>
        <a:graphic>
          <a:graphicData uri="http://schemas.openxmlformats.org/drawingml/2006/table">
            <a:tbl>
              <a:tblPr firstRow="1" bandRow="1">
                <a:tableStyleId>{5C22544A-7EE6-4342-B048-85BDC9FD1C3A}</a:tableStyleId>
              </a:tblPr>
              <a:tblGrid>
                <a:gridCol w="2377440"/>
                <a:gridCol w="8899855"/>
              </a:tblGrid>
              <a:tr h="603504">
                <a:tc>
                  <a:txBody>
                    <a:bodyPr wrap="square"/>
                    <a:lstStyle/>
                    <a:p>
                      <a:pPr algn="l"/>
                      <a:r>
                        <a:rPr sz="1800" b="1" i="0">
                          <a:solidFill>
                            <a:srgbClr val="FFFFFF"/>
                          </a:solidFill>
                          <a:latin typeface="Arial"/>
                        </a:rPr>
                        <a:t>Tab</a:t>
                      </a:r>
                    </a:p>
                  </a:txBody>
                  <a:tcPr marL="73152" marR="73152" marT="36576" marB="36576" anchor="ctr">
                    <a:solidFill>
                      <a:srgbClr val="1E293B"/>
                    </a:solidFill>
                  </a:tcPr>
                </a:tc>
                <a:tc>
                  <a:txBody>
                    <a:bodyPr wrap="square"/>
                    <a:lstStyle/>
                    <a:p>
                      <a:pPr algn="l"/>
                      <a:r>
                        <a:rPr sz="1800" b="1" i="0">
                          <a:solidFill>
                            <a:srgbClr val="FFFFFF"/>
                          </a:solidFill>
                          <a:latin typeface="Arial"/>
                        </a:rPr>
                        <a:t>What to watch</a:t>
                      </a:r>
                    </a:p>
                  </a:txBody>
                  <a:tcPr marL="73152" marR="73152" marT="36576" marB="36576" anchor="ctr">
                    <a:solidFill>
                      <a:srgbClr val="1E293B"/>
                    </a:solidFill>
                  </a:tcPr>
                </a:tc>
              </a:tr>
              <a:tr h="603504">
                <a:tc>
                  <a:txBody>
                    <a:bodyPr wrap="square"/>
                    <a:lstStyle/>
                    <a:p>
                      <a:pPr algn="l"/>
                      <a:r>
                        <a:rPr sz="1800" b="0" i="0">
                          <a:solidFill>
                            <a:srgbClr val="0F172A"/>
                          </a:solidFill>
                          <a:latin typeface="Arial"/>
                        </a:rPr>
                        <a:t>Replayed night</a:t>
                      </a:r>
                    </a:p>
                  </a:txBody>
                  <a:tcPr marL="73152" marR="73152" marT="36576" marB="36576" anchor="ctr">
                    <a:solidFill>
                      <a:srgbClr val="F1F5F9"/>
                    </a:solidFill>
                  </a:tcPr>
                </a:tc>
                <a:tc>
                  <a:txBody>
                    <a:bodyPr wrap="square"/>
                    <a:lstStyle/>
                    <a:p>
                      <a:pPr algn="l"/>
                      <a:r>
                        <a:rPr sz="1800" b="0" i="0">
                          <a:solidFill>
                            <a:srgbClr val="0F172A"/>
                          </a:solidFill>
                          <a:latin typeface="Arial"/>
                        </a:rPr>
                        <a:t>News → estimate vs bid-ask → usually no order, with the reason (or a guarded paper order)</a:t>
                      </a:r>
                    </a:p>
                  </a:txBody>
                  <a:tcPr marL="73152" marR="73152" marT="36576" marB="36576" anchor="ctr">
                    <a:solidFill>
                      <a:srgbClr val="F1F5F9"/>
                    </a:solidFill>
                  </a:tcPr>
                </a:tc>
              </a:tr>
              <a:tr h="603504">
                <a:tc>
                  <a:txBody>
                    <a:bodyPr wrap="square"/>
                    <a:lstStyle/>
                    <a:p>
                      <a:pPr algn="l"/>
                      <a:r>
                        <a:rPr sz="1800" b="0" i="0">
                          <a:solidFill>
                            <a:srgbClr val="0F172A"/>
                          </a:solidFill>
                          <a:latin typeface="Arial"/>
                        </a:rPr>
                        <a:t>Coach</a:t>
                      </a:r>
                    </a:p>
                  </a:txBody>
                  <a:tcPr marL="73152" marR="73152" marT="36576" marB="36576" anchor="ctr">
                    <a:solidFill>
                      <a:srgbClr val="FFFFFF"/>
                    </a:solidFill>
                  </a:tcPr>
                </a:tc>
                <a:tc>
                  <a:txBody>
                    <a:bodyPr wrap="square"/>
                    <a:lstStyle/>
                    <a:p>
                      <a:pPr algn="l"/>
                      <a:r>
                        <a:rPr sz="1800" b="0" i="0">
                          <a:solidFill>
                            <a:srgbClr val="0F172A"/>
                          </a:solidFill>
                          <a:latin typeface="Arial"/>
                        </a:rPr>
                        <a:t>Break-even after spread + fee; paper call vs the close and the agent</a:t>
                      </a:r>
                    </a:p>
                  </a:txBody>
                  <a:tcPr marL="73152" marR="73152" marT="36576" marB="36576" anchor="ctr">
                    <a:solidFill>
                      <a:srgbClr val="FFFFFF"/>
                    </a:solidFill>
                  </a:tcPr>
                </a:tc>
              </a:tr>
              <a:tr h="603504">
                <a:tc>
                  <a:txBody>
                    <a:bodyPr wrap="square"/>
                    <a:lstStyle/>
                    <a:p>
                      <a:pPr algn="l"/>
                      <a:r>
                        <a:rPr sz="1800" b="0" i="0">
                          <a:solidFill>
                            <a:srgbClr val="0F172A"/>
                          </a:solidFill>
                          <a:latin typeface="Arial"/>
                        </a:rPr>
                        <a:t>Channel briefs</a:t>
                      </a:r>
                    </a:p>
                  </a:txBody>
                  <a:tcPr marL="73152" marR="73152" marT="36576" marB="36576" anchor="ctr">
                    <a:solidFill>
                      <a:srgbClr val="F1F5F9"/>
                    </a:solidFill>
                  </a:tcPr>
                </a:tc>
                <a:tc>
                  <a:txBody>
                    <a:bodyPr wrap="square"/>
                    <a:lstStyle/>
                    <a:p>
                      <a:pPr algn="l"/>
                      <a:r>
                        <a:rPr sz="1800" b="0" i="0">
                          <a:solidFill>
                            <a:srgbClr val="0F172A"/>
                          </a:solidFill>
                          <a:latin typeface="Arial"/>
                        </a:rPr>
                        <a:t>Retail: model vs market and no-order reason; no market language for media / team</a:t>
                      </a:r>
                    </a:p>
                  </a:txBody>
                  <a:tcPr marL="73152" marR="73152" marT="36576" marB="36576" anchor="ctr">
                    <a:solidFill>
                      <a:srgbClr val="F1F5F9"/>
                    </a:solidFill>
                  </a:tcPr>
                </a:tc>
              </a:tr>
              <a:tr h="603504">
                <a:tc>
                  <a:txBody>
                    <a:bodyPr wrap="square"/>
                    <a:lstStyle/>
                    <a:p>
                      <a:pPr algn="l"/>
                      <a:r>
                        <a:rPr sz="1800" b="0" i="0">
                          <a:solidFill>
                            <a:srgbClr val="0F172A"/>
                          </a:solidFill>
                          <a:latin typeface="Arial"/>
                        </a:rPr>
                        <a:t>Learning</a:t>
                      </a:r>
                    </a:p>
                  </a:txBody>
                  <a:tcPr marL="73152" marR="73152" marT="36576" marB="36576" anchor="ctr">
                    <a:solidFill>
                      <a:srgbClr val="FFFFFF"/>
                    </a:solidFill>
                  </a:tcPr>
                </a:tc>
                <a:tc>
                  <a:txBody>
                    <a:bodyPr wrap="square"/>
                    <a:lstStyle/>
                    <a:p>
                      <a:pPr algn="l"/>
                      <a:r>
                        <a:rPr sz="1800" b="0" i="0">
                          <a:solidFill>
                            <a:srgbClr val="0F172A"/>
                          </a:solidFill>
                          <a:latin typeface="Arial"/>
                        </a:rPr>
                        <a:t>Gate keeps protective rules (skip long shots, skip chasing)</a:t>
                      </a:r>
                    </a:p>
                  </a:txBody>
                  <a:tcPr marL="73152" marR="73152" marT="36576" marB="36576" anchor="ctr">
                    <a:solidFill>
                      <a:srgbClr val="FFFFFF"/>
                    </a:solidFill>
                  </a:tcPr>
                </a:tc>
              </a:tr>
              <a:tr h="603504">
                <a:tc>
                  <a:txBody>
                    <a:bodyPr wrap="square"/>
                    <a:lstStyle/>
                    <a:p>
                      <a:pPr algn="l"/>
                      <a:r>
                        <a:rPr sz="1800" b="0" i="0">
                          <a:solidFill>
                            <a:srgbClr val="0F172A"/>
                          </a:solidFill>
                          <a:latin typeface="Arial"/>
                        </a:rPr>
                        <a:t>Safety</a:t>
                      </a:r>
                    </a:p>
                  </a:txBody>
                  <a:tcPr marL="73152" marR="73152" marT="36576" marB="36576" anchor="ctr">
                    <a:solidFill>
                      <a:srgbClr val="F1F5F9"/>
                    </a:solidFill>
                  </a:tcPr>
                </a:tc>
                <a:tc>
                  <a:txBody>
                    <a:bodyPr wrap="square"/>
                    <a:lstStyle/>
                    <a:p>
                      <a:pPr algn="l"/>
                      <a:r>
                        <a:rPr sz="1800" b="0" i="0">
                          <a:solidFill>
                            <a:srgbClr val="0F172A"/>
                          </a:solidFill>
                          <a:latin typeface="Arial"/>
                        </a:rPr>
                        <a:t>Planted violations blocked (9 / 9)</a:t>
                      </a:r>
                    </a:p>
                  </a:txBody>
                  <a:tcPr marL="73152" marR="73152" marT="36576" marB="36576" anchor="ctr">
                    <a:solidFill>
                      <a:srgbClr val="F1F5F9"/>
                    </a:solidFill>
                  </a:tcPr>
                </a:tc>
              </a:tr>
              <a:tr h="603504">
                <a:tc>
                  <a:txBody>
                    <a:bodyPr wrap="square"/>
                    <a:lstStyle/>
                    <a:p>
                      <a:pPr algn="l"/>
                      <a:r>
                        <a:rPr sz="1800" b="0" i="0">
                          <a:solidFill>
                            <a:srgbClr val="0F172A"/>
                          </a:solidFill>
                          <a:latin typeface="Arial"/>
                        </a:rPr>
                        <a:t>Models</a:t>
                      </a:r>
                    </a:p>
                  </a:txBody>
                  <a:tcPr marL="73152" marR="73152" marT="36576" marB="36576" anchor="ctr">
                    <a:solidFill>
                      <a:srgbClr val="FFFFFF"/>
                    </a:solidFill>
                  </a:tcPr>
                </a:tc>
                <a:tc>
                  <a:txBody>
                    <a:bodyPr wrap="square"/>
                    <a:lstStyle/>
                    <a:p>
                      <a:pPr algn="l"/>
                      <a:r>
                        <a:rPr sz="1800" b="0" i="0">
                          <a:solidFill>
                            <a:srgbClr val="0F172A"/>
                          </a:solidFill>
                          <a:latin typeface="Arial"/>
                        </a:rPr>
                        <a:t>Held-out results and the market beating our model</a:t>
                      </a:r>
                    </a:p>
                  </a:txBody>
                  <a:tcPr marL="73152" marR="73152" marT="36576" marB="36576" anchor="ctr">
                    <a:solidFill>
                      <a:srgbClr val="FFFFFF"/>
                    </a:solidFill>
                  </a:tcPr>
                </a:tc>
              </a:tr>
            </a:tbl>
          </a:graphicData>
        </a:graphic>
      </p:graphicFrame>
      <p:sp>
        <p:nvSpPr>
          <p:cNvPr id="8" name="Rounded Rectangle 7"/>
          <p:cNvSpPr/>
          <p:nvPr/>
        </p:nvSpPr>
        <p:spPr>
          <a:xfrm>
            <a:off x="457200" y="5760720"/>
            <a:ext cx="11277295" cy="5029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760720"/>
            <a:ext cx="11094415" cy="50292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Backup: recorded run of the same demo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Recommendations, next steps and Q&amp;A</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15</a:t>
            </a:r>
          </a:p>
        </p:txBody>
      </p:sp>
      <p:sp>
        <p:nvSpPr>
          <p:cNvPr id="7" name="Rounded Rectangle 6"/>
          <p:cNvSpPr/>
          <p:nvPr/>
        </p:nvSpPr>
        <p:spPr>
          <a:xfrm>
            <a:off x="457200" y="1234439"/>
            <a:ext cx="5852160" cy="365760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6576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5577840" cy="457200"/>
          </a:xfrm>
          <a:prstGeom prst="rect">
            <a:avLst/>
          </a:prstGeom>
          <a:noFill/>
        </p:spPr>
        <p:txBody>
          <a:bodyPr wrap="square" anchor="t" lIns="73152" rIns="73152" tIns="36576" bIns="36576">
            <a:spAutoFit/>
          </a:bodyPr>
          <a:lstStyle/>
          <a:p>
            <a:pPr algn="l">
              <a:spcAft>
                <a:spcPts val="0"/>
              </a:spcAft>
            </a:pPr>
            <a:r>
              <a:rPr sz="2000" b="1" i="0">
                <a:solidFill>
                  <a:srgbClr val="1E293B"/>
                </a:solidFill>
                <a:latin typeface="Arial"/>
              </a:rPr>
              <a:t>For products and policy</a:t>
            </a:r>
          </a:p>
        </p:txBody>
      </p:sp>
      <p:sp>
        <p:nvSpPr>
          <p:cNvPr id="10" name="TextBox 9"/>
          <p:cNvSpPr txBox="1"/>
          <p:nvPr/>
        </p:nvSpPr>
        <p:spPr>
          <a:xfrm>
            <a:off x="640080" y="1764791"/>
            <a:ext cx="5577840" cy="3054096"/>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Show the all-in cost and break-even before every order</a:t>
            </a:r>
          </a:p>
          <a:p>
            <a:pPr algn="l" marL="292608" indent="-256032">
              <a:spcAft>
                <a:spcPts val="600"/>
              </a:spcAft>
              <a:buChar char="•"/>
            </a:pPr>
            <a:r>
              <a:rPr sz="1800" b="0" i="0">
                <a:solidFill>
                  <a:srgbClr val="0F172A"/>
                </a:solidFill>
                <a:latin typeface="Arial"/>
              </a:rPr>
              <a:t>Default warning: “this news is likely priced in”</a:t>
            </a:r>
          </a:p>
          <a:p>
            <a:pPr algn="l" marL="292608" indent="-256032">
              <a:spcAft>
                <a:spcPts val="600"/>
              </a:spcAft>
              <a:buChar char="•"/>
            </a:pPr>
            <a:r>
              <a:rPr sz="1800" b="0" i="0">
                <a:solidFill>
                  <a:srgbClr val="0F172A"/>
                </a:solidFill>
                <a:latin typeface="Arial"/>
              </a:rPr>
              <a:t>Education before the first trade; default stake limits</a:t>
            </a:r>
          </a:p>
          <a:p>
            <a:pPr algn="l" marL="292608" indent="-256032">
              <a:spcAft>
                <a:spcPts val="600"/>
              </a:spcAft>
              <a:buChar char="•"/>
            </a:pPr>
            <a:r>
              <a:rPr sz="1800" b="0" i="0">
                <a:solidFill>
                  <a:srgbClr val="0F172A"/>
                </a:solidFill>
                <a:latin typeface="Arial"/>
              </a:rPr>
              <a:t>Treat betting harm as a public-health issue (Lancet)</a:t>
            </a:r>
          </a:p>
        </p:txBody>
      </p:sp>
      <p:sp>
        <p:nvSpPr>
          <p:cNvPr id="11" name="Rounded Rectangle 10"/>
          <p:cNvSpPr/>
          <p:nvPr/>
        </p:nvSpPr>
        <p:spPr>
          <a:xfrm>
            <a:off x="6583680" y="1234439"/>
            <a:ext cx="5150815" cy="365760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0" y="1234439"/>
            <a:ext cx="109728" cy="36576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0" y="1307592"/>
            <a:ext cx="4876495" cy="457200"/>
          </a:xfrm>
          <a:prstGeom prst="rect">
            <a:avLst/>
          </a:prstGeom>
          <a:noFill/>
        </p:spPr>
        <p:txBody>
          <a:bodyPr wrap="square" anchor="t" lIns="73152" rIns="73152" tIns="36576" bIns="36576">
            <a:spAutoFit/>
          </a:bodyPr>
          <a:lstStyle/>
          <a:p>
            <a:pPr algn="l">
              <a:spcAft>
                <a:spcPts val="0"/>
              </a:spcAft>
            </a:pPr>
            <a:r>
              <a:rPr sz="2000" b="1" i="0">
                <a:solidFill>
                  <a:srgbClr val="EA580C"/>
                </a:solidFill>
                <a:latin typeface="Arial"/>
              </a:rPr>
              <a:t>Our next steps</a:t>
            </a:r>
          </a:p>
        </p:txBody>
      </p:sp>
      <p:sp>
        <p:nvSpPr>
          <p:cNvPr id="14" name="TextBox 13"/>
          <p:cNvSpPr txBox="1"/>
          <p:nvPr/>
        </p:nvSpPr>
        <p:spPr>
          <a:xfrm>
            <a:off x="6766560" y="1764791"/>
            <a:ext cx="4876495" cy="3054096"/>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Show the full break-even in every retail brief</a:t>
            </a:r>
          </a:p>
          <a:p>
            <a:pPr algn="l" marL="292608" indent="-256032">
              <a:spcAft>
                <a:spcPts val="600"/>
              </a:spcAft>
              <a:buChar char="•"/>
            </a:pPr>
            <a:r>
              <a:rPr sz="1800" b="0" i="0">
                <a:solidFill>
                  <a:srgbClr val="0F172A"/>
                </a:solidFill>
                <a:latin typeface="Arial"/>
              </a:rPr>
              <a:t>Enforce a daily-loss stop</a:t>
            </a:r>
          </a:p>
          <a:p>
            <a:pPr algn="l" marL="292608" indent="-256032">
              <a:spcAft>
                <a:spcPts val="600"/>
              </a:spcAft>
              <a:buChar char="•"/>
            </a:pPr>
            <a:r>
              <a:rPr sz="1800" b="0" i="0">
                <a:solidFill>
                  <a:srgbClr val="0F172A"/>
                </a:solidFill>
                <a:latin typeface="Arial"/>
              </a:rPr>
              <a:t>Timestamped injury reports; player-prop markets</a:t>
            </a:r>
          </a:p>
        </p:txBody>
      </p:sp>
      <p:sp>
        <p:nvSpPr>
          <p:cNvPr id="15" name="TextBox 14"/>
          <p:cNvSpPr txBox="1"/>
          <p:nvPr/>
        </p:nvSpPr>
        <p:spPr>
          <a:xfrm>
            <a:off x="457200" y="5074920"/>
            <a:ext cx="11277295" cy="1097280"/>
          </a:xfrm>
          <a:prstGeom prst="rect">
            <a:avLst/>
          </a:prstGeom>
          <a:noFill/>
        </p:spPr>
        <p:txBody>
          <a:bodyPr wrap="square" anchor="ctr" lIns="73152" rIns="73152" tIns="36576" bIns="36576">
            <a:spAutoFit/>
          </a:bodyPr>
          <a:lstStyle/>
          <a:p>
            <a:pPr algn="ctr">
              <a:spcAft>
                <a:spcPts val="0"/>
              </a:spcAft>
            </a:pPr>
            <a:r>
              <a:rPr sz="4000" b="1" i="0">
                <a:solidFill>
                  <a:srgbClr val="1E293B"/>
                </a:solidFill>
                <a:latin typeface="Arial"/>
              </a:rPr>
              <a:t>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
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Track 2, and our project is market-graded learning for NBA game-impact intelligence. In one sentence: we built an agent that reads late NBA injury news, turns it into forecasts and briefs, and then grades itself against real prediction-market prices. It only keeps the lessons it learns if they pass a backtest on earlier days.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 news, such as a starter ruled out shortly before tip-off, changes who is likely to win. Prediction markets react to that news too, so the real question is whether an agent can act on public news before prices fully adjust. We also want it to score itself honestly against the market and learn from its mistakes. One forecast core serves several channels; they differ in the risk they may take, not in what they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system. On the left is public data only: ESPN box scores and inactive lists for three seasons, and Kalshi game-winner prices for 2025-26, which is 1,316 games and about 3.9 million one-minute price rows. The models are trained once, then a replay walks through the season day by day and gives the agent an as-of view, so it can never see future information. The agent decides, reviews nightly, and its outputs go to channel briefs, paper orders with an audit log, the Coach, and our evaluation.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trained four models plus a wrapper. The GRU beats both baselines on pinball loss for points and minutes, and its 10-to-90 percent intervals cover about 80 percent of outcomes, which is what a calibrated interval should do. The play classifier beats simple rules on Brier score. Importantly, only M4, the win model, drives trades; M2 and M3 feed the briefs and player tables. M5 is the single as-of interface that the agent, replay and demo all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M4 to the Kalshi price on 501 test games. The market at tip has a Brier score of 0.163; M4 with absences known is 0.183. When the two disagree by more than five points, the market is the one that is right, in both directions. So the lesson was: do not trade the raw model. That shaped the whole trading design you will see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is one LangGraph with two phases. Decide runs at every public news item in the six hours before tip and once at tip minus 60 minutes: investigate, forecast, analyse, then propose or take no action, then code checks with one retry, risk limits, and confirm or block. Review runs once a night: settle, the reviewer proposes one rule, and a separate gate decides whether it goes into the notebook. The LLM, Gemini, is optional and only used in investigate, analyse and review; by default everything runs offline and deterministically.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the market beats our model, we use the market as the base rate. The anchor is the market mid 24 hours before tip, and our estimate adds only M4's news shift. The gap is our probability for a side minus the price minus the Kalshi fee. We trade only if the gap is over 4 points, no notebook rule says skip, and we do not already hold the game. Risk caps are code: $50 per order, $100 per game, $300 per day, with a $20 stake.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real trade from the test period. At 01:30 UTC the inactive list showed four Portland players out: Avdija, Henderson, Murray and Thybulle. The market had Portland at 42 percent 24 hours earlier; M4's news shift was minus 8.7 points, so our estimate was 33.8 percent. We bought Portland NO at 55 cents plus a 1.7 cent fee, a gap of 9.5 points. The price closed at 62.5 percent, so we beat the close by 7.5 cents, and Cleveland won 130 to 111 for a profit of $15.57.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night the reviewer looks at the worst closing-line-value slice of settled trades and proposes one machine-checkable rule. The agent that writes a rule never approves it: the gate backtests it on earlier days only, and keeps it if mean CLV improves. Over the test period it proposed 37 rules and kept only 5, for example skip sides priced at or below 35 cents, and skip when the market has already moved 2 cents or more against us. In development it proposed 21 and kept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test-period results on real Kalshi prices, the same prices for every setup, with fills at the ask plus fees. Trading the raw model loses $2,087 on 366 trades and has 10 days that lost over $100. Anchoring to the market cuts that to minus $247, and adding learning brings it to minus $32 on 74 trades, with the maximum drawdown down to $195. We are still slightly negative,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funnel shows how selective the agent is. Of 771 decision points in the test period, only 153 had a gap over 4 points after fees, and after notebook rules and the one-position-per-game limit, 74 were traded. 27 of those beat or matched the closing price and 41 won. Most of the value comes from the trades the agent declines.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safety: all 9 planted policy violations were blocked, including over-cap orders, post-tip orders, orders from the team and media channels, and 'guaranteed lock' copy. The replay never shows future information, we use public data only, and all money is paper money. On honesty: mean CLV is still slightly negative in every setup, so we avoid bad trades rather than beat the close. The kill switch is measured, not enforced; injury news is stamped 30 minutes before tip, which is conservative; and 'development rules frozen' equals 'no learning' because both development rules expired.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tab is for learners. At a chosen decision time it explains the game using only what was public then: the news, our model before and after, the market now versus 24 hours earlier, and the break-even price after spread and fee. Lesson cards are triggered by the situation. The user can back a team or pass with a paper stake, then see the closing price, result and what the agent did. It is educational and uses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live demo. I'll start on the replayed night, where late news changes a status and the briefs and model-versus-market view update. Then the Coach tab, briefly the channel briefs, the learning tab with a rule the gate accepted, the safety tab with planted violations being blocked, and the models tab.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market is a stronger forecaster than our model, and we report that. By anchoring to the market and learning gated rules, test-period losses went from minus $2,087 to minus $32 on far fewer trades, while every planted safety violation was blocked. Next we would enforce a daily-loss stop, use timestamped injury reports, extend to player-prop markets, and evaluate the LLM mode against the offline rules.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88720"/>
            <a:ext cx="10545775" cy="173736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Market-Graded Learning for NBA Game-Impact Intelligence</a:t>
            </a:r>
          </a:p>
        </p:txBody>
      </p:sp>
      <p:sp>
        <p:nvSpPr>
          <p:cNvPr id="5" name="TextBox 4"/>
          <p:cNvSpPr txBox="1"/>
          <p:nvPr/>
        </p:nvSpPr>
        <p:spPr>
          <a:xfrm>
            <a:off x="822960" y="2926080"/>
            <a:ext cx="10545775" cy="1097280"/>
          </a:xfrm>
          <a:prstGeom prst="rect">
            <a:avLst/>
          </a:prstGeom>
          <a:noFill/>
        </p:spPr>
        <p:txBody>
          <a:bodyPr wrap="square" anchor="t" lIns="73152" rIns="73152" tIns="36576" bIns="36576">
            <a:spAutoFit/>
          </a:bodyPr>
          <a:lstStyle/>
          <a:p>
            <a:pPr algn="l">
              <a:spcAft>
                <a:spcPts val="800"/>
              </a:spcAft>
            </a:pPr>
            <a:r>
              <a:rPr sz="2200" b="0" i="0">
                <a:solidFill>
                  <a:srgbClr val="CBD5E1"/>
                </a:solidFill>
                <a:latin typeface="Arial"/>
              </a:rPr>
              <a:t>An agent that reads late injury news, grades itself against prediction-market prices, and learns rules only when they pass a backtest</a:t>
            </a:r>
          </a:p>
        </p:txBody>
      </p:sp>
      <p:sp>
        <p:nvSpPr>
          <p:cNvPr id="6" name="TextBox 5"/>
          <p:cNvSpPr txBox="1"/>
          <p:nvPr/>
        </p:nvSpPr>
        <p:spPr>
          <a:xfrm>
            <a:off x="822960" y="4480560"/>
            <a:ext cx="10545775" cy="146304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late news moves win probabilities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TextBox 6"/>
          <p:cNvSpPr txBox="1"/>
          <p:nvPr/>
        </p:nvSpPr>
        <p:spPr>
          <a:xfrm>
            <a:off x="457200" y="1280160"/>
            <a:ext cx="6035040" cy="4937760"/>
          </a:xfrm>
          <a:prstGeom prst="rect">
            <a:avLst/>
          </a:prstGeom>
          <a:noFill/>
        </p:spPr>
        <p:txBody>
          <a:bodyPr wrap="square" anchor="t" lIns="73152" rIns="73152" tIns="36576" bIns="36576">
            <a:spAutoFit/>
          </a:bodyPr>
          <a:lstStyle/>
          <a:p>
            <a:pPr algn="l" marL="292608" indent="-256032">
              <a:spcAft>
                <a:spcPts val="1600"/>
              </a:spcAft>
              <a:buChar char="•"/>
            </a:pPr>
            <a:r>
              <a:rPr sz="2200" b="0" i="0">
                <a:solidFill>
                  <a:srgbClr val="0F172A"/>
                </a:solidFill>
                <a:latin typeface="Arial"/>
              </a:rPr>
              <a:t>A starter ruled out shortly before tip-off changes a game's win probability</a:t>
            </a:r>
          </a:p>
          <a:p>
            <a:pPr algn="l" marL="292608" indent="-256032">
              <a:spcAft>
                <a:spcPts val="1600"/>
              </a:spcAft>
              <a:buChar char="•"/>
            </a:pPr>
            <a:r>
              <a:rPr sz="2200" b="0" i="0">
                <a:solidFill>
                  <a:srgbClr val="0F172A"/>
                </a:solidFill>
                <a:latin typeface="Arial"/>
              </a:rPr>
              <a:t>Can an agent act on </a:t>
            </a:r>
            <a:r>
              <a:rPr sz="2200" b="1" i="0">
                <a:solidFill>
                  <a:srgbClr val="0F172A"/>
                </a:solidFill>
                <a:latin typeface="Arial"/>
              </a:rPr>
              <a:t>public</a:t>
            </a:r>
            <a:r>
              <a:rPr sz="2200" b="0" i="0">
                <a:solidFill>
                  <a:srgbClr val="0F172A"/>
                </a:solidFill>
                <a:latin typeface="Arial"/>
              </a:rPr>
              <a:t> news before prediction-market prices fully adjust?</a:t>
            </a:r>
          </a:p>
          <a:p>
            <a:pPr algn="l" marL="292608" indent="-256032">
              <a:spcAft>
                <a:spcPts val="1600"/>
              </a:spcAft>
              <a:buChar char="•"/>
            </a:pPr>
            <a:r>
              <a:rPr sz="2200" b="0" i="0">
                <a:solidFill>
                  <a:srgbClr val="0F172A"/>
                </a:solidFill>
                <a:latin typeface="Arial"/>
              </a:rPr>
              <a:t>Grade every decision against the market price, not just win/loss</a:t>
            </a:r>
          </a:p>
          <a:p>
            <a:pPr algn="l" marL="292608" indent="-256032">
              <a:spcAft>
                <a:spcPts val="1600"/>
              </a:spcAft>
              <a:buChar char="•"/>
            </a:pPr>
            <a:r>
              <a:rPr sz="2200" b="0" i="0">
                <a:solidFill>
                  <a:srgbClr val="0F172A"/>
                </a:solidFill>
                <a:latin typeface="Arial"/>
              </a:rPr>
              <a:t>Learn from mistakes, but keep a rule only if it passes a backtest on earlier days</a:t>
            </a:r>
          </a:p>
        </p:txBody>
      </p:sp>
      <p:sp>
        <p:nvSpPr>
          <p:cNvPr id="8" name="Rounded Rectangle 7"/>
          <p:cNvSpPr/>
          <p:nvPr/>
        </p:nvSpPr>
        <p:spPr>
          <a:xfrm>
            <a:off x="6858000" y="1280160"/>
            <a:ext cx="4876495" cy="49834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1371600"/>
            <a:ext cx="4480560" cy="548640"/>
          </a:xfrm>
          <a:prstGeom prst="rect">
            <a:avLst/>
          </a:prstGeom>
          <a:noFill/>
        </p:spPr>
        <p:txBody>
          <a:bodyPr wrap="square" anchor="t" lIns="73152" rIns="73152" tIns="36576" bIns="36576">
            <a:spAutoFit/>
          </a:bodyPr>
          <a:lstStyle/>
          <a:p>
            <a:pPr algn="l">
              <a:spcAft>
                <a:spcPts val="800"/>
              </a:spcAft>
            </a:pPr>
            <a:r>
              <a:rPr sz="2000" b="1" i="0">
                <a:solidFill>
                  <a:srgbClr val="1E293B"/>
                </a:solidFill>
                <a:latin typeface="Arial"/>
              </a:rPr>
              <a:t>Who uses it (one forecast core)</a:t>
            </a:r>
          </a:p>
        </p:txBody>
      </p:sp>
      <p:sp>
        <p:nvSpPr>
          <p:cNvPr id="10" name="Rectangle 9"/>
          <p:cNvSpPr/>
          <p:nvPr/>
        </p:nvSpPr>
        <p:spPr>
          <a:xfrm>
            <a:off x="7040880" y="1965960"/>
            <a:ext cx="91440"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1920240"/>
            <a:ext cx="4206240" cy="777240"/>
          </a:xfrm>
          <a:prstGeom prst="rect">
            <a:avLst/>
          </a:prstGeom>
          <a:noFill/>
        </p:spPr>
        <p:txBody>
          <a:bodyPr wrap="square" anchor="t" lIns="73152" rIns="73152" tIns="36576" bIns="36576">
            <a:spAutoFit/>
          </a:bodyPr>
          <a:lstStyle/>
          <a:p>
            <a:pPr algn="l">
              <a:spcAft>
                <a:spcPts val="0"/>
              </a:spcAft>
            </a:pPr>
            <a:r>
              <a:rPr sz="1900" b="1" i="0">
                <a:solidFill>
                  <a:srgbClr val="2563EB"/>
                </a:solidFill>
                <a:latin typeface="Arial"/>
              </a:rPr>
              <a:t>Platforms (fantasy, media sites)</a:t>
            </a:r>
          </a:p>
          <a:p>
            <a:pPr algn="l">
              <a:spcAft>
                <a:spcPts val="0"/>
              </a:spcAft>
            </a:pPr>
            <a:r>
              <a:rPr sz="1800" b="0" i="0">
                <a:solidFill>
                  <a:srgbClr val="0F172A"/>
                </a:solidFill>
                <a:latin typeface="Arial"/>
              </a:rPr>
              <a:t>audited projection refresh</a:t>
            </a:r>
          </a:p>
        </p:txBody>
      </p:sp>
      <p:sp>
        <p:nvSpPr>
          <p:cNvPr id="12" name="Rectangle 11"/>
          <p:cNvSpPr/>
          <p:nvPr/>
        </p:nvSpPr>
        <p:spPr>
          <a:xfrm>
            <a:off x="7040880" y="2816352"/>
            <a:ext cx="91440"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2770632"/>
            <a:ext cx="4206240" cy="777240"/>
          </a:xfrm>
          <a:prstGeom prst="rect">
            <a:avLst/>
          </a:prstGeom>
          <a:noFill/>
        </p:spPr>
        <p:txBody>
          <a:bodyPr wrap="square" anchor="t" lIns="73152" rIns="73152" tIns="36576" bIns="36576">
            <a:spAutoFit/>
          </a:bodyPr>
          <a:lstStyle/>
          <a:p>
            <a:pPr algn="l">
              <a:spcAft>
                <a:spcPts val="0"/>
              </a:spcAft>
            </a:pPr>
            <a:r>
              <a:rPr sz="1900" b="1" i="0">
                <a:solidFill>
                  <a:srgbClr val="2563EB"/>
                </a:solidFill>
                <a:latin typeface="Arial"/>
              </a:rPr>
              <a:t>Media</a:t>
            </a:r>
          </a:p>
          <a:p>
            <a:pPr algn="l">
              <a:spcAft>
                <a:spcPts val="0"/>
              </a:spcAft>
            </a:pPr>
            <a:r>
              <a:rPr sz="1800" b="0" i="0">
                <a:solidFill>
                  <a:srgbClr val="0F172A"/>
                </a:solidFill>
                <a:latin typeface="Arial"/>
              </a:rPr>
              <a:t>“who gains, who loses”, no bets</a:t>
            </a:r>
          </a:p>
        </p:txBody>
      </p:sp>
      <p:sp>
        <p:nvSpPr>
          <p:cNvPr id="14" name="Rectangle 13"/>
          <p:cNvSpPr/>
          <p:nvPr/>
        </p:nvSpPr>
        <p:spPr>
          <a:xfrm>
            <a:off x="7040880" y="3666744"/>
            <a:ext cx="91440"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3621024"/>
            <a:ext cx="4206240" cy="777240"/>
          </a:xfrm>
          <a:prstGeom prst="rect">
            <a:avLst/>
          </a:prstGeom>
          <a:noFill/>
        </p:spPr>
        <p:txBody>
          <a:bodyPr wrap="square" anchor="t" lIns="73152" rIns="73152" tIns="36576" bIns="36576">
            <a:spAutoFit/>
          </a:bodyPr>
          <a:lstStyle/>
          <a:p>
            <a:pPr algn="l">
              <a:spcAft>
                <a:spcPts val="0"/>
              </a:spcAft>
            </a:pPr>
            <a:r>
              <a:rPr sz="1900" b="1" i="0">
                <a:solidFill>
                  <a:srgbClr val="2563EB"/>
                </a:solidFill>
                <a:latin typeface="Arial"/>
              </a:rPr>
              <a:t>Teams</a:t>
            </a:r>
          </a:p>
          <a:p>
            <a:pPr algn="l">
              <a:spcAft>
                <a:spcPts val="0"/>
              </a:spcAft>
            </a:pPr>
            <a:r>
              <a:rPr sz="1800" b="0" i="0">
                <a:solidFill>
                  <a:srgbClr val="0F172A"/>
                </a:solidFill>
                <a:latin typeface="Arial"/>
              </a:rPr>
              <a:t>internal brief, no market signal</a:t>
            </a:r>
          </a:p>
        </p:txBody>
      </p:sp>
      <p:sp>
        <p:nvSpPr>
          <p:cNvPr id="16" name="Rectangle 15"/>
          <p:cNvSpPr/>
          <p:nvPr/>
        </p:nvSpPr>
        <p:spPr>
          <a:xfrm>
            <a:off x="7040880" y="4517136"/>
            <a:ext cx="91440" cy="685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0" y="4471416"/>
            <a:ext cx="4206240" cy="777240"/>
          </a:xfrm>
          <a:prstGeom prst="rect">
            <a:avLst/>
          </a:prstGeom>
          <a:noFill/>
        </p:spPr>
        <p:txBody>
          <a:bodyPr wrap="square" anchor="t" lIns="73152" rIns="73152" tIns="36576" bIns="36576">
            <a:spAutoFit/>
          </a:bodyPr>
          <a:lstStyle/>
          <a:p>
            <a:pPr algn="l">
              <a:spcAft>
                <a:spcPts val="0"/>
              </a:spcAft>
            </a:pPr>
            <a:r>
              <a:rPr sz="1900" b="1" i="0">
                <a:solidFill>
                  <a:srgbClr val="EA580C"/>
                </a:solidFill>
                <a:latin typeface="Arial"/>
              </a:rPr>
              <a:t>Retail</a:t>
            </a:r>
          </a:p>
          <a:p>
            <a:pPr algn="l">
              <a:spcAft>
                <a:spcPts val="0"/>
              </a:spcAft>
            </a:pPr>
            <a:r>
              <a:rPr sz="1800" b="0" i="0">
                <a:solidFill>
                  <a:srgbClr val="0F172A"/>
                </a:solidFill>
                <a:latin typeface="Arial"/>
              </a:rPr>
              <a:t>model vs market, guarded trade</a:t>
            </a:r>
          </a:p>
        </p:txBody>
      </p:sp>
      <p:sp>
        <p:nvSpPr>
          <p:cNvPr id="18" name="Rectangle 17"/>
          <p:cNvSpPr/>
          <p:nvPr/>
        </p:nvSpPr>
        <p:spPr>
          <a:xfrm>
            <a:off x="7040880" y="5367528"/>
            <a:ext cx="91440" cy="6858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0" y="5321808"/>
            <a:ext cx="4206240" cy="777240"/>
          </a:xfrm>
          <a:prstGeom prst="rect">
            <a:avLst/>
          </a:prstGeom>
          <a:noFill/>
        </p:spPr>
        <p:txBody>
          <a:bodyPr wrap="square" anchor="t" lIns="73152" rIns="73152" tIns="36576" bIns="36576">
            <a:spAutoFit/>
          </a:bodyPr>
          <a:lstStyle/>
          <a:p>
            <a:pPr algn="l">
              <a:spcAft>
                <a:spcPts val="0"/>
              </a:spcAft>
            </a:pPr>
            <a:r>
              <a:rPr sz="1900" b="1" i="0">
                <a:solidFill>
                  <a:srgbClr val="16A34A"/>
                </a:solidFill>
                <a:latin typeface="Arial"/>
              </a:rPr>
              <a:t>Coach (learners)</a:t>
            </a:r>
          </a:p>
          <a:p>
            <a:pPr algn="l">
              <a:spcAft>
                <a:spcPts val="0"/>
              </a:spcAft>
            </a:pPr>
            <a:r>
              <a:rPr sz="1800" b="0" i="0">
                <a:solidFill>
                  <a:srgbClr val="0F172A"/>
                </a:solidFill>
                <a:latin typeface="Arial"/>
              </a:rPr>
              <a:t>how markets and news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whole product, end to end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pic>
        <p:nvPicPr>
          <p:cNvPr id="7" name="Picture 6" descr="product_workflow.png"/>
          <p:cNvPicPr>
            <a:picLocks noChangeAspect="1"/>
          </p:cNvPicPr>
          <p:nvPr/>
        </p:nvPicPr>
        <p:blipFill>
          <a:blip r:embed="rId3"/>
          <a:stretch>
            <a:fillRect/>
          </a:stretch>
        </p:blipFill>
        <p:spPr>
          <a:xfrm>
            <a:off x="1560048" y="1097280"/>
            <a:ext cx="9071597" cy="4434840"/>
          </a:xfrm>
          <a:prstGeom prst="rect">
            <a:avLst/>
          </a:prstGeom>
        </p:spPr>
      </p:pic>
      <p:sp>
        <p:nvSpPr>
          <p:cNvPr id="8" name="TextBox 7"/>
          <p:cNvSpPr txBox="1"/>
          <p:nvPr/>
        </p:nvSpPr>
        <p:spPr>
          <a:xfrm>
            <a:off x="457200" y="5577840"/>
            <a:ext cx="11277295" cy="731520"/>
          </a:xfrm>
          <a:prstGeom prst="rect">
            <a:avLst/>
          </a:prstGeom>
          <a:noFill/>
        </p:spPr>
        <p:txBody>
          <a:bodyPr wrap="square" anchor="t" lIns="73152" rIns="73152" tIns="36576" bIns="36576">
            <a:spAutoFit/>
          </a:bodyPr>
          <a:lstStyle/>
          <a:p>
            <a:pPr algn="ctr">
              <a:spcAft>
                <a:spcPts val="800"/>
              </a:spcAft>
            </a:pPr>
            <a:r>
              <a:rPr sz="1800" b="1" i="0">
                <a:solidFill>
                  <a:srgbClr val="0F172A"/>
                </a:solidFill>
                <a:latin typeface="Arial"/>
              </a:rPr>
              <a:t>Data:</a:t>
            </a:r>
            <a:r>
              <a:rPr sz="1800" b="0" i="0">
                <a:solidFill>
                  <a:srgbClr val="0F172A"/>
                </a:solidFill>
                <a:latin typeface="Arial"/>
              </a:rPr>
              <a:t> ESPN box scores + inactive lists, 2023-24 to 2025-26 · Kalshi game-winner prices, 2025-26: 1,316 games, ~3.9M one-minute price rows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Models M1–M5: only the M4 win model drives trades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4552" cy="4023360"/>
        </p:xfrm>
        <a:graphic>
          <a:graphicData uri="http://schemas.openxmlformats.org/drawingml/2006/table">
            <a:tbl>
              <a:tblPr firstRow="1" bandRow="1">
                <a:tableStyleId>{5C22544A-7EE6-4342-B048-85BDC9FD1C3A}</a:tableStyleId>
              </a:tblPr>
              <a:tblGrid>
                <a:gridCol w="2103120"/>
                <a:gridCol w="3566160"/>
                <a:gridCol w="3657600"/>
                <a:gridCol w="1947672"/>
              </a:tblGrid>
              <a:tr h="457200">
                <a:tc>
                  <a:txBody>
                    <a:bodyPr wrap="square"/>
                    <a:lstStyle/>
                    <a:p>
                      <a:pPr algn="l"/>
                      <a:r>
                        <a:rPr sz="1600" b="1" i="0">
                          <a:solidFill>
                            <a:srgbClr val="FFFFFF"/>
                          </a:solidFill>
                          <a:latin typeface="Arial"/>
                        </a:rPr>
                        <a:t>Model</a:t>
                      </a:r>
                    </a:p>
                  </a:txBody>
                  <a:tcPr marL="73152" marR="73152" marT="36576" marB="36576" anchor="ctr">
                    <a:solidFill>
                      <a:srgbClr val="1E293B"/>
                    </a:solidFill>
                  </a:tcPr>
                </a:tc>
                <a:tc>
                  <a:txBody>
                    <a:bodyPr wrap="square"/>
                    <a:lstStyle/>
                    <a:p>
                      <a:pPr algn="l"/>
                      <a:r>
                        <a:rPr sz="1600" b="1" i="0">
                          <a:solidFill>
                            <a:srgbClr val="FFFFFF"/>
                          </a:solidFill>
                          <a:latin typeface="Arial"/>
                        </a:rPr>
                        <a:t>What it predicts</a:t>
                      </a:r>
                    </a:p>
                  </a:txBody>
                  <a:tcPr marL="73152" marR="73152" marT="36576" marB="36576" anchor="ctr">
                    <a:solidFill>
                      <a:srgbClr val="1E293B"/>
                    </a:solidFill>
                  </a:tcPr>
                </a:tc>
                <a:tc>
                  <a:txBody>
                    <a:bodyPr wrap="square"/>
                    <a:lstStyle/>
                    <a:p>
                      <a:pPr algn="l"/>
                      <a:r>
                        <a:rPr sz="1600" b="1" i="0">
                          <a:solidFill>
                            <a:srgbClr val="FFFFFF"/>
                          </a:solidFill>
                          <a:latin typeface="Arial"/>
                        </a:rPr>
                        <a:t>Held-out result</a:t>
                      </a:r>
                    </a:p>
                  </a:txBody>
                  <a:tcPr marL="73152" marR="73152" marT="36576" marB="36576" anchor="ctr">
                    <a:solidFill>
                      <a:srgbClr val="1E293B"/>
                    </a:solidFill>
                  </a:tcPr>
                </a:tc>
                <a:tc>
                  <a:txBody>
                    <a:bodyPr wrap="square"/>
                    <a:lstStyle/>
                    <a:p>
                      <a:pPr algn="l"/>
                      <a:r>
                        <a:rPr sz="1600" b="1" i="0">
                          <a:solidFill>
                            <a:srgbClr val="FFFFFF"/>
                          </a:solidFill>
                          <a:latin typeface="Arial"/>
                        </a:rPr>
                        <a:t>Used for</a:t>
                      </a:r>
                    </a:p>
                  </a:txBody>
                  <a:tcPr marL="73152" marR="73152" marT="36576" marB="36576" anchor="ctr">
                    <a:solidFill>
                      <a:srgbClr val="1E293B"/>
                    </a:solidFill>
                  </a:tcPr>
                </a:tc>
              </a:tr>
              <a:tr h="713232">
                <a:tc>
                  <a:txBody>
                    <a:bodyPr wrap="square"/>
                    <a:lstStyle/>
                    <a:p>
                      <a:pPr algn="l"/>
                      <a:r>
                        <a:rPr sz="1600" b="0" i="0">
                          <a:solidFill>
                            <a:srgbClr val="0F172A"/>
                          </a:solidFill>
                          <a:latin typeface="Arial"/>
                        </a:rPr>
                        <a:t>M1 Baselines</a:t>
                      </a:r>
                    </a:p>
                  </a:txBody>
                  <a:tcPr marL="73152" marR="73152" marT="36576" marB="36576" anchor="ctr">
                    <a:solidFill>
                      <a:srgbClr val="F1F5F9"/>
                    </a:solidFill>
                  </a:tcPr>
                </a:tc>
                <a:tc>
                  <a:txBody>
                    <a:bodyPr wrap="square"/>
                    <a:lstStyle/>
                    <a:p>
                      <a:pPr algn="l"/>
                      <a:r>
                        <a:rPr sz="1600" b="0" i="0">
                          <a:solidFill>
                            <a:srgbClr val="0F172A"/>
                          </a:solidFill>
                          <a:latin typeface="Arial"/>
                        </a:rPr>
                        <a:t>10-game rolling average; gradient boosting (GBM) with teammates-out</a:t>
                      </a:r>
                    </a:p>
                  </a:txBody>
                  <a:tcPr marL="73152" marR="73152" marT="36576" marB="36576" anchor="ctr">
                    <a:solidFill>
                      <a:srgbClr val="F1F5F9"/>
                    </a:solidFill>
                  </a:tcPr>
                </a:tc>
                <a:tc>
                  <a:txBody>
                    <a:bodyPr wrap="square"/>
                    <a:lstStyle/>
                    <a:p>
                      <a:pPr algn="l"/>
                      <a:r>
                        <a:rPr sz="1600" b="0" i="0">
                          <a:solidFill>
                            <a:srgbClr val="0F172A"/>
                          </a:solidFill>
                          <a:latin typeface="Arial"/>
                        </a:rPr>
                        <a:t>Pinball: rolling 1.641 pts / 1.966 min; GBM 1.590 / 1.724</a:t>
                      </a:r>
                    </a:p>
                  </a:txBody>
                  <a:tcPr marL="73152" marR="73152" marT="36576" marB="36576" anchor="ctr">
                    <a:solidFill>
                      <a:srgbClr val="F1F5F9"/>
                    </a:solidFill>
                  </a:tcPr>
                </a:tc>
                <a:tc>
                  <a:txBody>
                    <a:bodyPr wrap="square"/>
                    <a:lstStyle/>
                    <a:p>
                      <a:pPr algn="l"/>
                      <a:r>
                        <a:rPr sz="1600" b="0" i="0">
                          <a:solidFill>
                            <a:srgbClr val="0F172A"/>
                          </a:solidFill>
                          <a:latin typeface="Arial"/>
                        </a:rPr>
                        <a:t>Reference for M2</a:t>
                      </a:r>
                    </a:p>
                  </a:txBody>
                  <a:tcPr marL="73152" marR="73152" marT="36576" marB="36576" anchor="ctr">
                    <a:solidFill>
                      <a:srgbClr val="F1F5F9"/>
                    </a:solidFill>
                  </a:tcPr>
                </a:tc>
              </a:tr>
              <a:tr h="713232">
                <a:tc>
                  <a:txBody>
                    <a:bodyPr wrap="square"/>
                    <a:lstStyle/>
                    <a:p>
                      <a:pPr algn="l"/>
                      <a:r>
                        <a:rPr sz="1600" b="0" i="0">
                          <a:solidFill>
                            <a:srgbClr val="0F172A"/>
                          </a:solidFill>
                          <a:latin typeface="Arial"/>
                        </a:rPr>
                        <a:t>M2 GRU</a:t>
                      </a:r>
                    </a:p>
                  </a:txBody>
                  <a:tcPr marL="73152" marR="73152" marT="36576" marB="36576" anchor="ctr">
                    <a:solidFill>
                      <a:srgbClr val="FFFFFF"/>
                    </a:solidFill>
                  </a:tcPr>
                </a:tc>
                <a:tc>
                  <a:txBody>
                    <a:bodyPr wrap="square"/>
                    <a:lstStyle/>
                    <a:p>
                      <a:pPr algn="l"/>
                      <a:r>
                        <a:rPr sz="1600" b="0" i="0">
                          <a:solidFill>
                            <a:srgbClr val="0F172A"/>
                          </a:solidFill>
                          <a:latin typeface="Arial"/>
                        </a:rPr>
                        <a:t>Points and minutes quantiles from each player's last 20 games</a:t>
                      </a:r>
                    </a:p>
                  </a:txBody>
                  <a:tcPr marL="73152" marR="73152" marT="36576" marB="36576" anchor="ctr">
                    <a:solidFill>
                      <a:srgbClr val="FFFFFF"/>
                    </a:solidFill>
                  </a:tcPr>
                </a:tc>
                <a:tc>
                  <a:txBody>
                    <a:bodyPr wrap="square"/>
                    <a:lstStyle/>
                    <a:p>
                      <a:pPr algn="l"/>
                      <a:r>
                        <a:rPr sz="1600" b="0" i="0">
                          <a:solidFill>
                            <a:srgbClr val="0F172A"/>
                          </a:solidFill>
                          <a:latin typeface="Arial"/>
                        </a:rPr>
                        <a:t>Pinball </a:t>
                      </a:r>
                      <a:r>
                        <a:rPr sz="1600" b="1" i="0">
                          <a:solidFill>
                            <a:srgbClr val="0F172A"/>
                          </a:solidFill>
                          <a:latin typeface="Arial"/>
                        </a:rPr>
                        <a:t>1.553 pts / 1.680 min</a:t>
                      </a:r>
                      <a:r>
                        <a:rPr sz="1600" b="0" i="0">
                          <a:solidFill>
                            <a:srgbClr val="0F172A"/>
                          </a:solidFill>
                          <a:latin typeface="Arial"/>
                        </a:rPr>
                        <a:t>; 10–90% coverage 0.81 / 0.80</a:t>
                      </a:r>
                    </a:p>
                  </a:txBody>
                  <a:tcPr marL="73152" marR="73152" marT="36576" marB="36576" anchor="ctr">
                    <a:solidFill>
                      <a:srgbClr val="FFFFFF"/>
                    </a:solidFill>
                  </a:tcPr>
                </a:tc>
                <a:tc>
                  <a:txBody>
                    <a:bodyPr wrap="square"/>
                    <a:lstStyle/>
                    <a:p>
                      <a:pPr algn="l"/>
                      <a:r>
                        <a:rPr sz="1600" b="0" i="0">
                          <a:solidFill>
                            <a:srgbClr val="0F172A"/>
                          </a:solidFill>
                          <a:latin typeface="Arial"/>
                        </a:rPr>
                        <a:t>Briefs, player tables</a:t>
                      </a:r>
                    </a:p>
                  </a:txBody>
                  <a:tcPr marL="73152" marR="73152" marT="36576" marB="36576" anchor="ctr">
                    <a:solidFill>
                      <a:srgbClr val="FFFFFF"/>
                    </a:solidFill>
                  </a:tcPr>
                </a:tc>
              </a:tr>
              <a:tr h="713232">
                <a:tc>
                  <a:txBody>
                    <a:bodyPr wrap="square"/>
                    <a:lstStyle/>
                    <a:p>
                      <a:pPr algn="l"/>
                      <a:r>
                        <a:rPr sz="1600" b="0" i="0">
                          <a:solidFill>
                            <a:srgbClr val="0F172A"/>
                          </a:solidFill>
                          <a:latin typeface="Arial"/>
                        </a:rPr>
                        <a:t>M3 Play classifier</a:t>
                      </a:r>
                    </a:p>
                  </a:txBody>
                  <a:tcPr marL="73152" marR="73152" marT="36576" marB="36576" anchor="ctr">
                    <a:solidFill>
                      <a:srgbClr val="F1F5F9"/>
                    </a:solidFill>
                  </a:tcPr>
                </a:tc>
                <a:tc>
                  <a:txBody>
                    <a:bodyPr wrap="square"/>
                    <a:lstStyle/>
                    <a:p>
                      <a:pPr algn="l"/>
                      <a:r>
                        <a:rPr sz="1600" b="0" i="0">
                          <a:solidFill>
                            <a:srgbClr val="0F172A"/>
                          </a:solidFill>
                          <a:latin typeface="Arial"/>
                        </a:rPr>
                        <a:t>P(player plays)</a:t>
                      </a:r>
                    </a:p>
                  </a:txBody>
                  <a:tcPr marL="73152" marR="73152" marT="36576" marB="36576" anchor="ctr">
                    <a:solidFill>
                      <a:srgbClr val="F1F5F9"/>
                    </a:solidFill>
                  </a:tcPr>
                </a:tc>
                <a:tc>
                  <a:txBody>
                    <a:bodyPr wrap="square"/>
                    <a:lstStyle/>
                    <a:p>
                      <a:pPr algn="l"/>
                      <a:r>
                        <a:rPr sz="1600" b="0" i="0">
                          <a:solidFill>
                            <a:srgbClr val="0F172A"/>
                          </a:solidFill>
                          <a:latin typeface="Arial"/>
                        </a:rPr>
                        <a:t>Brier </a:t>
                      </a:r>
                      <a:r>
                        <a:rPr sz="1600" b="1" i="0">
                          <a:solidFill>
                            <a:srgbClr val="0F172A"/>
                          </a:solidFill>
                          <a:latin typeface="Arial"/>
                        </a:rPr>
                        <a:t>0.143</a:t>
                      </a:r>
                      <a:r>
                        <a:rPr sz="1600" b="0" i="0">
                          <a:solidFill>
                            <a:srgbClr val="0F172A"/>
                          </a:solidFill>
                          <a:latin typeface="Arial"/>
                        </a:rPr>
                        <a:t> vs rules 0.169–0.172</a:t>
                      </a:r>
                    </a:p>
                  </a:txBody>
                  <a:tcPr marL="73152" marR="73152" marT="36576" marB="36576" anchor="ctr">
                    <a:solidFill>
                      <a:srgbClr val="F1F5F9"/>
                    </a:solidFill>
                  </a:tcPr>
                </a:tc>
                <a:tc>
                  <a:txBody>
                    <a:bodyPr wrap="square"/>
                    <a:lstStyle/>
                    <a:p>
                      <a:pPr algn="l"/>
                      <a:r>
                        <a:rPr sz="1600" b="0" i="0">
                          <a:solidFill>
                            <a:srgbClr val="0F172A"/>
                          </a:solidFill>
                          <a:latin typeface="Arial"/>
                        </a:rPr>
                        <a:t>Briefs, player tables</a:t>
                      </a:r>
                    </a:p>
                  </a:txBody>
                  <a:tcPr marL="73152" marR="73152" marT="36576" marB="36576" anchor="ctr">
                    <a:solidFill>
                      <a:srgbClr val="F1F5F9"/>
                    </a:solidFill>
                  </a:tcPr>
                </a:tc>
              </a:tr>
              <a:tr h="713232">
                <a:tc>
                  <a:txBody>
                    <a:bodyPr wrap="square"/>
                    <a:lstStyle/>
                    <a:p>
                      <a:pPr algn="l"/>
                      <a:r>
                        <a:rPr sz="1600" b="0" i="0">
                          <a:solidFill>
                            <a:srgbClr val="0F172A"/>
                          </a:solidFill>
                          <a:latin typeface="Arial"/>
                        </a:rPr>
                        <a:t>M4 Win model</a:t>
                      </a:r>
                    </a:p>
                  </a:txBody>
                  <a:tcPr marL="73152" marR="73152" marT="36576" marB="36576" anchor="ctr">
                    <a:solidFill>
                      <a:srgbClr val="DCFCE7"/>
                    </a:solidFill>
                  </a:tcPr>
                </a:tc>
                <a:tc>
                  <a:txBody>
                    <a:bodyPr wrap="square"/>
                    <a:lstStyle/>
                    <a:p>
                      <a:pPr algn="l"/>
                      <a:r>
                        <a:rPr sz="1600" b="0" i="0">
                          <a:solidFill>
                            <a:srgbClr val="0F172A"/>
                          </a:solidFill>
                          <a:latin typeface="Arial"/>
                        </a:rPr>
                        <a:t>P(home wins), team ratings adjusted for who is out</a:t>
                      </a:r>
                    </a:p>
                  </a:txBody>
                  <a:tcPr marL="73152" marR="73152" marT="36576" marB="36576" anchor="ctr">
                    <a:solidFill>
                      <a:srgbClr val="DCFCE7"/>
                    </a:solidFill>
                  </a:tcPr>
                </a:tc>
                <a:tc>
                  <a:txBody>
                    <a:bodyPr wrap="square"/>
                    <a:lstStyle/>
                    <a:p>
                      <a:pPr algn="l"/>
                      <a:r>
                        <a:rPr sz="1600" b="0" i="0">
                          <a:solidFill>
                            <a:srgbClr val="0F172A"/>
                          </a:solidFill>
                          <a:latin typeface="Arial"/>
                        </a:rPr>
                        <a:t>Brier </a:t>
                      </a:r>
                      <a:r>
                        <a:rPr sz="1600" b="1" i="0">
                          <a:solidFill>
                            <a:srgbClr val="0F172A"/>
                          </a:solidFill>
                          <a:latin typeface="Arial"/>
                        </a:rPr>
                        <a:t>0.183</a:t>
                      </a:r>
                      <a:r>
                        <a:rPr sz="1600" b="0" i="0">
                          <a:solidFill>
                            <a:srgbClr val="0F172A"/>
                          </a:solidFill>
                          <a:latin typeface="Arial"/>
                        </a:rPr>
                        <a:t> with absences, accuracy 74% (501 test games)</a:t>
                      </a:r>
                    </a:p>
                  </a:txBody>
                  <a:tcPr marL="73152" marR="73152" marT="36576" marB="36576" anchor="ctr">
                    <a:solidFill>
                      <a:srgbClr val="DCFCE7"/>
                    </a:solidFill>
                  </a:tcPr>
                </a:tc>
                <a:tc>
                  <a:txBody>
                    <a:bodyPr wrap="square"/>
                    <a:lstStyle/>
                    <a:p>
                      <a:pPr algn="l"/>
                      <a:r>
                        <a:rPr sz="1600" b="1" i="0">
                          <a:solidFill>
                            <a:srgbClr val="0F172A"/>
                          </a:solidFill>
                          <a:latin typeface="Arial"/>
                        </a:rPr>
                        <a:t>News shift → trades</a:t>
                      </a:r>
                    </a:p>
                  </a:txBody>
                  <a:tcPr marL="73152" marR="73152" marT="36576" marB="36576" anchor="ctr">
                    <a:solidFill>
                      <a:srgbClr val="DCFCE7"/>
                    </a:solidFill>
                  </a:tcPr>
                </a:tc>
              </a:tr>
              <a:tr h="713232">
                <a:tc>
                  <a:txBody>
                    <a:bodyPr wrap="square"/>
                    <a:lstStyle/>
                    <a:p>
                      <a:pPr algn="l"/>
                      <a:r>
                        <a:rPr sz="1600" b="0" i="0">
                          <a:solidFill>
                            <a:srgbClr val="0F172A"/>
                          </a:solidFill>
                          <a:latin typeface="Arial"/>
                        </a:rPr>
                        <a:t>M5 Forecaster</a:t>
                      </a:r>
                    </a:p>
                  </a:txBody>
                  <a:tcPr marL="73152" marR="73152" marT="36576" marB="36576" anchor="ctr">
                    <a:solidFill>
                      <a:srgbClr val="F1F5F9"/>
                    </a:solidFill>
                  </a:tcPr>
                </a:tc>
                <a:tc>
                  <a:txBody>
                    <a:bodyPr wrap="square"/>
                    <a:lstStyle/>
                    <a:p>
                      <a:pPr algn="l"/>
                      <a:r>
                        <a:rPr sz="1600" b="0" i="0">
                          <a:solidFill>
                            <a:srgbClr val="0F172A"/>
                          </a:solidFill>
                          <a:latin typeface="Arial"/>
                        </a:rPr>
                        <a:t>One as-of interface over M1–M4, with “player X out” overrides</a:t>
                      </a:r>
                    </a:p>
                  </a:txBody>
                  <a:tcPr marL="73152" marR="73152" marT="36576" marB="36576" anchor="ctr">
                    <a:solidFill>
                      <a:srgbClr val="F1F5F9"/>
                    </a:solidFill>
                  </a:tcPr>
                </a:tc>
                <a:tc>
                  <a:txBody>
                    <a:bodyPr wrap="square"/>
                    <a:lstStyle/>
                    <a:p>
                      <a:pPr algn="l"/>
                      <a:r>
                        <a:rPr sz="1600" b="0" i="0">
                          <a:solidFill>
                            <a:srgbClr val="0F172A"/>
                          </a:solidFill>
                          <a:latin typeface="Arial"/>
                        </a:rPr>
                        <a:t>No future data (leakage tests)</a:t>
                      </a:r>
                    </a:p>
                  </a:txBody>
                  <a:tcPr marL="73152" marR="73152" marT="36576" marB="36576" anchor="ctr">
                    <a:solidFill>
                      <a:srgbClr val="F1F5F9"/>
                    </a:solidFill>
                  </a:tcPr>
                </a:tc>
                <a:tc>
                  <a:txBody>
                    <a:bodyPr wrap="square"/>
                    <a:lstStyle/>
                    <a:p>
                      <a:pPr algn="l"/>
                      <a:r>
                        <a:rPr sz="1600" b="0" i="0">
                          <a:solidFill>
                            <a:srgbClr val="0F172A"/>
                          </a:solidFill>
                          <a:latin typeface="Arial"/>
                        </a:rPr>
                        <a:t>Agent, replay, Coach, demo</a:t>
                      </a:r>
                    </a:p>
                  </a:txBody>
                  <a:tcPr marL="73152" marR="73152" marT="36576" marB="36576" anchor="ctr">
                    <a:solidFill>
                      <a:srgbClr val="F1F5F9"/>
                    </a:solidFill>
                  </a:tcPr>
                </a:tc>
              </a:tr>
            </a:tbl>
          </a:graphicData>
        </a:graphic>
      </p:graphicFrame>
      <p:sp>
        <p:nvSpPr>
          <p:cNvPr id="8" name="Rounded Rectangle 7"/>
          <p:cNvSpPr/>
          <p:nvPr/>
        </p:nvSpPr>
        <p:spPr>
          <a:xfrm>
            <a:off x="457200" y="5760720"/>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30352"/>
          </a:xfrm>
          <a:prstGeom prst="rect">
            <a:avLst/>
          </a:prstGeom>
          <a:noFill/>
        </p:spPr>
        <p:txBody>
          <a:bodyPr wrap="square" anchor="ctr" lIns="73152" rIns="73152" tIns="36576" bIns="36576">
            <a:spAutoFit/>
          </a:bodyPr>
          <a:lstStyle/>
          <a:p>
            <a:pPr algn="l">
              <a:spcAft>
                <a:spcPts val="0"/>
              </a:spcAft>
            </a:pPr>
            <a:r>
              <a:rPr sz="2000" b="0" i="0">
                <a:solidFill>
                  <a:srgbClr val="0F172A"/>
                </a:solidFill>
                <a:latin typeface="Arial"/>
              </a:rPr>
              <a:t>Only M4 drives trades. M2 and M3 feed briefs and player tables.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win model vs the market: the market is better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029200"/>
          </a:xfrm>
          <a:prstGeom prst="rect">
            <a:avLst/>
          </a:prstGeom>
          <a:noFill/>
        </p:spPr>
        <p:txBody>
          <a:bodyPr wrap="square" anchor="t" lIns="73152" rIns="73152" tIns="36576" bIns="36576">
            <a:spAutoFit/>
          </a:bodyPr>
          <a:lstStyle/>
          <a:p>
            <a:pPr algn="l" marL="292608" indent="-256032">
              <a:spcAft>
                <a:spcPts val="1200"/>
              </a:spcAft>
              <a:buChar char="•"/>
            </a:pPr>
            <a:r>
              <a:rPr sz="2000" b="0" i="0">
                <a:solidFill>
                  <a:srgbClr val="0F172A"/>
                </a:solidFill>
                <a:latin typeface="Arial"/>
              </a:rPr>
              <a:t>Brier, 501 test games: </a:t>
            </a:r>
            <a:r>
              <a:rPr sz="2000" b="1" i="0">
                <a:solidFill>
                  <a:srgbClr val="0F172A"/>
                </a:solidFill>
                <a:latin typeface="Arial"/>
              </a:rPr>
              <a:t>market at tip 0.163</a:t>
            </a:r>
            <a:r>
              <a:rPr sz="2000" b="0" i="0">
                <a:solidFill>
                  <a:srgbClr val="0F172A"/>
                </a:solidFill>
                <a:latin typeface="Arial"/>
              </a:rPr>
              <a:t>, M4 0.183</a:t>
            </a:r>
          </a:p>
          <a:p>
            <a:pPr algn="l" marL="292608" indent="-256032">
              <a:spcAft>
                <a:spcPts val="1200"/>
              </a:spcAft>
              <a:buChar char="•"/>
            </a:pPr>
            <a:r>
              <a:rPr sz="2000" b="0" i="0">
                <a:solidFill>
                  <a:srgbClr val="0F172A"/>
                </a:solidFill>
                <a:latin typeface="Arial"/>
              </a:rPr>
              <a:t>When they disagree by more than 5 points, the market is right:</a:t>
            </a:r>
          </a:p>
          <a:p>
            <a:pPr algn="l" marL="612647" indent="-256032">
              <a:spcAft>
                <a:spcPts val="1200"/>
              </a:spcAft>
              <a:buChar char="–"/>
            </a:pPr>
            <a:r>
              <a:rPr sz="1800" b="0" i="0">
                <a:solidFill>
                  <a:srgbClr val="0F172A"/>
                </a:solidFill>
                <a:latin typeface="Arial"/>
              </a:rPr>
              <a:t>M4 higher on home: M4 48%, market 35%, actual 34%</a:t>
            </a:r>
          </a:p>
          <a:p>
            <a:pPr algn="l" marL="612647" indent="-256032">
              <a:spcAft>
                <a:spcPts val="1200"/>
              </a:spcAft>
              <a:buChar char="–"/>
            </a:pPr>
            <a:r>
              <a:rPr sz="1800" b="0" i="0">
                <a:solidFill>
                  <a:srgbClr val="0F172A"/>
                </a:solidFill>
                <a:latin typeface="Arial"/>
              </a:rPr>
              <a:t>M4 lower on home: M4 61%, market 73%, actual 77%</a:t>
            </a:r>
          </a:p>
          <a:p>
            <a:pPr algn="l" marL="292608" indent="-256032">
              <a:spcAft>
                <a:spcPts val="1200"/>
              </a:spcAft>
              <a:buChar char="•"/>
            </a:pPr>
            <a:r>
              <a:rPr sz="2000" b="1" i="0">
                <a:solidFill>
                  <a:srgbClr val="EA580C"/>
                </a:solidFill>
                <a:latin typeface="Arial"/>
              </a:rPr>
              <a:t>Lesson: don't trade the raw model; use only its news shift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agent loop: Decide, then nightly Review</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agent_workflow.png"/>
          <p:cNvPicPr>
            <a:picLocks noChangeAspect="1"/>
          </p:cNvPicPr>
          <p:nvPr/>
        </p:nvPicPr>
        <p:blipFill>
          <a:blip r:embed="rId3"/>
          <a:stretch>
            <a:fillRect/>
          </a:stretch>
        </p:blipFill>
        <p:spPr>
          <a:xfrm>
            <a:off x="457200" y="1398256"/>
            <a:ext cx="8412480" cy="4655846"/>
          </a:xfrm>
          <a:prstGeom prst="rect">
            <a:avLst/>
          </a:prstGeom>
        </p:spPr>
      </p:pic>
      <p:sp>
        <p:nvSpPr>
          <p:cNvPr id="8" name="TextBox 7"/>
          <p:cNvSpPr txBox="1"/>
          <p:nvPr/>
        </p:nvSpPr>
        <p:spPr>
          <a:xfrm>
            <a:off x="9006840" y="1371600"/>
            <a:ext cx="2727655" cy="5029200"/>
          </a:xfrm>
          <a:prstGeom prst="rect">
            <a:avLst/>
          </a:prstGeom>
          <a:noFill/>
        </p:spPr>
        <p:txBody>
          <a:bodyPr wrap="square" anchor="t" lIns="73152" rIns="73152" tIns="36576" bIns="36576">
            <a:spAutoFit/>
          </a:bodyPr>
          <a:lstStyle/>
          <a:p>
            <a:pPr algn="l" marL="292608" indent="-256032">
              <a:spcAft>
                <a:spcPts val="1200"/>
              </a:spcAft>
              <a:buChar char="•"/>
            </a:pPr>
            <a:r>
              <a:rPr sz="1800" b="1" i="0">
                <a:solidFill>
                  <a:srgbClr val="0F172A"/>
                </a:solidFill>
                <a:latin typeface="Arial"/>
              </a:rPr>
              <a:t>Decide:</a:t>
            </a:r>
            <a:r>
              <a:rPr sz="1800" b="0" i="0">
                <a:solidFill>
                  <a:srgbClr val="0F172A"/>
                </a:solidFill>
                <a:latin typeface="Arial"/>
              </a:rPr>
              <a:t> each news item ≤ 6 h before tip, and tip − 60 min</a:t>
            </a:r>
          </a:p>
          <a:p>
            <a:pPr algn="l" marL="292608" indent="-256032">
              <a:spcAft>
                <a:spcPts val="1200"/>
              </a:spcAft>
              <a:buChar char="•"/>
            </a:pPr>
            <a:r>
              <a:rPr sz="1800" b="1" i="0">
                <a:solidFill>
                  <a:srgbClr val="0F172A"/>
                </a:solidFill>
                <a:latin typeface="Arial"/>
              </a:rPr>
              <a:t>Checks:</a:t>
            </a:r>
            <a:r>
              <a:rPr sz="1800" b="0" i="0">
                <a:solidFill>
                  <a:srgbClr val="0F172A"/>
                </a:solidFill>
                <a:latin typeface="Arial"/>
              </a:rPr>
              <a:t> one retry, then blocked</a:t>
            </a:r>
          </a:p>
          <a:p>
            <a:pPr algn="l" marL="292608" indent="-256032">
              <a:spcAft>
                <a:spcPts val="1200"/>
              </a:spcAft>
              <a:buChar char="•"/>
            </a:pPr>
            <a:r>
              <a:rPr sz="1800" b="1" i="0">
                <a:solidFill>
                  <a:srgbClr val="0F172A"/>
                </a:solidFill>
                <a:latin typeface="Arial"/>
              </a:rPr>
              <a:t>Review:</a:t>
            </a:r>
            <a:r>
              <a:rPr sz="1800" b="0" i="0">
                <a:solidFill>
                  <a:srgbClr val="0F172A"/>
                </a:solidFill>
                <a:latin typeface="Arial"/>
              </a:rPr>
              <a:t> nightly; one rule proposed, the gate decides</a:t>
            </a:r>
          </a:p>
          <a:p>
            <a:pPr algn="l" marL="292608" indent="-256032">
              <a:spcAft>
                <a:spcPts val="1200"/>
              </a:spcAft>
              <a:buChar char="•"/>
            </a:pPr>
            <a:r>
              <a:rPr sz="1800" b="1" i="0">
                <a:solidFill>
                  <a:srgbClr val="0F172A"/>
                </a:solidFill>
                <a:latin typeface="Arial"/>
              </a:rPr>
              <a:t>LLM (Gemini):</a:t>
            </a:r>
            <a:r>
              <a:rPr sz="1800" b="0" i="0">
                <a:solidFill>
                  <a:srgbClr val="0F172A"/>
                </a:solidFill>
                <a:latin typeface="Arial"/>
              </a:rPr>
              <a:t> optional, only in investigate / analyse / review; default offline and deterministic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How one trade is decided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trade_flow.png"/>
          <p:cNvPicPr>
            <a:picLocks noChangeAspect="1"/>
          </p:cNvPicPr>
          <p:nvPr/>
        </p:nvPicPr>
        <p:blipFill>
          <a:blip r:embed="rId3"/>
          <a:stretch>
            <a:fillRect/>
          </a:stretch>
        </p:blipFill>
        <p:spPr>
          <a:xfrm>
            <a:off x="457200" y="1295453"/>
            <a:ext cx="8229600" cy="4861453"/>
          </a:xfrm>
          <a:prstGeom prst="rect">
            <a:avLst/>
          </a:prstGeom>
        </p:spPr>
      </p:pic>
      <p:sp>
        <p:nvSpPr>
          <p:cNvPr id="8" name="TextBox 7"/>
          <p:cNvSpPr txBox="1"/>
          <p:nvPr/>
        </p:nvSpPr>
        <p:spPr>
          <a:xfrm>
            <a:off x="8778240" y="1280160"/>
            <a:ext cx="2956255" cy="5120640"/>
          </a:xfrm>
          <a:prstGeom prst="rect">
            <a:avLst/>
          </a:prstGeom>
          <a:noFill/>
        </p:spPr>
        <p:txBody>
          <a:bodyPr wrap="square" anchor="t" lIns="73152" rIns="73152" tIns="36576" bIns="36576">
            <a:spAutoFit/>
          </a:bodyPr>
          <a:lstStyle/>
          <a:p>
            <a:pPr algn="l" marL="292608" indent="-256032">
              <a:spcAft>
                <a:spcPts val="1000"/>
              </a:spcAft>
              <a:buChar char="•"/>
            </a:pPr>
            <a:r>
              <a:rPr sz="1800" b="1" i="0">
                <a:solidFill>
                  <a:srgbClr val="0F172A"/>
                </a:solidFill>
                <a:latin typeface="Arial"/>
              </a:rPr>
              <a:t>Anchor</a:t>
            </a:r>
            <a:r>
              <a:rPr sz="1800" b="0" i="0">
                <a:solidFill>
                  <a:srgbClr val="0F172A"/>
                </a:solidFill>
                <a:latin typeface="Arial"/>
              </a:rPr>
              <a:t> = market mid 24 h before tip</a:t>
            </a:r>
          </a:p>
          <a:p>
            <a:pPr algn="l" marL="292608" indent="-256032">
              <a:spcAft>
                <a:spcPts val="1000"/>
              </a:spcAft>
              <a:buChar char="•"/>
            </a:pPr>
            <a:r>
              <a:rPr sz="1800" b="1" i="0">
                <a:solidFill>
                  <a:srgbClr val="0F172A"/>
                </a:solidFill>
                <a:latin typeface="Arial"/>
              </a:rPr>
              <a:t>Estimate</a:t>
            </a:r>
            <a:r>
              <a:rPr sz="1800" b="0" i="0">
                <a:solidFill>
                  <a:srgbClr val="0F172A"/>
                </a:solidFill>
                <a:latin typeface="Arial"/>
              </a:rPr>
              <a:t> = anchor + M4 news shift</a:t>
            </a:r>
          </a:p>
          <a:p>
            <a:pPr algn="l" marL="292608" indent="-256032">
              <a:spcAft>
                <a:spcPts val="1000"/>
              </a:spcAft>
              <a:buChar char="•"/>
            </a:pPr>
            <a:r>
              <a:rPr sz="1800" b="1" i="0">
                <a:solidFill>
                  <a:srgbClr val="0F172A"/>
                </a:solidFill>
                <a:latin typeface="Arial"/>
              </a:rPr>
              <a:t>Gap</a:t>
            </a:r>
            <a:r>
              <a:rPr sz="1800" b="0" i="0">
                <a:solidFill>
                  <a:srgbClr val="0F172A"/>
                </a:solidFill>
                <a:latin typeface="Arial"/>
              </a:rPr>
              <a:t> = P(side) − price − fee, fee = 7%·p·(1−p)</a:t>
            </a:r>
          </a:p>
          <a:p>
            <a:pPr algn="l" marL="292608" indent="-256032">
              <a:spcAft>
                <a:spcPts val="1000"/>
              </a:spcAft>
              <a:buChar char="•"/>
            </a:pPr>
            <a:r>
              <a:rPr sz="1800" b="1" i="0">
                <a:solidFill>
                  <a:srgbClr val="0F172A"/>
                </a:solidFill>
                <a:latin typeface="Arial"/>
              </a:rPr>
              <a:t>Trade if</a:t>
            </a:r>
            <a:r>
              <a:rPr sz="1800" b="0" i="0">
                <a:solidFill>
                  <a:srgbClr val="0F172A"/>
                </a:solidFill>
                <a:latin typeface="Arial"/>
              </a:rPr>
              <a:t> gap &gt; 4 pts, no rule skip, one position per game</a:t>
            </a:r>
          </a:p>
          <a:p>
            <a:pPr algn="l" marL="292608" indent="-256032">
              <a:spcAft>
                <a:spcPts val="1000"/>
              </a:spcAft>
              <a:buChar char="•"/>
            </a:pPr>
            <a:r>
              <a:rPr sz="1800" b="1" i="0">
                <a:solidFill>
                  <a:srgbClr val="0F172A"/>
                </a:solidFill>
                <a:latin typeface="Arial"/>
              </a:rPr>
              <a:t>$20 stake;</a:t>
            </a:r>
            <a:r>
              <a:rPr sz="1800" b="0" i="0">
                <a:solidFill>
                  <a:srgbClr val="0F172A"/>
                </a:solidFill>
                <a:latin typeface="Arial"/>
              </a:rPr>
              <a:t> caps $50 / order, $100 / game, $300 /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Worked example: CLE @ POR, 1 February 2026</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trade_example.png"/>
          <p:cNvPicPr>
            <a:picLocks noChangeAspect="1"/>
          </p:cNvPicPr>
          <p:nvPr/>
        </p:nvPicPr>
        <p:blipFill>
          <a:blip r:embed="rId3"/>
          <a:stretch>
            <a:fillRect/>
          </a:stretch>
        </p:blipFill>
        <p:spPr>
          <a:xfrm>
            <a:off x="914247" y="1097280"/>
            <a:ext cx="10363200" cy="4023360"/>
          </a:xfrm>
          <a:prstGeom prst="rect">
            <a:avLst/>
          </a:prstGeom>
        </p:spPr>
      </p:pic>
      <p:sp>
        <p:nvSpPr>
          <p:cNvPr id="8" name="TextBox 7"/>
          <p:cNvSpPr txBox="1"/>
          <p:nvPr/>
        </p:nvSpPr>
        <p:spPr>
          <a:xfrm>
            <a:off x="457200" y="5212080"/>
            <a:ext cx="5547207" cy="11430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News 01:30 UTC:</a:t>
            </a:r>
            <a:r>
              <a:rPr sz="1800" b="0" i="0">
                <a:solidFill>
                  <a:srgbClr val="0F172A"/>
                </a:solidFill>
                <a:latin typeface="Arial"/>
              </a:rPr>
              <a:t> Avdija, Henderson, Murray, Thybulle out</a:t>
            </a:r>
          </a:p>
          <a:p>
            <a:pPr algn="l" marL="292608" indent="-256032">
              <a:spcAft>
                <a:spcPts val="400"/>
              </a:spcAft>
              <a:buChar char="•"/>
            </a:pPr>
            <a:r>
              <a:rPr sz="1800" b="1" i="0">
                <a:solidFill>
                  <a:srgbClr val="0F172A"/>
                </a:solidFill>
                <a:latin typeface="Arial"/>
              </a:rPr>
              <a:t>POR:</a:t>
            </a:r>
            <a:r>
              <a:rPr sz="1800" b="0" i="0">
                <a:solidFill>
                  <a:srgbClr val="0F172A"/>
                </a:solidFill>
                <a:latin typeface="Arial"/>
              </a:rPr>
              <a:t> anchor 42%, shift −8.7 → 33.8%</a:t>
            </a:r>
          </a:p>
        </p:txBody>
      </p:sp>
      <p:sp>
        <p:nvSpPr>
          <p:cNvPr id="9" name="TextBox 8"/>
          <p:cNvSpPr txBox="1"/>
          <p:nvPr/>
        </p:nvSpPr>
        <p:spPr>
          <a:xfrm>
            <a:off x="6187287" y="5212080"/>
            <a:ext cx="5547207" cy="11430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Bought NO at 55¢</a:t>
            </a:r>
            <a:r>
              <a:rPr sz="1800" b="0" i="0">
                <a:solidFill>
                  <a:srgbClr val="0F172A"/>
                </a:solidFill>
                <a:latin typeface="Arial"/>
              </a:rPr>
              <a:t>, break-even 56.7%; gap +9.5</a:t>
            </a:r>
          </a:p>
          <a:p>
            <a:pPr algn="l" marL="292608" indent="-256032">
              <a:spcAft>
                <a:spcPts val="400"/>
              </a:spcAft>
              <a:buChar char="•"/>
            </a:pPr>
            <a:r>
              <a:rPr sz="1800" b="1" i="0">
                <a:solidFill>
                  <a:srgbClr val="0F172A"/>
                </a:solidFill>
                <a:latin typeface="Arial"/>
              </a:rPr>
              <a:t>Close 62.5%</a:t>
            </a:r>
            <a:r>
              <a:rPr sz="1800" b="0" i="0">
                <a:solidFill>
                  <a:srgbClr val="0F172A"/>
                </a:solidFill>
                <a:latin typeface="Arial"/>
              </a:rPr>
              <a:t>, CLV +7.5¢; </a:t>
            </a:r>
            <a:r>
              <a:rPr sz="1800" b="1" i="0">
                <a:solidFill>
                  <a:srgbClr val="0F172A"/>
                </a:solidFill>
                <a:latin typeface="Arial"/>
              </a:rPr>
              <a:t>P&amp;L +$15.57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Learning: propose one rule a day, keep it only if it helps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Rounded Rectangle 6"/>
          <p:cNvSpPr/>
          <p:nvPr/>
        </p:nvSpPr>
        <p:spPr>
          <a:xfrm>
            <a:off x="457200" y="1234439"/>
            <a:ext cx="3520440" cy="23317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331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246120"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Reviewer</a:t>
            </a:r>
          </a:p>
        </p:txBody>
      </p:sp>
      <p:sp>
        <p:nvSpPr>
          <p:cNvPr id="10" name="TextBox 9"/>
          <p:cNvSpPr txBox="1"/>
          <p:nvPr/>
        </p:nvSpPr>
        <p:spPr>
          <a:xfrm>
            <a:off x="640080" y="1764791"/>
            <a:ext cx="3246120" cy="17282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Looks at the worst-CLV slice of settled trades</a:t>
            </a:r>
          </a:p>
          <a:p>
            <a:pPr algn="l" marL="292608" indent="-256032">
              <a:spcAft>
                <a:spcPts val="600"/>
              </a:spcAft>
              <a:buChar char="•"/>
            </a:pPr>
            <a:r>
              <a:rPr sz="1800" b="0" i="0">
                <a:solidFill>
                  <a:srgbClr val="0F172A"/>
                </a:solidFill>
                <a:latin typeface="Arial"/>
              </a:rPr>
              <a:t>Proposes one rule per day</a:t>
            </a:r>
          </a:p>
        </p:txBody>
      </p:sp>
      <p:sp>
        <p:nvSpPr>
          <p:cNvPr id="11" name="Right Arrow 10"/>
          <p:cNvSpPr/>
          <p:nvPr/>
        </p:nvSpPr>
        <p:spPr>
          <a:xfrm>
            <a:off x="4014215" y="2194560"/>
            <a:ext cx="283464" cy="365760"/>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34256" y="1234439"/>
            <a:ext cx="3520440" cy="23317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234439"/>
            <a:ext cx="109728" cy="2331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307592"/>
            <a:ext cx="3246120"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Gate</a:t>
            </a:r>
          </a:p>
        </p:txBody>
      </p:sp>
      <p:sp>
        <p:nvSpPr>
          <p:cNvPr id="15" name="TextBox 14"/>
          <p:cNvSpPr txBox="1"/>
          <p:nvPr/>
        </p:nvSpPr>
        <p:spPr>
          <a:xfrm>
            <a:off x="4517136" y="1764791"/>
            <a:ext cx="3246120" cy="17282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Backtests on up to 14 earlier days only</a:t>
            </a:r>
          </a:p>
          <a:p>
            <a:pPr algn="l" marL="292608" indent="-256032">
              <a:spcAft>
                <a:spcPts val="600"/>
              </a:spcAft>
              <a:buChar char="•"/>
            </a:pPr>
            <a:r>
              <a:rPr sz="1800" b="0" i="0">
                <a:solidFill>
                  <a:srgbClr val="0F172A"/>
                </a:solidFill>
                <a:latin typeface="Arial"/>
              </a:rPr>
              <a:t>Keeps it if mean CLV improves by 0.005 over ≥ 3 changed trades</a:t>
            </a:r>
          </a:p>
        </p:txBody>
      </p:sp>
      <p:sp>
        <p:nvSpPr>
          <p:cNvPr id="16" name="Right Arrow 15"/>
          <p:cNvSpPr/>
          <p:nvPr/>
        </p:nvSpPr>
        <p:spPr>
          <a:xfrm>
            <a:off x="7891271" y="2194560"/>
            <a:ext cx="283464" cy="365760"/>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1312" y="1234439"/>
            <a:ext cx="3520440" cy="233172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11312" y="1234439"/>
            <a:ext cx="109728" cy="23317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307592"/>
            <a:ext cx="3246120"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Notebook</a:t>
            </a:r>
          </a:p>
        </p:txBody>
      </p:sp>
      <p:sp>
        <p:nvSpPr>
          <p:cNvPr id="20" name="TextBox 19"/>
          <p:cNvSpPr txBox="1"/>
          <p:nvPr/>
        </p:nvSpPr>
        <p:spPr>
          <a:xfrm>
            <a:off x="8394192" y="1764791"/>
            <a:ext cx="3246120" cy="17282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Active from the next day</a:t>
            </a:r>
          </a:p>
          <a:p>
            <a:pPr algn="l" marL="292608" indent="-256032">
              <a:spcAft>
                <a:spcPts val="600"/>
              </a:spcAft>
              <a:buChar char="•"/>
            </a:pPr>
            <a:r>
              <a:rPr sz="1800" b="0" i="0">
                <a:solidFill>
                  <a:srgbClr val="0F172A"/>
                </a:solidFill>
                <a:latin typeface="Arial"/>
              </a:rPr>
              <a:t>Rules expire after 45 days</a:t>
            </a:r>
          </a:p>
        </p:txBody>
      </p:sp>
      <p:sp>
        <p:nvSpPr>
          <p:cNvPr id="21" name="TextBox 20"/>
          <p:cNvSpPr txBox="1"/>
          <p:nvPr/>
        </p:nvSpPr>
        <p:spPr>
          <a:xfrm>
            <a:off x="457200" y="3794760"/>
            <a:ext cx="2651760" cy="822960"/>
          </a:xfrm>
          <a:prstGeom prst="rect">
            <a:avLst/>
          </a:prstGeom>
          <a:noFill/>
        </p:spPr>
        <p:txBody>
          <a:bodyPr wrap="square" anchor="t" lIns="73152" rIns="73152" tIns="36576" bIns="36576">
            <a:spAutoFit/>
          </a:bodyPr>
          <a:lstStyle/>
          <a:p>
            <a:pPr algn="l">
              <a:spcAft>
                <a:spcPts val="0"/>
              </a:spcAft>
            </a:pPr>
            <a:r>
              <a:rPr sz="4000" b="1" i="0">
                <a:solidFill>
                  <a:srgbClr val="1E293B"/>
                </a:solidFill>
                <a:latin typeface="Arial"/>
              </a:rPr>
              <a:t>37 → 5</a:t>
            </a:r>
          </a:p>
        </p:txBody>
      </p:sp>
      <p:sp>
        <p:nvSpPr>
          <p:cNvPr id="22" name="TextBox 21"/>
          <p:cNvSpPr txBox="1"/>
          <p:nvPr/>
        </p:nvSpPr>
        <p:spPr>
          <a:xfrm>
            <a:off x="457200" y="4617720"/>
            <a:ext cx="2651760" cy="731520"/>
          </a:xfrm>
          <a:prstGeom prst="rect">
            <a:avLst/>
          </a:prstGeom>
          <a:noFill/>
        </p:spPr>
        <p:txBody>
          <a:bodyPr wrap="square" anchor="t" lIns="73152" rIns="73152" tIns="36576" bIns="36576">
            <a:spAutoFit/>
          </a:bodyPr>
          <a:lstStyle/>
          <a:p>
            <a:pPr algn="l">
              <a:spcAft>
                <a:spcPts val="0"/>
              </a:spcAft>
            </a:pPr>
            <a:r>
              <a:rPr sz="1800" b="0" i="0">
                <a:solidFill>
                  <a:srgbClr val="64748B"/>
                </a:solidFill>
                <a:latin typeface="Arial"/>
              </a:rPr>
              <a:t>rules proposed → kept, test period</a:t>
            </a:r>
          </a:p>
        </p:txBody>
      </p:sp>
      <p:sp>
        <p:nvSpPr>
          <p:cNvPr id="23" name="TextBox 22"/>
          <p:cNvSpPr txBox="1"/>
          <p:nvPr/>
        </p:nvSpPr>
        <p:spPr>
          <a:xfrm>
            <a:off x="3200400" y="3794760"/>
            <a:ext cx="2651760" cy="822960"/>
          </a:xfrm>
          <a:prstGeom prst="rect">
            <a:avLst/>
          </a:prstGeom>
          <a:noFill/>
        </p:spPr>
        <p:txBody>
          <a:bodyPr wrap="square" anchor="t" lIns="73152" rIns="73152" tIns="36576" bIns="36576">
            <a:spAutoFit/>
          </a:bodyPr>
          <a:lstStyle/>
          <a:p>
            <a:pPr algn="l">
              <a:spcAft>
                <a:spcPts val="0"/>
              </a:spcAft>
            </a:pPr>
            <a:r>
              <a:rPr sz="4000" b="1" i="0">
                <a:solidFill>
                  <a:srgbClr val="64748B"/>
                </a:solidFill>
                <a:latin typeface="Arial"/>
              </a:rPr>
              <a:t>21 → 2</a:t>
            </a:r>
          </a:p>
        </p:txBody>
      </p:sp>
      <p:sp>
        <p:nvSpPr>
          <p:cNvPr id="24" name="TextBox 23"/>
          <p:cNvSpPr txBox="1"/>
          <p:nvPr/>
        </p:nvSpPr>
        <p:spPr>
          <a:xfrm>
            <a:off x="3200400" y="4617720"/>
            <a:ext cx="2651760" cy="731520"/>
          </a:xfrm>
          <a:prstGeom prst="rect">
            <a:avLst/>
          </a:prstGeom>
          <a:noFill/>
        </p:spPr>
        <p:txBody>
          <a:bodyPr wrap="square" anchor="t" lIns="73152" rIns="73152" tIns="36576" bIns="36576">
            <a:spAutoFit/>
          </a:bodyPr>
          <a:lstStyle/>
          <a:p>
            <a:pPr algn="l">
              <a:spcAft>
                <a:spcPts val="0"/>
              </a:spcAft>
            </a:pPr>
            <a:r>
              <a:rPr sz="1800" b="0" i="0">
                <a:solidFill>
                  <a:srgbClr val="64748B"/>
                </a:solidFill>
                <a:latin typeface="Arial"/>
              </a:rPr>
              <a:t>rules proposed → kept, development</a:t>
            </a:r>
          </a:p>
        </p:txBody>
      </p:sp>
      <p:sp>
        <p:nvSpPr>
          <p:cNvPr id="25" name="TextBox 24"/>
          <p:cNvSpPr txBox="1"/>
          <p:nvPr/>
        </p:nvSpPr>
        <p:spPr>
          <a:xfrm>
            <a:off x="5943600" y="3794760"/>
            <a:ext cx="5790895" cy="2560320"/>
          </a:xfrm>
          <a:prstGeom prst="rect">
            <a:avLst/>
          </a:prstGeom>
          <a:noFill/>
        </p:spPr>
        <p:txBody>
          <a:bodyPr wrap="square" anchor="t" lIns="73152" rIns="73152" tIns="36576" bIns="36576">
            <a:spAutoFit/>
          </a:bodyPr>
          <a:lstStyle/>
          <a:p>
            <a:pPr algn="l">
              <a:spcAft>
                <a:spcPts val="800"/>
              </a:spcAft>
            </a:pPr>
            <a:r>
              <a:rPr sz="1900" b="1" i="0">
                <a:solidFill>
                  <a:srgbClr val="1E293B"/>
                </a:solidFill>
                <a:latin typeface="Arial"/>
              </a:rPr>
              <a:t>Examples of kept rules</a:t>
            </a:r>
          </a:p>
          <a:p>
            <a:pPr algn="l" marL="292608" indent="-256032">
              <a:spcAft>
                <a:spcPts val="800"/>
              </a:spcAft>
              <a:buChar char="•"/>
            </a:pPr>
            <a:r>
              <a:rPr sz="1900" b="0" i="0">
                <a:solidFill>
                  <a:srgbClr val="0F172A"/>
                </a:solidFill>
                <a:latin typeface="Arial"/>
              </a:rPr>
              <a:t>Skip when buying a side priced at or below 35¢</a:t>
            </a:r>
          </a:p>
          <a:p>
            <a:pPr algn="l" marL="292608" indent="-256032">
              <a:spcAft>
                <a:spcPts val="800"/>
              </a:spcAft>
              <a:buChar char="•"/>
            </a:pPr>
            <a:r>
              <a:rPr sz="1900" b="0" i="0">
                <a:solidFill>
                  <a:srgbClr val="0F172A"/>
                </a:solidFill>
                <a:latin typeface="Arial"/>
              </a:rPr>
              <a:t>Skip when the market has already moved 2¢ or more against us</a:t>
            </a:r>
          </a:p>
          <a:p>
            <a:pPr algn="l" marL="292608" indent="-256032">
              <a:spcAft>
                <a:spcPts val="800"/>
              </a:spcAft>
              <a:buChar char="•"/>
            </a:pPr>
            <a:r>
              <a:rPr sz="1900" b="0" i="0">
                <a:solidFill>
                  <a:srgbClr val="0F172A"/>
                </a:solidFill>
                <a:latin typeface="Arial"/>
              </a:rPr>
              <a:t>The agent that writes a rule never approves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Results on the test period (1 Feb – 12 Apr 2026)</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headline_clv.png"/>
          <p:cNvPicPr>
            <a:picLocks noChangeAspect="1"/>
          </p:cNvPicPr>
          <p:nvPr/>
        </p:nvPicPr>
        <p:blipFill>
          <a:blip r:embed="rId3"/>
          <a:stretch>
            <a:fillRect/>
          </a:stretch>
        </p:blipFill>
        <p:spPr>
          <a:xfrm>
            <a:off x="457200" y="1168717"/>
            <a:ext cx="5760719" cy="3240404"/>
          </a:xfrm>
          <a:prstGeom prst="rect">
            <a:avLst/>
          </a:prstGeom>
        </p:spPr>
      </p:pic>
      <p:graphicFrame>
        <p:nvGraphicFramePr>
          <p:cNvPr id="8" name="Table 7"/>
          <p:cNvGraphicFramePr>
            <a:graphicFrameLocks noGrp="1"/>
          </p:cNvGraphicFramePr>
          <p:nvPr/>
        </p:nvGraphicFramePr>
        <p:xfrm>
          <a:off x="6355080" y="1188720"/>
          <a:ext cx="5788151" cy="3017520"/>
        </p:xfrm>
        <a:graphic>
          <a:graphicData uri="http://schemas.openxmlformats.org/drawingml/2006/table">
            <a:tbl>
              <a:tblPr firstRow="1" bandRow="1">
                <a:tableStyleId>{5C22544A-7EE6-4342-B048-85BDC9FD1C3A}</a:tableStyleId>
              </a:tblPr>
              <a:tblGrid>
                <a:gridCol w="2103120"/>
                <a:gridCol w="822960"/>
                <a:gridCol w="960120"/>
                <a:gridCol w="868680"/>
                <a:gridCol w="1033271"/>
              </a:tblGrid>
              <a:tr h="457200">
                <a:tc>
                  <a:txBody>
                    <a:bodyPr wrap="square"/>
                    <a:lstStyle/>
                    <a:p>
                      <a:pPr algn="l"/>
                      <a:r>
                        <a:rPr sz="1600" b="1" i="0">
                          <a:solidFill>
                            <a:srgbClr val="FFFFFF"/>
                          </a:solidFill>
                          <a:latin typeface="Arial"/>
                        </a:rPr>
                        <a:t>Setup</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a:t>
                      </a:r>
                    </a:p>
                  </a:txBody>
                  <a:tcPr marL="73152" marR="73152" marT="36576" marB="36576" anchor="ctr">
                    <a:solidFill>
                      <a:srgbClr val="1E293B"/>
                    </a:solidFill>
                  </a:tcPr>
                </a:tc>
                <a:tc>
                  <a:txBody>
                    <a:bodyPr wrap="square"/>
                    <a:lstStyle/>
                    <a:p>
                      <a:pPr algn="ctr"/>
                      <a:r>
                        <a:rPr sz="1600" b="1" i="0">
                          <a:solidFill>
                            <a:srgbClr val="FFFFFF"/>
                          </a:solidFill>
                          <a:latin typeface="Arial"/>
                        </a:rPr>
                        <a:t>ROI</a:t>
                      </a:r>
                    </a:p>
                  </a:txBody>
                  <a:tcPr marL="73152" marR="73152" marT="36576" marB="36576" anchor="ctr">
                    <a:solidFill>
                      <a:srgbClr val="1E293B"/>
                    </a:solidFill>
                  </a:tcPr>
                </a:tc>
                <a:tc>
                  <a:txBody>
                    <a:bodyPr wrap="square"/>
                    <a:lstStyle/>
                    <a:p>
                      <a:pPr algn="ctr"/>
                      <a:r>
                        <a:rPr sz="1600" b="1" i="0">
                          <a:solidFill>
                            <a:srgbClr val="FFFFFF"/>
                          </a:solidFill>
                          <a:latin typeface="Arial"/>
                        </a:rPr>
                        <a:t>Max DD</a:t>
                      </a:r>
                    </a:p>
                  </a:txBody>
                  <a:tcPr marL="73152" marR="73152" marT="36576" marB="36576" anchor="ctr">
                    <a:solidFill>
                      <a:srgbClr val="1E293B"/>
                    </a:solidFill>
                  </a:tcPr>
                </a:tc>
              </a:tr>
              <a:tr h="640080">
                <a:tc>
                  <a:txBody>
                    <a:bodyPr wrap="square"/>
                    <a:lstStyle/>
                    <a:p>
                      <a:pPr algn="l"/>
                      <a:r>
                        <a:rPr sz="1600" b="1" i="0">
                          <a:solidFill>
                            <a:srgbClr val="0F172A"/>
                          </a:solidFill>
                          <a:latin typeface="Arial"/>
                        </a:rPr>
                        <a:t>Full agent</a:t>
                      </a:r>
                      <a:r>
                        <a:rPr sz="1600" b="0" i="0">
                          <a:solidFill>
                            <a:srgbClr val="0F172A"/>
                          </a:solidFill>
                          <a:latin typeface="Arial"/>
                        </a:rPr>
                        <a:t> (anchor + learning)</a:t>
                      </a:r>
                    </a:p>
                  </a:txBody>
                  <a:tcPr marL="73152" marR="73152" marT="36576" marB="36576" anchor="ctr">
                    <a:solidFill>
                      <a:srgbClr val="DCFCE7"/>
                    </a:solidFill>
                  </a:tcPr>
                </a:tc>
                <a:tc>
                  <a:txBody>
                    <a:bodyPr wrap="square"/>
                    <a:lstStyle/>
                    <a:p>
                      <a:pPr algn="ctr"/>
                      <a:r>
                        <a:rPr sz="1600" b="1" i="0">
                          <a:solidFill>
                            <a:srgbClr val="0F172A"/>
                          </a:solidFill>
                          <a:latin typeface="Arial"/>
                        </a:rPr>
                        <a:t>74</a:t>
                      </a:r>
                    </a:p>
                  </a:txBody>
                  <a:tcPr marL="73152" marR="73152" marT="36576" marB="36576" anchor="ctr">
                    <a:solidFill>
                      <a:srgbClr val="DCFCE7"/>
                    </a:solidFill>
                  </a:tcPr>
                </a:tc>
                <a:tc>
                  <a:txBody>
                    <a:bodyPr wrap="square"/>
                    <a:lstStyle/>
                    <a:p>
                      <a:pPr algn="ctr"/>
                      <a:r>
                        <a:rPr sz="1600" b="1" i="0">
                          <a:solidFill>
                            <a:srgbClr val="0F172A"/>
                          </a:solidFill>
                          <a:latin typeface="Arial"/>
                        </a:rPr>
                        <a:t>−$32</a:t>
                      </a:r>
                    </a:p>
                  </a:txBody>
                  <a:tcPr marL="73152" marR="73152" marT="36576" marB="36576" anchor="ctr">
                    <a:solidFill>
                      <a:srgbClr val="DCFCE7"/>
                    </a:solidFill>
                  </a:tcPr>
                </a:tc>
                <a:tc>
                  <a:txBody>
                    <a:bodyPr wrap="square"/>
                    <a:lstStyle/>
                    <a:p>
                      <a:pPr algn="ctr"/>
                      <a:r>
                        <a:rPr sz="1600" b="1" i="0">
                          <a:solidFill>
                            <a:srgbClr val="0F172A"/>
                          </a:solidFill>
                          <a:latin typeface="Arial"/>
                        </a:rPr>
                        <a:t>−2.2%</a:t>
                      </a:r>
                    </a:p>
                  </a:txBody>
                  <a:tcPr marL="73152" marR="73152" marT="36576" marB="36576" anchor="ctr">
                    <a:solidFill>
                      <a:srgbClr val="DCFCE7"/>
                    </a:solidFill>
                  </a:tcPr>
                </a:tc>
                <a:tc>
                  <a:txBody>
                    <a:bodyPr wrap="square"/>
                    <a:lstStyle/>
                    <a:p>
                      <a:pPr algn="ctr"/>
                      <a:r>
                        <a:rPr sz="1600" b="1" i="0">
                          <a:solidFill>
                            <a:srgbClr val="0F172A"/>
                          </a:solidFill>
                          <a:latin typeface="Arial"/>
                        </a:rPr>
                        <a:t>$195</a:t>
                      </a:r>
                    </a:p>
                  </a:txBody>
                  <a:tcPr marL="73152" marR="73152" marT="36576" marB="36576" anchor="ctr">
                    <a:solidFill>
                      <a:srgbClr val="DCFCE7"/>
                    </a:solidFill>
                  </a:tcPr>
                </a:tc>
              </a:tr>
              <a:tr h="640080">
                <a:tc>
                  <a:txBody>
                    <a:bodyPr wrap="square"/>
                    <a:lstStyle/>
                    <a:p>
                      <a:pPr algn="l"/>
                      <a:r>
                        <a:rPr sz="1600" b="0" i="0">
                          <a:solidFill>
                            <a:srgbClr val="0F172A"/>
                          </a:solidFill>
                          <a:latin typeface="Arial"/>
                        </a:rPr>
                        <a:t>Anchor, no learning</a:t>
                      </a:r>
                    </a:p>
                  </a:txBody>
                  <a:tcPr marL="73152" marR="73152" marT="36576" marB="36576" anchor="ctr">
                    <a:solidFill>
                      <a:srgbClr val="FFFFFF"/>
                    </a:solidFill>
                  </a:tcPr>
                </a:tc>
                <a:tc>
                  <a:txBody>
                    <a:bodyPr wrap="square"/>
                    <a:lstStyle/>
                    <a:p>
                      <a:pPr algn="ctr"/>
                      <a:r>
                        <a:rPr sz="1600" b="0" i="0">
                          <a:solidFill>
                            <a:srgbClr val="0F172A"/>
                          </a:solidFill>
                          <a:latin typeface="Arial"/>
                        </a:rPr>
                        <a:t>129</a:t>
                      </a:r>
                    </a:p>
                  </a:txBody>
                  <a:tcPr marL="73152" marR="73152" marT="36576" marB="36576" anchor="ctr">
                    <a:solidFill>
                      <a:srgbClr val="FFFFFF"/>
                    </a:solidFill>
                  </a:tcPr>
                </a:tc>
                <a:tc>
                  <a:txBody>
                    <a:bodyPr wrap="square"/>
                    <a:lstStyle/>
                    <a:p>
                      <a:pPr algn="ctr"/>
                      <a:r>
                        <a:rPr sz="1600" b="0" i="0">
                          <a:solidFill>
                            <a:srgbClr val="0F172A"/>
                          </a:solidFill>
                          <a:latin typeface="Arial"/>
                        </a:rPr>
                        <a:t>−$247</a:t>
                      </a:r>
                    </a:p>
                  </a:txBody>
                  <a:tcPr marL="73152" marR="73152" marT="36576" marB="36576" anchor="ctr">
                    <a:solidFill>
                      <a:srgbClr val="FFFFFF"/>
                    </a:solidFill>
                  </a:tcPr>
                </a:tc>
                <a:tc>
                  <a:txBody>
                    <a:bodyPr wrap="square"/>
                    <a:lstStyle/>
                    <a:p>
                      <a:pPr algn="ctr"/>
                      <a:r>
                        <a:rPr sz="1600" b="0" i="0">
                          <a:solidFill>
                            <a:srgbClr val="0F172A"/>
                          </a:solidFill>
                          <a:latin typeface="Arial"/>
                        </a:rPr>
                        <a:t>−9.7%</a:t>
                      </a:r>
                    </a:p>
                  </a:txBody>
                  <a:tcPr marL="73152" marR="73152" marT="36576" marB="36576" anchor="ctr">
                    <a:solidFill>
                      <a:srgbClr val="FFFFFF"/>
                    </a:solidFill>
                  </a:tcPr>
                </a:tc>
                <a:tc>
                  <a:txBody>
                    <a:bodyPr wrap="square"/>
                    <a:lstStyle/>
                    <a:p>
                      <a:pPr algn="ctr"/>
                      <a:r>
                        <a:rPr sz="1600" b="0" i="0">
                          <a:solidFill>
                            <a:srgbClr val="0F172A"/>
                          </a:solidFill>
                          <a:latin typeface="Arial"/>
                        </a:rPr>
                        <a:t>$439</a:t>
                      </a:r>
                    </a:p>
                  </a:txBody>
                  <a:tcPr marL="73152" marR="73152" marT="36576" marB="36576" anchor="ctr">
                    <a:solidFill>
                      <a:srgbClr val="FFFFFF"/>
                    </a:solidFill>
                  </a:tcPr>
                </a:tc>
              </a:tr>
              <a:tr h="640080">
                <a:tc>
                  <a:txBody>
                    <a:bodyPr wrap="square"/>
                    <a:lstStyle/>
                    <a:p>
                      <a:pPr algn="l"/>
                      <a:r>
                        <a:rPr sz="1600" b="0" i="0">
                          <a:solidFill>
                            <a:srgbClr val="0F172A"/>
                          </a:solidFill>
                          <a:latin typeface="Arial"/>
                        </a:rPr>
                        <a:t>Win-rate placeholder model</a:t>
                      </a:r>
                    </a:p>
                  </a:txBody>
                  <a:tcPr marL="73152" marR="73152" marT="36576" marB="36576" anchor="ctr">
                    <a:solidFill>
                      <a:srgbClr val="F1F5F9"/>
                    </a:solidFill>
                  </a:tcPr>
                </a:tc>
                <a:tc>
                  <a:txBody>
                    <a:bodyPr wrap="square"/>
                    <a:lstStyle/>
                    <a:p>
                      <a:pPr algn="ctr"/>
                      <a:r>
                        <a:rPr sz="1600" b="0" i="0">
                          <a:solidFill>
                            <a:srgbClr val="0F172A"/>
                          </a:solidFill>
                          <a:latin typeface="Arial"/>
                        </a:rPr>
                        <a:t>246</a:t>
                      </a:r>
                    </a:p>
                  </a:txBody>
                  <a:tcPr marL="73152" marR="73152" marT="36576" marB="36576" anchor="ctr">
                    <a:solidFill>
                      <a:srgbClr val="F1F5F9"/>
                    </a:solidFill>
                  </a:tcPr>
                </a:tc>
                <a:tc>
                  <a:txBody>
                    <a:bodyPr wrap="square"/>
                    <a:lstStyle/>
                    <a:p>
                      <a:pPr algn="ctr"/>
                      <a:r>
                        <a:rPr sz="1600" b="0" i="0">
                          <a:solidFill>
                            <a:srgbClr val="0F172A"/>
                          </a:solidFill>
                          <a:latin typeface="Arial"/>
                        </a:rPr>
                        <a:t>−$429</a:t>
                      </a:r>
                    </a:p>
                  </a:txBody>
                  <a:tcPr marL="73152" marR="73152" marT="36576" marB="36576" anchor="ctr">
                    <a:solidFill>
                      <a:srgbClr val="F1F5F9"/>
                    </a:solidFill>
                  </a:tcPr>
                </a:tc>
                <a:tc>
                  <a:txBody>
                    <a:bodyPr wrap="square"/>
                    <a:lstStyle/>
                    <a:p>
                      <a:pPr algn="ctr"/>
                      <a:r>
                        <a:rPr sz="1600" b="0" i="0">
                          <a:solidFill>
                            <a:srgbClr val="0F172A"/>
                          </a:solidFill>
                          <a:latin typeface="Arial"/>
                        </a:rPr>
                        <a:t>−8.9%</a:t>
                      </a:r>
                    </a:p>
                  </a:txBody>
                  <a:tcPr marL="73152" marR="73152" marT="36576" marB="36576" anchor="ctr">
                    <a:solidFill>
                      <a:srgbClr val="F1F5F9"/>
                    </a:solidFill>
                  </a:tcPr>
                </a:tc>
                <a:tc>
                  <a:txBody>
                    <a:bodyPr wrap="square"/>
                    <a:lstStyle/>
                    <a:p>
                      <a:pPr algn="ctr"/>
                      <a:r>
                        <a:rPr sz="1600" b="0" i="0">
                          <a:solidFill>
                            <a:srgbClr val="0F172A"/>
                          </a:solidFill>
                          <a:latin typeface="Arial"/>
                        </a:rPr>
                        <a:t>$599</a:t>
                      </a:r>
                    </a:p>
                  </a:txBody>
                  <a:tcPr marL="73152" marR="73152" marT="36576" marB="36576" anchor="ctr">
                    <a:solidFill>
                      <a:srgbClr val="F1F5F9"/>
                    </a:solidFill>
                  </a:tcPr>
                </a:tc>
              </a:tr>
              <a:tr h="640080">
                <a:tc>
                  <a:txBody>
                    <a:bodyPr wrap="square"/>
                    <a:lstStyle/>
                    <a:p>
                      <a:pPr algn="l"/>
                      <a:r>
                        <a:rPr sz="1600" b="0" i="0">
                          <a:solidFill>
                            <a:srgbClr val="0F172A"/>
                          </a:solidFill>
                          <a:latin typeface="Arial"/>
                        </a:rPr>
                        <a:t>Raw model / no agent</a:t>
                      </a:r>
                    </a:p>
                  </a:txBody>
                  <a:tcPr marL="73152" marR="73152" marT="36576" marB="36576" anchor="ctr">
                    <a:solidFill>
                      <a:srgbClr val="FFFFFF"/>
                    </a:solidFill>
                  </a:tcPr>
                </a:tc>
                <a:tc>
                  <a:txBody>
                    <a:bodyPr wrap="square"/>
                    <a:lstStyle/>
                    <a:p>
                      <a:pPr algn="ctr"/>
                      <a:r>
                        <a:rPr sz="1600" b="0" i="0">
                          <a:solidFill>
                            <a:srgbClr val="0F172A"/>
                          </a:solidFill>
                          <a:latin typeface="Arial"/>
                        </a:rPr>
                        <a:t>366</a:t>
                      </a:r>
                    </a:p>
                  </a:txBody>
                  <a:tcPr marL="73152" marR="73152" marT="36576" marB="36576" anchor="ctr">
                    <a:solidFill>
                      <a:srgbClr val="FFFFFF"/>
                    </a:solidFill>
                  </a:tcPr>
                </a:tc>
                <a:tc>
                  <a:txBody>
                    <a:bodyPr wrap="square"/>
                    <a:lstStyle/>
                    <a:p>
                      <a:pPr algn="ctr"/>
                      <a:r>
                        <a:rPr sz="1600" b="0" i="0">
                          <a:solidFill>
                            <a:srgbClr val="0F172A"/>
                          </a:solidFill>
                          <a:latin typeface="Arial"/>
                        </a:rPr>
                        <a:t>−$2,087</a:t>
                      </a:r>
                    </a:p>
                  </a:txBody>
                  <a:tcPr marL="73152" marR="73152" marT="36576" marB="36576" anchor="ctr">
                    <a:solidFill>
                      <a:srgbClr val="FFFFFF"/>
                    </a:solidFill>
                  </a:tcPr>
                </a:tc>
                <a:tc>
                  <a:txBody>
                    <a:bodyPr wrap="square"/>
                    <a:lstStyle/>
                    <a:p>
                      <a:pPr algn="ctr"/>
                      <a:r>
                        <a:rPr sz="1600" b="0" i="0">
                          <a:solidFill>
                            <a:srgbClr val="0F172A"/>
                          </a:solidFill>
                          <a:latin typeface="Arial"/>
                        </a:rPr>
                        <a:t>−28.8%</a:t>
                      </a:r>
                    </a:p>
                  </a:txBody>
                  <a:tcPr marL="73152" marR="73152" marT="36576" marB="36576" anchor="ctr">
                    <a:solidFill>
                      <a:srgbClr val="FFFFFF"/>
                    </a:solidFill>
                  </a:tcPr>
                </a:tc>
                <a:tc>
                  <a:txBody>
                    <a:bodyPr wrap="square"/>
                    <a:lstStyle/>
                    <a:p>
                      <a:pPr algn="ctr"/>
                      <a:r>
                        <a:rPr sz="1600" b="0" i="0">
                          <a:solidFill>
                            <a:srgbClr val="0F172A"/>
                          </a:solidFill>
                          <a:latin typeface="Arial"/>
                        </a:rPr>
                        <a:t>$2,326</a:t>
                      </a:r>
                    </a:p>
                  </a:txBody>
                  <a:tcPr marL="73152" marR="73152" marT="36576" marB="36576" anchor="ctr">
                    <a:solidFill>
                      <a:srgbClr val="FFFFFF"/>
                    </a:solidFill>
                  </a:tcPr>
                </a:tc>
              </a:tr>
            </a:tbl>
          </a:graphicData>
        </a:graphic>
      </p:graphicFrame>
      <p:sp>
        <p:nvSpPr>
          <p:cNvPr id="9" name="TextBox 8"/>
          <p:cNvSpPr txBox="1"/>
          <p:nvPr/>
        </p:nvSpPr>
        <p:spPr>
          <a:xfrm>
            <a:off x="457200" y="4572000"/>
            <a:ext cx="11277295" cy="1737360"/>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Same recorded Kalshi prices for every setup; $20 stake; fills at the ask + fee, capped by volume</a:t>
            </a:r>
          </a:p>
          <a:p>
            <a:pPr algn="l" marL="292608" indent="-256032">
              <a:spcAft>
                <a:spcPts val="600"/>
              </a:spcAft>
              <a:buChar char="•"/>
            </a:pPr>
            <a:r>
              <a:rPr sz="1800" b="0" i="0">
                <a:solidFill>
                  <a:srgbClr val="0F172A"/>
                </a:solidFill>
                <a:latin typeface="Arial"/>
              </a:rPr>
              <a:t>Raw model / no agent: </a:t>
            </a:r>
            <a:r>
              <a:rPr sz="1800" b="1" i="0">
                <a:solidFill>
                  <a:srgbClr val="0F172A"/>
                </a:solidFill>
                <a:latin typeface="Arial"/>
              </a:rPr>
              <a:t>10 kill-switch days</a:t>
            </a:r>
            <a:r>
              <a:rPr sz="1800" b="0" i="0">
                <a:solidFill>
                  <a:srgbClr val="0F172A"/>
                </a:solidFill>
                <a:latin typeface="Arial"/>
              </a:rPr>
              <a:t> (days losing &gt; $100); the full agent: 0</a:t>
            </a:r>
          </a:p>
          <a:p>
            <a:pPr algn="l" marL="292608" indent="-256032">
              <a:spcAft>
                <a:spcPts val="600"/>
              </a:spcAft>
              <a:buChar char="•"/>
            </a:pPr>
            <a:r>
              <a:rPr sz="1800" b="0" i="0">
                <a:solidFill>
                  <a:srgbClr val="0F172A"/>
                </a:solidFill>
                <a:latin typeface="Arial"/>
              </a:rPr>
              <a:t>Raw model → market anchor → anchor + learning: </a:t>
            </a:r>
            <a:r>
              <a:rPr sz="1800" b="1" i="0">
                <a:solidFill>
                  <a:srgbClr val="0F172A"/>
                </a:solidFill>
                <a:latin typeface="Arial"/>
              </a:rPr>
              <a:t>−$2,087 → −$247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Selectivity: from 771 decision points to 74 trades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pic>
        <p:nvPicPr>
          <p:cNvPr id="7" name="Picture 6" descr="trade_funnel.png"/>
          <p:cNvPicPr>
            <a:picLocks noChangeAspect="1"/>
          </p:cNvPicPr>
          <p:nvPr/>
        </p:nvPicPr>
        <p:blipFill>
          <a:blip r:embed="rId3"/>
          <a:stretch>
            <a:fillRect/>
          </a:stretch>
        </p:blipFill>
        <p:spPr>
          <a:xfrm>
            <a:off x="457200" y="1533698"/>
            <a:ext cx="7955279" cy="4339243"/>
          </a:xfrm>
          <a:prstGeom prst="rect">
            <a:avLst/>
          </a:prstGeom>
        </p:spPr>
      </p:pic>
      <p:sp>
        <p:nvSpPr>
          <p:cNvPr id="8" name="TextBox 7"/>
          <p:cNvSpPr txBox="1"/>
          <p:nvPr/>
        </p:nvSpPr>
        <p:spPr>
          <a:xfrm>
            <a:off x="8549640" y="1463040"/>
            <a:ext cx="3184855" cy="4846320"/>
          </a:xfrm>
          <a:prstGeom prst="rect">
            <a:avLst/>
          </a:prstGeom>
          <a:noFill/>
        </p:spPr>
        <p:txBody>
          <a:bodyPr wrap="square" anchor="t" lIns="73152" rIns="73152" tIns="36576" bIns="36576">
            <a:spAutoFit/>
          </a:bodyPr>
          <a:lstStyle/>
          <a:p>
            <a:pPr algn="l" marL="292608" indent="-256032">
              <a:spcAft>
                <a:spcPts val="1200"/>
              </a:spcAft>
              <a:buChar char="•"/>
            </a:pPr>
            <a:r>
              <a:rPr sz="2000" b="1" i="0">
                <a:solidFill>
                  <a:srgbClr val="0F172A"/>
                </a:solidFill>
                <a:latin typeface="Arial"/>
              </a:rPr>
              <a:t>771</a:t>
            </a:r>
            <a:r>
              <a:rPr sz="2000" b="0" i="0">
                <a:solidFill>
                  <a:srgbClr val="0F172A"/>
                </a:solidFill>
                <a:latin typeface="Arial"/>
              </a:rPr>
              <a:t> decision points</a:t>
            </a:r>
          </a:p>
          <a:p>
            <a:pPr algn="l" marL="292608" indent="-256032">
              <a:spcAft>
                <a:spcPts val="1200"/>
              </a:spcAft>
              <a:buChar char="•"/>
            </a:pPr>
            <a:r>
              <a:rPr sz="2000" b="1" i="0">
                <a:solidFill>
                  <a:srgbClr val="0F172A"/>
                </a:solidFill>
                <a:latin typeface="Arial"/>
              </a:rPr>
              <a:t>153</a:t>
            </a:r>
            <a:r>
              <a:rPr sz="2000" b="0" i="0">
                <a:solidFill>
                  <a:srgbClr val="0F172A"/>
                </a:solidFill>
                <a:latin typeface="Arial"/>
              </a:rPr>
              <a:t> with gap &gt; 4 pts after fees</a:t>
            </a:r>
          </a:p>
          <a:p>
            <a:pPr algn="l" marL="292608" indent="-256032">
              <a:spcAft>
                <a:spcPts val="1200"/>
              </a:spcAft>
              <a:buChar char="•"/>
            </a:pPr>
            <a:r>
              <a:rPr sz="2000" b="1" i="0">
                <a:solidFill>
                  <a:srgbClr val="0F172A"/>
                </a:solidFill>
                <a:latin typeface="Arial"/>
              </a:rPr>
              <a:t>74</a:t>
            </a:r>
            <a:r>
              <a:rPr sz="2000" b="0" i="0">
                <a:solidFill>
                  <a:srgbClr val="0F172A"/>
                </a:solidFill>
                <a:latin typeface="Arial"/>
              </a:rPr>
              <a:t> trades (10%)</a:t>
            </a:r>
          </a:p>
          <a:p>
            <a:pPr algn="l" marL="292608" indent="-256032">
              <a:spcAft>
                <a:spcPts val="1200"/>
              </a:spcAft>
              <a:buChar char="•"/>
            </a:pPr>
            <a:r>
              <a:rPr sz="2000" b="1" i="0">
                <a:solidFill>
                  <a:srgbClr val="0F172A"/>
                </a:solidFill>
                <a:latin typeface="Arial"/>
              </a:rPr>
              <a:t>27</a:t>
            </a:r>
            <a:r>
              <a:rPr sz="2000" b="0" i="0">
                <a:solidFill>
                  <a:srgbClr val="0F172A"/>
                </a:solidFill>
                <a:latin typeface="Arial"/>
              </a:rPr>
              <a:t> beat or matched the close (36%)</a:t>
            </a:r>
          </a:p>
          <a:p>
            <a:pPr algn="l" marL="292608" indent="-256032">
              <a:spcAft>
                <a:spcPts val="1200"/>
              </a:spcAft>
              <a:buChar char="•"/>
            </a:pPr>
            <a:r>
              <a:rPr sz="2000" b="1" i="0">
                <a:solidFill>
                  <a:srgbClr val="0F172A"/>
                </a:solidFill>
                <a:latin typeface="Arial"/>
              </a:rPr>
              <a:t>41</a:t>
            </a:r>
            <a:r>
              <a:rPr sz="2000" b="0" i="0">
                <a:solidFill>
                  <a:srgbClr val="0F172A"/>
                </a:solidFill>
                <a:latin typeface="Arial"/>
              </a:rPr>
              <a:t> won (55%)</a:t>
            </a:r>
          </a:p>
          <a:p>
            <a:pPr algn="l" marL="292608" indent="-256032">
              <a:spcAft>
                <a:spcPts val="1200"/>
              </a:spcAft>
              <a:buChar char="•"/>
            </a:pPr>
            <a:r>
              <a:rPr sz="2000" b="1" i="0">
                <a:solidFill>
                  <a:srgbClr val="EA580C"/>
                </a:solidFill>
                <a:latin typeface="Arial"/>
              </a:rPr>
              <a:t>Value comes from skipping bad trades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Safety and honest caveats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5394960" cy="507492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120640"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Safety</a:t>
            </a:r>
          </a:p>
        </p:txBody>
      </p:sp>
      <p:sp>
        <p:nvSpPr>
          <p:cNvPr id="10" name="TextBox 9"/>
          <p:cNvSpPr txBox="1"/>
          <p:nvPr/>
        </p:nvSpPr>
        <p:spPr>
          <a:xfrm>
            <a:off x="640080" y="1764791"/>
            <a:ext cx="5120640"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9 / 9</a:t>
            </a:r>
            <a:r>
              <a:rPr sz="1800" b="0" i="0">
                <a:solidFill>
                  <a:srgbClr val="0F172A"/>
                </a:solidFill>
                <a:latin typeface="Arial"/>
              </a:rPr>
              <a:t> planted policy violations blocked (over-cap, post-tip, team / media orders, “guaranteed lock” copy, retail without confirm, …)</a:t>
            </a:r>
          </a:p>
          <a:p>
            <a:pPr algn="l" marL="292608" indent="-256032">
              <a:spcAft>
                <a:spcPts val="600"/>
              </a:spcAft>
              <a:buChar char="•"/>
            </a:pPr>
            <a:r>
              <a:rPr sz="1800" b="0" i="0">
                <a:solidFill>
                  <a:srgbClr val="0F172A"/>
                </a:solidFill>
                <a:latin typeface="Arial"/>
              </a:rPr>
              <a:t>No future information: as-of view + leakage tests</a:t>
            </a:r>
          </a:p>
          <a:p>
            <a:pPr algn="l" marL="292608" indent="-256032">
              <a:spcAft>
                <a:spcPts val="600"/>
              </a:spcAft>
              <a:buChar char="•"/>
            </a:pPr>
            <a:r>
              <a:rPr sz="1800" b="0" i="0">
                <a:solidFill>
                  <a:srgbClr val="0F172A"/>
                </a:solidFill>
                <a:latin typeface="Arial"/>
              </a:rPr>
              <a:t>Public data only; paper money</a:t>
            </a:r>
          </a:p>
          <a:p>
            <a:pPr algn="l" marL="292608" indent="-256032">
              <a:spcAft>
                <a:spcPts val="600"/>
              </a:spcAft>
              <a:buChar char="•"/>
            </a:pPr>
            <a:r>
              <a:rPr sz="1800" b="0" i="0">
                <a:solidFill>
                  <a:srgbClr val="0F172A"/>
                </a:solidFill>
                <a:latin typeface="Arial"/>
              </a:rPr>
              <a:t>Risk limits are code; the LLM cannot override them</a:t>
            </a:r>
          </a:p>
        </p:txBody>
      </p:sp>
      <p:sp>
        <p:nvSpPr>
          <p:cNvPr id="11" name="Rounded Rectangle 10"/>
          <p:cNvSpPr/>
          <p:nvPr/>
        </p:nvSpPr>
        <p:spPr>
          <a:xfrm>
            <a:off x="6126480" y="1234439"/>
            <a:ext cx="560801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307592"/>
            <a:ext cx="533369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Honest caveats</a:t>
            </a:r>
          </a:p>
        </p:txBody>
      </p:sp>
      <p:sp>
        <p:nvSpPr>
          <p:cNvPr id="14" name="TextBox 13"/>
          <p:cNvSpPr txBox="1"/>
          <p:nvPr/>
        </p:nvSpPr>
        <p:spPr>
          <a:xfrm>
            <a:off x="6309360" y="1764791"/>
            <a:ext cx="5333695"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Mean CLV still slightly negative everywhere: we avoid bad trades rather than beat the close</a:t>
            </a:r>
          </a:p>
          <a:p>
            <a:pPr algn="l" marL="292608" indent="-256032">
              <a:spcAft>
                <a:spcPts val="600"/>
              </a:spcAft>
              <a:buChar char="•"/>
            </a:pPr>
            <a:r>
              <a:rPr sz="1800" b="0" i="0">
                <a:solidFill>
                  <a:srgbClr val="0F172A"/>
                </a:solidFill>
                <a:latin typeface="Arial"/>
              </a:rPr>
              <a:t>Kill switch is measured, not enforced</a:t>
            </a:r>
          </a:p>
          <a:p>
            <a:pPr algn="l" marL="292608" indent="-256032">
              <a:spcAft>
                <a:spcPts val="600"/>
              </a:spcAft>
              <a:buChar char="•"/>
            </a:pPr>
            <a:r>
              <a:rPr sz="1800" b="0" i="0">
                <a:solidFill>
                  <a:srgbClr val="0F172A"/>
                </a:solidFill>
                <a:latin typeface="Arial"/>
              </a:rPr>
              <a:t>Inactive-list news stamped tip − 30 min (conservative; real reports come earlier)</a:t>
            </a:r>
          </a:p>
          <a:p>
            <a:pPr algn="l" marL="292608" indent="-256032">
              <a:spcAft>
                <a:spcPts val="600"/>
              </a:spcAft>
              <a:buChar char="•"/>
            </a:pPr>
            <a:r>
              <a:rPr sz="1800" b="0" i="0">
                <a:solidFill>
                  <a:srgbClr val="0F172A"/>
                </a:solidFill>
                <a:latin typeface="Arial"/>
              </a:rPr>
              <a:t>“Dev rules frozen” = “no learning”: both dev rules expired (45 days) before the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learning how the market works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a:t>
            </a:r>
          </a:p>
          <a:p>
            <a:pPr algn="l" marL="292608" indent="-256032">
              <a:spcAft>
                <a:spcPts val="600"/>
              </a:spcAft>
              <a:buChar char="•"/>
            </a:pPr>
            <a:r>
              <a:rPr sz="1800" b="0" i="0">
                <a:solidFill>
                  <a:srgbClr val="0F172A"/>
                </a:solidFill>
                <a:latin typeface="Arial"/>
              </a:rPr>
              <a:t>Market now vs 24 h earlier;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spread + fee break-even · injury shift</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 paper stake</a:t>
            </a:r>
          </a:p>
          <a:p>
            <a:pPr algn="l" marL="292608" indent="-256032">
              <a:spcAft>
                <a:spcPts val="600"/>
              </a:spcAft>
              <a:buChar char="•"/>
            </a:pPr>
            <a:r>
              <a:rPr sz="1800" b="0" i="0">
                <a:solidFill>
                  <a:srgbClr val="0F172A"/>
                </a:solidFill>
                <a:latin typeface="Arial"/>
              </a:rPr>
              <a:t>Then: close, CLV, result, P&amp;L,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“lock” wording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4224528"/>
        </p:xfrm>
        <a:graphic>
          <a:graphicData uri="http://schemas.openxmlformats.org/drawingml/2006/table">
            <a:tbl>
              <a:tblPr firstRow="1" bandRow="1">
                <a:tableStyleId>{5C22544A-7EE6-4342-B048-85BDC9FD1C3A}</a:tableStyleId>
              </a:tblPr>
              <a:tblGrid>
                <a:gridCol w="2560320"/>
                <a:gridCol w="8716975"/>
              </a:tblGrid>
              <a:tr h="603504">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we show</a:t>
                      </a:r>
                    </a:p>
                  </a:txBody>
                  <a:tcPr marL="73152" marR="73152" marT="36576" marB="36576" anchor="ctr">
                    <a:solidFill>
                      <a:srgbClr val="1E293B"/>
                    </a:solidFill>
                  </a:tcPr>
                </a:tc>
              </a:tr>
              <a:tr h="603504">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Late news → forecast before / after, model vs market, guarded paper order</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Explain one decision time; take a paper trade and compare with the agent</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Channel briefs</a:t>
                      </a:r>
                    </a:p>
                  </a:txBody>
                  <a:tcPr marL="73152" marR="73152" marT="36576" marB="36576" anchor="ctr">
                    <a:solidFill>
                      <a:srgbClr val="F1F5F9"/>
                    </a:solidFill>
                  </a:tcPr>
                </a:tc>
                <a:tc>
                  <a:txBody>
                    <a:bodyPr wrap="square"/>
                    <a:lstStyle/>
                    <a:p>
                      <a:pPr algn="l"/>
                      <a:r>
                        <a:rPr sz="1800" b="0" i="0">
                          <a:solidFill>
                            <a:srgbClr val="0F172A"/>
                          </a:solidFill>
                          <a:latin typeface="Arial"/>
                        </a:rPr>
                        <a:t>Same forecast, four channels: platform, media, team, retail</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Reviewer proposes a rule; the gate keeps or rejects it; rule reused later</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Models</a:t>
                      </a:r>
                    </a:p>
                  </a:txBody>
                  <a:tcPr marL="73152" marR="73152" marT="36576" marB="36576" anchor="ctr">
                    <a:solidFill>
                      <a:srgbClr val="FFFFFF"/>
                    </a:solidFill>
                  </a:tcPr>
                </a:tc>
                <a:tc>
                  <a:txBody>
                    <a:bodyPr wrap="square"/>
                    <a:lstStyle/>
                    <a:p>
                      <a:pPr algn="l"/>
                      <a:r>
                        <a:rPr sz="1800" b="0" i="0">
                          <a:solidFill>
                            <a:srgbClr val="0F172A"/>
                          </a:solidFill>
                          <a:latin typeface="Arial"/>
                        </a:rPr>
                        <a:t>Held-out results and M4 vs the market</a:t>
                      </a:r>
                    </a:p>
                  </a:txBody>
                  <a:tcPr marL="73152" marR="73152" marT="36576" marB="36576" anchor="ctr">
                    <a:solidFill>
                      <a:srgbClr val="FFFFFF"/>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Conclusion,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for NBA Game-Impact Intelligence</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showed</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The market beats our win model; we use it as the base rate</a:t>
            </a:r>
          </a:p>
          <a:p>
            <a:pPr algn="l" marL="292608" indent="-256032">
              <a:spcAft>
                <a:spcPts val="600"/>
              </a:spcAft>
              <a:buChar char="•"/>
            </a:pPr>
            <a:r>
              <a:rPr sz="1800" b="0" i="0">
                <a:solidFill>
                  <a:srgbClr val="0F172A"/>
                </a:solidFill>
                <a:latin typeface="Arial"/>
              </a:rPr>
              <a:t>Anchor + gated learning: −$2,087 → −$32 on 74 trades</a:t>
            </a:r>
          </a:p>
          <a:p>
            <a:pPr algn="l" marL="292608" indent="-256032">
              <a:spcAft>
                <a:spcPts val="600"/>
              </a:spcAft>
              <a:buChar char="•"/>
            </a:pPr>
            <a:r>
              <a:rPr sz="1800" b="0" i="0">
                <a:solidFill>
                  <a:srgbClr val="0F172A"/>
                </a:solidFill>
                <a:latin typeface="Arial"/>
              </a:rPr>
              <a:t>Guardrails are code: 9 / 9 violations blocked</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instead of the tip − 30 min proxy</a:t>
            </a:r>
          </a:p>
          <a:p>
            <a:pPr algn="l" marL="292608" indent="-256032">
              <a:spcAft>
                <a:spcPts val="600"/>
              </a:spcAft>
              <a:buChar char="•"/>
            </a:pPr>
            <a:r>
              <a:rPr sz="1800" b="0" i="0">
                <a:solidFill>
                  <a:srgbClr val="0F172A"/>
                </a:solidFill>
                <a:latin typeface="Arial"/>
              </a:rPr>
              <a:t>Player-prop markets</a:t>
            </a:r>
          </a:p>
          <a:p>
            <a:pPr algn="l" marL="292608" indent="-256032">
              <a:spcAft>
                <a:spcPts val="600"/>
              </a:spcAft>
              <a:buChar char="•"/>
            </a:pPr>
            <a:r>
              <a:rPr sz="1800" b="0" i="0">
                <a:solidFill>
                  <a:srgbClr val="0F172A"/>
                </a:solidFill>
                <a:latin typeface="Arial"/>
              </a:rPr>
              <a:t>Evaluate LLM (Gemini) mode vs offline rules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
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Even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moved our win model by at least a point, 91% of the price move in the news direction happened before the inactive list, which is when a retail user reading it could act. We then matched the official NBA injury reports: about two-thirds of the move, 67% with a confidence interval of 47–85%, came before the first official report listing the player out, which itself comes a median of about 6 hours before the inactive list. Assuming no publication lag the share is 49%. Official reports only; beat reporters and social media can be earlier still.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deep-learning component is M6.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An LLM tool agent chooses its own as-of tools, with code checking every number and a sceptic asking whether the edge is already priced in. We audited the rule gate against placebo rules, enforced a daily kill switch, tried fractional Kelly sizing, tested the Coach on simulated users, joined pregame, trader and coach under one orchestrator, and tried a learned trade-or-pass policy, a rule language for LLM-written rules, and episodic memory. Results so far: none yet. 9 of 9 are still pending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policy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0" i="0">
                          <a:solidFill>
                            <a:srgbClr val="0F172A"/>
                          </a:solidFill>
                          <a:latin typeface="Arial"/>
                        </a:rPr>
                        <a:t>See agentic upgrades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457200" y="1856232"/>
            <a:ext cx="5120640" cy="2048255"/>
          </a:xfrm>
          <a:prstGeom prst="rect">
            <a:avLst/>
          </a:prstGeom>
        </p:spPr>
      </p:pic>
      <p:pic>
        <p:nvPicPr>
          <p:cNvPr id="8" name="Picture 7" descr="injury_timing.png"/>
          <p:cNvPicPr>
            <a:picLocks noChangeAspect="1"/>
          </p:cNvPicPr>
          <p:nvPr/>
        </p:nvPicPr>
        <p:blipFill>
          <a:blip r:embed="rId4"/>
          <a:stretch>
            <a:fillRect/>
          </a:stretch>
        </p:blipFill>
        <p:spPr>
          <a:xfrm>
            <a:off x="5715000" y="1676460"/>
            <a:ext cx="6019495" cy="2407798"/>
          </a:xfrm>
          <a:prstGeom prst="rect">
            <a:avLst/>
          </a:prstGeom>
        </p:spPr>
      </p:pic>
      <p:sp>
        <p:nvSpPr>
          <p:cNvPr id="9" name="TextBox 8"/>
          <p:cNvSpPr txBox="1"/>
          <p:nvPr/>
        </p:nvSpPr>
        <p:spPr>
          <a:xfrm>
            <a:off x="457200" y="4754880"/>
            <a:ext cx="11277295" cy="16002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move happens before the inactive list (+1.80 vs +0.18 pts, 193 test games)</a:t>
            </a:r>
          </a:p>
          <a:p>
            <a:pPr algn="l" marL="292608" indent="-256032">
              <a:spcAft>
                <a:spcPts val="400"/>
              </a:spcAft>
              <a:buChar char="•"/>
            </a:pPr>
            <a:r>
              <a:rPr sz="1800" b="0" i="0">
                <a:solidFill>
                  <a:srgbClr val="0F172A"/>
                </a:solidFill>
                <a:latin typeface="Arial"/>
              </a:rPr>
              <a:t>About </a:t>
            </a:r>
            <a:r>
              <a:rPr sz="1800" b="1" i="0">
                <a:solidFill>
                  <a:srgbClr val="0F172A"/>
                </a:solidFill>
                <a:latin typeface="Arial"/>
              </a:rPr>
              <a:t>two-thirds</a:t>
            </a:r>
            <a:r>
              <a:rPr sz="1800" b="0" i="0">
                <a:solidFill>
                  <a:srgbClr val="0F172A"/>
                </a:solidFill>
                <a:latin typeface="Arial"/>
              </a:rPr>
              <a:t> (67%, CI 47–85%) comes before the first official injury report, ~6 h earlier</a:t>
            </a:r>
          </a:p>
          <a:p>
            <a:pPr algn="l" marL="292608" indent="-256032">
              <a:spcAft>
                <a:spcPts val="400"/>
              </a:spcAft>
              <a:buChar char="•"/>
            </a:pPr>
            <a:r>
              <a:rPr sz="1500" b="0" i="0">
                <a:solidFill>
                  <a:srgbClr val="64748B"/>
                </a:solidFill>
                <a:latin typeface="Arial"/>
              </a:rPr>
              <a:t>49% if reports are public at their slot; official reports only, so news can be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a GRU trained on the market's own moves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sp>
        <p:nvSpPr>
          <p:cNvPr id="7" name="TextBox 6"/>
          <p:cNvSpPr txBox="1"/>
          <p:nvPr/>
        </p:nvSpPr>
        <p:spPr>
          <a:xfrm>
            <a:off x="457200" y="1143000"/>
            <a:ext cx="4572000" cy="4114800"/>
          </a:xfrm>
          <a:prstGeom prst="rect">
            <a:avLst/>
          </a:prstGeom>
          <a:noFill/>
        </p:spPr>
        <p:txBody>
          <a:bodyPr wrap="square" anchor="t" lIns="73152" rIns="73152" tIns="36576" bIns="36576">
            <a:spAutoFit/>
          </a:bodyPr>
          <a:lstStyle/>
          <a:p>
            <a:pPr algn="l">
              <a:spcAft>
                <a:spcPts val="400"/>
              </a:spcAft>
            </a:pPr>
            <a:r>
              <a:rPr sz="1600" b="1" i="0">
                <a:solidFill>
                  <a:srgbClr val="1E293B"/>
                </a:solidFill>
                <a:latin typeface="Arial"/>
              </a:rPr>
              <a:t>M6 design</a:t>
            </a:r>
          </a:p>
          <a:p>
            <a:pPr algn="l" marL="292608" indent="-256032">
              <a:spcAft>
                <a:spcPts val="400"/>
              </a:spcAft>
              <a:buChar char="•"/>
            </a:pPr>
            <a:r>
              <a:rPr sz="1600" b="0" i="0">
                <a:solidFill>
                  <a:srgbClr val="0F172A"/>
                </a:solidFill>
                <a:latin typeface="Arial"/>
              </a:rPr>
              <a:t>Label = price move to tip (the market grades it)</a:t>
            </a:r>
          </a:p>
          <a:p>
            <a:pPr algn="l" marL="292608" indent="-256032">
              <a:spcAft>
                <a:spcPts val="400"/>
              </a:spcAft>
              <a:buChar char="•"/>
            </a:pPr>
            <a:r>
              <a:rPr sz="1600" b="0" i="0">
                <a:solidFill>
                  <a:srgbClr val="0F172A"/>
                </a:solidFill>
                <a:latin typeface="Arial"/>
              </a:rPr>
              <a:t>GRU-16 over 6 h of prices, 15-min steps</a:t>
            </a:r>
          </a:p>
          <a:p>
            <a:pPr algn="l" marL="292608" indent="-256032">
              <a:spcAft>
                <a:spcPts val="400"/>
              </a:spcAft>
              <a:buChar char="•"/>
            </a:pPr>
            <a:r>
              <a:rPr sz="1600" b="0" i="0">
                <a:solidFill>
                  <a:srgbClr val="0F172A"/>
                </a:solidFill>
                <a:latin typeface="Arial"/>
              </a:rPr>
              <a:t>+ 18 static features → MLP → 10 / 50 / 90th percentiles</a:t>
            </a:r>
          </a:p>
          <a:p>
            <a:pPr algn="l" marL="292608" indent="-256032">
              <a:spcAft>
                <a:spcPts val="400"/>
              </a:spcAft>
              <a:buChar char="•"/>
            </a:pPr>
            <a:r>
              <a:rPr sz="1600" b="0" i="0">
                <a:solidFill>
                  <a:srgbClr val="0F172A"/>
                </a:solidFill>
                <a:latin typeface="Arial"/>
              </a:rPr>
              <a:t>Pinball loss, early stopping; leak-tested</a:t>
            </a:r>
          </a:p>
          <a:p>
            <a:pPr algn="l">
              <a:spcAft>
                <a:spcPts val="400"/>
              </a:spcAft>
            </a:pPr>
            <a:r>
              <a:rPr sz="1600" b="1" i="0">
                <a:solidFill>
                  <a:srgbClr val="DC2626"/>
                </a:solidFill>
                <a:latin typeface="Arial"/>
              </a:rPr>
              <a:t>Result</a:t>
            </a:r>
          </a:p>
          <a:p>
            <a:pPr algn="l" marL="292608" indent="-256032">
              <a:spcAft>
                <a:spcPts val="400"/>
              </a:spcAft>
              <a:buChar char="•"/>
            </a:pPr>
            <a:r>
              <a:rPr sz="1600" b="0" i="0">
                <a:solidFill>
                  <a:srgbClr val="0F172A"/>
                </a:solidFill>
                <a:latin typeface="Arial"/>
              </a:rPr>
              <a:t>MAE </a:t>
            </a:r>
            <a:r>
              <a:rPr sz="1600" b="1" i="0">
                <a:solidFill>
                  <a:srgbClr val="0F172A"/>
                </a:solidFill>
                <a:latin typeface="Arial"/>
              </a:rPr>
              <a:t>0.867¢</a:t>
            </a:r>
            <a:r>
              <a:rPr sz="1600" b="0" i="0">
                <a:solidFill>
                  <a:srgbClr val="0F172A"/>
                </a:solidFill>
                <a:latin typeface="Arial"/>
              </a:rPr>
              <a:t> vs zero move </a:t>
            </a:r>
            <a:r>
              <a:rPr sz="1600" b="1" i="0">
                <a:solidFill>
                  <a:srgbClr val="0F172A"/>
                </a:solidFill>
                <a:latin typeface="Arial"/>
              </a:rPr>
              <a:t>0.833¢</a:t>
            </a:r>
            <a:r>
              <a:rPr sz="1600" b="0" i="0">
                <a:solidFill>
                  <a:srgbClr val="0F172A"/>
                </a:solidFill>
                <a:latin typeface="Arial"/>
              </a:rPr>
              <a:t>; agent makes 0 trades</a:t>
            </a:r>
          </a:p>
        </p:txBody>
      </p:sp>
      <p:pic>
        <p:nvPicPr>
          <p:cNvPr id="8" name="Picture 7" descr="m6_robustness.png"/>
          <p:cNvPicPr>
            <a:picLocks noChangeAspect="1"/>
          </p:cNvPicPr>
          <p:nvPr/>
        </p:nvPicPr>
        <p:blipFill>
          <a:blip r:embed="rId3"/>
          <a:stretch>
            <a:fillRect/>
          </a:stretch>
        </p:blipFill>
        <p:spPr>
          <a:xfrm>
            <a:off x="5120640" y="1206550"/>
            <a:ext cx="6613855" cy="2204618"/>
          </a:xfrm>
          <a:prstGeom prst="rect">
            <a:avLst/>
          </a:prstGeom>
        </p:spPr>
      </p:pic>
      <p:pic>
        <p:nvPicPr>
          <p:cNvPr id="9" name="Picture 8" descr="m6_vs_baselines.png"/>
          <p:cNvPicPr>
            <a:picLocks noChangeAspect="1"/>
          </p:cNvPicPr>
          <p:nvPr/>
        </p:nvPicPr>
        <p:blipFill>
          <a:blip r:embed="rId4"/>
          <a:stretch>
            <a:fillRect/>
          </a:stretch>
        </p:blipFill>
        <p:spPr>
          <a:xfrm>
            <a:off x="5445828" y="3520439"/>
            <a:ext cx="5963478" cy="1828800"/>
          </a:xfrm>
          <a:prstGeom prst="rect">
            <a:avLst/>
          </a:prstGeom>
        </p:spPr>
      </p:pic>
      <p:sp>
        <p:nvSpPr>
          <p:cNvPr id="10" name="TextBox 9"/>
          <p:cNvSpPr txBox="1"/>
          <p:nvPr/>
        </p:nvSpPr>
        <p:spPr>
          <a:xfrm>
            <a:off x="457200" y="5212080"/>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Robustness:</a:t>
            </a:r>
            <a:r>
              <a:rPr sz="1600" b="0" i="0">
                <a:solidFill>
                  <a:srgbClr val="0F172A"/>
                </a:solidFill>
                <a:latin typeface="Arial"/>
              </a:rPr>
              <a:t> 9 configurations × 3 seeds, all worse than zero move (best +0.017¢); none predicts the 5.5¢ needed to trade</a:t>
            </a:r>
          </a:p>
        </p:txBody>
      </p:sp>
      <p:sp>
        <p:nvSpPr>
          <p:cNvPr id="11" name="TextBox 10"/>
          <p:cNvSpPr txBox="1"/>
          <p:nvPr/>
        </p:nvSpPr>
        <p:spPr>
          <a:xfrm>
            <a:off x="457200" y="5788152"/>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M4 recalibration:</a:t>
            </a:r>
            <a:r>
              <a:rPr sz="1600" b="0" i="0">
                <a:solidFill>
                  <a:srgbClr val="0F172A"/>
                </a:solidFill>
                <a:latin typeface="Arial"/>
              </a:rPr>
              <a:t> Brier 0.183 raw, 0.185 Platt, 0.184 isotonic vs market 0.164; miscalibration changes with season phase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same market grade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7818120" cy="4892040"/>
        </p:xfrm>
        <a:graphic>
          <a:graphicData uri="http://schemas.openxmlformats.org/drawingml/2006/table">
            <a:tbl>
              <a:tblPr firstRow="1" bandRow="1">
                <a:tableStyleId>{5C22544A-7EE6-4342-B048-85BDC9FD1C3A}</a:tableStyleId>
              </a:tblPr>
              <a:tblGrid>
                <a:gridCol w="2148840"/>
                <a:gridCol w="3429000"/>
                <a:gridCol w="2240280"/>
              </a:tblGrid>
              <a:tr h="365760">
                <a:tc>
                  <a:txBody>
                    <a:bodyPr wrap="square"/>
                    <a:lstStyle/>
                    <a:p>
                      <a:pPr algn="l"/>
                      <a:r>
                        <a:rPr sz="1200" b="1" i="0">
                          <a:solidFill>
                            <a:srgbClr val="FFFFFF"/>
                          </a:solidFill>
                          <a:latin typeface="Arial"/>
                        </a:rPr>
                        <a:t>Upgrade</a:t>
                      </a:r>
                    </a:p>
                  </a:txBody>
                  <a:tcPr marL="73152" marR="73152" marT="36576" marB="36576" anchor="ctr">
                    <a:solidFill>
                      <a:srgbClr val="1E293B"/>
                    </a:solidFill>
                  </a:tcPr>
                </a:tc>
                <a:tc>
                  <a:txBody>
                    <a:bodyPr wrap="square"/>
                    <a:lstStyle/>
                    <a:p>
                      <a:pPr algn="l"/>
                      <a:r>
                        <a:rPr sz="1200" b="1" i="0">
                          <a:solidFill>
                            <a:srgbClr val="FFFFFF"/>
                          </a:solidFill>
                          <a:latin typeface="Arial"/>
                        </a:rPr>
                        <a:t>What it is</a:t>
                      </a:r>
                    </a:p>
                  </a:txBody>
                  <a:tcPr marL="73152" marR="73152" marT="36576" marB="36576" anchor="ctr">
                    <a:solidFill>
                      <a:srgbClr val="1E293B"/>
                    </a:solidFill>
                  </a:tcPr>
                </a:tc>
                <a:tc>
                  <a:txBody>
                    <a:bodyPr wrap="square"/>
                    <a:lstStyle/>
                    <a:p>
                      <a:pPr algn="l"/>
                      <a:r>
                        <a:rPr sz="1200" b="1" i="0">
                          <a:solidFill>
                            <a:srgbClr val="FFFFFF"/>
                          </a:solidFill>
                          <a:latin typeface="Arial"/>
                        </a:rPr>
                        <a:t>Result</a:t>
                      </a:r>
                    </a:p>
                  </a:txBody>
                  <a:tcPr marL="73152" marR="73152" marT="36576" marB="36576" anchor="ctr">
                    <a:solidFill>
                      <a:srgbClr val="1E293B"/>
                    </a:solidFill>
                  </a:tcPr>
                </a:tc>
              </a:tr>
              <a:tr h="502920">
                <a:tc>
                  <a:txBody>
                    <a:bodyPr wrap="square"/>
                    <a:lstStyle/>
                    <a:p>
                      <a:pPr algn="l"/>
                      <a:r>
                        <a:rPr sz="12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200" b="0" i="0">
                          <a:solidFill>
                            <a:srgbClr val="0F172A"/>
                          </a:solidFill>
                          <a:latin typeface="Arial"/>
                        </a:rPr>
                        <a:t>LLM picks as-of tools; code checks every number; a sceptic asks “already priced in?”</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Gate audit + placebo</a:t>
                      </a:r>
                    </a:p>
                  </a:txBody>
                  <a:tcPr marL="73152" marR="73152" marT="36576" marB="36576" anchor="ctr">
                    <a:solidFill>
                      <a:srgbClr val="FFFFFF"/>
                    </a:solidFill>
                  </a:tcPr>
                </a:tc>
                <a:tc>
                  <a:txBody>
                    <a:bodyPr wrap="square"/>
                    <a:lstStyle/>
                    <a:p>
                      <a:pPr algn="l"/>
                      <a:r>
                        <a:rPr sz="1200" b="0" i="0">
                          <a:solidFill>
                            <a:srgbClr val="0F172A"/>
                          </a:solidFill>
                          <a:latin typeface="Arial"/>
                        </a:rPr>
                        <a:t>Rule gate on held-out days; reviewer vs random rules</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Kill switch</a:t>
                      </a:r>
                    </a:p>
                  </a:txBody>
                  <a:tcPr marL="73152" marR="73152" marT="36576" marB="36576" anchor="ctr">
                    <a:solidFill>
                      <a:srgbClr val="F1F5F9"/>
                    </a:solidFill>
                  </a:tcPr>
                </a:tc>
                <a:tc>
                  <a:txBody>
                    <a:bodyPr wrap="square"/>
                    <a:lstStyle/>
                    <a:p>
                      <a:pPr algn="l"/>
                      <a:r>
                        <a:rPr sz="1200" b="0" i="0">
                          <a:solidFill>
                            <a:srgbClr val="0F172A"/>
                          </a:solidFill>
                          <a:latin typeface="Arial"/>
                        </a:rPr>
                        <a:t>$100 daily realised-loss stop, enforced in the replay</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200" b="0" i="0">
                          <a:solidFill>
                            <a:srgbClr val="0F172A"/>
                          </a:solidFill>
                          <a:latin typeface="Arial"/>
                        </a:rPr>
                        <a:t>¼-Kelly sizing, fee in the formula, vs flat $20</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200" b="0" i="0">
                          <a:solidFill>
                            <a:srgbClr val="0F172A"/>
                          </a:solidFill>
                          <a:latin typeface="Arial"/>
                        </a:rPr>
                        <a:t>Biased personas play League slates with and without Coach nudges</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200" b="0" i="0">
                          <a:solidFill>
                            <a:srgbClr val="0F172A"/>
                          </a:solidFill>
                          <a:latin typeface="Arial"/>
                        </a:rPr>
                        <a:t>Supervisor graph: pregame → trader → coach → briefs for one night</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200" b="0" i="0">
                          <a:solidFill>
                            <a:srgbClr val="0F172A"/>
                          </a:solidFill>
                          <a:latin typeface="Arial"/>
                        </a:rPr>
                        <a:t>Trade / pass classifier on as-of features, chosen on Nov–Jan only</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Rule DSL</a:t>
                      </a:r>
                    </a:p>
                  </a:txBody>
                  <a:tcPr marL="73152" marR="73152" marT="36576" marB="36576" anchor="ctr">
                    <a:solidFill>
                      <a:srgbClr val="FFFFFF"/>
                    </a:solidFill>
                  </a:tcPr>
                </a:tc>
                <a:tc>
                  <a:txBody>
                    <a:bodyPr wrap="square"/>
                    <a:lstStyle/>
                    <a:p>
                      <a:pPr algn="l"/>
                      <a:r>
                        <a:rPr sz="1200" b="0" i="0">
                          <a:solidFill>
                            <a:srgbClr val="0F172A"/>
                          </a:solidFill>
                          <a:latin typeface="Arial"/>
                        </a:rPr>
                        <a:t>LLM writes free-form rules, compiled to a safe DSL, still gated</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Episodic memory</a:t>
                      </a:r>
                    </a:p>
                  </a:txBody>
                  <a:tcPr marL="73152" marR="73152" marT="36576" marB="36576" anchor="ctr">
                    <a:solidFill>
                      <a:srgbClr val="F1F5F9"/>
                    </a:solidFill>
                  </a:tcPr>
                </a:tc>
                <a:tc>
                  <a:txBody>
                    <a:bodyPr wrap="square"/>
                    <a:lstStyle/>
                    <a:p>
                      <a:pPr algn="l"/>
                      <a:r>
                        <a:rPr sz="1200" b="0" i="0">
                          <a:solidFill>
                            <a:srgbClr val="0F172A"/>
                          </a:solidFill>
                          <a:latin typeface="Arial"/>
                        </a:rPr>
                        <a:t>Retrieve similar past situations and their outcomes</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bl>
          </a:graphicData>
        </a:graphic>
      </p:graphicFrame>
      <p:pic>
        <p:nvPicPr>
          <p:cNvPr id="8" name="Picture 7" descr="orchestrator.png"/>
          <p:cNvPicPr>
            <a:picLocks noChangeAspect="1"/>
          </p:cNvPicPr>
          <p:nvPr/>
        </p:nvPicPr>
        <p:blipFill>
          <a:blip r:embed="rId3"/>
          <a:stretch>
            <a:fillRect/>
          </a:stretch>
        </p:blipFill>
        <p:spPr>
          <a:xfrm>
            <a:off x="8412480" y="2702436"/>
            <a:ext cx="3322015" cy="1727447"/>
          </a:xfrm>
          <a:prstGeom prst="rect">
            <a:avLst/>
          </a:prstGeom>
        </p:spPr>
      </p:pic>
      <p:sp>
        <p:nvSpPr>
          <p:cNvPr id="9" name="TextBox 8"/>
          <p:cNvSpPr txBox="1"/>
          <p:nvPr/>
        </p:nvSpPr>
        <p:spPr>
          <a:xfrm>
            <a:off x="457200" y="6080760"/>
            <a:ext cx="11277295" cy="274320"/>
          </a:xfrm>
          <a:prstGeom prst="rect">
            <a:avLst/>
          </a:prstGeom>
          <a:noFill/>
        </p:spPr>
        <p:txBody>
          <a:bodyPr wrap="square" anchor="t" lIns="73152" rIns="73152" tIns="36576" bIns="36576">
            <a:spAutoFit/>
          </a:bodyPr>
          <a:lstStyle/>
          <a:p>
            <a:pPr algn="l">
              <a:spcAft>
                <a:spcPts val="0"/>
              </a:spcAft>
            </a:pPr>
            <a:r>
              <a:rPr sz="1200" b="0" i="0">
                <a:solidFill>
                  <a:srgbClr val="64748B"/>
                </a:solidFill>
                <a:latin typeface="Arial"/>
              </a:rPr>
              <a:t>Pre-registered before scoring (docs/preregistration_*.md); same replay, costs and bootstrap as above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Team contributions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graphicFrame>
        <p:nvGraphicFramePr>
          <p:cNvPr id="7" name="Table 6"/>
          <p:cNvGraphicFramePr>
            <a:graphicFrameLocks noGrp="1"/>
          </p:cNvGraphicFramePr>
          <p:nvPr/>
        </p:nvGraphicFramePr>
        <p:xfrm>
          <a:off x="457200" y="1234439"/>
          <a:ext cx="11277295" cy="3730752"/>
        </p:xfrm>
        <a:graphic>
          <a:graphicData uri="http://schemas.openxmlformats.org/drawingml/2006/table">
            <a:tbl>
              <a:tblPr firstRow="1" bandRow="1">
                <a:tableStyleId>{5C22544A-7EE6-4342-B048-85BDC9FD1C3A}</a:tableStyleId>
              </a:tblPr>
              <a:tblGrid>
                <a:gridCol w="3017520"/>
                <a:gridCol w="1097280"/>
                <a:gridCol w="2560320"/>
                <a:gridCol w="4602175"/>
              </a:tblGrid>
              <a:tr h="438912">
                <a:tc>
                  <a:txBody>
                    <a:bodyPr wrap="square"/>
                    <a:lstStyle/>
                    <a:p>
                      <a:pPr algn="l"/>
                      <a:r>
                        <a:rPr sz="1600" b="1" i="0">
                          <a:solidFill>
                            <a:srgbClr val="FFFFFF"/>
                          </a:solidFill>
                          <a:latin typeface="Arial"/>
                        </a:rPr>
                        <a:t>Work</a:t>
                      </a:r>
                    </a:p>
                  </a:txBody>
                  <a:tcPr marL="73152" marR="73152" marT="36576" marB="36576" anchor="ctr">
                    <a:solidFill>
                      <a:srgbClr val="1E293B"/>
                    </a:solidFill>
                  </a:tcPr>
                </a:tc>
                <a:tc>
                  <a:txBody>
                    <a:bodyPr wrap="square"/>
                    <a:lstStyle/>
                    <a:p>
                      <a:pPr algn="ctr"/>
                      <a:r>
                        <a:rPr sz="1600" b="1" i="0">
                          <a:solidFill>
                            <a:srgbClr val="FFFFFF"/>
                          </a:solidFill>
                          <a:latin typeface="Arial"/>
                        </a:rPr>
                        <a:t>PR</a:t>
                      </a:r>
                    </a:p>
                  </a:txBody>
                  <a:tcPr marL="73152" marR="73152" marT="36576" marB="36576" anchor="ctr">
                    <a:solidFill>
                      <a:srgbClr val="1E293B"/>
                    </a:solidFill>
                  </a:tcPr>
                </a:tc>
                <a:tc>
                  <a:txBody>
                    <a:bodyPr wrap="square"/>
                    <a:lstStyle/>
                    <a:p>
                      <a:pPr algn="l"/>
                      <a:r>
                        <a:rPr sz="1600" b="1" i="0">
                          <a:solidFill>
                            <a:srgbClr val="FFFFFF"/>
                          </a:solidFill>
                          <a:latin typeface="Arial"/>
                        </a:rPr>
                        <a:t>Who</a:t>
                      </a:r>
                    </a:p>
                  </a:txBody>
                  <a:tcPr marL="73152" marR="73152" marT="36576" marB="36576" anchor="ctr">
                    <a:solidFill>
                      <a:srgbClr val="1E293B"/>
                    </a:solidFill>
                  </a:tcPr>
                </a:tc>
                <a:tc>
                  <a:txBody>
                    <a:bodyPr wrap="square"/>
                    <a:lstStyle/>
                    <a:p>
                      <a:pPr algn="l"/>
                      <a:r>
                        <a:rPr sz="1600" b="1" i="0">
                          <a:solidFill>
                            <a:srgbClr val="FFFFFF"/>
                          </a:solidFill>
                          <a:latin typeface="Arial"/>
                        </a:rPr>
                        <a:t>What it adds</a:t>
                      </a:r>
                    </a:p>
                  </a:txBody>
                  <a:tcPr marL="73152" marR="73152" marT="36576" marB="36576" anchor="ctr">
                    <a:solidFill>
                      <a:srgbClr val="1E293B"/>
                    </a:solidFill>
                  </a:tcPr>
                </a:tc>
              </a:tr>
              <a:tr h="658368">
                <a:tc>
                  <a:txBody>
                    <a:bodyPr wrap="square"/>
                    <a:lstStyle/>
                    <a:p>
                      <a:pPr algn="l"/>
                      <a:r>
                        <a:rPr sz="16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600" b="0" i="0">
                          <a:solidFill>
                            <a:srgbClr val="0F172A"/>
                          </a:solidFill>
                          <a:latin typeface="Arial"/>
                        </a:rPr>
                        <a:t>#7</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Multi-source news polling → fair odds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600" b="0" i="0">
                          <a:solidFill>
                            <a:srgbClr val="0F172A"/>
                          </a:solidFill>
                          <a:latin typeface="Arial"/>
                        </a:rPr>
                        <a:t>#8</a:t>
                      </a:r>
                    </a:p>
                  </a:txBody>
                  <a:tcPr marL="73152" marR="73152" marT="36576" marB="36576" anchor="ctr">
                    <a:solidFill>
                      <a:srgbClr val="FFFFFF"/>
                    </a:solidFill>
                  </a:tcPr>
                </a:tc>
                <a:tc>
                  <a:txBody>
                    <a:bodyPr wrap="square"/>
                    <a:lstStyle/>
                    <a:p>
                      <a:pPr algn="l"/>
                      <a:r>
                        <a:rPr sz="1600" b="0" i="0">
                          <a:solidFill>
                            <a:srgbClr val="0F172A"/>
                          </a:solidFill>
                          <a:latin typeface="Arial"/>
                        </a:rPr>
                        <a:t>Catharine Li</a:t>
                      </a:r>
                    </a:p>
                  </a:txBody>
                  <a:tcPr marL="73152" marR="73152" marT="36576" marB="36576" anchor="ctr">
                    <a:solidFill>
                      <a:srgbClr val="FFFFFF"/>
                    </a:solidFill>
                  </a:tcPr>
                </a:tc>
                <a:tc>
                  <a:txBody>
                    <a:bodyPr wrap="square"/>
                    <a:lstStyle/>
                    <a:p>
                      <a:pPr algn="l"/>
                      <a:r>
                        <a:rPr sz="1600" b="0" i="0">
                          <a:solidFill>
                            <a:srgbClr val="0F172A"/>
                          </a:solidFill>
                          <a:latin typeface="Arial"/>
                        </a:rPr>
                        <a:t>Isolated player features + probability calibration</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600" b="0" i="0">
                          <a:solidFill>
                            <a:srgbClr val="0F172A"/>
                          </a:solidFill>
                          <a:latin typeface="Arial"/>
                        </a:rPr>
                        <a:t>#9</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Independent in-play updates (synthetic scenarios)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600" b="0" i="0">
                          <a:solidFill>
                            <a:srgbClr val="0F172A"/>
                          </a:solidFill>
                          <a:latin typeface="Arial"/>
                        </a:rPr>
                        <a:t>#11, #12</a:t>
                      </a:r>
                    </a:p>
                  </a:txBody>
                  <a:tcPr marL="73152" marR="73152" marT="36576" marB="36576" anchor="ctr">
                    <a:solidFill>
                      <a:srgbClr val="FFFFFF"/>
                    </a:solidFill>
                  </a:tcPr>
                </a:tc>
                <a:tc>
                  <a:txBody>
                    <a:bodyPr wrap="square"/>
                    <a:lstStyle/>
                    <a:p>
                      <a:pPr algn="l"/>
                      <a:r>
                        <a:rPr sz="1600" b="0" i="0">
                          <a:solidFill>
                            <a:srgbClr val="0F172A"/>
                          </a:solidFill>
                          <a:latin typeface="Arial"/>
                        </a:rPr>
                        <a:t>shidafuyang-alt, hijojo</a:t>
                      </a:r>
                    </a:p>
                  </a:txBody>
                  <a:tcPr marL="73152" marR="73152" marT="36576" marB="36576" anchor="ctr">
                    <a:solidFill>
                      <a:srgbClr val="FFFFFF"/>
                    </a:solidFill>
                  </a:tcPr>
                </a:tc>
                <a:tc>
                  <a:txBody>
                    <a:bodyPr wrap="square"/>
                    <a:lstStyle/>
                    <a:p>
                      <a:pPr algn="l"/>
                      <a:r>
                        <a:rPr sz="1600" b="0" i="0">
                          <a:solidFill>
                            <a:srgbClr val="0F172A"/>
                          </a:solidFill>
                          <a:latin typeface="Arial"/>
                        </a:rPr>
                        <a:t>Read-only live prices and page</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600" b="0" i="0">
                          <a:solidFill>
                            <a:srgbClr val="0F172A"/>
                          </a:solidFill>
                          <a:latin typeface="Arial"/>
                        </a:rPr>
                        <a:t>branch</a:t>
                      </a:r>
                    </a:p>
                  </a:txBody>
                  <a:tcPr marL="73152" marR="73152" marT="36576" marB="36576" anchor="ctr">
                    <a:solidFill>
                      <a:srgbClr val="F1F5F9"/>
                    </a:solidFill>
                  </a:tcPr>
                </a:tc>
                <a:tc>
                  <a:txBody>
                    <a:bodyPr wrap="square"/>
                    <a:lstStyle/>
                    <a:p>
                      <a:pPr algn="l"/>
                      <a:r>
                        <a:rPr sz="1600" b="0" i="0">
                          <a:solidFill>
                            <a:srgbClr val="0F172A"/>
                          </a:solidFill>
                          <a:latin typeface="Arial"/>
                        </a:rPr>
                        <a:t>Michael Ngan</a:t>
                      </a:r>
                    </a:p>
                  </a:txBody>
                  <a:tcPr marL="73152" marR="73152" marT="36576" marB="36576" anchor="ctr">
                    <a:solidFill>
                      <a:srgbClr val="F1F5F9"/>
                    </a:solidFill>
                  </a:tcPr>
                </a:tc>
                <a:tc>
                  <a:txBody>
                    <a:bodyPr wrap="square"/>
                    <a:lstStyle/>
                    <a:p>
                      <a:pPr algn="l"/>
                      <a:r>
                        <a:rPr sz="1600" b="0" i="0">
                          <a:solidFill>
                            <a:srgbClr val="0F172A"/>
                          </a:solidFill>
                          <a:latin typeface="Arial"/>
                        </a:rPr>
                        <a:t>As-of replay, M4 / M6, LangGraph agent, gate, walk-forward, Coach, League</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6858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68580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Every part is graded the same way: by the market's closing price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